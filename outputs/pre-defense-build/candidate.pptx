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30d03052db45c1" /><Relationship Type="http://schemas.openxmlformats.org/officeDocument/2006/relationships/extended-properties" Target="/docProps/app.xml" Id="Rdd65c786bb744d58" /><Relationship Type="http://schemas.openxmlformats.org/officeDocument/2006/relationships/officeDocument" Target="/ppt/presentation.xml" Id="R96afc1ca5c774d8d" /></Relationships>
</file>

<file path=ppt/presentation.xml><?xml version="1.0" encoding="utf-8"?>
<p:presentation xmlns:p="http://schemas.openxmlformats.org/presentationml/2006/main">
  <p:sldMasterIdLst>
    <p:sldMasterId xmlns:r="http://schemas.openxmlformats.org/officeDocument/2006/relationships" id="2147483648" r:id="R5391de88886d43f6"/>
  </p:sldMasterIdLst>
  <p:notesMasterIdLst>
    <p:notesMasterId xmlns:r="http://schemas.openxmlformats.org/officeDocument/2006/relationships" r:id="R6ea5513ab9a747d7"/>
  </p:notesMasterIdLst>
  <p:sldIdLst>
    <p:sldId xmlns:r="http://schemas.openxmlformats.org/officeDocument/2006/relationships" id="256" r:id="R193bbf05cd264227"/>
    <p:sldId xmlns:r="http://schemas.openxmlformats.org/officeDocument/2006/relationships" id="257" r:id="R4a0383061fdb4dcb"/>
    <p:sldId xmlns:r="http://schemas.openxmlformats.org/officeDocument/2006/relationships" id="258" r:id="R565e70dfa98d452f"/>
    <p:sldId xmlns:r="http://schemas.openxmlformats.org/officeDocument/2006/relationships" id="259" r:id="R8813dc0a58a94819"/>
    <p:sldId xmlns:r="http://schemas.openxmlformats.org/officeDocument/2006/relationships" id="260" r:id="R18c30272bbb74587"/>
    <p:sldId xmlns:r="http://schemas.openxmlformats.org/officeDocument/2006/relationships" id="261" r:id="R2e828959144a4932"/>
    <p:sldId xmlns:r="http://schemas.openxmlformats.org/officeDocument/2006/relationships" id="262" r:id="R88e37916c2044ad4"/>
    <p:sldId xmlns:r="http://schemas.openxmlformats.org/officeDocument/2006/relationships" id="263" r:id="R7231af2781fa43b5"/>
    <p:sldId xmlns:r="http://schemas.openxmlformats.org/officeDocument/2006/relationships" id="264" r:id="R35bfec5045ec4d41"/>
    <p:sldId xmlns:r="http://schemas.openxmlformats.org/officeDocument/2006/relationships" id="265" r:id="Rbe240f74287a4520"/>
    <p:sldId xmlns:r="http://schemas.openxmlformats.org/officeDocument/2006/relationships" id="266" r:id="R9da760cdff8f4caa"/>
    <p:sldId xmlns:r="http://schemas.openxmlformats.org/officeDocument/2006/relationships" id="267" r:id="R68403cd184304da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bfe57272634665" /><Relationship Type="http://schemas.openxmlformats.org/officeDocument/2006/relationships/slideMaster" Target="/ppt/slideMasters/slideMaster1.xml" Id="R5391de88886d43f6" /><Relationship Type="http://schemas.openxmlformats.org/officeDocument/2006/relationships/notesMaster" Target="/ppt/notesMasters/notesMaster1.xml" Id="R6ea5513ab9a747d7" /><Relationship Type="http://schemas.openxmlformats.org/officeDocument/2006/relationships/presProps" Target="/ppt/presProps.xml" Id="R98b4e191a9b84d21" /><Relationship Type="http://schemas.openxmlformats.org/officeDocument/2006/relationships/tableStyles" Target="/ppt/tableStyles.xml" Id="Ra168dd2beb32404d" /><Relationship Type="http://schemas.openxmlformats.org/officeDocument/2006/relationships/slide" Target="/ppt/slides/slide1.xml" Id="R193bbf05cd264227" /><Relationship Type="http://schemas.openxmlformats.org/officeDocument/2006/relationships/slide" Target="/ppt/slides/slide2.xml" Id="R4a0383061fdb4dcb" /><Relationship Type="http://schemas.openxmlformats.org/officeDocument/2006/relationships/slide" Target="/ppt/slides/slide3.xml" Id="R565e70dfa98d452f" /><Relationship Type="http://schemas.openxmlformats.org/officeDocument/2006/relationships/slide" Target="/ppt/slides/slide4.xml" Id="R8813dc0a58a94819" /><Relationship Type="http://schemas.openxmlformats.org/officeDocument/2006/relationships/slide" Target="/ppt/slides/slide5.xml" Id="R18c30272bbb74587" /><Relationship Type="http://schemas.openxmlformats.org/officeDocument/2006/relationships/slide" Target="/ppt/slides/slide6.xml" Id="R2e828959144a4932" /><Relationship Type="http://schemas.openxmlformats.org/officeDocument/2006/relationships/slide" Target="/ppt/slides/slide7.xml" Id="R88e37916c2044ad4" /><Relationship Type="http://schemas.openxmlformats.org/officeDocument/2006/relationships/slide" Target="/ppt/slides/slide8.xml" Id="R7231af2781fa43b5" /><Relationship Type="http://schemas.openxmlformats.org/officeDocument/2006/relationships/slide" Target="/ppt/slides/slide9.xml" Id="R35bfec5045ec4d41" /><Relationship Type="http://schemas.openxmlformats.org/officeDocument/2006/relationships/slide" Target="/ppt/slides/slide10.xml" Id="Rbe240f74287a4520" /><Relationship Type="http://schemas.openxmlformats.org/officeDocument/2006/relationships/slide" Target="/ppt/slides/slide11.xml" Id="R9da760cdff8f4caa" /><Relationship Type="http://schemas.openxmlformats.org/officeDocument/2006/relationships/slide" Target="/ppt/slides/slide12.xml" Id="R68403cd184304d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f95a6024174a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3598bd76b4188" /><Relationship Type="http://schemas.openxmlformats.org/officeDocument/2006/relationships/notesMaster" Target="/ppt/notesMasters/notesMaster1.xml" Id="R531eba0ad1824e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8d964b37ad4cc4" /><Relationship Type="http://schemas.openxmlformats.org/officeDocument/2006/relationships/notesMaster" Target="/ppt/notesMasters/notesMaster1.xml" Id="R4446940e201648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c75e2678944a4" /><Relationship Type="http://schemas.openxmlformats.org/officeDocument/2006/relationships/notesMaster" Target="/ppt/notesMasters/notesMaster1.xml" Id="R59a9cac8e7f34f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ecc8ac89d64a95" /><Relationship Type="http://schemas.openxmlformats.org/officeDocument/2006/relationships/notesMaster" Target="/ppt/notesMasters/notesMaster1.xml" Id="Rd3705e3f4b5e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04f48436484372" /><Relationship Type="http://schemas.openxmlformats.org/officeDocument/2006/relationships/notesMaster" Target="/ppt/notesMasters/notesMaster1.xml" Id="R52c164351ff747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c263e5ca9a4b35" /><Relationship Type="http://schemas.openxmlformats.org/officeDocument/2006/relationships/notesMaster" Target="/ppt/notesMasters/notesMaster1.xml" Id="Rfae9461151c54c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2a87b3f0b446aa" /><Relationship Type="http://schemas.openxmlformats.org/officeDocument/2006/relationships/notesMaster" Target="/ppt/notesMasters/notesMaster1.xml" Id="Rfc096694aa914e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411505048c40c1" /><Relationship Type="http://schemas.openxmlformats.org/officeDocument/2006/relationships/notesMaster" Target="/ppt/notesMasters/notesMaster1.xml" Id="R5c17b05e616641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18f25e59a64126" /><Relationship Type="http://schemas.openxmlformats.org/officeDocument/2006/relationships/notesMaster" Target="/ppt/notesMasters/notesMaster1.xml" Id="R2e95c1d99b0845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e135f01d484c09" /><Relationship Type="http://schemas.openxmlformats.org/officeDocument/2006/relationships/notesMaster" Target="/ppt/notesMasters/notesMaster1.xml" Id="R1cb4a85614fd45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3b532eabef47d1" /><Relationship Type="http://schemas.openxmlformats.org/officeDocument/2006/relationships/notesMaster" Target="/ppt/notesMasters/notesMaster1.xml" Id="R2b1acc98e6b449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d838d3669d4bca" /><Relationship Type="http://schemas.openxmlformats.org/officeDocument/2006/relationships/notesMaster" Target="/ppt/notesMasters/notesMaster1.xml" Id="Rf43489df059d4d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45 seconds</a:t>
            </a:r>
          </a:p>
          <a:p xmlns:a="http://schemas.openxmlformats.org/drawingml/2006/main">
            <a:r>
              <a:t/>
            </a:r>
          </a:p>
          <a:p xmlns:a="http://schemas.openxmlformats.org/drawingml/2006/main">
            <a:r>
              <a:t>Good day, panelists and adviser. We are Evon Christian Pahugot Vergara, Justin Comendador, and Xymmer James Nadera. Our system is Kodigo, a point-of-sale and inventory application for small retail operations. The complete research title appears here as recorded in our manuscript. Today we will explain the operational problem, the architecture, and the mechanisms that connect checkout with inventory and reporting. After this presentation, we will demonstrate those workflows in the application. We will distinguish what the repository implements from what still requires deployment or evaluation evidence. [Before presenting, replace the adviser and academic-year placeholders.]</a:t>
            </a:r>
          </a:p>
          <a:p xmlns:a="http://schemas.openxmlformats.org/drawingml/2006/main">
            <a:r>
              <a:t/>
            </a:r>
          </a:p>
          <a:p xmlns:a="http://schemas.openxmlformats.org/drawingml/2006/main">
            <a:r>
              <a:t>Repository evidence (not spoken):</a:t>
            </a:r>
          </a:p>
          <a:p xmlns:a="http://schemas.openxmlformats.org/drawingml/2006/main">
            <a:r>
              <a:t>- docs/Chapter 1-4 Manuscript v3.docx, title page</a:t>
            </a:r>
          </a:p>
          <a:p xmlns:a="http://schemas.openxmlformats.org/drawingml/2006/main">
            <a:r>
              <a:t>- kodigo-ui/public/kodigo-icon.png</a:t>
            </a:r>
          </a:p>
          <a:p xmlns:a="http://schemas.openxmlformats.org/drawingml/2006/main">
            <a:r>
              <a:t>- kodigo-ui/src/index.css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65 seconds</a:t>
            </a:r>
          </a:p>
          <a:p xmlns:a="http://schemas.openxmlformats.org/drawingml/2006/main">
            <a:r>
              <a:t/>
            </a:r>
          </a:p>
          <a:p xmlns:a="http://schemas.openxmlformats.org/drawingml/2006/main">
            <a:r>
              <a:t>The manuscript frames the problem around fragmented records in small and medium enterprises, especially where sales and stock monitoring depend on separate manual steps. A sale can appear in one record while the stock record still needs an update. Across branches, that separation makes reconciliation harder and delays the information available to an owner. The four links on this slide summarize that problem: recording work, stock visibility, inconsistent records, and reporting delay. They are a synthesis of the manuscript, rather than measured improvement claims about Kodigo. We are not claiming that the system has already reduced errors by a particular percentage. The design response is to connect recorded sales with stock movements and derive reports from those stored records.</a:t>
            </a:r>
          </a:p>
          <a:p xmlns:a="http://schemas.openxmlformats.org/drawingml/2006/main">
            <a:r>
              <a:t/>
            </a:r>
          </a:p>
          <a:p xmlns:a="http://schemas.openxmlformats.org/drawingml/2006/main">
            <a:r>
              <a:t>Repository evidence (not spoken):</a:t>
            </a:r>
          </a:p>
          <a:p xmlns:a="http://schemas.openxmlformats.org/drawingml/2006/main">
            <a:r>
              <a:t>- docs/Chapter 1-4 Manuscript v3.docx, Chapter 1: Background, Statement of the Problem; Chapter 4: RQ1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70 seconds</a:t>
            </a:r>
          </a:p>
          <a:p xmlns:a="http://schemas.openxmlformats.org/drawingml/2006/main">
            <a:r>
              <a:t/>
            </a:r>
          </a:p>
          <a:p xmlns:a="http://schemas.openxmlformats.org/drawingml/2006/main">
            <a:r>
              <a:t>Our manuscript states a general objective to design, develop, and evaluate a cloud-based inventory and financial management framework tailored for small and medium enterprises. We have condensed its three specific objectives here. First, identify the operational bottlenecks in manual tracking and reconciliation. That research context informs the connected POS and inventory workflow. Second, determine the appropriate system framework and information security measures. In the implementation, we can point to authentication, assigned-store access, and database validation. Third, evaluate acceptability in terms of cost-effectiveness, reliability, efficiency, and security. The existing system and testing material support evaluation, but they do not establish a completed acceptability score. The final research wording should still receive adviser approval, particularly because the application provides operational financial reporting rather than a full accounting system.</a:t>
            </a:r>
          </a:p>
          <a:p xmlns:a="http://schemas.openxmlformats.org/drawingml/2006/main">
            <a:r>
              <a:t/>
            </a:r>
          </a:p>
          <a:p xmlns:a="http://schemas.openxmlformats.org/drawingml/2006/main">
            <a:r>
              <a:t>Repository evidence (not spoken):</a:t>
            </a:r>
          </a:p>
          <a:p xmlns:a="http://schemas.openxmlformats.org/drawingml/2006/main">
            <a:r>
              <a:t>- docs/Chapter 1-4 Manuscript v3.docx, Objectives of the Study</a:t>
            </a:r>
          </a:p>
          <a:p xmlns:a="http://schemas.openxmlformats.org/drawingml/2006/main">
            <a:r>
              <a:t>- kodigo-ui/src/App.tsx</a:t>
            </a:r>
          </a:p>
          <a:p xmlns:a="http://schemas.openxmlformats.org/drawingml/2006/main">
            <a:r>
              <a:t>- kodigo-ui/src/lib/reporting.ts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65 seconds</a:t>
            </a:r>
          </a:p>
          <a:p xmlns:a="http://schemas.openxmlformats.org/drawingml/2006/main">
            <a:r>
              <a:t/>
            </a:r>
          </a:p>
          <a:p xmlns:a="http://schemas.openxmlformats.org/drawingml/2006/main">
            <a:r>
              <a:t>The implemented scope covers sales, product and stock control, replenishment and suppliers, monitoring and reports, and user administration. The POS includes receipts and transaction history, with controlled void and refund workflows. Inventory supports configured receiving units and selling options that relate to base stock. Purchasing includes supplier records and purchase orders. Consignment records track received stock and supplier balances, including payments or credits entered by an Admin. Reports and descriptive analytics use recorded activity. Access differs by role and assigned store, so these capabilities are not available to every user. The next part will show how the application separates interface behavior from the backend operations that preserve records. I will now hand over to Presenter 2 for the technical architecture.</a:t>
            </a:r>
          </a:p>
          <a:p xmlns:a="http://schemas.openxmlformats.org/drawingml/2006/main">
            <a:r>
              <a:t/>
            </a:r>
          </a:p>
          <a:p xmlns:a="http://schemas.openxmlformats.org/drawingml/2006/main">
            <a:r>
              <a:t>Repository evidence (not spoken):</a:t>
            </a:r>
          </a:p>
          <a:p xmlns:a="http://schemas.openxmlformats.org/drawingml/2006/main">
            <a:r>
              <a:t>- README.md, intended users and capabilities</a:t>
            </a:r>
          </a:p>
          <a:p xmlns:a="http://schemas.openxmlformats.org/drawingml/2006/main">
            <a:r>
              <a:t>- kodigo-ui/src/App.tsx</a:t>
            </a:r>
          </a:p>
          <a:p xmlns:a="http://schemas.openxmlformats.org/drawingml/2006/main">
            <a:r>
              <a:t>- kodigo-ui/src/components/pos/TransactionLifecyclePanel.tsx</a:t>
            </a:r>
          </a:p>
          <a:p xmlns:a="http://schemas.openxmlformats.org/drawingml/2006/main">
            <a:r>
              <a:t>- kodigo-ui/src/components/inventory/ConsignmentPanel.tsx</a:t>
            </a:r>
          </a:p>
          <a:p xmlns:a="http://schemas.openxmlformats.org/drawingml/2006/main">
            <a:r>
              <a:t>- kodigo-ui/src/pages/ReportsPage.tsx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90 seconds</a:t>
            </a:r>
          </a:p>
          <a:p xmlns:a="http://schemas.openxmlformats.org/drawingml/2006/main">
            <a:r>
              <a:t/>
            </a:r>
          </a:p>
          <a:p xmlns:a="http://schemas.openxmlformats.org/drawingml/2006/main">
            <a:r>
              <a:t>Kodigo is a React and TypeScript browser application built with Vite. Tailwind and Radix support the interface. Zustand manages application state such as the cart and active store, while TanStack Query actively manages reporting and other query data. The browser uses the Supabase client directly. Authentication belongs to Supabase Auth. Table access passes through the Data API and row policies, while important transactions call PostgreSQL functions through RPC. Two Edge Functions handle privileged account management and invite generation. Storage supports uploaded assets. PostgreSQL holds authoritative business records and runs validation, stock triggers, and reporting queries. IndexedDB stores a local product cache and bounded queues, and reconnect events attempt replay. A queued sale is not yet proof of a database commit. Vercel SPA rewrite configuration exists in the repository, although this diagram does not establish the live hosting state. Optional receipt printing uses browser/PDF output and a QZ Tray bridge for supported hardware.</a:t>
            </a:r>
          </a:p>
          <a:p xmlns:a="http://schemas.openxmlformats.org/drawingml/2006/main">
            <a:r>
              <a:t/>
            </a:r>
          </a:p>
          <a:p xmlns:a="http://schemas.openxmlformats.org/drawingml/2006/main">
            <a:r>
              <a:t>Repository evidence (not spoken):</a:t>
            </a:r>
          </a:p>
          <a:p xmlns:a="http://schemas.openxmlformats.org/drawingml/2006/main">
            <a:r>
              <a:t>- kodigo-ui/src/App.tsx</a:t>
            </a:r>
          </a:p>
          <a:p xmlns:a="http://schemas.openxmlformats.org/drawingml/2006/main">
            <a:r>
              <a:t>- kodigo-ui/src/lib/supabase.ts</a:t>
            </a:r>
          </a:p>
          <a:p xmlns:a="http://schemas.openxmlformats.org/drawingml/2006/main">
            <a:r>
              <a:t>- kodigo-ui/src/stores/authStore.ts</a:t>
            </a:r>
          </a:p>
          <a:p xmlns:a="http://schemas.openxmlformats.org/drawingml/2006/main">
            <a:r>
              <a:t>- kodigo-ui/src/lib/offline-sync.ts</a:t>
            </a:r>
          </a:p>
          <a:p xmlns:a="http://schemas.openxmlformats.org/drawingml/2006/main">
            <a:r>
              <a:t>- supabase/functions/admin-users/index.ts</a:t>
            </a:r>
          </a:p>
          <a:p xmlns:a="http://schemas.openxmlformats.org/drawingml/2006/main">
            <a:r>
              <a:t>- supabase/functions/generate-invite/index.ts</a:t>
            </a:r>
          </a:p>
          <a:p xmlns:a="http://schemas.openxmlformats.org/drawingml/2006/main">
            <a:r>
              <a:t>- kodigo-ui/src/lib/branding.ts</a:t>
            </a:r>
          </a:p>
          <a:p xmlns:a="http://schemas.openxmlformats.org/drawingml/2006/main">
            <a:r>
              <a:t>- kodigo-ui/vercel.json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80 seconds</a:t>
            </a:r>
          </a:p>
          <a:p xmlns:a="http://schemas.openxmlformats.org/drawingml/2006/main">
            <a:r>
              <a:t/>
            </a:r>
          </a:p>
          <a:p xmlns:a="http://schemas.openxmlformats.org/drawingml/2006/main">
            <a:r>
              <a:t>This diagram deliberately shows a small set of real table names. A product can have several selling options, but the current sale path deducts the required quantity from the product’s base stock. A sale contains multiple sale_items. Each line identifies its product and can identify a configured selling option. Stock receiving writes restock_history, and stock operations create inventory_movements with before-and-after quantities. The solid relationships on this slide represent product or sale references, with one-to-many labels for clarity. Store scope and user membership also exist through stores, profiles, and store_users, but those entities are omitted here to keep the diagram readable. Sale lines and receipt records preserve historical values so later product edits do not simply replace the values used to describe a past sale. Reports combine these persisted records and snapshots rather than relying only on what the cart currently displays.</a:t>
            </a:r>
          </a:p>
          <a:p xmlns:a="http://schemas.openxmlformats.org/drawingml/2006/main">
            <a:r>
              <a:t/>
            </a:r>
          </a:p>
          <a:p xmlns:a="http://schemas.openxmlformats.org/drawingml/2006/main">
            <a:r>
              <a:t>Repository evidence (not spoken):</a:t>
            </a:r>
          </a:p>
          <a:p xmlns:a="http://schemas.openxmlformats.org/drawingml/2006/main">
            <a:r>
              <a:t>- supabase_schema.sql, products/sales/sale_items</a:t>
            </a:r>
          </a:p>
          <a:p xmlns:a="http://schemas.openxmlformats.org/drawingml/2006/main">
            <a:r>
              <a:t>- migration_20_product_selling_options.sql</a:t>
            </a:r>
          </a:p>
          <a:p xmlns:a="http://schemas.openxmlformats.org/drawingml/2006/main">
            <a:r>
              <a:t>- migration_27_inventory_branding_receipts.sql, inventory_movements</a:t>
            </a:r>
          </a:p>
          <a:p xmlns:a="http://schemas.openxmlformats.org/drawingml/2006/main">
            <a:r>
              <a:t>- migration_29_base_unit_inventory_margin_velocity.sql, restock_history</a:t>
            </a:r>
          </a:p>
          <a:p xmlns:a="http://schemas.openxmlformats.org/drawingml/2006/main">
            <a:r>
              <a:t>- migration_34_bulk_purchase_base_units.sql</a:t>
            </a:r>
          </a:p>
          <a:p xmlns:a="http://schemas.openxmlformats.org/drawingml/2006/main">
            <a:r>
              <a:t>- migration_37_unit_aware_inventory_workflow.sql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100 seconds</a:t>
            </a:r>
          </a:p>
          <a:p xmlns:a="http://schemas.openxmlformats.org/drawingml/2006/main">
            <a:r>
              <a:t/>
            </a:r>
          </a:p>
          <a:p xmlns:a="http://schemas.openxmlformats.org/drawingml/2006/main">
            <a:r>
              <a:t>Three mechanisms are central. First, online checkout calls process_pos_sale_v4, which delegates the underlying sale work to version three and adds validation of line discounts. The database checks the authenticated user, role, store assignment, stock, prices, and submitted totals. It locks product rows so concurrent requests cannot both consume the same available quantity. Sale rows, line items, payment and receipt information, and the triggered stock changes belong to the database transaction. An exception rolls that transaction back. The wrapper can also return a prior committed result for the same sale ID and cashier. Second, stock conversion is deterministic: selling two packs of six consumes twelve base units. The example is illustrative, not a recorded test result. Third, receiving converts configured delivery quantities into base units, records cost and stock history, and prepares a suggested price. An authorized user reviews price changes separately. These rules are inspectable arithmetic and validation, which suit repeatable retail operations without requiring machine learning.</a:t>
            </a:r>
          </a:p>
          <a:p xmlns:a="http://schemas.openxmlformats.org/drawingml/2006/main">
            <a:r>
              <a:t/>
            </a:r>
          </a:p>
          <a:p xmlns:a="http://schemas.openxmlformats.org/drawingml/2006/main">
            <a:r>
              <a:t>Repository evidence (not spoken):</a:t>
            </a:r>
          </a:p>
          <a:p xmlns:a="http://schemas.openxmlformats.org/drawingml/2006/main">
            <a:r>
              <a:t>- kodigo-ui/src/lib/offline-sync.ts, pushSaleToSupabase</a:t>
            </a:r>
          </a:p>
          <a:p xmlns:a="http://schemas.openxmlformats.org/drawingml/2006/main">
            <a:r>
              <a:t>- supabase/migrations/20261019130000_client_revision_fixes.sql, process_pos_sale_v4/receive_product_stock</a:t>
            </a:r>
          </a:p>
          <a:p xmlns:a="http://schemas.openxmlformats.org/drawingml/2006/main">
            <a:r>
              <a:t>- supabase/migrations/20260930090000_vat_inclusive_pos_totals.sql, process_pos_sale_v3</a:t>
            </a:r>
          </a:p>
          <a:p xmlns:a="http://schemas.openxmlformats.org/drawingml/2006/main">
            <a:r>
              <a:t>- migration_34_bulk_purchase_base_units.sql, trg_deduct_stock_on_sale</a:t>
            </a:r>
          </a:p>
          <a:p xmlns:a="http://schemas.openxmlformats.org/drawingml/2006/main">
            <a:r>
              <a:t>- migration_37_unit_aware_inventory_workflow.sql, restock_product_inventory_v2</a:t>
            </a:r>
          </a:p>
          <a:p xmlns:a="http://schemas.openxmlformats.org/drawingml/2006/main">
            <a:r>
              <a:t>- kodigo-ui/src/stores/productStore.ts, adjustStock/updateSellingPrice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80 seconds</a:t>
            </a:r>
          </a:p>
          <a:p xmlns:a="http://schemas.openxmlformats.org/drawingml/2006/main">
            <a:r>
              <a:t/>
            </a:r>
          </a:p>
          <a:p xmlns:a="http://schemas.openxmlformats.org/drawingml/2006/main">
            <a:r>
              <a:t>The four roles have different responsibilities. Admin operates within assigned stores. Cashier uses the POS and the permitted transaction tools. Inventory maintains product and stock information and can use inventory-oriented reports. Super Admin currently manages invite codes through a separate portal, rather than acting as a general store operator. The frontend hides or redirects unavailable routes, but that is only one layer. SQL policies and protected functions also check role and store membership. The account-management Edge Function checks the caller before using privileged backend credentials. TOTP enrollment is supported, and the MFA policy requires AAL2 for accounts with a verified factor. We should not describe this as a completed penetration test or security certification. The repository also contains a proposed Super Admin access change in a drafts folder. That proposal is excluded from this matrix. Presenter 3 will now explain the testing evidence and our demonstration plan.</a:t>
            </a:r>
          </a:p>
          <a:p xmlns:a="http://schemas.openxmlformats.org/drawingml/2006/main">
            <a:r>
              <a:t/>
            </a:r>
          </a:p>
          <a:p xmlns:a="http://schemas.openxmlformats.org/drawingml/2006/main">
            <a:r>
              <a:t>Repository evidence (not spoken):</a:t>
            </a:r>
          </a:p>
          <a:p xmlns:a="http://schemas.openxmlformats.org/drawingml/2006/main">
            <a:r>
              <a:t>- kodigo-ui/src/App.tsx, RequireAdmin/RequireBackOffice/RequirePOSAccess</a:t>
            </a:r>
          </a:p>
          <a:p xmlns:a="http://schemas.openxmlformats.org/drawingml/2006/main">
            <a:r>
              <a:t>- kodigo-ui/src/pages/ReportsPage.tsx</a:t>
            </a:r>
          </a:p>
          <a:p xmlns:a="http://schemas.openxmlformats.org/drawingml/2006/main">
            <a:r>
              <a:t>- migration_28_member_account_rbac_hardening.sql</a:t>
            </a:r>
          </a:p>
          <a:p xmlns:a="http://schemas.openxmlformats.org/drawingml/2006/main">
            <a:r>
              <a:t>- supabase/migrations/20260803023252_enforce_mfa_assurance.sql</a:t>
            </a:r>
          </a:p>
          <a:p xmlns:a="http://schemas.openxmlformats.org/drawingml/2006/main">
            <a:r>
              <a:t>- supabase/functions/admin-users/index.ts</a:t>
            </a:r>
          </a:p>
          <a:p xmlns:a="http://schemas.openxmlformats.org/drawingml/2006/main">
            <a:r>
              <a:t>- supabase/functions/generate-invite/index.ts</a:t>
            </a:r>
          </a:p>
          <a:p xmlns:a="http://schemas.openxmlformats.org/drawingml/2006/main">
            <a:r>
              <a:t>- supabase/drafts/super_admin_access_fix_review.md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75 seconds</a:t>
            </a:r>
          </a:p>
          <a:p xmlns:a="http://schemas.openxmlformats.org/drawingml/2006/main">
            <a:r>
              <a:t/>
            </a:r>
          </a:p>
          <a:p xmlns:a="http://schemas.openxmlformats.org/drawingml/2006/main">
            <a:r>
              <a:t>The manuscript names Agile Scrum and describes planning, design, development, testing, deployment, and review. The repository contains incremental implementation and a CI workflow, but source files alone do not verify sprint ceremonies or completed user acceptance. For this pre-defense package, seven local unit tests passed. They cover reporting allocations, refunds, partial captures, date boundaries, monthly rankings, hardware-action separation, and historical base-unit prices. TypeScript and ESLint also completed successfully. These are narrow engineering checks, not a total-system success rate. The integration harness includes checkout, stock, and store-isolation scenarios, but it creates and removes test records. We did not run it against a database during this task. The CI workflow can also skip that stage when it is not enabled. Live transaction, RLS, MFA, and intended-user evaluation remain separate evidence to collect in an approved test environment.</a:t>
            </a:r>
          </a:p>
          <a:p xmlns:a="http://schemas.openxmlformats.org/drawingml/2006/main">
            <a:r>
              <a:t/>
            </a:r>
          </a:p>
          <a:p xmlns:a="http://schemas.openxmlformats.org/drawingml/2006/main">
            <a:r>
              <a:t>Repository evidence (not spoken):</a:t>
            </a:r>
          </a:p>
          <a:p xmlns:a="http://schemas.openxmlformats.org/drawingml/2006/main">
            <a:r>
              <a:t>- docs/Chapter 1-4 Manuscript v3.docx, Software Development Methodology</a:t>
            </a:r>
          </a:p>
          <a:p xmlns:a="http://schemas.openxmlformats.org/drawingml/2006/main">
            <a:r>
              <a:t>- kodigo-ui/package.json</a:t>
            </a:r>
          </a:p>
          <a:p xmlns:a="http://schemas.openxmlformats.org/drawingml/2006/main">
            <a:r>
              <a:t>- kodigo-ui/scripts/unit/reporting-calculations.test.mjs</a:t>
            </a:r>
          </a:p>
          <a:p xmlns:a="http://schemas.openxmlformats.org/drawingml/2006/main">
            <a:r>
              <a:t>- kodigo-ui/scripts/integration-checkout-stock-rls.mjs</a:t>
            </a:r>
          </a:p>
          <a:p xmlns:a="http://schemas.openxmlformats.org/drawingml/2006/main">
            <a:r>
              <a:t>- .github/workflows/ci.yml</a:t>
            </a:r>
          </a:p>
          <a:p xmlns:a="http://schemas.openxmlformats.org/drawingml/2006/main">
            <a:r>
              <a:t>- outputs/pre-defense-build, local check record dated 2026-10-20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80 seconds</a:t>
            </a:r>
          </a:p>
          <a:p xmlns:a="http://schemas.openxmlformats.org/drawingml/2006/main">
            <a:r>
              <a:t/>
            </a:r>
          </a:p>
          <a:p xmlns:a="http://schemas.openxmlformats.org/drawingml/2006/main">
            <a:r>
              <a:t>This is our proposed live demonstration sequence, not a claim that the backend has already been cleared. An authorized operator must prepare an approved demonstration environment, preserve the schema and required authentication and configuration, and independently verify that business records are empty. A store Admin account must remain available because the current Super Admin interface cannot perform ordinary store setup. Preparation must also account for browser queues, since old queued writes could repopulate cleared records. During the demonstration, we will log in, create a synthetic product with zero opening stock, and receive a configured package quantity. We will process a cash sale, refresh inventory, and compare the stock change with the recorded sale and movement history. Finally, we will use the matching store, date range, and report filters to reconcile the totals. The checklist includes an illustrative package example and recovery steps if connectivity or printing fails.</a:t>
            </a:r>
          </a:p>
          <a:p xmlns:a="http://schemas.openxmlformats.org/drawingml/2006/main">
            <a:r>
              <a:t/>
            </a:r>
          </a:p>
          <a:p xmlns:a="http://schemas.openxmlformats.org/drawingml/2006/main">
            <a:r>
              <a:t>Repository evidence (not spoken):</a:t>
            </a:r>
          </a:p>
          <a:p xmlns:a="http://schemas.openxmlformats.org/drawingml/2006/main">
            <a:r>
              <a:t>- User task brief, demo requirements and prohibition on reset execution</a:t>
            </a:r>
          </a:p>
          <a:p xmlns:a="http://schemas.openxmlformats.org/drawingml/2006/main">
            <a:r>
              <a:t>- kodigo-ui/src/stores/authStore.ts</a:t>
            </a:r>
          </a:p>
          <a:p xmlns:a="http://schemas.openxmlformats.org/drawingml/2006/main">
            <a:r>
              <a:t>- kodigo-ui/src/stores/productStore.ts</a:t>
            </a:r>
          </a:p>
          <a:p xmlns:a="http://schemas.openxmlformats.org/drawingml/2006/main">
            <a:r>
              <a:t>- kodigo-ui/src/lib/offline-sync.ts</a:t>
            </a:r>
          </a:p>
          <a:p xmlns:a="http://schemas.openxmlformats.org/drawingml/2006/main">
            <a:r>
              <a:t>- kodigo-ui/src/pages/ReportsPage.tsx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65 seconds</a:t>
            </a:r>
          </a:p>
          <a:p xmlns:a="http://schemas.openxmlformats.org/drawingml/2006/main">
            <a:r>
              <a:t/>
            </a:r>
          </a:p>
          <a:p xmlns:a="http://schemas.openxmlformats.org/drawingml/2006/main">
            <a:r>
              <a:t>The application is online-first. It has a cache and selected queues, but it does not provide comprehensive offline reporting or automatic conflict resolution. Replay failures remain stored with an error status, so reconnection alone does not guarantee that every operation has committed. We still need evidence that the deployed migration chain, role policies, and critical workflows match this repository. Descriptive analytics and replenishment calculations use recorded activity, lead time, and configured buffers. They are rule-based calculations, not predictive machine learning. That choice makes conversion and stock decisions easier to explain and audit for the current requirements. Future work could strengthen queue recovery and concurrent-operation testing. Receipt OCR or demand forecasting may be considered later, subject to approval and evaluation. They are not current features. The system also does not replace certified accounting software, tax filing, or a supplier-facing portal.</a:t>
            </a:r>
          </a:p>
          <a:p xmlns:a="http://schemas.openxmlformats.org/drawingml/2006/main">
            <a:r>
              <a:t/>
            </a:r>
          </a:p>
          <a:p xmlns:a="http://schemas.openxmlformats.org/drawingml/2006/main">
            <a:r>
              <a:t>Repository evidence (not spoken):</a:t>
            </a:r>
          </a:p>
          <a:p xmlns:a="http://schemas.openxmlformats.org/drawingml/2006/main">
            <a:r>
              <a:t>- docs/Chapter 1-4 Manuscript v3.docx, Limitations of the System</a:t>
            </a:r>
          </a:p>
          <a:p xmlns:a="http://schemas.openxmlformats.org/drawingml/2006/main">
            <a:r>
              <a:t>- kodigo-ui/src/lib/offline-sync.ts</a:t>
            </a:r>
          </a:p>
          <a:p xmlns:a="http://schemas.openxmlformats.org/drawingml/2006/main">
            <a:r>
              <a:t>- kodigo-ui/src/lib/sales-velocity.ts</a:t>
            </a:r>
          </a:p>
          <a:p xmlns:a="http://schemas.openxmlformats.org/drawingml/2006/main">
            <a:r>
              <a:t>- kodigo-ui/src/pages/RestockingPage.tsx</a:t>
            </a:r>
          </a:p>
          <a:p xmlns:a="http://schemas.openxmlformats.org/drawingml/2006/main">
            <a:r>
              <a:t>- supabase/drafts/super_admin_access_fix_review.md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45 seconds</a:t>
            </a:r>
          </a:p>
          <a:p xmlns:a="http://schemas.openxmlformats.org/drawingml/2006/main">
            <a:r>
              <a:t/>
            </a:r>
          </a:p>
          <a:p xmlns:a="http://schemas.openxmlformats.org/drawingml/2006/main">
            <a:r>
              <a:t>Kodigo connects checkout with stock movements and operational reports for assigned retail stores. Its main technical contributions are database-validated transactions, configured base-unit conversion, and access controls that extend beyond the interface. The repository and local checks give us a basis for evaluation, while live deployment and end-to-end behavior still need direct validation. We will now move to the application and follow the prepared sequence. As we demonstrate, we will compare the recorded sale, resulting stock, and report values so the panel can inspect whether the actual behavior matches the design we have explained.</a:t>
            </a:r>
          </a:p>
          <a:p xmlns:a="http://schemas.openxmlformats.org/drawingml/2006/main">
            <a:r>
              <a:t/>
            </a:r>
          </a:p>
          <a:p xmlns:a="http://schemas.openxmlformats.org/drawingml/2006/main">
            <a:r>
              <a:t>Repository evidence (not spoken):</a:t>
            </a:r>
          </a:p>
          <a:p xmlns:a="http://schemas.openxmlformats.org/drawingml/2006/main">
            <a:r>
              <a:t>- Slides 2–11 repository evidence</a:t>
            </a:r>
          </a:p>
          <a:p xmlns:a="http://schemas.openxmlformats.org/drawingml/2006/main">
            <a:r>
              <a:t>- Kodigo_Demo_Checklist.md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8c9c8755b84f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de8f07d9ca45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8ef5f814f142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6fcc23630f45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1cb98319c749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258c446ffb42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490995-5E35-4B57-B777-A1F206A00F8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5D2606-B50B-419B-93BB-F9B308FF16D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F9FA1E-1ECF-4750-A26E-6335DABED40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0F747C-A313-401C-AC47-430A9127BCF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8CA156-1122-417B-8B60-243C9F4DF22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DF5101-934C-4B4C-AA03-33D8241077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1D874E-EF4E-4D96-A29B-5DFF8336A40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3FF38F-B69C-4136-BB33-9138441B3514}"/>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15038F-B4C8-46C9-A623-28F16F3EA34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F17C53-637D-4A61-B5FE-1842DDD69DF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8cb7994a89492d" /><Relationship Type="http://schemas.openxmlformats.org/officeDocument/2006/relationships/slideLayout" Target="/ppt/slideLayouts/slideLayout1.xml" Id="Rb6adc4bbfd864f0c" /><Relationship Type="http://schemas.openxmlformats.org/officeDocument/2006/relationships/slideLayout" Target="/ppt/slideLayouts/slideLayout2.xml" Id="Rf5eb29d53fd84b0f" /><Relationship Type="http://schemas.openxmlformats.org/officeDocument/2006/relationships/slideLayout" Target="/ppt/slideLayouts/slideLayout3.xml" Id="R1c83e6120ce0494e" /><Relationship Type="http://schemas.openxmlformats.org/officeDocument/2006/relationships/slideLayout" Target="/ppt/slideLayouts/slideLayout4.xml" Id="R58bdbd08673f4e01" /><Relationship Type="http://schemas.openxmlformats.org/officeDocument/2006/relationships/slideLayout" Target="/ppt/slideLayouts/slideLayout5.xml" Id="Rfd88959ef1b64f85" /><Relationship Type="http://schemas.openxmlformats.org/officeDocument/2006/relationships/slideLayout" Target="/ppt/slideLayouts/slideLayout6.xml" Id="R2429d1285b0340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adc4bbfd864f0c"/>
    <p:sldLayoutId xmlns:r="http://schemas.openxmlformats.org/officeDocument/2006/relationships" id="2147483650" r:id="Rf5eb29d53fd84b0f"/>
    <p:sldLayoutId xmlns:r="http://schemas.openxmlformats.org/officeDocument/2006/relationships" id="2147483651" r:id="R1c83e6120ce0494e"/>
    <p:sldLayoutId xmlns:r="http://schemas.openxmlformats.org/officeDocument/2006/relationships" id="2147483652" r:id="R58bdbd08673f4e01"/>
    <p:sldLayoutId xmlns:r="http://schemas.openxmlformats.org/officeDocument/2006/relationships" id="2147483653" r:id="Rfd88959ef1b64f85"/>
    <p:sldLayoutId xmlns:r="http://schemas.openxmlformats.org/officeDocument/2006/relationships" id="2147483654" r:id="R2429d1285b0340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5cd6130edf4d05" /><Relationship Type="http://schemas.openxmlformats.org/officeDocument/2006/relationships/image" Target="/ppt/media/image.png" Id="R3bafbbc24bd04db2" /><Relationship Type="http://schemas.openxmlformats.org/officeDocument/2006/relationships/notesSlide" Target="/ppt/notesSlides/notesSlide1.xml" Id="R71f0642bb10944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9b805782c545b8" /><Relationship Type="http://schemas.openxmlformats.org/officeDocument/2006/relationships/notesSlide" Target="/ppt/notesSlides/notesSlide2.xml" Id="Raa8cdc244f7245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9869a5f78848bf" /><Relationship Type="http://schemas.openxmlformats.org/officeDocument/2006/relationships/notesSlide" Target="/ppt/notesSlides/notesSlide3.xml" Id="R80229da9d7a246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3916b3396a4f63" /><Relationship Type="http://schemas.openxmlformats.org/officeDocument/2006/relationships/image" Target="/ppt/media/image2.png" Id="R9d20638bf08c475c" /><Relationship Type="http://schemas.openxmlformats.org/officeDocument/2006/relationships/image" Target="/ppt/media/image3.png" Id="R80980ac6814c4074" /><Relationship Type="http://schemas.openxmlformats.org/officeDocument/2006/relationships/image" Target="/ppt/media/image4.png" Id="Rde09c4d7f97543bb" /><Relationship Type="http://schemas.openxmlformats.org/officeDocument/2006/relationships/image" Target="/ppt/media/image5.png" Id="R932846d6b0254c50" /><Relationship Type="http://schemas.openxmlformats.org/officeDocument/2006/relationships/image" Target="/ppt/media/image6.png" Id="R2b68b75db7d84c10" /><Relationship Type="http://schemas.openxmlformats.org/officeDocument/2006/relationships/notesSlide" Target="/ppt/notesSlides/notesSlide4.xml" Id="Re3ab390ae8b944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1ffa2a5fdc403c" /><Relationship Type="http://schemas.openxmlformats.org/officeDocument/2006/relationships/notesSlide" Target="/ppt/notesSlides/notesSlide5.xml" Id="R7bcc84a0afe440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8dbc5e6c894335" /><Relationship Type="http://schemas.openxmlformats.org/officeDocument/2006/relationships/notesSlide" Target="/ppt/notesSlides/notesSlide6.xml" Id="R1059624741dd43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003d40ea0e48a2" /><Relationship Type="http://schemas.openxmlformats.org/officeDocument/2006/relationships/notesSlide" Target="/ppt/notesSlides/notesSlide7.xml" Id="Re830b5a56b7349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bbfed26378432f" /><Relationship Type="http://schemas.openxmlformats.org/officeDocument/2006/relationships/notesSlide" Target="/ppt/notesSlides/notesSlide8.xml" Id="Rd86417fbd60343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f6a3c755b54939" /><Relationship Type="http://schemas.openxmlformats.org/officeDocument/2006/relationships/notesSlide" Target="/ppt/notesSlides/notesSlide9.xml" Id="R093a403ac2174c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ec4eb55ab4472b" /><Relationship Type="http://schemas.openxmlformats.org/officeDocument/2006/relationships/notesSlide" Target="/ppt/notesSlides/notesSlide10.xml" Id="R0f16f30f45b643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85fa914f7e466f" /><Relationship Type="http://schemas.openxmlformats.org/officeDocument/2006/relationships/notesSlide" Target="/ppt/notesSlides/notesSlide11.xml" Id="R70c4c79ff73c4a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f68014c4514bac" /><Relationship Type="http://schemas.openxmlformats.org/officeDocument/2006/relationships/notesSlide" Target="/ppt/notesSlides/notesSlide12.xml" Id="R4944a2bd3bdf4747" /></Relationships>
</file>

<file path=ppt/slides/slide1.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83ECC40A-4F43-4DEE-A0A0-59926F5BC209}"/>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22D3EE"/>
                </a:solidFill>
              </a:defRPr>
            </a:defPPr>
            <a:lvl1pPr algn="l">
              <a:defRPr sz="1950" b="1">
                <a:solidFill>
                  <a:srgbClr val="22D3EE"/>
                </a:solidFill>
              </a:defRPr>
            </a:lvl1pPr>
            <a:lvl2pPr algn="l">
              <a:defRPr sz="1950" b="1">
                <a:solidFill>
                  <a:srgbClr val="22D3EE"/>
                </a:solidFill>
              </a:defRPr>
            </a:lvl2pPr>
            <a:lvl3pPr algn="l">
              <a:defRPr sz="1950" b="1">
                <a:solidFill>
                  <a:srgbClr val="22D3EE"/>
                </a:solidFill>
              </a:defRPr>
            </a:lvl3pPr>
            <a:lvl4pPr algn="l">
              <a:defRPr sz="1950" b="1">
                <a:solidFill>
                  <a:srgbClr val="22D3EE"/>
                </a:solidFill>
              </a:defRPr>
            </a:lvl4pPr>
            <a:lvl5pPr algn="l">
              <a:defRPr sz="1950" b="1">
                <a:solidFill>
                  <a:srgbClr val="22D3EE"/>
                </a:solidFill>
              </a:defRPr>
            </a:lvl5pPr>
            <a:lvl6pPr algn="l">
              <a:defRPr sz="1950" b="1">
                <a:solidFill>
                  <a:srgbClr val="22D3EE"/>
                </a:solidFill>
              </a:defRPr>
            </a:lvl6pPr>
            <a:lvl7pPr algn="l">
              <a:defRPr sz="1950" b="1">
                <a:solidFill>
                  <a:srgbClr val="22D3EE"/>
                </a:solidFill>
              </a:defRPr>
            </a:lvl7pPr>
            <a:lvl8pPr algn="l">
              <a:defRPr sz="1950" b="1">
                <a:solidFill>
                  <a:srgbClr val="22D3EE"/>
                </a:solidFill>
              </a:defRPr>
            </a:lvl8pPr>
            <a:lvl9pPr algn="l">
              <a:defRPr sz="1950" b="1">
                <a:solidFill>
                  <a:srgbClr val="22D3EE"/>
                </a:solidFill>
              </a:defRPr>
            </a:lvl9pPr>
          </a:lstStyle>
          <a:p xmlns:a="http://schemas.openxmlformats.org/drawingml/2006/main">
            <a:pPr algn="l">
              <a:defRPr sz="1950" b="1">
                <a:solidFill>
                  <a:srgbClr val="22D3EE"/>
                </a:solidFill>
              </a:defRPr>
            </a:pPr>
            <a:r>
              <a:rPr sz="1950" b="1">
                <a:solidFill>
                  <a:srgbClr val="22D3EE"/>
                </a:solidFill>
              </a:rPr>
              <a:t>CAPSTONE PRE-DEFENSE</a:t>
            </a:r>
          </a:p>
        </p:txBody>
      </p:sp>
      <p:sp>
        <p:nvSpPr>
          <p:cNvPr id="2" name="text-2">
            <a:extLst xmlns:a="http://schemas.openxmlformats.org/drawingml/2006/main">
              <a:ext uri="{FF2B5EF4-FFF2-40B4-BE49-F238E27FC236}">
                <a16:creationId xmlns:a16="http://schemas.microsoft.com/office/drawing/2014/main" id="{4785CF8A-1B8B-44F0-BA46-B2FB71F878DC}"/>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1</a:t>
            </a:r>
          </a:p>
        </p:txBody>
      </p:sp>
      <p:sp>
        <p:nvSpPr>
          <p:cNvPr id="3" name="text-3">
            <a:extLst xmlns:a="http://schemas.openxmlformats.org/drawingml/2006/main">
              <a:ext uri="{FF2B5EF4-FFF2-40B4-BE49-F238E27FC236}">
                <a16:creationId xmlns:a16="http://schemas.microsoft.com/office/drawing/2014/main" id="{04D303F8-8B75-496F-84CA-EF8F88EB1D95}"/>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01</a:t>
            </a:r>
          </a:p>
        </p:txBody>
      </p:sp>
      <p:sp>
        <p:nvSpPr>
          <p:cNvPr id="4" name="text-4">
            <a:extLst xmlns:a="http://schemas.openxmlformats.org/drawingml/2006/main">
              <a:ext uri="{FF2B5EF4-FFF2-40B4-BE49-F238E27FC236}">
                <a16:creationId xmlns:a16="http://schemas.microsoft.com/office/drawing/2014/main" id="{8FB53905-63E1-4125-8B62-67F317B70A0C}"/>
              </a:ext>
            </a:extLst>
          </p:cNvPr>
          <p:cNvSpPr>
            <a:spLocks xmlns:a="http://schemas.openxmlformats.org/drawingml/2006/main" noGrp="1"/>
          </p:cNvSpPr>
          <p:nvPr/>
        </p:nvSpPr>
        <p:spPr>
          <a:xfrm xmlns:a="http://schemas.openxmlformats.org/drawingml/2006/main">
            <a:off x="952500" y="1857375"/>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200" b="1">
                <a:solidFill>
                  <a:srgbClr val="F8FAFC"/>
                </a:solidFill>
              </a:defRPr>
            </a:defPPr>
            <a:lvl1pPr algn="l">
              <a:defRPr sz="10200" b="1">
                <a:solidFill>
                  <a:srgbClr val="F8FAFC"/>
                </a:solidFill>
              </a:defRPr>
            </a:lvl1pPr>
            <a:lvl2pPr algn="l">
              <a:defRPr sz="10200" b="1">
                <a:solidFill>
                  <a:srgbClr val="F8FAFC"/>
                </a:solidFill>
              </a:defRPr>
            </a:lvl2pPr>
            <a:lvl3pPr algn="l">
              <a:defRPr sz="10200" b="1">
                <a:solidFill>
                  <a:srgbClr val="F8FAFC"/>
                </a:solidFill>
              </a:defRPr>
            </a:lvl3pPr>
            <a:lvl4pPr algn="l">
              <a:defRPr sz="10200" b="1">
                <a:solidFill>
                  <a:srgbClr val="F8FAFC"/>
                </a:solidFill>
              </a:defRPr>
            </a:lvl4pPr>
            <a:lvl5pPr algn="l">
              <a:defRPr sz="10200" b="1">
                <a:solidFill>
                  <a:srgbClr val="F8FAFC"/>
                </a:solidFill>
              </a:defRPr>
            </a:lvl5pPr>
            <a:lvl6pPr algn="l">
              <a:defRPr sz="10200" b="1">
                <a:solidFill>
                  <a:srgbClr val="F8FAFC"/>
                </a:solidFill>
              </a:defRPr>
            </a:lvl6pPr>
            <a:lvl7pPr algn="l">
              <a:defRPr sz="10200" b="1">
                <a:solidFill>
                  <a:srgbClr val="F8FAFC"/>
                </a:solidFill>
              </a:defRPr>
            </a:lvl7pPr>
            <a:lvl8pPr algn="l">
              <a:defRPr sz="10200" b="1">
                <a:solidFill>
                  <a:srgbClr val="F8FAFC"/>
                </a:solidFill>
              </a:defRPr>
            </a:lvl8pPr>
            <a:lvl9pPr algn="l">
              <a:defRPr sz="10200" b="1">
                <a:solidFill>
                  <a:srgbClr val="F8FAFC"/>
                </a:solidFill>
              </a:defRPr>
            </a:lvl9pPr>
          </a:lstStyle>
          <a:p xmlns:a="http://schemas.openxmlformats.org/drawingml/2006/main">
            <a:pPr algn="l">
              <a:defRPr sz="10200" b="1">
                <a:solidFill>
                  <a:srgbClr val="F8FAFC"/>
                </a:solidFill>
              </a:defRPr>
            </a:pPr>
            <a:r>
              <a:rPr sz="10200" b="1">
                <a:solidFill>
                  <a:srgbClr val="F8FAFC"/>
                </a:solidFill>
              </a:rPr>
              <a:t>KodiGo</a:t>
            </a:r>
          </a:p>
        </p:txBody>
      </p:sp>
      <p:sp>
        <p:nvSpPr>
          <p:cNvPr id="5" name="text-5">
            <a:extLst xmlns:a="http://schemas.openxmlformats.org/drawingml/2006/main">
              <a:ext uri="{FF2B5EF4-FFF2-40B4-BE49-F238E27FC236}">
                <a16:creationId xmlns:a16="http://schemas.microsoft.com/office/drawing/2014/main" id="{57980B89-3868-4709-9590-B7842FA0EBBD}"/>
              </a:ext>
            </a:extLst>
          </p:cNvPr>
          <p:cNvSpPr>
            <a:spLocks xmlns:a="http://schemas.openxmlformats.org/drawingml/2006/main" noGrp="1"/>
          </p:cNvSpPr>
          <p:nvPr/>
        </p:nvSpPr>
        <p:spPr>
          <a:xfrm xmlns:a="http://schemas.openxmlformats.org/drawingml/2006/main">
            <a:off x="1009650" y="3619500"/>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0">
                <a:solidFill>
                  <a:srgbClr val="60A5FA"/>
                </a:solidFill>
              </a:defRPr>
            </a:defPPr>
            <a:lvl1pPr algn="l">
              <a:defRPr sz="2850" b="0">
                <a:solidFill>
                  <a:srgbClr val="60A5FA"/>
                </a:solidFill>
              </a:defRPr>
            </a:lvl1pPr>
            <a:lvl2pPr algn="l">
              <a:defRPr sz="2850" b="0">
                <a:solidFill>
                  <a:srgbClr val="60A5FA"/>
                </a:solidFill>
              </a:defRPr>
            </a:lvl2pPr>
            <a:lvl3pPr algn="l">
              <a:defRPr sz="2850" b="0">
                <a:solidFill>
                  <a:srgbClr val="60A5FA"/>
                </a:solidFill>
              </a:defRPr>
            </a:lvl3pPr>
            <a:lvl4pPr algn="l">
              <a:defRPr sz="2850" b="0">
                <a:solidFill>
                  <a:srgbClr val="60A5FA"/>
                </a:solidFill>
              </a:defRPr>
            </a:lvl4pPr>
            <a:lvl5pPr algn="l">
              <a:defRPr sz="2850" b="0">
                <a:solidFill>
                  <a:srgbClr val="60A5FA"/>
                </a:solidFill>
              </a:defRPr>
            </a:lvl5pPr>
            <a:lvl6pPr algn="l">
              <a:defRPr sz="2850" b="0">
                <a:solidFill>
                  <a:srgbClr val="60A5FA"/>
                </a:solidFill>
              </a:defRPr>
            </a:lvl6pPr>
            <a:lvl7pPr algn="l">
              <a:defRPr sz="2850" b="0">
                <a:solidFill>
                  <a:srgbClr val="60A5FA"/>
                </a:solidFill>
              </a:defRPr>
            </a:lvl7pPr>
            <a:lvl8pPr algn="l">
              <a:defRPr sz="2850" b="0">
                <a:solidFill>
                  <a:srgbClr val="60A5FA"/>
                </a:solidFill>
              </a:defRPr>
            </a:lvl8pPr>
            <a:lvl9pPr algn="l">
              <a:defRPr sz="2850" b="0">
                <a:solidFill>
                  <a:srgbClr val="60A5FA"/>
                </a:solidFill>
              </a:defRPr>
            </a:lvl9pPr>
          </a:lstStyle>
          <a:p xmlns:a="http://schemas.openxmlformats.org/drawingml/2006/main">
            <a:pPr algn="l">
              <a:defRPr sz="2850" b="0">
                <a:solidFill>
                  <a:srgbClr val="60A5FA"/>
                </a:solidFill>
              </a:defRPr>
            </a:pPr>
            <a:r>
              <a:rPr sz="2850" b="0">
                <a:solidFill>
                  <a:srgbClr val="60A5FA"/>
                </a:solidFill>
              </a:rPr>
              <a:t>Point-of-Sale and Inventory Management System</a:t>
            </a:r>
          </a:p>
        </p:txBody>
      </p:sp>
      <p:sp>
        <p:nvSpPr>
          <p:cNvPr id="6" name="text-6">
            <a:extLst xmlns:a="http://schemas.openxmlformats.org/drawingml/2006/main">
              <a:ext uri="{FF2B5EF4-FFF2-40B4-BE49-F238E27FC236}">
                <a16:creationId xmlns:a16="http://schemas.microsoft.com/office/drawing/2014/main" id="{56F2DF0B-D8B7-48FF-AE7C-685CC6A26140}"/>
              </a:ext>
            </a:extLst>
          </p:cNvPr>
          <p:cNvSpPr>
            <a:spLocks xmlns:a="http://schemas.openxmlformats.org/drawingml/2006/main" noGrp="1"/>
          </p:cNvSpPr>
          <p:nvPr/>
        </p:nvSpPr>
        <p:spPr>
          <a:xfrm xmlns:a="http://schemas.openxmlformats.org/drawingml/2006/main">
            <a:off x="1009650" y="4524375"/>
            <a:ext cx="11811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F8FAFC"/>
                </a:solidFill>
              </a:defRPr>
            </a:defPPr>
            <a:lvl1pPr algn="l">
              <a:defRPr sz="2400" b="0">
                <a:solidFill>
                  <a:srgbClr val="F8FAFC"/>
                </a:solidFill>
              </a:defRPr>
            </a:lvl1pPr>
            <a:lvl2pPr algn="l">
              <a:defRPr sz="2400" b="0">
                <a:solidFill>
                  <a:srgbClr val="F8FAFC"/>
                </a:solidFill>
              </a:defRPr>
            </a:lvl2pPr>
            <a:lvl3pPr algn="l">
              <a:defRPr sz="2400" b="0">
                <a:solidFill>
                  <a:srgbClr val="F8FAFC"/>
                </a:solidFill>
              </a:defRPr>
            </a:lvl3pPr>
            <a:lvl4pPr algn="l">
              <a:defRPr sz="2400" b="0">
                <a:solidFill>
                  <a:srgbClr val="F8FAFC"/>
                </a:solidFill>
              </a:defRPr>
            </a:lvl4pPr>
            <a:lvl5pPr algn="l">
              <a:defRPr sz="2400" b="0">
                <a:solidFill>
                  <a:srgbClr val="F8FAFC"/>
                </a:solidFill>
              </a:defRPr>
            </a:lvl5pPr>
            <a:lvl6pPr algn="l">
              <a:defRPr sz="2400" b="0">
                <a:solidFill>
                  <a:srgbClr val="F8FAFC"/>
                </a:solidFill>
              </a:defRPr>
            </a:lvl6pPr>
            <a:lvl7pPr algn="l">
              <a:defRPr sz="2400" b="0">
                <a:solidFill>
                  <a:srgbClr val="F8FAFC"/>
                </a:solidFill>
              </a:defRPr>
            </a:lvl7pPr>
            <a:lvl8pPr algn="l">
              <a:defRPr sz="2400" b="0">
                <a:solidFill>
                  <a:srgbClr val="F8FAFC"/>
                </a:solidFill>
              </a:defRPr>
            </a:lvl8pPr>
            <a:lvl9pPr algn="l">
              <a:defRPr sz="2400" b="0">
                <a:solidFill>
                  <a:srgbClr val="F8FAFC"/>
                </a:solidFill>
              </a:defRPr>
            </a:lvl9pPr>
          </a:lstStyle>
          <a:p xmlns:a="http://schemas.openxmlformats.org/drawingml/2006/main">
            <a:pPr algn="l">
              <a:defRPr sz="2400" b="0">
                <a:solidFill>
                  <a:srgbClr val="F8FAFC"/>
                </a:solidFill>
              </a:defRPr>
            </a:pPr>
            <a:r>
              <a:rPr sz="2400" b="0">
                <a:solidFill>
                  <a:srgbClr val="F8FAFC"/>
                </a:solidFill>
              </a:rPr>
              <a:t>Architecting a Lightweight Cloud-Based Inventory and Financial</a:t>
            </a:r>
          </a:p>
          <a:p xmlns:a="http://schemas.openxmlformats.org/drawingml/2006/main">
            <a:pPr algn="l">
              <a:defRPr sz="2400" b="0">
                <a:solidFill>
                  <a:srgbClr val="F8FAFC"/>
                </a:solidFill>
              </a:defRPr>
            </a:pPr>
            <a:r>
              <a:rPr sz="2400" b="0">
                <a:solidFill>
                  <a:srgbClr val="F8FAFC"/>
                </a:solidFill>
              </a:rPr>
              <a:t>Management System: A Mixed-Methods Evaluation of</a:t>
            </a:r>
          </a:p>
          <a:p xmlns:a="http://schemas.openxmlformats.org/drawingml/2006/main">
            <a:pPr algn="l">
              <a:defRPr sz="2400" b="0">
                <a:solidFill>
                  <a:srgbClr val="F8FAFC"/>
                </a:solidFill>
              </a:defRPr>
            </a:pPr>
            <a:r>
              <a:rPr sz="2400" b="0">
                <a:solidFill>
                  <a:srgbClr val="F8FAFC"/>
                </a:solidFill>
              </a:rPr>
              <a:t>Decision-Making Efficiency in Philippine SMEs</a:t>
            </a:r>
          </a:p>
        </p:txBody>
      </p:sp>
      <p:sp>
        <p:nvSpPr>
          <p:cNvPr id="7" name="text-7">
            <a:extLst xmlns:a="http://schemas.openxmlformats.org/drawingml/2006/main">
              <a:ext uri="{FF2B5EF4-FFF2-40B4-BE49-F238E27FC236}">
                <a16:creationId xmlns:a16="http://schemas.microsoft.com/office/drawing/2014/main" id="{827EDD3D-26CB-423C-9B98-C7AC5C9B11EF}"/>
              </a:ext>
            </a:extLst>
          </p:cNvPr>
          <p:cNvSpPr>
            <a:spLocks xmlns:a="http://schemas.openxmlformats.org/drawingml/2006/main" noGrp="1"/>
          </p:cNvSpPr>
          <p:nvPr/>
        </p:nvSpPr>
        <p:spPr>
          <a:xfrm xmlns:a="http://schemas.openxmlformats.org/drawingml/2006/main">
            <a:off x="1009650" y="6743700"/>
            <a:ext cx="1028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F8FAFC"/>
                </a:solidFill>
              </a:defRPr>
            </a:defPPr>
            <a:lvl1pPr algn="l">
              <a:defRPr sz="2400" b="0">
                <a:solidFill>
                  <a:srgbClr val="F8FAFC"/>
                </a:solidFill>
              </a:defRPr>
            </a:lvl1pPr>
            <a:lvl2pPr algn="l">
              <a:defRPr sz="2400" b="0">
                <a:solidFill>
                  <a:srgbClr val="F8FAFC"/>
                </a:solidFill>
              </a:defRPr>
            </a:lvl2pPr>
            <a:lvl3pPr algn="l">
              <a:defRPr sz="2400" b="0">
                <a:solidFill>
                  <a:srgbClr val="F8FAFC"/>
                </a:solidFill>
              </a:defRPr>
            </a:lvl3pPr>
            <a:lvl4pPr algn="l">
              <a:defRPr sz="2400" b="0">
                <a:solidFill>
                  <a:srgbClr val="F8FAFC"/>
                </a:solidFill>
              </a:defRPr>
            </a:lvl4pPr>
            <a:lvl5pPr algn="l">
              <a:defRPr sz="2400" b="0">
                <a:solidFill>
                  <a:srgbClr val="F8FAFC"/>
                </a:solidFill>
              </a:defRPr>
            </a:lvl5pPr>
            <a:lvl6pPr algn="l">
              <a:defRPr sz="2400" b="0">
                <a:solidFill>
                  <a:srgbClr val="F8FAFC"/>
                </a:solidFill>
              </a:defRPr>
            </a:lvl6pPr>
            <a:lvl7pPr algn="l">
              <a:defRPr sz="2400" b="0">
                <a:solidFill>
                  <a:srgbClr val="F8FAFC"/>
                </a:solidFill>
              </a:defRPr>
            </a:lvl7pPr>
            <a:lvl8pPr algn="l">
              <a:defRPr sz="2400" b="0">
                <a:solidFill>
                  <a:srgbClr val="F8FAFC"/>
                </a:solidFill>
              </a:defRPr>
            </a:lvl8pPr>
            <a:lvl9pPr algn="l">
              <a:defRPr sz="2400" b="0">
                <a:solidFill>
                  <a:srgbClr val="F8FAFC"/>
                </a:solidFill>
              </a:defRPr>
            </a:lvl9pPr>
          </a:lstStyle>
          <a:p xmlns:a="http://schemas.openxmlformats.org/drawingml/2006/main">
            <a:pPr algn="l">
              <a:defRPr sz="2400" b="0">
                <a:solidFill>
                  <a:srgbClr val="F8FAFC"/>
                </a:solidFill>
              </a:defRPr>
            </a:pPr>
            <a:r>
              <a:rPr sz="2400" b="0">
                <a:solidFill>
                  <a:srgbClr val="F8FAFC"/>
                </a:solidFill>
              </a:rPr>
              <a:t>Evon Christian Pahugot Vergara</a:t>
            </a:r>
          </a:p>
          <a:p xmlns:a="http://schemas.openxmlformats.org/drawingml/2006/main">
            <a:pPr algn="l">
              <a:defRPr sz="2400" b="0">
                <a:solidFill>
                  <a:srgbClr val="F8FAFC"/>
                </a:solidFill>
              </a:defRPr>
            </a:pPr>
            <a:r>
              <a:rPr sz="2400" b="0">
                <a:solidFill>
                  <a:srgbClr val="F8FAFC"/>
                </a:solidFill>
              </a:rPr>
              <a:t>Justin Comendador</a:t>
            </a:r>
          </a:p>
          <a:p xmlns:a="http://schemas.openxmlformats.org/drawingml/2006/main">
            <a:pPr algn="l">
              <a:defRPr sz="2400" b="0">
                <a:solidFill>
                  <a:srgbClr val="F8FAFC"/>
                </a:solidFill>
              </a:defRPr>
            </a:pPr>
            <a:r>
              <a:rPr sz="2400" b="0">
                <a:solidFill>
                  <a:srgbClr val="F8FAFC"/>
                </a:solidFill>
              </a:rPr>
              <a:t>Xymmer James Nadera</a:t>
            </a:r>
          </a:p>
        </p:txBody>
      </p:sp>
      <p:sp>
        <p:nvSpPr>
          <p:cNvPr id="8" name="text-8">
            <a:extLst xmlns:a="http://schemas.openxmlformats.org/drawingml/2006/main">
              <a:ext uri="{FF2B5EF4-FFF2-40B4-BE49-F238E27FC236}">
                <a16:creationId xmlns:a16="http://schemas.microsoft.com/office/drawing/2014/main" id="{22D52738-3F71-41DD-A85A-C72BF965162B}"/>
              </a:ext>
            </a:extLst>
          </p:cNvPr>
          <p:cNvSpPr>
            <a:spLocks xmlns:a="http://schemas.openxmlformats.org/drawingml/2006/main" noGrp="1"/>
          </p:cNvSpPr>
          <p:nvPr/>
        </p:nvSpPr>
        <p:spPr>
          <a:xfrm xmlns:a="http://schemas.openxmlformats.org/drawingml/2006/main">
            <a:off x="1009650" y="8458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9B8CB"/>
                </a:solidFill>
              </a:defRPr>
            </a:defPPr>
            <a:lvl1pPr algn="l">
              <a:defRPr sz="1875" b="0">
                <a:solidFill>
                  <a:srgbClr val="A9B8CB"/>
                </a:solidFill>
              </a:defRPr>
            </a:lvl1pPr>
            <a:lvl2pPr algn="l">
              <a:defRPr sz="1875" b="0">
                <a:solidFill>
                  <a:srgbClr val="A9B8CB"/>
                </a:solidFill>
              </a:defRPr>
            </a:lvl2pPr>
            <a:lvl3pPr algn="l">
              <a:defRPr sz="1875" b="0">
                <a:solidFill>
                  <a:srgbClr val="A9B8CB"/>
                </a:solidFill>
              </a:defRPr>
            </a:lvl3pPr>
            <a:lvl4pPr algn="l">
              <a:defRPr sz="1875" b="0">
                <a:solidFill>
                  <a:srgbClr val="A9B8CB"/>
                </a:solidFill>
              </a:defRPr>
            </a:lvl4pPr>
            <a:lvl5pPr algn="l">
              <a:defRPr sz="1875" b="0">
                <a:solidFill>
                  <a:srgbClr val="A9B8CB"/>
                </a:solidFill>
              </a:defRPr>
            </a:lvl5pPr>
            <a:lvl6pPr algn="l">
              <a:defRPr sz="1875" b="0">
                <a:solidFill>
                  <a:srgbClr val="A9B8CB"/>
                </a:solidFill>
              </a:defRPr>
            </a:lvl6pPr>
            <a:lvl7pPr algn="l">
              <a:defRPr sz="1875" b="0">
                <a:solidFill>
                  <a:srgbClr val="A9B8CB"/>
                </a:solidFill>
              </a:defRPr>
            </a:lvl7pPr>
            <a:lvl8pPr algn="l">
              <a:defRPr sz="1875" b="0">
                <a:solidFill>
                  <a:srgbClr val="A9B8CB"/>
                </a:solidFill>
              </a:defRPr>
            </a:lvl8pPr>
            <a:lvl9pPr algn="l">
              <a:defRPr sz="1875" b="0">
                <a:solidFill>
                  <a:srgbClr val="A9B8CB"/>
                </a:solidFill>
              </a:defRPr>
            </a:lvl9pPr>
          </a:lstStyle>
          <a:p xmlns:a="http://schemas.openxmlformats.org/drawingml/2006/main">
            <a:pPr algn="l">
              <a:defRPr sz="1875" b="0">
                <a:solidFill>
                  <a:srgbClr val="A9B8CB"/>
                </a:solidFill>
              </a:defRPr>
            </a:pPr>
            <a:r>
              <a:rPr sz="1875" b="0">
                <a:solidFill>
                  <a:srgbClr val="A9B8CB"/>
                </a:solidFill>
              </a:rPr>
              <a:t>Southwestern University – PHINMA</a:t>
            </a:r>
          </a:p>
          <a:p xmlns:a="http://schemas.openxmlformats.org/drawingml/2006/main">
            <a:pPr algn="l">
              <a:defRPr sz="1875" b="0">
                <a:solidFill>
                  <a:srgbClr val="A9B8CB"/>
                </a:solidFill>
              </a:defRPr>
            </a:pPr>
            <a:r>
              <a:rPr sz="1875" b="0">
                <a:solidFill>
                  <a:srgbClr val="A9B8CB"/>
                </a:solidFill>
              </a:rPr>
              <a:t>College of Information Technology and Engineering</a:t>
            </a:r>
          </a:p>
        </p:txBody>
      </p:sp>
      <p:sp>
        <p:nvSpPr>
          <p:cNvPr id="9" name="text-9">
            <a:extLst xmlns:a="http://schemas.openxmlformats.org/drawingml/2006/main">
              <a:ext uri="{FF2B5EF4-FFF2-40B4-BE49-F238E27FC236}">
                <a16:creationId xmlns:a16="http://schemas.microsoft.com/office/drawing/2014/main" id="{452B6E21-13EA-4A86-AC1A-C7517610C46B}"/>
              </a:ext>
            </a:extLst>
          </p:cNvPr>
          <p:cNvSpPr>
            <a:spLocks xmlns:a="http://schemas.openxmlformats.org/drawingml/2006/main" noGrp="1"/>
          </p:cNvSpPr>
          <p:nvPr/>
        </p:nvSpPr>
        <p:spPr>
          <a:xfrm xmlns:a="http://schemas.openxmlformats.org/drawingml/2006/main">
            <a:off x="12287250" y="8477250"/>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9B8CB"/>
                </a:solidFill>
              </a:defRPr>
            </a:defPPr>
            <a:lvl1pPr algn="l">
              <a:defRPr sz="1875" b="0">
                <a:solidFill>
                  <a:srgbClr val="A9B8CB"/>
                </a:solidFill>
              </a:defRPr>
            </a:lvl1pPr>
            <a:lvl2pPr algn="l">
              <a:defRPr sz="1875" b="0">
                <a:solidFill>
                  <a:srgbClr val="A9B8CB"/>
                </a:solidFill>
              </a:defRPr>
            </a:lvl2pPr>
            <a:lvl3pPr algn="l">
              <a:defRPr sz="1875" b="0">
                <a:solidFill>
                  <a:srgbClr val="A9B8CB"/>
                </a:solidFill>
              </a:defRPr>
            </a:lvl3pPr>
            <a:lvl4pPr algn="l">
              <a:defRPr sz="1875" b="0">
                <a:solidFill>
                  <a:srgbClr val="A9B8CB"/>
                </a:solidFill>
              </a:defRPr>
            </a:lvl4pPr>
            <a:lvl5pPr algn="l">
              <a:defRPr sz="1875" b="0">
                <a:solidFill>
                  <a:srgbClr val="A9B8CB"/>
                </a:solidFill>
              </a:defRPr>
            </a:lvl5pPr>
            <a:lvl6pPr algn="l">
              <a:defRPr sz="1875" b="0">
                <a:solidFill>
                  <a:srgbClr val="A9B8CB"/>
                </a:solidFill>
              </a:defRPr>
            </a:lvl6pPr>
            <a:lvl7pPr algn="l">
              <a:defRPr sz="1875" b="0">
                <a:solidFill>
                  <a:srgbClr val="A9B8CB"/>
                </a:solidFill>
              </a:defRPr>
            </a:lvl7pPr>
            <a:lvl8pPr algn="l">
              <a:defRPr sz="1875" b="0">
                <a:solidFill>
                  <a:srgbClr val="A9B8CB"/>
                </a:solidFill>
              </a:defRPr>
            </a:lvl8pPr>
            <a:lvl9pPr algn="l">
              <a:defRPr sz="1875" b="0">
                <a:solidFill>
                  <a:srgbClr val="A9B8CB"/>
                </a:solidFill>
              </a:defRPr>
            </a:lvl9pPr>
          </a:lstStyle>
          <a:p xmlns:a="http://schemas.openxmlformats.org/drawingml/2006/main">
            <a:pPr algn="l">
              <a:defRPr sz="1875" b="0">
                <a:solidFill>
                  <a:srgbClr val="A9B8CB"/>
                </a:solidFill>
              </a:defRPr>
            </a:pPr>
            <a:r>
              <a:rPr sz="1875" b="0">
                <a:solidFill>
                  <a:srgbClr val="A9B8CB"/>
                </a:solidFill>
              </a:rPr>
              <a:t>Adviser: [Adviser name]</a:t>
            </a:r>
          </a:p>
          <a:p xmlns:a="http://schemas.openxmlformats.org/drawingml/2006/main">
            <a:pPr algn="l">
              <a:defRPr sz="1875" b="0">
                <a:solidFill>
                  <a:srgbClr val="A9B8CB"/>
                </a:solidFill>
              </a:defRPr>
            </a:pPr>
            <a:r>
              <a:rPr sz="1875" b="0">
                <a:solidFill>
                  <a:srgbClr val="A9B8CB"/>
                </a:solidFill>
              </a:rPr>
              <a:t>Academic year: [Academic year]</a:t>
            </a:r>
          </a:p>
        </p:txBody>
      </p:sp>
      <p:pic>
        <p:nvPicPr>
          <p:cNvPr id="10" name="">
            <a:extLst xmlns:a="http://schemas.openxmlformats.org/drawingml/2006/main">
              <a:ext uri="{FF2B5EF4-FFF2-40B4-BE49-F238E27FC236}">
                <a16:creationId xmlns:a16="http://schemas.microsoft.com/office/drawing/2014/main" id="{EF5C619F-608F-472D-B599-3167ECD48268}"/>
              </a:ext>
            </a:extLst>
          </p:cNvPr>
          <p:cNvPicPr>
            <a:picLocks xmlns:a="http://schemas.openxmlformats.org/drawingml/2006/main" noChangeAspect="1"/>
          </p:cNvPicPr>
          <p:nvPr/>
        </p:nvPicPr>
        <p:blipFill>
          <a:blip xmlns:r="http://schemas.openxmlformats.org/officeDocument/2006/relationships" xmlns:a="http://schemas.openxmlformats.org/drawingml/2006/main" r:embed="R3bafbbc24bd04db2"/>
          <a:stretch xmlns:a="http://schemas.openxmlformats.org/drawingml/2006/main"/>
        </p:blipFill>
        <p:spPr>
          <a:xfrm xmlns:a="http://schemas.openxmlformats.org/drawingml/2006/main">
            <a:off x="13239750" y="2190750"/>
            <a:ext cx="3810000" cy="3810000"/>
          </a:xfrm>
          <a:prstGeom xmlns:a="http://schemas.openxmlformats.org/drawingml/2006/main" prst="rect">
            <a:avLst/>
          </a:prstGeom>
        </p:spPr>
      </p:pic>
    </p:spTree>
    <p:extLst>
      <p:ext uri="{BB962C8B-B14F-4D97-AF65-F5344CB8AC3E}">
        <p14:creationId xmlns:p14="http://schemas.microsoft.com/office/powerpoint/2010/main" val="19744741"/>
      </p:ext>
    </p:extLst>
  </p:cSld>
</p:sld>
</file>

<file path=ppt/slides/slide2.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9C4CAFE-A931-4B05-92C8-3AC373CDA10E}"/>
              </a:ext>
            </a:extLst>
          </p:cNvPr>
          <p:cNvCxnSpPr>
            <a:stCxn xmlns:a="http://schemas.openxmlformats.org/drawingml/2006/main" id="19" idx="3"/>
            <a:endCxn xmlns:a="http://schemas.openxmlformats.org/drawingml/2006/main" id="20" idx="1"/>
          </p:cNvCxnSpPr>
          <p:nvPr/>
        </p:nvCxnSpPr>
        <p:spPr>
          <a:xfrm xmlns:a="http://schemas.openxmlformats.org/drawingml/2006/main">
            <a:off x="8191500" y="7772400"/>
            <a:ext cx="2190750" cy="119063"/>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7" name="">
            <a:extLst xmlns:a="http://schemas.openxmlformats.org/drawingml/2006/main">
              <a:ext uri="{FF2B5EF4-FFF2-40B4-BE49-F238E27FC236}">
                <a16:creationId xmlns:a16="http://schemas.microsoft.com/office/drawing/2014/main" id="{772F735C-F7ED-4DB3-86AA-3FB742F99EC8}"/>
              </a:ext>
            </a:extLst>
          </p:cNvPr>
          <p:cNvCxnSpPr>
            <a:stCxn xmlns:a="http://schemas.openxmlformats.org/drawingml/2006/main" id="15" idx="3"/>
            <a:endCxn xmlns:a="http://schemas.openxmlformats.org/drawingml/2006/main" id="16" idx="1"/>
          </p:cNvCxnSpPr>
          <p:nvPr/>
        </p:nvCxnSpPr>
        <p:spPr>
          <a:xfrm xmlns:a="http://schemas.openxmlformats.org/drawingml/2006/main">
            <a:off x="8191500" y="6486525"/>
            <a:ext cx="2190750" cy="119063"/>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3" name="">
            <a:extLst xmlns:a="http://schemas.openxmlformats.org/drawingml/2006/main">
              <a:ext uri="{FF2B5EF4-FFF2-40B4-BE49-F238E27FC236}">
                <a16:creationId xmlns:a16="http://schemas.microsoft.com/office/drawing/2014/main" id="{77EB9E31-9045-4EED-A35D-5E681B0309B4}"/>
              </a:ext>
            </a:extLst>
          </p:cNvPr>
          <p:cNvCxnSpPr>
            <a:stCxn xmlns:a="http://schemas.openxmlformats.org/drawingml/2006/main" id="11" idx="3"/>
            <a:endCxn xmlns:a="http://schemas.openxmlformats.org/drawingml/2006/main" id="12" idx="1"/>
          </p:cNvCxnSpPr>
          <p:nvPr/>
        </p:nvCxnSpPr>
        <p:spPr>
          <a:xfrm xmlns:a="http://schemas.openxmlformats.org/drawingml/2006/main">
            <a:off x="8191500" y="5200650"/>
            <a:ext cx="2190750" cy="119063"/>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9" name="">
            <a:extLst xmlns:a="http://schemas.openxmlformats.org/drawingml/2006/main">
              <a:ext uri="{FF2B5EF4-FFF2-40B4-BE49-F238E27FC236}">
                <a16:creationId xmlns:a16="http://schemas.microsoft.com/office/drawing/2014/main" id="{BC648F93-5F39-44FA-807D-DB96DE236C8D}"/>
              </a:ext>
            </a:extLst>
          </p:cNvPr>
          <p:cNvCxnSpPr>
            <a:stCxn xmlns:a="http://schemas.openxmlformats.org/drawingml/2006/main" id="7" idx="3"/>
            <a:endCxn xmlns:a="http://schemas.openxmlformats.org/drawingml/2006/main" id="8" idx="1"/>
          </p:cNvCxnSpPr>
          <p:nvPr/>
        </p:nvCxnSpPr>
        <p:spPr>
          <a:xfrm xmlns:a="http://schemas.openxmlformats.org/drawingml/2006/main">
            <a:off x="8191500" y="3914775"/>
            <a:ext cx="2190750" cy="119063"/>
          </a:xfrm>
          <a:prstGeom xmlns:a="http://schemas.openxmlformats.org/drawingml/2006/main" prst="straightConnector1">
            <a:avLst/>
          </a:prstGeom>
          <a:ln xmlns:a="http://schemas.openxmlformats.org/drawingml/2006/main" w="28575">
            <a:solidFill>
              <a:srgbClr val="60A5FA"/>
            </a:solidFill>
            <a:tailEnd type="triangle" w="med" len="med"/>
          </a:ln>
        </p:spPr>
      </p:cxnSp>
      <p:sp>
        <p:nvSpPr>
          <p:cNvPr id="23" name="text-10">
            <a:extLst xmlns:a="http://schemas.openxmlformats.org/drawingml/2006/main">
              <a:ext uri="{FF2B5EF4-FFF2-40B4-BE49-F238E27FC236}">
                <a16:creationId xmlns:a16="http://schemas.microsoft.com/office/drawing/2014/main" id="{B446F67D-C0BC-4804-BB01-2A29AEFBC035}"/>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Problem background</a:t>
            </a:r>
          </a:p>
        </p:txBody>
      </p:sp>
      <p:sp>
        <p:nvSpPr>
          <p:cNvPr id="2" name="text-11">
            <a:extLst xmlns:a="http://schemas.openxmlformats.org/drawingml/2006/main">
              <a:ext uri="{FF2B5EF4-FFF2-40B4-BE49-F238E27FC236}">
                <a16:creationId xmlns:a16="http://schemas.microsoft.com/office/drawing/2014/main" id="{E11DBB8F-91E7-4B59-B83C-598A299BCE1D}"/>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1</a:t>
            </a:r>
          </a:p>
        </p:txBody>
      </p:sp>
      <p:sp>
        <p:nvSpPr>
          <p:cNvPr id="3" name="text-12">
            <a:extLst xmlns:a="http://schemas.openxmlformats.org/drawingml/2006/main">
              <a:ext uri="{FF2B5EF4-FFF2-40B4-BE49-F238E27FC236}">
                <a16:creationId xmlns:a16="http://schemas.microsoft.com/office/drawing/2014/main" id="{B5508C61-2B00-4247-80D0-AF281FBB5CC0}"/>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02</a:t>
            </a:r>
          </a:p>
        </p:txBody>
      </p:sp>
      <p:sp>
        <p:nvSpPr>
          <p:cNvPr id="4" name="text-13">
            <a:extLst xmlns:a="http://schemas.openxmlformats.org/drawingml/2006/main">
              <a:ext uri="{FF2B5EF4-FFF2-40B4-BE49-F238E27FC236}">
                <a16:creationId xmlns:a16="http://schemas.microsoft.com/office/drawing/2014/main" id="{F42CBA99-4987-4E86-BBAF-7B4275477145}"/>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Operational problems described in the capstone manuscript</a:t>
            </a:r>
          </a:p>
        </p:txBody>
      </p:sp>
      <p:sp>
        <p:nvSpPr>
          <p:cNvPr id="5" name="text-14">
            <a:extLst xmlns:a="http://schemas.openxmlformats.org/drawingml/2006/main">
              <a:ext uri="{FF2B5EF4-FFF2-40B4-BE49-F238E27FC236}">
                <a16:creationId xmlns:a16="http://schemas.microsoft.com/office/drawing/2014/main" id="{D572D9EF-197C-4F7A-943A-9E58D55B8DA8}"/>
              </a:ext>
            </a:extLst>
          </p:cNvPr>
          <p:cNvSpPr>
            <a:spLocks xmlns:a="http://schemas.openxmlformats.org/drawingml/2006/main" noGrp="1"/>
          </p:cNvSpPr>
          <p:nvPr/>
        </p:nvSpPr>
        <p:spPr>
          <a:xfrm xmlns:a="http://schemas.openxmlformats.org/drawingml/2006/main">
            <a:off x="952500" y="27146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22D3EE"/>
                </a:solidFill>
              </a:defRPr>
            </a:defPPr>
            <a:lvl1pPr algn="l">
              <a:defRPr sz="2175" b="1">
                <a:solidFill>
                  <a:srgbClr val="22D3EE"/>
                </a:solidFill>
              </a:defRPr>
            </a:lvl1pPr>
            <a:lvl2pPr algn="l">
              <a:defRPr sz="2175" b="1">
                <a:solidFill>
                  <a:srgbClr val="22D3EE"/>
                </a:solidFill>
              </a:defRPr>
            </a:lvl2pPr>
            <a:lvl3pPr algn="l">
              <a:defRPr sz="2175" b="1">
                <a:solidFill>
                  <a:srgbClr val="22D3EE"/>
                </a:solidFill>
              </a:defRPr>
            </a:lvl3pPr>
            <a:lvl4pPr algn="l">
              <a:defRPr sz="2175" b="1">
                <a:solidFill>
                  <a:srgbClr val="22D3EE"/>
                </a:solidFill>
              </a:defRPr>
            </a:lvl4pPr>
            <a:lvl5pPr algn="l">
              <a:defRPr sz="2175" b="1">
                <a:solidFill>
                  <a:srgbClr val="22D3EE"/>
                </a:solidFill>
              </a:defRPr>
            </a:lvl5pPr>
            <a:lvl6pPr algn="l">
              <a:defRPr sz="2175" b="1">
                <a:solidFill>
                  <a:srgbClr val="22D3EE"/>
                </a:solidFill>
              </a:defRPr>
            </a:lvl6pPr>
            <a:lvl7pPr algn="l">
              <a:defRPr sz="2175" b="1">
                <a:solidFill>
                  <a:srgbClr val="22D3EE"/>
                </a:solidFill>
              </a:defRPr>
            </a:lvl7pPr>
            <a:lvl8pPr algn="l">
              <a:defRPr sz="2175" b="1">
                <a:solidFill>
                  <a:srgbClr val="22D3EE"/>
                </a:solidFill>
              </a:defRPr>
            </a:lvl8pPr>
            <a:lvl9pPr algn="l">
              <a:defRPr sz="2175" b="1">
                <a:solidFill>
                  <a:srgbClr val="22D3EE"/>
                </a:solidFill>
              </a:defRPr>
            </a:lvl9pPr>
          </a:lstStyle>
          <a:p xmlns:a="http://schemas.openxmlformats.org/drawingml/2006/main">
            <a:pPr algn="l">
              <a:defRPr sz="2175" b="1">
                <a:solidFill>
                  <a:srgbClr val="22D3EE"/>
                </a:solidFill>
              </a:defRPr>
            </a:pPr>
            <a:r>
              <a:rPr sz="2175" b="1">
                <a:solidFill>
                  <a:srgbClr val="22D3EE"/>
                </a:solidFill>
              </a:rPr>
              <a:t>Current workflow</a:t>
            </a:r>
          </a:p>
        </p:txBody>
      </p:sp>
      <p:sp>
        <p:nvSpPr>
          <p:cNvPr id="6" name="text-15">
            <a:extLst xmlns:a="http://schemas.openxmlformats.org/drawingml/2006/main">
              <a:ext uri="{FF2B5EF4-FFF2-40B4-BE49-F238E27FC236}">
                <a16:creationId xmlns:a16="http://schemas.microsoft.com/office/drawing/2014/main" id="{0012070A-E5AE-4316-A137-6FDCE253ED76}"/>
              </a:ext>
            </a:extLst>
          </p:cNvPr>
          <p:cNvSpPr>
            <a:spLocks xmlns:a="http://schemas.openxmlformats.org/drawingml/2006/main" noGrp="1"/>
          </p:cNvSpPr>
          <p:nvPr/>
        </p:nvSpPr>
        <p:spPr>
          <a:xfrm xmlns:a="http://schemas.openxmlformats.org/drawingml/2006/main">
            <a:off x="10382250" y="271462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22D3EE"/>
                </a:solidFill>
              </a:defRPr>
            </a:defPPr>
            <a:lvl1pPr algn="l">
              <a:defRPr sz="2175" b="1">
                <a:solidFill>
                  <a:srgbClr val="22D3EE"/>
                </a:solidFill>
              </a:defRPr>
            </a:lvl1pPr>
            <a:lvl2pPr algn="l">
              <a:defRPr sz="2175" b="1">
                <a:solidFill>
                  <a:srgbClr val="22D3EE"/>
                </a:solidFill>
              </a:defRPr>
            </a:lvl2pPr>
            <a:lvl3pPr algn="l">
              <a:defRPr sz="2175" b="1">
                <a:solidFill>
                  <a:srgbClr val="22D3EE"/>
                </a:solidFill>
              </a:defRPr>
            </a:lvl3pPr>
            <a:lvl4pPr algn="l">
              <a:defRPr sz="2175" b="1">
                <a:solidFill>
                  <a:srgbClr val="22D3EE"/>
                </a:solidFill>
              </a:defRPr>
            </a:lvl4pPr>
            <a:lvl5pPr algn="l">
              <a:defRPr sz="2175" b="1">
                <a:solidFill>
                  <a:srgbClr val="22D3EE"/>
                </a:solidFill>
              </a:defRPr>
            </a:lvl5pPr>
            <a:lvl6pPr algn="l">
              <a:defRPr sz="2175" b="1">
                <a:solidFill>
                  <a:srgbClr val="22D3EE"/>
                </a:solidFill>
              </a:defRPr>
            </a:lvl6pPr>
            <a:lvl7pPr algn="l">
              <a:defRPr sz="2175" b="1">
                <a:solidFill>
                  <a:srgbClr val="22D3EE"/>
                </a:solidFill>
              </a:defRPr>
            </a:lvl7pPr>
            <a:lvl8pPr algn="l">
              <a:defRPr sz="2175" b="1">
                <a:solidFill>
                  <a:srgbClr val="22D3EE"/>
                </a:solidFill>
              </a:defRPr>
            </a:lvl8pPr>
            <a:lvl9pPr algn="l">
              <a:defRPr sz="2175" b="1">
                <a:solidFill>
                  <a:srgbClr val="22D3EE"/>
                </a:solidFill>
              </a:defRPr>
            </a:lvl9pPr>
          </a:lstStyle>
          <a:p xmlns:a="http://schemas.openxmlformats.org/drawingml/2006/main">
            <a:pPr algn="l">
              <a:defRPr sz="2175" b="1">
                <a:solidFill>
                  <a:srgbClr val="22D3EE"/>
                </a:solidFill>
              </a:defRPr>
            </a:pPr>
            <a:r>
              <a:rPr sz="2175" b="1">
                <a:solidFill>
                  <a:srgbClr val="22D3EE"/>
                </a:solidFill>
              </a:rPr>
              <a:t>Operational impact</a:t>
            </a:r>
          </a:p>
        </p:txBody>
      </p:sp>
      <p:sp>
        <p:nvSpPr>
          <p:cNvPr id="7" name="text-16">
            <a:extLst xmlns:a="http://schemas.openxmlformats.org/drawingml/2006/main">
              <a:ext uri="{FF2B5EF4-FFF2-40B4-BE49-F238E27FC236}">
                <a16:creationId xmlns:a16="http://schemas.microsoft.com/office/drawing/2014/main" id="{A649994C-7E19-47EE-9E52-075994160BC0}"/>
              </a:ext>
            </a:extLst>
          </p:cNvPr>
          <p:cNvSpPr>
            <a:spLocks xmlns:a="http://schemas.openxmlformats.org/drawingml/2006/main" noGrp="1"/>
          </p:cNvSpPr>
          <p:nvPr/>
        </p:nvSpPr>
        <p:spPr>
          <a:xfrm xmlns:a="http://schemas.openxmlformats.org/drawingml/2006/main">
            <a:off x="952500" y="35814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Manual transaction recording</a:t>
            </a:r>
          </a:p>
        </p:txBody>
      </p:sp>
      <p:sp>
        <p:nvSpPr>
          <p:cNvPr id="8" name="text-17">
            <a:extLst xmlns:a="http://schemas.openxmlformats.org/drawingml/2006/main">
              <a:ext uri="{FF2B5EF4-FFF2-40B4-BE49-F238E27FC236}">
                <a16:creationId xmlns:a16="http://schemas.microsoft.com/office/drawing/2014/main" id="{5483E26D-6289-4D99-A547-0AAEC6B10877}"/>
              </a:ext>
            </a:extLst>
          </p:cNvPr>
          <p:cNvSpPr>
            <a:spLocks xmlns:a="http://schemas.openxmlformats.org/drawingml/2006/main" noGrp="1"/>
          </p:cNvSpPr>
          <p:nvPr/>
        </p:nvSpPr>
        <p:spPr>
          <a:xfrm xmlns:a="http://schemas.openxmlformats.org/drawingml/2006/main">
            <a:off x="10382250" y="3581400"/>
            <a:ext cx="695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Repeated entry and reconciliation</a:t>
            </a:r>
          </a:p>
        </p:txBody>
      </p:sp>
      <p:sp>
        <p:nvSpPr>
          <p:cNvPr id="10" name="rule-18">
            <a:extLst xmlns:a="http://schemas.openxmlformats.org/drawingml/2006/main">
              <a:ext uri="{FF2B5EF4-FFF2-40B4-BE49-F238E27FC236}">
                <a16:creationId xmlns:a16="http://schemas.microsoft.com/office/drawing/2014/main" id="{CC80FA26-B2AC-4186-99A3-FE0147BEC92B}"/>
              </a:ext>
            </a:extLst>
          </p:cNvPr>
          <p:cNvSpPr>
            <a:spLocks xmlns:a="http://schemas.openxmlformats.org/drawingml/2006/main" noGrp="1"/>
          </p:cNvSpPr>
          <p:nvPr/>
        </p:nvSpPr>
        <p:spPr>
          <a:xfrm xmlns:a="http://schemas.openxmlformats.org/drawingml/2006/main">
            <a:off x="952500" y="4600575"/>
            <a:ext cx="16383000" cy="0"/>
          </a:xfrm>
          <a:prstGeom xmlns:a="http://schemas.openxmlformats.org/drawingml/2006/main" prst="line">
            <a:avLst/>
          </a:prstGeom>
          <a:ln xmlns:a="http://schemas.openxmlformats.org/drawingml/2006/main" w="19050">
            <a:solidFill>
              <a:srgbClr val="334155"/>
            </a:solidFill>
            <a:prstDash val="solid"/>
          </a:ln>
        </p:spPr>
      </p:sp>
      <p:sp>
        <p:nvSpPr>
          <p:cNvPr id="11" name="text-19">
            <a:extLst xmlns:a="http://schemas.openxmlformats.org/drawingml/2006/main">
              <a:ext uri="{FF2B5EF4-FFF2-40B4-BE49-F238E27FC236}">
                <a16:creationId xmlns:a16="http://schemas.microsoft.com/office/drawing/2014/main" id="{AB19571D-6FE4-4EE6-9005-BEFA85DB69CE}"/>
              </a:ext>
            </a:extLst>
          </p:cNvPr>
          <p:cNvSpPr>
            <a:spLocks xmlns:a="http://schemas.openxmlformats.org/drawingml/2006/main" noGrp="1"/>
          </p:cNvSpPr>
          <p:nvPr/>
        </p:nvSpPr>
        <p:spPr>
          <a:xfrm xmlns:a="http://schemas.openxmlformats.org/drawingml/2006/main">
            <a:off x="952500" y="486727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Separate stock monitoring</a:t>
            </a:r>
          </a:p>
        </p:txBody>
      </p:sp>
      <p:sp>
        <p:nvSpPr>
          <p:cNvPr id="12" name="text-20">
            <a:extLst xmlns:a="http://schemas.openxmlformats.org/drawingml/2006/main">
              <a:ext uri="{FF2B5EF4-FFF2-40B4-BE49-F238E27FC236}">
                <a16:creationId xmlns:a16="http://schemas.microsoft.com/office/drawing/2014/main" id="{15DB4ED9-3EE1-4AA1-A33A-F9C8E1B8C5C2}"/>
              </a:ext>
            </a:extLst>
          </p:cNvPr>
          <p:cNvSpPr>
            <a:spLocks xmlns:a="http://schemas.openxmlformats.org/drawingml/2006/main" noGrp="1"/>
          </p:cNvSpPr>
          <p:nvPr/>
        </p:nvSpPr>
        <p:spPr>
          <a:xfrm xmlns:a="http://schemas.openxmlformats.org/drawingml/2006/main">
            <a:off x="10382250" y="4867275"/>
            <a:ext cx="695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Delayed visibility of available stock</a:t>
            </a:r>
          </a:p>
        </p:txBody>
      </p:sp>
      <p:sp>
        <p:nvSpPr>
          <p:cNvPr id="14" name="rule-21">
            <a:extLst xmlns:a="http://schemas.openxmlformats.org/drawingml/2006/main">
              <a:ext uri="{FF2B5EF4-FFF2-40B4-BE49-F238E27FC236}">
                <a16:creationId xmlns:a16="http://schemas.microsoft.com/office/drawing/2014/main" id="{319A3850-52DC-485B-A92B-90F2692CD242}"/>
              </a:ext>
            </a:extLst>
          </p:cNvPr>
          <p:cNvSpPr>
            <a:spLocks xmlns:a="http://schemas.openxmlformats.org/drawingml/2006/main" noGrp="1"/>
          </p:cNvSpPr>
          <p:nvPr/>
        </p:nvSpPr>
        <p:spPr>
          <a:xfrm xmlns:a="http://schemas.openxmlformats.org/drawingml/2006/main">
            <a:off x="952500" y="5886450"/>
            <a:ext cx="16383000" cy="0"/>
          </a:xfrm>
          <a:prstGeom xmlns:a="http://schemas.openxmlformats.org/drawingml/2006/main" prst="line">
            <a:avLst/>
          </a:prstGeom>
          <a:ln xmlns:a="http://schemas.openxmlformats.org/drawingml/2006/main" w="19050">
            <a:solidFill>
              <a:srgbClr val="334155"/>
            </a:solidFill>
            <a:prstDash val="solid"/>
          </a:ln>
        </p:spPr>
      </p:sp>
      <p:sp>
        <p:nvSpPr>
          <p:cNvPr id="15" name="text-22">
            <a:extLst xmlns:a="http://schemas.openxmlformats.org/drawingml/2006/main">
              <a:ext uri="{FF2B5EF4-FFF2-40B4-BE49-F238E27FC236}">
                <a16:creationId xmlns:a16="http://schemas.microsoft.com/office/drawing/2014/main" id="{4721AF7D-5774-456C-90AF-037F577D5079}"/>
              </a:ext>
            </a:extLst>
          </p:cNvPr>
          <p:cNvSpPr>
            <a:spLocks xmlns:a="http://schemas.openxmlformats.org/drawingml/2006/main" noGrp="1"/>
          </p:cNvSpPr>
          <p:nvPr/>
        </p:nvSpPr>
        <p:spPr>
          <a:xfrm xmlns:a="http://schemas.openxmlformats.org/drawingml/2006/main">
            <a:off x="952500" y="615315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Fragmented branch records</a:t>
            </a:r>
          </a:p>
        </p:txBody>
      </p:sp>
      <p:sp>
        <p:nvSpPr>
          <p:cNvPr id="16" name="text-23">
            <a:extLst xmlns:a="http://schemas.openxmlformats.org/drawingml/2006/main">
              <a:ext uri="{FF2B5EF4-FFF2-40B4-BE49-F238E27FC236}">
                <a16:creationId xmlns:a16="http://schemas.microsoft.com/office/drawing/2014/main" id="{819EB07E-28E3-48EA-9279-1E5E4B80D1C8}"/>
              </a:ext>
            </a:extLst>
          </p:cNvPr>
          <p:cNvSpPr>
            <a:spLocks xmlns:a="http://schemas.openxmlformats.org/drawingml/2006/main" noGrp="1"/>
          </p:cNvSpPr>
          <p:nvPr/>
        </p:nvSpPr>
        <p:spPr>
          <a:xfrm xmlns:a="http://schemas.openxmlformats.org/drawingml/2006/main">
            <a:off x="10382250" y="6153150"/>
            <a:ext cx="695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Inconsistent sales and inventory views</a:t>
            </a:r>
          </a:p>
        </p:txBody>
      </p:sp>
      <p:sp>
        <p:nvSpPr>
          <p:cNvPr id="18" name="rule-24">
            <a:extLst xmlns:a="http://schemas.openxmlformats.org/drawingml/2006/main">
              <a:ext uri="{FF2B5EF4-FFF2-40B4-BE49-F238E27FC236}">
                <a16:creationId xmlns:a16="http://schemas.microsoft.com/office/drawing/2014/main" id="{68B04F32-6C9D-4DBA-88B2-E0E643181B63}"/>
              </a:ext>
            </a:extLst>
          </p:cNvPr>
          <p:cNvSpPr>
            <a:spLocks xmlns:a="http://schemas.openxmlformats.org/drawingml/2006/main" noGrp="1"/>
          </p:cNvSpPr>
          <p:nvPr/>
        </p:nvSpPr>
        <p:spPr>
          <a:xfrm xmlns:a="http://schemas.openxmlformats.org/drawingml/2006/main">
            <a:off x="952500" y="7172325"/>
            <a:ext cx="16383000" cy="0"/>
          </a:xfrm>
          <a:prstGeom xmlns:a="http://schemas.openxmlformats.org/drawingml/2006/main" prst="line">
            <a:avLst/>
          </a:prstGeom>
          <a:ln xmlns:a="http://schemas.openxmlformats.org/drawingml/2006/main" w="19050">
            <a:solidFill>
              <a:srgbClr val="334155"/>
            </a:solidFill>
            <a:prstDash val="solid"/>
          </a:ln>
        </p:spPr>
      </p:sp>
      <p:sp>
        <p:nvSpPr>
          <p:cNvPr id="19" name="text-25">
            <a:extLst xmlns:a="http://schemas.openxmlformats.org/drawingml/2006/main">
              <a:ext uri="{FF2B5EF4-FFF2-40B4-BE49-F238E27FC236}">
                <a16:creationId xmlns:a16="http://schemas.microsoft.com/office/drawing/2014/main" id="{75B812C8-343F-42F6-9B0F-5503B19AE443}"/>
              </a:ext>
            </a:extLst>
          </p:cNvPr>
          <p:cNvSpPr>
            <a:spLocks xmlns:a="http://schemas.openxmlformats.org/drawingml/2006/main" noGrp="1"/>
          </p:cNvSpPr>
          <p:nvPr/>
        </p:nvSpPr>
        <p:spPr>
          <a:xfrm xmlns:a="http://schemas.openxmlformats.org/drawingml/2006/main">
            <a:off x="952500" y="743902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Manual report preparation</a:t>
            </a:r>
          </a:p>
        </p:txBody>
      </p:sp>
      <p:sp>
        <p:nvSpPr>
          <p:cNvPr id="20" name="text-26">
            <a:extLst xmlns:a="http://schemas.openxmlformats.org/drawingml/2006/main">
              <a:ext uri="{FF2B5EF4-FFF2-40B4-BE49-F238E27FC236}">
                <a16:creationId xmlns:a16="http://schemas.microsoft.com/office/drawing/2014/main" id="{6FA92690-1756-4160-B69A-62A3916A7E96}"/>
              </a:ext>
            </a:extLst>
          </p:cNvPr>
          <p:cNvSpPr>
            <a:spLocks xmlns:a="http://schemas.openxmlformats.org/drawingml/2006/main" noGrp="1"/>
          </p:cNvSpPr>
          <p:nvPr/>
        </p:nvSpPr>
        <p:spPr>
          <a:xfrm xmlns:a="http://schemas.openxmlformats.org/drawingml/2006/main">
            <a:off x="10382250" y="7439025"/>
            <a:ext cx="695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0">
                <a:solidFill>
                  <a:srgbClr val="F8FAFC"/>
                </a:solidFill>
              </a:defRPr>
            </a:defPPr>
            <a:lvl1pPr algn="l">
              <a:defRPr sz="2775" b="0">
                <a:solidFill>
                  <a:srgbClr val="F8FAFC"/>
                </a:solidFill>
              </a:defRPr>
            </a:lvl1pPr>
            <a:lvl2pPr algn="l">
              <a:defRPr sz="2775" b="0">
                <a:solidFill>
                  <a:srgbClr val="F8FAFC"/>
                </a:solidFill>
              </a:defRPr>
            </a:lvl2pPr>
            <a:lvl3pPr algn="l">
              <a:defRPr sz="2775" b="0">
                <a:solidFill>
                  <a:srgbClr val="F8FAFC"/>
                </a:solidFill>
              </a:defRPr>
            </a:lvl3pPr>
            <a:lvl4pPr algn="l">
              <a:defRPr sz="2775" b="0">
                <a:solidFill>
                  <a:srgbClr val="F8FAFC"/>
                </a:solidFill>
              </a:defRPr>
            </a:lvl4pPr>
            <a:lvl5pPr algn="l">
              <a:defRPr sz="2775" b="0">
                <a:solidFill>
                  <a:srgbClr val="F8FAFC"/>
                </a:solidFill>
              </a:defRPr>
            </a:lvl5pPr>
            <a:lvl6pPr algn="l">
              <a:defRPr sz="2775" b="0">
                <a:solidFill>
                  <a:srgbClr val="F8FAFC"/>
                </a:solidFill>
              </a:defRPr>
            </a:lvl6pPr>
            <a:lvl7pPr algn="l">
              <a:defRPr sz="2775" b="0">
                <a:solidFill>
                  <a:srgbClr val="F8FAFC"/>
                </a:solidFill>
              </a:defRPr>
            </a:lvl7pPr>
            <a:lvl8pPr algn="l">
              <a:defRPr sz="2775" b="0">
                <a:solidFill>
                  <a:srgbClr val="F8FAFC"/>
                </a:solidFill>
              </a:defRPr>
            </a:lvl8pPr>
            <a:lvl9pPr algn="l">
              <a:defRPr sz="2775" b="0">
                <a:solidFill>
                  <a:srgbClr val="F8FAFC"/>
                </a:solidFill>
              </a:defRPr>
            </a:lvl9pPr>
          </a:lstStyle>
          <a:p xmlns:a="http://schemas.openxmlformats.org/drawingml/2006/main">
            <a:pPr algn="l">
              <a:defRPr sz="2775" b="0">
                <a:solidFill>
                  <a:srgbClr val="F8FAFC"/>
                </a:solidFill>
              </a:defRPr>
            </a:pPr>
            <a:r>
              <a:rPr sz="2775" b="0">
                <a:solidFill>
                  <a:srgbClr val="F8FAFC"/>
                </a:solidFill>
              </a:rPr>
              <a:t>Slower access to decision information</a:t>
            </a:r>
          </a:p>
        </p:txBody>
      </p:sp>
      <p:sp>
        <p:nvSpPr>
          <p:cNvPr id="22" name="text-27">
            <a:extLst xmlns:a="http://schemas.openxmlformats.org/drawingml/2006/main">
              <a:ext uri="{FF2B5EF4-FFF2-40B4-BE49-F238E27FC236}">
                <a16:creationId xmlns:a16="http://schemas.microsoft.com/office/drawing/2014/main" id="{D440B17B-548A-4611-BFBF-318CE64793B5}"/>
              </a:ext>
            </a:extLst>
          </p:cNvPr>
          <p:cNvSpPr>
            <a:spLocks xmlns:a="http://schemas.openxmlformats.org/drawingml/2006/main" noGrp="1"/>
          </p:cNvSpPr>
          <p:nvPr/>
        </p:nvSpPr>
        <p:spPr>
          <a:xfrm xmlns:a="http://schemas.openxmlformats.org/drawingml/2006/main">
            <a:off x="952500" y="8896350"/>
            <a:ext cx="1638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0A5FA"/>
                </a:solidFill>
              </a:defRPr>
            </a:defPPr>
            <a:lvl1pPr algn="l">
              <a:defRPr sz="2175" b="0">
                <a:solidFill>
                  <a:srgbClr val="60A5FA"/>
                </a:solidFill>
              </a:defRPr>
            </a:lvl1pPr>
            <a:lvl2pPr algn="l">
              <a:defRPr sz="2175" b="0">
                <a:solidFill>
                  <a:srgbClr val="60A5FA"/>
                </a:solidFill>
              </a:defRPr>
            </a:lvl2pPr>
            <a:lvl3pPr algn="l">
              <a:defRPr sz="2175" b="0">
                <a:solidFill>
                  <a:srgbClr val="60A5FA"/>
                </a:solidFill>
              </a:defRPr>
            </a:lvl3pPr>
            <a:lvl4pPr algn="l">
              <a:defRPr sz="2175" b="0">
                <a:solidFill>
                  <a:srgbClr val="60A5FA"/>
                </a:solidFill>
              </a:defRPr>
            </a:lvl4pPr>
            <a:lvl5pPr algn="l">
              <a:defRPr sz="2175" b="0">
                <a:solidFill>
                  <a:srgbClr val="60A5FA"/>
                </a:solidFill>
              </a:defRPr>
            </a:lvl5pPr>
            <a:lvl6pPr algn="l">
              <a:defRPr sz="2175" b="0">
                <a:solidFill>
                  <a:srgbClr val="60A5FA"/>
                </a:solidFill>
              </a:defRPr>
            </a:lvl6pPr>
            <a:lvl7pPr algn="l">
              <a:defRPr sz="2175" b="0">
                <a:solidFill>
                  <a:srgbClr val="60A5FA"/>
                </a:solidFill>
              </a:defRPr>
            </a:lvl7pPr>
            <a:lvl8pPr algn="l">
              <a:defRPr sz="2175" b="0">
                <a:solidFill>
                  <a:srgbClr val="60A5FA"/>
                </a:solidFill>
              </a:defRPr>
            </a:lvl8pPr>
            <a:lvl9pPr algn="l">
              <a:defRPr sz="2175" b="0">
                <a:solidFill>
                  <a:srgbClr val="60A5FA"/>
                </a:solidFill>
              </a:defRPr>
            </a:lvl9pPr>
          </a:lstStyle>
          <a:p xmlns:a="http://schemas.openxmlformats.org/drawingml/2006/main">
            <a:pPr algn="l">
              <a:defRPr sz="2175" b="0">
                <a:solidFill>
                  <a:srgbClr val="60A5FA"/>
                </a:solidFill>
              </a:defRPr>
            </a:pPr>
            <a:r>
              <a:rPr sz="2175" b="0">
                <a:solidFill>
                  <a:srgbClr val="60A5FA"/>
                </a:solidFill>
              </a:rPr>
              <a:t>Design response: connect sales, stock movements, and reporting through stored records</a:t>
            </a:r>
          </a:p>
        </p:txBody>
      </p:sp>
    </p:spTree>
    <p:extLst>
      <p:ext uri="{BB962C8B-B14F-4D97-AF65-F5344CB8AC3E}">
        <p14:creationId xmlns:p14="http://schemas.microsoft.com/office/powerpoint/2010/main" val="484269363"/>
      </p:ext>
    </p:extLst>
  </p:cSld>
</p:sld>
</file>

<file path=ppt/slides/slide3.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19" name="text-28">
            <a:extLst xmlns:a="http://schemas.openxmlformats.org/drawingml/2006/main">
              <a:ext uri="{FF2B5EF4-FFF2-40B4-BE49-F238E27FC236}">
                <a16:creationId xmlns:a16="http://schemas.microsoft.com/office/drawing/2014/main" id="{B61CC2BC-8F38-47EB-A0D6-01E58F1EA277}"/>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Project objectives</a:t>
            </a:r>
          </a:p>
        </p:txBody>
      </p:sp>
      <p:sp>
        <p:nvSpPr>
          <p:cNvPr id="2" name="text-29">
            <a:extLst xmlns:a="http://schemas.openxmlformats.org/drawingml/2006/main">
              <a:ext uri="{FF2B5EF4-FFF2-40B4-BE49-F238E27FC236}">
                <a16:creationId xmlns:a16="http://schemas.microsoft.com/office/drawing/2014/main" id="{6EED3FD4-AADA-4F29-A11D-D3A3593B1C34}"/>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1</a:t>
            </a:r>
          </a:p>
        </p:txBody>
      </p:sp>
      <p:sp>
        <p:nvSpPr>
          <p:cNvPr id="3" name="text-30">
            <a:extLst xmlns:a="http://schemas.openxmlformats.org/drawingml/2006/main">
              <a:ext uri="{FF2B5EF4-FFF2-40B4-BE49-F238E27FC236}">
                <a16:creationId xmlns:a16="http://schemas.microsoft.com/office/drawing/2014/main" id="{B169922E-9F8B-4483-9AC5-A8BA50FBF5D2}"/>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03</a:t>
            </a:r>
          </a:p>
        </p:txBody>
      </p:sp>
      <p:sp>
        <p:nvSpPr>
          <p:cNvPr id="4" name="text-31">
            <a:extLst xmlns:a="http://schemas.openxmlformats.org/drawingml/2006/main">
              <a:ext uri="{FF2B5EF4-FFF2-40B4-BE49-F238E27FC236}">
                <a16:creationId xmlns:a16="http://schemas.microsoft.com/office/drawing/2014/main" id="{1130BEFD-96BA-4D8D-88EF-2CB5FE70E4A6}"/>
              </a:ext>
            </a:extLst>
          </p:cNvPr>
          <p:cNvSpPr>
            <a:spLocks xmlns:a="http://schemas.openxmlformats.org/drawingml/2006/main" noGrp="1"/>
          </p:cNvSpPr>
          <p:nvPr/>
        </p:nvSpPr>
        <p:spPr>
          <a:xfrm xmlns:a="http://schemas.openxmlformats.org/drawingml/2006/main">
            <a:off x="952500" y="2038350"/>
            <a:ext cx="16097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8FAFC"/>
                </a:solidFill>
              </a:defRPr>
            </a:defPPr>
            <a:lvl1pPr algn="l">
              <a:defRPr sz="3300" b="1">
                <a:solidFill>
                  <a:srgbClr val="F8FAFC"/>
                </a:solidFill>
              </a:defRPr>
            </a:lvl1pPr>
            <a:lvl2pPr algn="l">
              <a:defRPr sz="3300" b="1">
                <a:solidFill>
                  <a:srgbClr val="F8FAFC"/>
                </a:solidFill>
              </a:defRPr>
            </a:lvl2pPr>
            <a:lvl3pPr algn="l">
              <a:defRPr sz="3300" b="1">
                <a:solidFill>
                  <a:srgbClr val="F8FAFC"/>
                </a:solidFill>
              </a:defRPr>
            </a:lvl3pPr>
            <a:lvl4pPr algn="l">
              <a:defRPr sz="3300" b="1">
                <a:solidFill>
                  <a:srgbClr val="F8FAFC"/>
                </a:solidFill>
              </a:defRPr>
            </a:lvl4pPr>
            <a:lvl5pPr algn="l">
              <a:defRPr sz="3300" b="1">
                <a:solidFill>
                  <a:srgbClr val="F8FAFC"/>
                </a:solidFill>
              </a:defRPr>
            </a:lvl5pPr>
            <a:lvl6pPr algn="l">
              <a:defRPr sz="3300" b="1">
                <a:solidFill>
                  <a:srgbClr val="F8FAFC"/>
                </a:solidFill>
              </a:defRPr>
            </a:lvl6pPr>
            <a:lvl7pPr algn="l">
              <a:defRPr sz="3300" b="1">
                <a:solidFill>
                  <a:srgbClr val="F8FAFC"/>
                </a:solidFill>
              </a:defRPr>
            </a:lvl7pPr>
            <a:lvl8pPr algn="l">
              <a:defRPr sz="3300" b="1">
                <a:solidFill>
                  <a:srgbClr val="F8FAFC"/>
                </a:solidFill>
              </a:defRPr>
            </a:lvl8pPr>
            <a:lvl9pPr algn="l">
              <a:defRPr sz="3300" b="1">
                <a:solidFill>
                  <a:srgbClr val="F8FAFC"/>
                </a:solidFill>
              </a:defRPr>
            </a:lvl9pPr>
          </a:lstStyle>
          <a:p xmlns:a="http://schemas.openxmlformats.org/drawingml/2006/main">
            <a:pPr algn="l">
              <a:defRPr sz="3300" b="1">
                <a:solidFill>
                  <a:srgbClr val="F8FAFC"/>
                </a:solidFill>
              </a:defRPr>
            </a:pPr>
            <a:r>
              <a:rPr sz="3300" b="1">
                <a:solidFill>
                  <a:srgbClr val="F8FAFC"/>
                </a:solidFill>
              </a:rPr>
              <a:t>Design, develop, and evaluate a cloud-based inventory and</a:t>
            </a:r>
          </a:p>
          <a:p xmlns:a="http://schemas.openxmlformats.org/drawingml/2006/main">
            <a:pPr algn="l">
              <a:defRPr sz="3300" b="1">
                <a:solidFill>
                  <a:srgbClr val="F8FAFC"/>
                </a:solidFill>
              </a:defRPr>
            </a:pPr>
            <a:r>
              <a:rPr sz="3300" b="1">
                <a:solidFill>
                  <a:srgbClr val="F8FAFC"/>
                </a:solidFill>
              </a:rPr>
              <a:t>financial management framework tailored for SMEs</a:t>
            </a:r>
          </a:p>
        </p:txBody>
      </p:sp>
      <p:sp>
        <p:nvSpPr>
          <p:cNvPr id="5" name="text-32">
            <a:extLst xmlns:a="http://schemas.openxmlformats.org/drawingml/2006/main">
              <a:ext uri="{FF2B5EF4-FFF2-40B4-BE49-F238E27FC236}">
                <a16:creationId xmlns:a16="http://schemas.microsoft.com/office/drawing/2014/main" id="{8305E2FB-F5E0-4892-937A-3737ABECEB2E}"/>
              </a:ext>
            </a:extLst>
          </p:cNvPr>
          <p:cNvSpPr>
            <a:spLocks xmlns:a="http://schemas.openxmlformats.org/drawingml/2006/main" noGrp="1"/>
          </p:cNvSpPr>
          <p:nvPr/>
        </p:nvSpPr>
        <p:spPr>
          <a:xfrm xmlns:a="http://schemas.openxmlformats.org/drawingml/2006/main">
            <a:off x="952500" y="37338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22D3EE"/>
                </a:solidFill>
              </a:defRPr>
            </a:defPPr>
            <a:lvl1pPr algn="l">
              <a:defRPr sz="2100" b="1">
                <a:solidFill>
                  <a:srgbClr val="22D3EE"/>
                </a:solidFill>
              </a:defRPr>
            </a:lvl1pPr>
            <a:lvl2pPr algn="l">
              <a:defRPr sz="2100" b="1">
                <a:solidFill>
                  <a:srgbClr val="22D3EE"/>
                </a:solidFill>
              </a:defRPr>
            </a:lvl2pPr>
            <a:lvl3pPr algn="l">
              <a:defRPr sz="2100" b="1">
                <a:solidFill>
                  <a:srgbClr val="22D3EE"/>
                </a:solidFill>
              </a:defRPr>
            </a:lvl3pPr>
            <a:lvl4pPr algn="l">
              <a:defRPr sz="2100" b="1">
                <a:solidFill>
                  <a:srgbClr val="22D3EE"/>
                </a:solidFill>
              </a:defRPr>
            </a:lvl4pPr>
            <a:lvl5pPr algn="l">
              <a:defRPr sz="2100" b="1">
                <a:solidFill>
                  <a:srgbClr val="22D3EE"/>
                </a:solidFill>
              </a:defRPr>
            </a:lvl5pPr>
            <a:lvl6pPr algn="l">
              <a:defRPr sz="2100" b="1">
                <a:solidFill>
                  <a:srgbClr val="22D3EE"/>
                </a:solidFill>
              </a:defRPr>
            </a:lvl6pPr>
            <a:lvl7pPr algn="l">
              <a:defRPr sz="2100" b="1">
                <a:solidFill>
                  <a:srgbClr val="22D3EE"/>
                </a:solidFill>
              </a:defRPr>
            </a:lvl7pPr>
            <a:lvl8pPr algn="l">
              <a:defRPr sz="2100" b="1">
                <a:solidFill>
                  <a:srgbClr val="22D3EE"/>
                </a:solidFill>
              </a:defRPr>
            </a:lvl8pPr>
            <a:lvl9pPr algn="l">
              <a:defRPr sz="2100" b="1">
                <a:solidFill>
                  <a:srgbClr val="22D3EE"/>
                </a:solidFill>
              </a:defRPr>
            </a:lvl9pPr>
          </a:lstStyle>
          <a:p xmlns:a="http://schemas.openxmlformats.org/drawingml/2006/main">
            <a:pPr algn="l">
              <a:defRPr sz="2100" b="1">
                <a:solidFill>
                  <a:srgbClr val="22D3EE"/>
                </a:solidFill>
              </a:defRPr>
            </a:pPr>
            <a:r>
              <a:rPr sz="2100" b="1">
                <a:solidFill>
                  <a:srgbClr val="22D3EE"/>
                </a:solidFill>
              </a:rPr>
              <a:t>Specific objectives</a:t>
            </a:r>
          </a:p>
        </p:txBody>
      </p:sp>
      <p:sp>
        <p:nvSpPr>
          <p:cNvPr id="6" name="text-33">
            <a:extLst xmlns:a="http://schemas.openxmlformats.org/drawingml/2006/main">
              <a:ext uri="{FF2B5EF4-FFF2-40B4-BE49-F238E27FC236}">
                <a16:creationId xmlns:a16="http://schemas.microsoft.com/office/drawing/2014/main" id="{0B6254B2-BCCE-4511-9F3F-5A53CBFD602A}"/>
              </a:ext>
            </a:extLst>
          </p:cNvPr>
          <p:cNvSpPr>
            <a:spLocks xmlns:a="http://schemas.openxmlformats.org/drawingml/2006/main" noGrp="1"/>
          </p:cNvSpPr>
          <p:nvPr/>
        </p:nvSpPr>
        <p:spPr>
          <a:xfrm xmlns:a="http://schemas.openxmlformats.org/drawingml/2006/main">
            <a:off x="9906000" y="37338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22D3EE"/>
                </a:solidFill>
              </a:defRPr>
            </a:defPPr>
            <a:lvl1pPr algn="l">
              <a:defRPr sz="2100" b="1">
                <a:solidFill>
                  <a:srgbClr val="22D3EE"/>
                </a:solidFill>
              </a:defRPr>
            </a:lvl1pPr>
            <a:lvl2pPr algn="l">
              <a:defRPr sz="2100" b="1">
                <a:solidFill>
                  <a:srgbClr val="22D3EE"/>
                </a:solidFill>
              </a:defRPr>
            </a:lvl2pPr>
            <a:lvl3pPr algn="l">
              <a:defRPr sz="2100" b="1">
                <a:solidFill>
                  <a:srgbClr val="22D3EE"/>
                </a:solidFill>
              </a:defRPr>
            </a:lvl3pPr>
            <a:lvl4pPr algn="l">
              <a:defRPr sz="2100" b="1">
                <a:solidFill>
                  <a:srgbClr val="22D3EE"/>
                </a:solidFill>
              </a:defRPr>
            </a:lvl4pPr>
            <a:lvl5pPr algn="l">
              <a:defRPr sz="2100" b="1">
                <a:solidFill>
                  <a:srgbClr val="22D3EE"/>
                </a:solidFill>
              </a:defRPr>
            </a:lvl5pPr>
            <a:lvl6pPr algn="l">
              <a:defRPr sz="2100" b="1">
                <a:solidFill>
                  <a:srgbClr val="22D3EE"/>
                </a:solidFill>
              </a:defRPr>
            </a:lvl6pPr>
            <a:lvl7pPr algn="l">
              <a:defRPr sz="2100" b="1">
                <a:solidFill>
                  <a:srgbClr val="22D3EE"/>
                </a:solidFill>
              </a:defRPr>
            </a:lvl7pPr>
            <a:lvl8pPr algn="l">
              <a:defRPr sz="2100" b="1">
                <a:solidFill>
                  <a:srgbClr val="22D3EE"/>
                </a:solidFill>
              </a:defRPr>
            </a:lvl8pPr>
            <a:lvl9pPr algn="l">
              <a:defRPr sz="2100" b="1">
                <a:solidFill>
                  <a:srgbClr val="22D3EE"/>
                </a:solidFill>
              </a:defRPr>
            </a:lvl9pPr>
          </a:lstStyle>
          <a:p xmlns:a="http://schemas.openxmlformats.org/drawingml/2006/main">
            <a:pPr algn="l">
              <a:defRPr sz="2100" b="1">
                <a:solidFill>
                  <a:srgbClr val="22D3EE"/>
                </a:solidFill>
              </a:defRPr>
            </a:pPr>
            <a:r>
              <a:rPr sz="2100" b="1">
                <a:solidFill>
                  <a:srgbClr val="22D3EE"/>
                </a:solidFill>
              </a:rPr>
              <a:t>Connection to the system</a:t>
            </a:r>
          </a:p>
        </p:txBody>
      </p:sp>
      <p:sp>
        <p:nvSpPr>
          <p:cNvPr id="7" name="text-34">
            <a:extLst xmlns:a="http://schemas.openxmlformats.org/drawingml/2006/main">
              <a:ext uri="{FF2B5EF4-FFF2-40B4-BE49-F238E27FC236}">
                <a16:creationId xmlns:a16="http://schemas.microsoft.com/office/drawing/2014/main" id="{0BA8AAB8-EA08-4072-AAD8-9CF15A3B6A4E}"/>
              </a:ext>
            </a:extLst>
          </p:cNvPr>
          <p:cNvSpPr>
            <a:spLocks xmlns:a="http://schemas.openxmlformats.org/drawingml/2006/main" noGrp="1"/>
          </p:cNvSpPr>
          <p:nvPr/>
        </p:nvSpPr>
        <p:spPr>
          <a:xfrm xmlns:a="http://schemas.openxmlformats.org/drawingml/2006/main">
            <a:off x="952500" y="46672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60A5FA"/>
                </a:solidFill>
              </a:defRPr>
            </a:defPPr>
            <a:lvl1pPr algn="l">
              <a:defRPr sz="3000" b="1">
                <a:solidFill>
                  <a:srgbClr val="60A5FA"/>
                </a:solidFill>
              </a:defRPr>
            </a:lvl1pPr>
            <a:lvl2pPr algn="l">
              <a:defRPr sz="3000" b="1">
                <a:solidFill>
                  <a:srgbClr val="60A5FA"/>
                </a:solidFill>
              </a:defRPr>
            </a:lvl2pPr>
            <a:lvl3pPr algn="l">
              <a:defRPr sz="3000" b="1">
                <a:solidFill>
                  <a:srgbClr val="60A5FA"/>
                </a:solidFill>
              </a:defRPr>
            </a:lvl3pPr>
            <a:lvl4pPr algn="l">
              <a:defRPr sz="3000" b="1">
                <a:solidFill>
                  <a:srgbClr val="60A5FA"/>
                </a:solidFill>
              </a:defRPr>
            </a:lvl4pPr>
            <a:lvl5pPr algn="l">
              <a:defRPr sz="3000" b="1">
                <a:solidFill>
                  <a:srgbClr val="60A5FA"/>
                </a:solidFill>
              </a:defRPr>
            </a:lvl5pPr>
            <a:lvl6pPr algn="l">
              <a:defRPr sz="3000" b="1">
                <a:solidFill>
                  <a:srgbClr val="60A5FA"/>
                </a:solidFill>
              </a:defRPr>
            </a:lvl6pPr>
            <a:lvl7pPr algn="l">
              <a:defRPr sz="3000" b="1">
                <a:solidFill>
                  <a:srgbClr val="60A5FA"/>
                </a:solidFill>
              </a:defRPr>
            </a:lvl7pPr>
            <a:lvl8pPr algn="l">
              <a:defRPr sz="3000" b="1">
                <a:solidFill>
                  <a:srgbClr val="60A5FA"/>
                </a:solidFill>
              </a:defRPr>
            </a:lvl8pPr>
            <a:lvl9pPr algn="l">
              <a:defRPr sz="3000" b="1">
                <a:solidFill>
                  <a:srgbClr val="60A5FA"/>
                </a:solidFill>
              </a:defRPr>
            </a:lvl9pPr>
          </a:lstStyle>
          <a:p xmlns:a="http://schemas.openxmlformats.org/drawingml/2006/main">
            <a:pPr algn="l">
              <a:defRPr sz="3000" b="1">
                <a:solidFill>
                  <a:srgbClr val="60A5FA"/>
                </a:solidFill>
              </a:defRPr>
            </a:pPr>
            <a:r>
              <a:rPr sz="3000" b="1">
                <a:solidFill>
                  <a:srgbClr val="60A5FA"/>
                </a:solidFill>
              </a:rPr>
              <a:t>01</a:t>
            </a:r>
          </a:p>
        </p:txBody>
      </p:sp>
      <p:sp>
        <p:nvSpPr>
          <p:cNvPr id="8" name="text-35">
            <a:extLst xmlns:a="http://schemas.openxmlformats.org/drawingml/2006/main">
              <a:ext uri="{FF2B5EF4-FFF2-40B4-BE49-F238E27FC236}">
                <a16:creationId xmlns:a16="http://schemas.microsoft.com/office/drawing/2014/main" id="{0CD7CDFE-3311-4AD7-9EB5-3AE2F2B93A7E}"/>
              </a:ext>
            </a:extLst>
          </p:cNvPr>
          <p:cNvSpPr>
            <a:spLocks xmlns:a="http://schemas.openxmlformats.org/drawingml/2006/main" noGrp="1"/>
          </p:cNvSpPr>
          <p:nvPr/>
        </p:nvSpPr>
        <p:spPr>
          <a:xfrm xmlns:a="http://schemas.openxmlformats.org/drawingml/2006/main">
            <a:off x="2143125" y="466725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0">
                <a:solidFill>
                  <a:srgbClr val="F8FAFC"/>
                </a:solidFill>
              </a:defRPr>
            </a:defPPr>
            <a:lvl1pPr algn="l">
              <a:defRPr sz="2625" b="0">
                <a:solidFill>
                  <a:srgbClr val="F8FAFC"/>
                </a:solidFill>
              </a:defRPr>
            </a:lvl1pPr>
            <a:lvl2pPr algn="l">
              <a:defRPr sz="2625" b="0">
                <a:solidFill>
                  <a:srgbClr val="F8FAFC"/>
                </a:solidFill>
              </a:defRPr>
            </a:lvl2pPr>
            <a:lvl3pPr algn="l">
              <a:defRPr sz="2625" b="0">
                <a:solidFill>
                  <a:srgbClr val="F8FAFC"/>
                </a:solidFill>
              </a:defRPr>
            </a:lvl3pPr>
            <a:lvl4pPr algn="l">
              <a:defRPr sz="2625" b="0">
                <a:solidFill>
                  <a:srgbClr val="F8FAFC"/>
                </a:solidFill>
              </a:defRPr>
            </a:lvl4pPr>
            <a:lvl5pPr algn="l">
              <a:defRPr sz="2625" b="0">
                <a:solidFill>
                  <a:srgbClr val="F8FAFC"/>
                </a:solidFill>
              </a:defRPr>
            </a:lvl5pPr>
            <a:lvl6pPr algn="l">
              <a:defRPr sz="2625" b="0">
                <a:solidFill>
                  <a:srgbClr val="F8FAFC"/>
                </a:solidFill>
              </a:defRPr>
            </a:lvl6pPr>
            <a:lvl7pPr algn="l">
              <a:defRPr sz="2625" b="0">
                <a:solidFill>
                  <a:srgbClr val="F8FAFC"/>
                </a:solidFill>
              </a:defRPr>
            </a:lvl7pPr>
            <a:lvl8pPr algn="l">
              <a:defRPr sz="2625" b="0">
                <a:solidFill>
                  <a:srgbClr val="F8FAFC"/>
                </a:solidFill>
              </a:defRPr>
            </a:lvl8pPr>
            <a:lvl9pPr algn="l">
              <a:defRPr sz="2625" b="0">
                <a:solidFill>
                  <a:srgbClr val="F8FAFC"/>
                </a:solidFill>
              </a:defRPr>
            </a:lvl9pPr>
          </a:lstStyle>
          <a:p xmlns:a="http://schemas.openxmlformats.org/drawingml/2006/main">
            <a:pPr algn="l">
              <a:defRPr sz="2625" b="0">
                <a:solidFill>
                  <a:srgbClr val="F8FAFC"/>
                </a:solidFill>
              </a:defRPr>
            </a:pPr>
            <a:r>
              <a:rPr sz="2625" b="0">
                <a:solidFill>
                  <a:srgbClr val="F8FAFC"/>
                </a:solidFill>
              </a:rPr>
              <a:t>Identify tracking and</a:t>
            </a:r>
          </a:p>
          <a:p xmlns:a="http://schemas.openxmlformats.org/drawingml/2006/main">
            <a:pPr algn="l">
              <a:defRPr sz="2625" b="0">
                <a:solidFill>
                  <a:srgbClr val="F8FAFC"/>
                </a:solidFill>
              </a:defRPr>
            </a:pPr>
            <a:r>
              <a:rPr sz="2625" b="0">
                <a:solidFill>
                  <a:srgbClr val="F8FAFC"/>
                </a:solidFill>
              </a:rPr>
              <a:t>reconciliation bottlenecks</a:t>
            </a:r>
          </a:p>
        </p:txBody>
      </p:sp>
      <p:sp>
        <p:nvSpPr>
          <p:cNvPr id="9" name="text-36">
            <a:extLst xmlns:a="http://schemas.openxmlformats.org/drawingml/2006/main">
              <a:ext uri="{FF2B5EF4-FFF2-40B4-BE49-F238E27FC236}">
                <a16:creationId xmlns:a16="http://schemas.microsoft.com/office/drawing/2014/main" id="{00601B29-218A-4BEE-966A-F8CC122B5AA0}"/>
              </a:ext>
            </a:extLst>
          </p:cNvPr>
          <p:cNvSpPr>
            <a:spLocks xmlns:a="http://schemas.openxmlformats.org/drawingml/2006/main" noGrp="1"/>
          </p:cNvSpPr>
          <p:nvPr/>
        </p:nvSpPr>
        <p:spPr>
          <a:xfrm xmlns:a="http://schemas.openxmlformats.org/drawingml/2006/main">
            <a:off x="9906000" y="4667250"/>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A9B8CB"/>
                </a:solidFill>
              </a:defRPr>
            </a:defPPr>
            <a:lvl1pPr algn="l">
              <a:defRPr sz="2475" b="0">
                <a:solidFill>
                  <a:srgbClr val="A9B8CB"/>
                </a:solidFill>
              </a:defRPr>
            </a:lvl1pPr>
            <a:lvl2pPr algn="l">
              <a:defRPr sz="2475" b="0">
                <a:solidFill>
                  <a:srgbClr val="A9B8CB"/>
                </a:solidFill>
              </a:defRPr>
            </a:lvl2pPr>
            <a:lvl3pPr algn="l">
              <a:defRPr sz="2475" b="0">
                <a:solidFill>
                  <a:srgbClr val="A9B8CB"/>
                </a:solidFill>
              </a:defRPr>
            </a:lvl3pPr>
            <a:lvl4pPr algn="l">
              <a:defRPr sz="2475" b="0">
                <a:solidFill>
                  <a:srgbClr val="A9B8CB"/>
                </a:solidFill>
              </a:defRPr>
            </a:lvl4pPr>
            <a:lvl5pPr algn="l">
              <a:defRPr sz="2475" b="0">
                <a:solidFill>
                  <a:srgbClr val="A9B8CB"/>
                </a:solidFill>
              </a:defRPr>
            </a:lvl5pPr>
            <a:lvl6pPr algn="l">
              <a:defRPr sz="2475" b="0">
                <a:solidFill>
                  <a:srgbClr val="A9B8CB"/>
                </a:solidFill>
              </a:defRPr>
            </a:lvl6pPr>
            <a:lvl7pPr algn="l">
              <a:defRPr sz="2475" b="0">
                <a:solidFill>
                  <a:srgbClr val="A9B8CB"/>
                </a:solidFill>
              </a:defRPr>
            </a:lvl7pPr>
            <a:lvl8pPr algn="l">
              <a:defRPr sz="2475" b="0">
                <a:solidFill>
                  <a:srgbClr val="A9B8CB"/>
                </a:solidFill>
              </a:defRPr>
            </a:lvl8pPr>
            <a:lvl9pPr algn="l">
              <a:defRPr sz="2475" b="0">
                <a:solidFill>
                  <a:srgbClr val="A9B8CB"/>
                </a:solidFill>
              </a:defRPr>
            </a:lvl9pPr>
          </a:lstStyle>
          <a:p xmlns:a="http://schemas.openxmlformats.org/drawingml/2006/main">
            <a:pPr algn="l">
              <a:defRPr sz="2475" b="0">
                <a:solidFill>
                  <a:srgbClr val="A9B8CB"/>
                </a:solidFill>
              </a:defRPr>
            </a:pPr>
            <a:r>
              <a:rPr sz="2475" b="0">
                <a:solidFill>
                  <a:srgbClr val="A9B8CB"/>
                </a:solidFill>
              </a:rPr>
              <a:t>Connected POS and stock records</a:t>
            </a:r>
          </a:p>
        </p:txBody>
      </p:sp>
      <p:sp>
        <p:nvSpPr>
          <p:cNvPr id="10" name="rule-37">
            <a:extLst xmlns:a="http://schemas.openxmlformats.org/drawingml/2006/main">
              <a:ext uri="{FF2B5EF4-FFF2-40B4-BE49-F238E27FC236}">
                <a16:creationId xmlns:a16="http://schemas.microsoft.com/office/drawing/2014/main" id="{B5293616-A80B-438A-9F80-577ABCF9435C}"/>
              </a:ext>
            </a:extLst>
          </p:cNvPr>
          <p:cNvSpPr>
            <a:spLocks xmlns:a="http://schemas.openxmlformats.org/drawingml/2006/main" noGrp="1"/>
          </p:cNvSpPr>
          <p:nvPr/>
        </p:nvSpPr>
        <p:spPr>
          <a:xfrm xmlns:a="http://schemas.openxmlformats.org/drawingml/2006/main">
            <a:off x="2143125" y="5791200"/>
            <a:ext cx="15192375" cy="0"/>
          </a:xfrm>
          <a:prstGeom xmlns:a="http://schemas.openxmlformats.org/drawingml/2006/main" prst="line">
            <a:avLst/>
          </a:prstGeom>
          <a:ln xmlns:a="http://schemas.openxmlformats.org/drawingml/2006/main" w="19050">
            <a:solidFill>
              <a:srgbClr val="334155"/>
            </a:solidFill>
            <a:prstDash val="solid"/>
          </a:ln>
        </p:spPr>
      </p:sp>
      <p:sp>
        <p:nvSpPr>
          <p:cNvPr id="11" name="text-38">
            <a:extLst xmlns:a="http://schemas.openxmlformats.org/drawingml/2006/main">
              <a:ext uri="{FF2B5EF4-FFF2-40B4-BE49-F238E27FC236}">
                <a16:creationId xmlns:a16="http://schemas.microsoft.com/office/drawing/2014/main" id="{47DE49B4-6537-4B99-8F7A-3324F02B8B2A}"/>
              </a:ext>
            </a:extLst>
          </p:cNvPr>
          <p:cNvSpPr>
            <a:spLocks xmlns:a="http://schemas.openxmlformats.org/drawingml/2006/main" noGrp="1"/>
          </p:cNvSpPr>
          <p:nvPr/>
        </p:nvSpPr>
        <p:spPr>
          <a:xfrm xmlns:a="http://schemas.openxmlformats.org/drawingml/2006/main">
            <a:off x="952500" y="6019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60A5FA"/>
                </a:solidFill>
              </a:defRPr>
            </a:defPPr>
            <a:lvl1pPr algn="l">
              <a:defRPr sz="3000" b="1">
                <a:solidFill>
                  <a:srgbClr val="60A5FA"/>
                </a:solidFill>
              </a:defRPr>
            </a:lvl1pPr>
            <a:lvl2pPr algn="l">
              <a:defRPr sz="3000" b="1">
                <a:solidFill>
                  <a:srgbClr val="60A5FA"/>
                </a:solidFill>
              </a:defRPr>
            </a:lvl2pPr>
            <a:lvl3pPr algn="l">
              <a:defRPr sz="3000" b="1">
                <a:solidFill>
                  <a:srgbClr val="60A5FA"/>
                </a:solidFill>
              </a:defRPr>
            </a:lvl3pPr>
            <a:lvl4pPr algn="l">
              <a:defRPr sz="3000" b="1">
                <a:solidFill>
                  <a:srgbClr val="60A5FA"/>
                </a:solidFill>
              </a:defRPr>
            </a:lvl4pPr>
            <a:lvl5pPr algn="l">
              <a:defRPr sz="3000" b="1">
                <a:solidFill>
                  <a:srgbClr val="60A5FA"/>
                </a:solidFill>
              </a:defRPr>
            </a:lvl5pPr>
            <a:lvl6pPr algn="l">
              <a:defRPr sz="3000" b="1">
                <a:solidFill>
                  <a:srgbClr val="60A5FA"/>
                </a:solidFill>
              </a:defRPr>
            </a:lvl6pPr>
            <a:lvl7pPr algn="l">
              <a:defRPr sz="3000" b="1">
                <a:solidFill>
                  <a:srgbClr val="60A5FA"/>
                </a:solidFill>
              </a:defRPr>
            </a:lvl7pPr>
            <a:lvl8pPr algn="l">
              <a:defRPr sz="3000" b="1">
                <a:solidFill>
                  <a:srgbClr val="60A5FA"/>
                </a:solidFill>
              </a:defRPr>
            </a:lvl8pPr>
            <a:lvl9pPr algn="l">
              <a:defRPr sz="3000" b="1">
                <a:solidFill>
                  <a:srgbClr val="60A5FA"/>
                </a:solidFill>
              </a:defRPr>
            </a:lvl9pPr>
          </a:lstStyle>
          <a:p xmlns:a="http://schemas.openxmlformats.org/drawingml/2006/main">
            <a:pPr algn="l">
              <a:defRPr sz="3000" b="1">
                <a:solidFill>
                  <a:srgbClr val="60A5FA"/>
                </a:solidFill>
              </a:defRPr>
            </a:pPr>
            <a:r>
              <a:rPr sz="3000" b="1">
                <a:solidFill>
                  <a:srgbClr val="60A5FA"/>
                </a:solidFill>
              </a:rPr>
              <a:t>02</a:t>
            </a:r>
          </a:p>
        </p:txBody>
      </p:sp>
      <p:sp>
        <p:nvSpPr>
          <p:cNvPr id="12" name="text-39">
            <a:extLst xmlns:a="http://schemas.openxmlformats.org/drawingml/2006/main">
              <a:ext uri="{FF2B5EF4-FFF2-40B4-BE49-F238E27FC236}">
                <a16:creationId xmlns:a16="http://schemas.microsoft.com/office/drawing/2014/main" id="{A535C12C-463A-40EC-A373-616C697C4697}"/>
              </a:ext>
            </a:extLst>
          </p:cNvPr>
          <p:cNvSpPr>
            <a:spLocks xmlns:a="http://schemas.openxmlformats.org/drawingml/2006/main" noGrp="1"/>
          </p:cNvSpPr>
          <p:nvPr/>
        </p:nvSpPr>
        <p:spPr>
          <a:xfrm xmlns:a="http://schemas.openxmlformats.org/drawingml/2006/main">
            <a:off x="2143125" y="60198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0">
                <a:solidFill>
                  <a:srgbClr val="F8FAFC"/>
                </a:solidFill>
              </a:defRPr>
            </a:defPPr>
            <a:lvl1pPr algn="l">
              <a:defRPr sz="2625" b="0">
                <a:solidFill>
                  <a:srgbClr val="F8FAFC"/>
                </a:solidFill>
              </a:defRPr>
            </a:lvl1pPr>
            <a:lvl2pPr algn="l">
              <a:defRPr sz="2625" b="0">
                <a:solidFill>
                  <a:srgbClr val="F8FAFC"/>
                </a:solidFill>
              </a:defRPr>
            </a:lvl2pPr>
            <a:lvl3pPr algn="l">
              <a:defRPr sz="2625" b="0">
                <a:solidFill>
                  <a:srgbClr val="F8FAFC"/>
                </a:solidFill>
              </a:defRPr>
            </a:lvl3pPr>
            <a:lvl4pPr algn="l">
              <a:defRPr sz="2625" b="0">
                <a:solidFill>
                  <a:srgbClr val="F8FAFC"/>
                </a:solidFill>
              </a:defRPr>
            </a:lvl4pPr>
            <a:lvl5pPr algn="l">
              <a:defRPr sz="2625" b="0">
                <a:solidFill>
                  <a:srgbClr val="F8FAFC"/>
                </a:solidFill>
              </a:defRPr>
            </a:lvl5pPr>
            <a:lvl6pPr algn="l">
              <a:defRPr sz="2625" b="0">
                <a:solidFill>
                  <a:srgbClr val="F8FAFC"/>
                </a:solidFill>
              </a:defRPr>
            </a:lvl6pPr>
            <a:lvl7pPr algn="l">
              <a:defRPr sz="2625" b="0">
                <a:solidFill>
                  <a:srgbClr val="F8FAFC"/>
                </a:solidFill>
              </a:defRPr>
            </a:lvl7pPr>
            <a:lvl8pPr algn="l">
              <a:defRPr sz="2625" b="0">
                <a:solidFill>
                  <a:srgbClr val="F8FAFC"/>
                </a:solidFill>
              </a:defRPr>
            </a:lvl8pPr>
            <a:lvl9pPr algn="l">
              <a:defRPr sz="2625" b="0">
                <a:solidFill>
                  <a:srgbClr val="F8FAFC"/>
                </a:solidFill>
              </a:defRPr>
            </a:lvl9pPr>
          </a:lstStyle>
          <a:p xmlns:a="http://schemas.openxmlformats.org/drawingml/2006/main">
            <a:pPr algn="l">
              <a:defRPr sz="2625" b="0">
                <a:solidFill>
                  <a:srgbClr val="F8FAFC"/>
                </a:solidFill>
              </a:defRPr>
            </a:pPr>
            <a:r>
              <a:rPr sz="2625" b="0">
                <a:solidFill>
                  <a:srgbClr val="F8FAFC"/>
                </a:solidFill>
              </a:rPr>
              <a:t>Determine the framework</a:t>
            </a:r>
          </a:p>
          <a:p xmlns:a="http://schemas.openxmlformats.org/drawingml/2006/main">
            <a:pPr algn="l">
              <a:defRPr sz="2625" b="0">
                <a:solidFill>
                  <a:srgbClr val="F8FAFC"/>
                </a:solidFill>
              </a:defRPr>
            </a:pPr>
            <a:r>
              <a:rPr sz="2625" b="0">
                <a:solidFill>
                  <a:srgbClr val="F8FAFC"/>
                </a:solidFill>
              </a:rPr>
              <a:t>and security measures</a:t>
            </a:r>
          </a:p>
        </p:txBody>
      </p:sp>
      <p:sp>
        <p:nvSpPr>
          <p:cNvPr id="13" name="text-40">
            <a:extLst xmlns:a="http://schemas.openxmlformats.org/drawingml/2006/main">
              <a:ext uri="{FF2B5EF4-FFF2-40B4-BE49-F238E27FC236}">
                <a16:creationId xmlns:a16="http://schemas.microsoft.com/office/drawing/2014/main" id="{E13E8C92-20FD-4FC8-A1BD-FB440DB39F0F}"/>
              </a:ext>
            </a:extLst>
          </p:cNvPr>
          <p:cNvSpPr>
            <a:spLocks xmlns:a="http://schemas.openxmlformats.org/drawingml/2006/main" noGrp="1"/>
          </p:cNvSpPr>
          <p:nvPr/>
        </p:nvSpPr>
        <p:spPr>
          <a:xfrm xmlns:a="http://schemas.openxmlformats.org/drawingml/2006/main">
            <a:off x="9906000" y="6019800"/>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A9B8CB"/>
                </a:solidFill>
              </a:defRPr>
            </a:defPPr>
            <a:lvl1pPr algn="l">
              <a:defRPr sz="2475" b="0">
                <a:solidFill>
                  <a:srgbClr val="A9B8CB"/>
                </a:solidFill>
              </a:defRPr>
            </a:lvl1pPr>
            <a:lvl2pPr algn="l">
              <a:defRPr sz="2475" b="0">
                <a:solidFill>
                  <a:srgbClr val="A9B8CB"/>
                </a:solidFill>
              </a:defRPr>
            </a:lvl2pPr>
            <a:lvl3pPr algn="l">
              <a:defRPr sz="2475" b="0">
                <a:solidFill>
                  <a:srgbClr val="A9B8CB"/>
                </a:solidFill>
              </a:defRPr>
            </a:lvl3pPr>
            <a:lvl4pPr algn="l">
              <a:defRPr sz="2475" b="0">
                <a:solidFill>
                  <a:srgbClr val="A9B8CB"/>
                </a:solidFill>
              </a:defRPr>
            </a:lvl4pPr>
            <a:lvl5pPr algn="l">
              <a:defRPr sz="2475" b="0">
                <a:solidFill>
                  <a:srgbClr val="A9B8CB"/>
                </a:solidFill>
              </a:defRPr>
            </a:lvl5pPr>
            <a:lvl6pPr algn="l">
              <a:defRPr sz="2475" b="0">
                <a:solidFill>
                  <a:srgbClr val="A9B8CB"/>
                </a:solidFill>
              </a:defRPr>
            </a:lvl6pPr>
            <a:lvl7pPr algn="l">
              <a:defRPr sz="2475" b="0">
                <a:solidFill>
                  <a:srgbClr val="A9B8CB"/>
                </a:solidFill>
              </a:defRPr>
            </a:lvl7pPr>
            <a:lvl8pPr algn="l">
              <a:defRPr sz="2475" b="0">
                <a:solidFill>
                  <a:srgbClr val="A9B8CB"/>
                </a:solidFill>
              </a:defRPr>
            </a:lvl8pPr>
            <a:lvl9pPr algn="l">
              <a:defRPr sz="2475" b="0">
                <a:solidFill>
                  <a:srgbClr val="A9B8CB"/>
                </a:solidFill>
              </a:defRPr>
            </a:lvl9pPr>
          </a:lstStyle>
          <a:p xmlns:a="http://schemas.openxmlformats.org/drawingml/2006/main">
            <a:pPr algn="l">
              <a:defRPr sz="2475" b="0">
                <a:solidFill>
                  <a:srgbClr val="A9B8CB"/>
                </a:solidFill>
              </a:defRPr>
            </a:pPr>
            <a:r>
              <a:rPr sz="2475" b="0">
                <a:solidFill>
                  <a:srgbClr val="A9B8CB"/>
                </a:solidFill>
              </a:rPr>
              <a:t>Database validation and scoped access</a:t>
            </a:r>
          </a:p>
        </p:txBody>
      </p:sp>
      <p:sp>
        <p:nvSpPr>
          <p:cNvPr id="14" name="rule-41">
            <a:extLst xmlns:a="http://schemas.openxmlformats.org/drawingml/2006/main">
              <a:ext uri="{FF2B5EF4-FFF2-40B4-BE49-F238E27FC236}">
                <a16:creationId xmlns:a16="http://schemas.microsoft.com/office/drawing/2014/main" id="{433B4BBA-7DD7-49C1-93E0-7CEA452C7E05}"/>
              </a:ext>
            </a:extLst>
          </p:cNvPr>
          <p:cNvSpPr>
            <a:spLocks xmlns:a="http://schemas.openxmlformats.org/drawingml/2006/main" noGrp="1"/>
          </p:cNvSpPr>
          <p:nvPr/>
        </p:nvSpPr>
        <p:spPr>
          <a:xfrm xmlns:a="http://schemas.openxmlformats.org/drawingml/2006/main">
            <a:off x="2143125" y="7143750"/>
            <a:ext cx="15192375" cy="0"/>
          </a:xfrm>
          <a:prstGeom xmlns:a="http://schemas.openxmlformats.org/drawingml/2006/main" prst="line">
            <a:avLst/>
          </a:prstGeom>
          <a:ln xmlns:a="http://schemas.openxmlformats.org/drawingml/2006/main" w="19050">
            <a:solidFill>
              <a:srgbClr val="334155"/>
            </a:solidFill>
            <a:prstDash val="solid"/>
          </a:ln>
        </p:spPr>
      </p:sp>
      <p:sp>
        <p:nvSpPr>
          <p:cNvPr id="15" name="text-42">
            <a:extLst xmlns:a="http://schemas.openxmlformats.org/drawingml/2006/main">
              <a:ext uri="{FF2B5EF4-FFF2-40B4-BE49-F238E27FC236}">
                <a16:creationId xmlns:a16="http://schemas.microsoft.com/office/drawing/2014/main" id="{D6D6B93F-E33E-44D5-8C78-CE7B432E460B}"/>
              </a:ext>
            </a:extLst>
          </p:cNvPr>
          <p:cNvSpPr>
            <a:spLocks xmlns:a="http://schemas.openxmlformats.org/drawingml/2006/main" noGrp="1"/>
          </p:cNvSpPr>
          <p:nvPr/>
        </p:nvSpPr>
        <p:spPr>
          <a:xfrm xmlns:a="http://schemas.openxmlformats.org/drawingml/2006/main">
            <a:off x="952500" y="73723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60A5FA"/>
                </a:solidFill>
              </a:defRPr>
            </a:defPPr>
            <a:lvl1pPr algn="l">
              <a:defRPr sz="3000" b="1">
                <a:solidFill>
                  <a:srgbClr val="60A5FA"/>
                </a:solidFill>
              </a:defRPr>
            </a:lvl1pPr>
            <a:lvl2pPr algn="l">
              <a:defRPr sz="3000" b="1">
                <a:solidFill>
                  <a:srgbClr val="60A5FA"/>
                </a:solidFill>
              </a:defRPr>
            </a:lvl2pPr>
            <a:lvl3pPr algn="l">
              <a:defRPr sz="3000" b="1">
                <a:solidFill>
                  <a:srgbClr val="60A5FA"/>
                </a:solidFill>
              </a:defRPr>
            </a:lvl3pPr>
            <a:lvl4pPr algn="l">
              <a:defRPr sz="3000" b="1">
                <a:solidFill>
                  <a:srgbClr val="60A5FA"/>
                </a:solidFill>
              </a:defRPr>
            </a:lvl4pPr>
            <a:lvl5pPr algn="l">
              <a:defRPr sz="3000" b="1">
                <a:solidFill>
                  <a:srgbClr val="60A5FA"/>
                </a:solidFill>
              </a:defRPr>
            </a:lvl5pPr>
            <a:lvl6pPr algn="l">
              <a:defRPr sz="3000" b="1">
                <a:solidFill>
                  <a:srgbClr val="60A5FA"/>
                </a:solidFill>
              </a:defRPr>
            </a:lvl6pPr>
            <a:lvl7pPr algn="l">
              <a:defRPr sz="3000" b="1">
                <a:solidFill>
                  <a:srgbClr val="60A5FA"/>
                </a:solidFill>
              </a:defRPr>
            </a:lvl7pPr>
            <a:lvl8pPr algn="l">
              <a:defRPr sz="3000" b="1">
                <a:solidFill>
                  <a:srgbClr val="60A5FA"/>
                </a:solidFill>
              </a:defRPr>
            </a:lvl8pPr>
            <a:lvl9pPr algn="l">
              <a:defRPr sz="3000" b="1">
                <a:solidFill>
                  <a:srgbClr val="60A5FA"/>
                </a:solidFill>
              </a:defRPr>
            </a:lvl9pPr>
          </a:lstStyle>
          <a:p xmlns:a="http://schemas.openxmlformats.org/drawingml/2006/main">
            <a:pPr algn="l">
              <a:defRPr sz="3000" b="1">
                <a:solidFill>
                  <a:srgbClr val="60A5FA"/>
                </a:solidFill>
              </a:defRPr>
            </a:pPr>
            <a:r>
              <a:rPr sz="3000" b="1">
                <a:solidFill>
                  <a:srgbClr val="60A5FA"/>
                </a:solidFill>
              </a:rPr>
              <a:t>03</a:t>
            </a:r>
          </a:p>
        </p:txBody>
      </p:sp>
      <p:sp>
        <p:nvSpPr>
          <p:cNvPr id="16" name="text-43">
            <a:extLst xmlns:a="http://schemas.openxmlformats.org/drawingml/2006/main">
              <a:ext uri="{FF2B5EF4-FFF2-40B4-BE49-F238E27FC236}">
                <a16:creationId xmlns:a16="http://schemas.microsoft.com/office/drawing/2014/main" id="{3530EB9C-097B-4586-BB7E-0E9695131426}"/>
              </a:ext>
            </a:extLst>
          </p:cNvPr>
          <p:cNvSpPr>
            <a:spLocks xmlns:a="http://schemas.openxmlformats.org/drawingml/2006/main" noGrp="1"/>
          </p:cNvSpPr>
          <p:nvPr/>
        </p:nvSpPr>
        <p:spPr>
          <a:xfrm xmlns:a="http://schemas.openxmlformats.org/drawingml/2006/main">
            <a:off x="2143125" y="737235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0">
                <a:solidFill>
                  <a:srgbClr val="F8FAFC"/>
                </a:solidFill>
              </a:defRPr>
            </a:defPPr>
            <a:lvl1pPr algn="l">
              <a:defRPr sz="2625" b="0">
                <a:solidFill>
                  <a:srgbClr val="F8FAFC"/>
                </a:solidFill>
              </a:defRPr>
            </a:lvl1pPr>
            <a:lvl2pPr algn="l">
              <a:defRPr sz="2625" b="0">
                <a:solidFill>
                  <a:srgbClr val="F8FAFC"/>
                </a:solidFill>
              </a:defRPr>
            </a:lvl2pPr>
            <a:lvl3pPr algn="l">
              <a:defRPr sz="2625" b="0">
                <a:solidFill>
                  <a:srgbClr val="F8FAFC"/>
                </a:solidFill>
              </a:defRPr>
            </a:lvl3pPr>
            <a:lvl4pPr algn="l">
              <a:defRPr sz="2625" b="0">
                <a:solidFill>
                  <a:srgbClr val="F8FAFC"/>
                </a:solidFill>
              </a:defRPr>
            </a:lvl4pPr>
            <a:lvl5pPr algn="l">
              <a:defRPr sz="2625" b="0">
                <a:solidFill>
                  <a:srgbClr val="F8FAFC"/>
                </a:solidFill>
              </a:defRPr>
            </a:lvl5pPr>
            <a:lvl6pPr algn="l">
              <a:defRPr sz="2625" b="0">
                <a:solidFill>
                  <a:srgbClr val="F8FAFC"/>
                </a:solidFill>
              </a:defRPr>
            </a:lvl6pPr>
            <a:lvl7pPr algn="l">
              <a:defRPr sz="2625" b="0">
                <a:solidFill>
                  <a:srgbClr val="F8FAFC"/>
                </a:solidFill>
              </a:defRPr>
            </a:lvl7pPr>
            <a:lvl8pPr algn="l">
              <a:defRPr sz="2625" b="0">
                <a:solidFill>
                  <a:srgbClr val="F8FAFC"/>
                </a:solidFill>
              </a:defRPr>
            </a:lvl8pPr>
            <a:lvl9pPr algn="l">
              <a:defRPr sz="2625" b="0">
                <a:solidFill>
                  <a:srgbClr val="F8FAFC"/>
                </a:solidFill>
              </a:defRPr>
            </a:lvl9pPr>
          </a:lstStyle>
          <a:p xmlns:a="http://schemas.openxmlformats.org/drawingml/2006/main">
            <a:pPr algn="l">
              <a:defRPr sz="2625" b="0">
                <a:solidFill>
                  <a:srgbClr val="F8FAFC"/>
                </a:solidFill>
              </a:defRPr>
            </a:pPr>
            <a:r>
              <a:rPr sz="2625" b="0">
                <a:solidFill>
                  <a:srgbClr val="F8FAFC"/>
                </a:solidFill>
              </a:rPr>
              <a:t>Evaluate system acceptability</a:t>
            </a:r>
          </a:p>
        </p:txBody>
      </p:sp>
      <p:sp>
        <p:nvSpPr>
          <p:cNvPr id="17" name="text-44">
            <a:extLst xmlns:a="http://schemas.openxmlformats.org/drawingml/2006/main">
              <a:ext uri="{FF2B5EF4-FFF2-40B4-BE49-F238E27FC236}">
                <a16:creationId xmlns:a16="http://schemas.microsoft.com/office/drawing/2014/main" id="{15621480-F47C-4401-A232-160568A47C51}"/>
              </a:ext>
            </a:extLst>
          </p:cNvPr>
          <p:cNvSpPr>
            <a:spLocks xmlns:a="http://schemas.openxmlformats.org/drawingml/2006/main" noGrp="1"/>
          </p:cNvSpPr>
          <p:nvPr/>
        </p:nvSpPr>
        <p:spPr>
          <a:xfrm xmlns:a="http://schemas.openxmlformats.org/drawingml/2006/main">
            <a:off x="9906000" y="7372350"/>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A9B8CB"/>
                </a:solidFill>
              </a:defRPr>
            </a:defPPr>
            <a:lvl1pPr algn="l">
              <a:defRPr sz="2475" b="0">
                <a:solidFill>
                  <a:srgbClr val="A9B8CB"/>
                </a:solidFill>
              </a:defRPr>
            </a:lvl1pPr>
            <a:lvl2pPr algn="l">
              <a:defRPr sz="2475" b="0">
                <a:solidFill>
                  <a:srgbClr val="A9B8CB"/>
                </a:solidFill>
              </a:defRPr>
            </a:lvl2pPr>
            <a:lvl3pPr algn="l">
              <a:defRPr sz="2475" b="0">
                <a:solidFill>
                  <a:srgbClr val="A9B8CB"/>
                </a:solidFill>
              </a:defRPr>
            </a:lvl3pPr>
            <a:lvl4pPr algn="l">
              <a:defRPr sz="2475" b="0">
                <a:solidFill>
                  <a:srgbClr val="A9B8CB"/>
                </a:solidFill>
              </a:defRPr>
            </a:lvl4pPr>
            <a:lvl5pPr algn="l">
              <a:defRPr sz="2475" b="0">
                <a:solidFill>
                  <a:srgbClr val="A9B8CB"/>
                </a:solidFill>
              </a:defRPr>
            </a:lvl5pPr>
            <a:lvl6pPr algn="l">
              <a:defRPr sz="2475" b="0">
                <a:solidFill>
                  <a:srgbClr val="A9B8CB"/>
                </a:solidFill>
              </a:defRPr>
            </a:lvl6pPr>
            <a:lvl7pPr algn="l">
              <a:defRPr sz="2475" b="0">
                <a:solidFill>
                  <a:srgbClr val="A9B8CB"/>
                </a:solidFill>
              </a:defRPr>
            </a:lvl7pPr>
            <a:lvl8pPr algn="l">
              <a:defRPr sz="2475" b="0">
                <a:solidFill>
                  <a:srgbClr val="A9B8CB"/>
                </a:solidFill>
              </a:defRPr>
            </a:lvl8pPr>
            <a:lvl9pPr algn="l">
              <a:defRPr sz="2475" b="0">
                <a:solidFill>
                  <a:srgbClr val="A9B8CB"/>
                </a:solidFill>
              </a:defRPr>
            </a:lvl9pPr>
          </a:lstStyle>
          <a:p xmlns:a="http://schemas.openxmlformats.org/drawingml/2006/main">
            <a:pPr algn="l">
              <a:defRPr sz="2475" b="0">
                <a:solidFill>
                  <a:srgbClr val="A9B8CB"/>
                </a:solidFill>
              </a:defRPr>
            </a:pPr>
            <a:r>
              <a:rPr sz="2475" b="0">
                <a:solidFill>
                  <a:srgbClr val="A9B8CB"/>
                </a:solidFill>
              </a:rPr>
              <a:t>Planned user and technical evaluation</a:t>
            </a:r>
          </a:p>
        </p:txBody>
      </p:sp>
      <p:sp>
        <p:nvSpPr>
          <p:cNvPr id="18" name="text-45">
            <a:extLst xmlns:a="http://schemas.openxmlformats.org/drawingml/2006/main">
              <a:ext uri="{FF2B5EF4-FFF2-40B4-BE49-F238E27FC236}">
                <a16:creationId xmlns:a16="http://schemas.microsoft.com/office/drawing/2014/main" id="{A722A4C3-1C85-49FA-8920-CCB4131D9026}"/>
              </a:ext>
            </a:extLst>
          </p:cNvPr>
          <p:cNvSpPr>
            <a:spLocks xmlns:a="http://schemas.openxmlformats.org/drawingml/2006/main" noGrp="1"/>
          </p:cNvSpPr>
          <p:nvPr/>
        </p:nvSpPr>
        <p:spPr>
          <a:xfrm xmlns:a="http://schemas.openxmlformats.org/drawingml/2006/main">
            <a:off x="952500" y="9010650"/>
            <a:ext cx="1638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9B8CB"/>
                </a:solidFill>
              </a:defRPr>
            </a:defPPr>
            <a:lvl1pPr algn="l">
              <a:defRPr sz="1800" b="0">
                <a:solidFill>
                  <a:srgbClr val="A9B8CB"/>
                </a:solidFill>
              </a:defRPr>
            </a:lvl1pPr>
            <a:lvl2pPr algn="l">
              <a:defRPr sz="1800" b="0">
                <a:solidFill>
                  <a:srgbClr val="A9B8CB"/>
                </a:solidFill>
              </a:defRPr>
            </a:lvl2pPr>
            <a:lvl3pPr algn="l">
              <a:defRPr sz="1800" b="0">
                <a:solidFill>
                  <a:srgbClr val="A9B8CB"/>
                </a:solidFill>
              </a:defRPr>
            </a:lvl3pPr>
            <a:lvl4pPr algn="l">
              <a:defRPr sz="1800" b="0">
                <a:solidFill>
                  <a:srgbClr val="A9B8CB"/>
                </a:solidFill>
              </a:defRPr>
            </a:lvl4pPr>
            <a:lvl5pPr algn="l">
              <a:defRPr sz="1800" b="0">
                <a:solidFill>
                  <a:srgbClr val="A9B8CB"/>
                </a:solidFill>
              </a:defRPr>
            </a:lvl5pPr>
            <a:lvl6pPr algn="l">
              <a:defRPr sz="1800" b="0">
                <a:solidFill>
                  <a:srgbClr val="A9B8CB"/>
                </a:solidFill>
              </a:defRPr>
            </a:lvl6pPr>
            <a:lvl7pPr algn="l">
              <a:defRPr sz="1800" b="0">
                <a:solidFill>
                  <a:srgbClr val="A9B8CB"/>
                </a:solidFill>
              </a:defRPr>
            </a:lvl7pPr>
            <a:lvl8pPr algn="l">
              <a:defRPr sz="1800" b="0">
                <a:solidFill>
                  <a:srgbClr val="A9B8CB"/>
                </a:solidFill>
              </a:defRPr>
            </a:lvl8pPr>
            <a:lvl9pPr algn="l">
              <a:defRPr sz="1800" b="0">
                <a:solidFill>
                  <a:srgbClr val="A9B8CB"/>
                </a:solidFill>
              </a:defRPr>
            </a:lvl9pPr>
          </a:lstStyle>
          <a:p xmlns:a="http://schemas.openxmlformats.org/drawingml/2006/main">
            <a:pPr algn="l">
              <a:defRPr sz="1800" b="0">
                <a:solidFill>
                  <a:srgbClr val="A9B8CB"/>
                </a:solidFill>
              </a:defRPr>
            </a:pPr>
            <a:r>
              <a:rPr sz="1800" b="0">
                <a:solidFill>
                  <a:srgbClr val="A9B8CB"/>
                </a:solidFill>
              </a:rPr>
              <a:t>Condensed from manuscript objectives. Final wording and evaluation status require adviser confirmation.</a:t>
            </a:r>
          </a:p>
        </p:txBody>
      </p:sp>
    </p:spTree>
    <p:extLst>
      <p:ext uri="{BB962C8B-B14F-4D97-AF65-F5344CB8AC3E}">
        <p14:creationId xmlns:p14="http://schemas.microsoft.com/office/powerpoint/2010/main" val="1277726371"/>
      </p:ext>
    </p:extLst>
  </p:cSld>
</p:sld>
</file>

<file path=ppt/slides/slide4.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25" name="text-46">
            <a:extLst xmlns:a="http://schemas.openxmlformats.org/drawingml/2006/main">
              <a:ext uri="{FF2B5EF4-FFF2-40B4-BE49-F238E27FC236}">
                <a16:creationId xmlns:a16="http://schemas.microsoft.com/office/drawing/2014/main" id="{B5523599-0128-466A-A23D-F66EAC383351}"/>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System scope and features</a:t>
            </a:r>
          </a:p>
        </p:txBody>
      </p:sp>
      <p:sp>
        <p:nvSpPr>
          <p:cNvPr id="2" name="text-47">
            <a:extLst xmlns:a="http://schemas.openxmlformats.org/drawingml/2006/main">
              <a:ext uri="{FF2B5EF4-FFF2-40B4-BE49-F238E27FC236}">
                <a16:creationId xmlns:a16="http://schemas.microsoft.com/office/drawing/2014/main" id="{501A451B-51F8-4837-B617-7B36B672364A}"/>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1</a:t>
            </a:r>
          </a:p>
        </p:txBody>
      </p:sp>
      <p:sp>
        <p:nvSpPr>
          <p:cNvPr id="3" name="text-48">
            <a:extLst xmlns:a="http://schemas.openxmlformats.org/drawingml/2006/main">
              <a:ext uri="{FF2B5EF4-FFF2-40B4-BE49-F238E27FC236}">
                <a16:creationId xmlns:a16="http://schemas.microsoft.com/office/drawing/2014/main" id="{BDB0A7E9-CDE3-46EF-9ABE-DF8ADC370378}"/>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04</a:t>
            </a:r>
          </a:p>
        </p:txBody>
      </p:sp>
      <p:sp>
        <p:nvSpPr>
          <p:cNvPr id="4" name="text-49">
            <a:extLst xmlns:a="http://schemas.openxmlformats.org/drawingml/2006/main">
              <a:ext uri="{FF2B5EF4-FFF2-40B4-BE49-F238E27FC236}">
                <a16:creationId xmlns:a16="http://schemas.microsoft.com/office/drawing/2014/main" id="{BC5159D9-D570-4454-8C1F-DF27A7802EBC}"/>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Browser-based retail operations within assigned stores</a:t>
            </a:r>
          </a:p>
        </p:txBody>
      </p:sp>
      <p:pic>
        <p:nvPicPr>
          <p:cNvPr id="5" name="">
            <a:extLst xmlns:a="http://schemas.openxmlformats.org/drawingml/2006/main">
              <a:ext uri="{FF2B5EF4-FFF2-40B4-BE49-F238E27FC236}">
                <a16:creationId xmlns:a16="http://schemas.microsoft.com/office/drawing/2014/main" id="{89B1CBB7-18E4-4332-8735-BFC425A39CE0}"/>
              </a:ext>
            </a:extLst>
          </p:cNvPr>
          <p:cNvPicPr>
            <a:picLocks xmlns:a="http://schemas.openxmlformats.org/drawingml/2006/main" noChangeAspect="1"/>
          </p:cNvPicPr>
          <p:nvPr/>
        </p:nvPicPr>
        <p:blipFill>
          <a:blip xmlns:r="http://schemas.openxmlformats.org/officeDocument/2006/relationships" xmlns:a="http://schemas.openxmlformats.org/drawingml/2006/main" r:embed="R9d20638bf08c475c"/>
          <a:stretch xmlns:a="http://schemas.openxmlformats.org/drawingml/2006/main"/>
        </p:blipFill>
        <p:spPr>
          <a:xfrm xmlns:a="http://schemas.openxmlformats.org/drawingml/2006/main">
            <a:off x="952500" y="2962275"/>
            <a:ext cx="552450" cy="552450"/>
          </a:xfrm>
          <a:prstGeom xmlns:a="http://schemas.openxmlformats.org/drawingml/2006/main" prst="rect">
            <a:avLst/>
          </a:prstGeom>
        </p:spPr>
      </p:pic>
      <p:sp>
        <p:nvSpPr>
          <p:cNvPr id="6" name="text-50">
            <a:extLst xmlns:a="http://schemas.openxmlformats.org/drawingml/2006/main">
              <a:ext uri="{FF2B5EF4-FFF2-40B4-BE49-F238E27FC236}">
                <a16:creationId xmlns:a16="http://schemas.microsoft.com/office/drawing/2014/main" id="{3C9BBE7A-CE46-4D5C-A22E-3BF080574396}"/>
              </a:ext>
            </a:extLst>
          </p:cNvPr>
          <p:cNvSpPr>
            <a:spLocks xmlns:a="http://schemas.openxmlformats.org/drawingml/2006/main" noGrp="1"/>
          </p:cNvSpPr>
          <p:nvPr/>
        </p:nvSpPr>
        <p:spPr>
          <a:xfrm xmlns:a="http://schemas.openxmlformats.org/drawingml/2006/main">
            <a:off x="2000250" y="29241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Sales management</a:t>
            </a:r>
          </a:p>
        </p:txBody>
      </p:sp>
      <p:sp>
        <p:nvSpPr>
          <p:cNvPr id="7" name="text-51">
            <a:extLst xmlns:a="http://schemas.openxmlformats.org/drawingml/2006/main">
              <a:ext uri="{FF2B5EF4-FFF2-40B4-BE49-F238E27FC236}">
                <a16:creationId xmlns:a16="http://schemas.microsoft.com/office/drawing/2014/main" id="{21BC6380-2E0B-4FFB-BF56-82BB0AEA6B38}"/>
              </a:ext>
            </a:extLst>
          </p:cNvPr>
          <p:cNvSpPr>
            <a:spLocks xmlns:a="http://schemas.openxmlformats.org/drawingml/2006/main" noGrp="1"/>
          </p:cNvSpPr>
          <p:nvPr/>
        </p:nvSpPr>
        <p:spPr>
          <a:xfrm xmlns:a="http://schemas.openxmlformats.org/drawingml/2006/main">
            <a:off x="8382000" y="295275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A9B8CB"/>
                </a:solidFill>
              </a:defRPr>
            </a:defPPr>
            <a:lvl1pPr algn="l">
              <a:defRPr sz="2325" b="0">
                <a:solidFill>
                  <a:srgbClr val="A9B8CB"/>
                </a:solidFill>
              </a:defRPr>
            </a:lvl1pPr>
            <a:lvl2pPr algn="l">
              <a:defRPr sz="2325" b="0">
                <a:solidFill>
                  <a:srgbClr val="A9B8CB"/>
                </a:solidFill>
              </a:defRPr>
            </a:lvl2pPr>
            <a:lvl3pPr algn="l">
              <a:defRPr sz="2325" b="0">
                <a:solidFill>
                  <a:srgbClr val="A9B8CB"/>
                </a:solidFill>
              </a:defRPr>
            </a:lvl3pPr>
            <a:lvl4pPr algn="l">
              <a:defRPr sz="2325" b="0">
                <a:solidFill>
                  <a:srgbClr val="A9B8CB"/>
                </a:solidFill>
              </a:defRPr>
            </a:lvl4pPr>
            <a:lvl5pPr algn="l">
              <a:defRPr sz="2325" b="0">
                <a:solidFill>
                  <a:srgbClr val="A9B8CB"/>
                </a:solidFill>
              </a:defRPr>
            </a:lvl5pPr>
            <a:lvl6pPr algn="l">
              <a:defRPr sz="2325" b="0">
                <a:solidFill>
                  <a:srgbClr val="A9B8CB"/>
                </a:solidFill>
              </a:defRPr>
            </a:lvl6pPr>
            <a:lvl7pPr algn="l">
              <a:defRPr sz="2325" b="0">
                <a:solidFill>
                  <a:srgbClr val="A9B8CB"/>
                </a:solidFill>
              </a:defRPr>
            </a:lvl7pPr>
            <a:lvl8pPr algn="l">
              <a:defRPr sz="2325" b="0">
                <a:solidFill>
                  <a:srgbClr val="A9B8CB"/>
                </a:solidFill>
              </a:defRPr>
            </a:lvl8pPr>
            <a:lvl9pPr algn="l">
              <a:defRPr sz="2325" b="0">
                <a:solidFill>
                  <a:srgbClr val="A9B8CB"/>
                </a:solidFill>
              </a:defRPr>
            </a:lvl9pPr>
          </a:lstStyle>
          <a:p xmlns:a="http://schemas.openxmlformats.org/drawingml/2006/main">
            <a:pPr algn="l">
              <a:defRPr sz="2325" b="0">
                <a:solidFill>
                  <a:srgbClr val="A9B8CB"/>
                </a:solidFill>
              </a:defRPr>
            </a:pPr>
            <a:r>
              <a:rPr sz="2325" b="0">
                <a:solidFill>
                  <a:srgbClr val="A9B8CB"/>
                </a:solidFill>
              </a:rPr>
              <a:t>Checkout, receipts, transaction history, voids and refunds</a:t>
            </a:r>
          </a:p>
        </p:txBody>
      </p:sp>
      <p:sp>
        <p:nvSpPr>
          <p:cNvPr id="8" name="rule-52">
            <a:extLst xmlns:a="http://schemas.openxmlformats.org/drawingml/2006/main">
              <a:ext uri="{FF2B5EF4-FFF2-40B4-BE49-F238E27FC236}">
                <a16:creationId xmlns:a16="http://schemas.microsoft.com/office/drawing/2014/main" id="{6331F915-AC29-47F8-9A7D-F09A39B397F1}"/>
              </a:ext>
            </a:extLst>
          </p:cNvPr>
          <p:cNvSpPr>
            <a:spLocks xmlns:a="http://schemas.openxmlformats.org/drawingml/2006/main" noGrp="1"/>
          </p:cNvSpPr>
          <p:nvPr/>
        </p:nvSpPr>
        <p:spPr>
          <a:xfrm xmlns:a="http://schemas.openxmlformats.org/drawingml/2006/main">
            <a:off x="2000250" y="3848100"/>
            <a:ext cx="15335250" cy="0"/>
          </a:xfrm>
          <a:prstGeom xmlns:a="http://schemas.openxmlformats.org/drawingml/2006/main" prst="line">
            <a:avLst/>
          </a:prstGeom>
          <a:ln xmlns:a="http://schemas.openxmlformats.org/drawingml/2006/main" w="19050">
            <a:solidFill>
              <a:srgbClr val="334155"/>
            </a:solidFill>
            <a:prstDash val="solid"/>
          </a:ln>
        </p:spPr>
      </p:sp>
      <p:pic>
        <p:nvPicPr>
          <p:cNvPr id="9" name="">
            <a:extLst xmlns:a="http://schemas.openxmlformats.org/drawingml/2006/main">
              <a:ext uri="{FF2B5EF4-FFF2-40B4-BE49-F238E27FC236}">
                <a16:creationId xmlns:a16="http://schemas.microsoft.com/office/drawing/2014/main" id="{AAD879C0-3C0E-4654-A2F3-C8DF449D9FBD}"/>
              </a:ext>
            </a:extLst>
          </p:cNvPr>
          <p:cNvPicPr>
            <a:picLocks xmlns:a="http://schemas.openxmlformats.org/drawingml/2006/main" noChangeAspect="1"/>
          </p:cNvPicPr>
          <p:nvPr/>
        </p:nvPicPr>
        <p:blipFill>
          <a:blip xmlns:r="http://schemas.openxmlformats.org/officeDocument/2006/relationships" xmlns:a="http://schemas.openxmlformats.org/drawingml/2006/main" r:embed="R80980ac6814c4074"/>
          <a:stretch xmlns:a="http://schemas.openxmlformats.org/drawingml/2006/main"/>
        </p:blipFill>
        <p:spPr>
          <a:xfrm xmlns:a="http://schemas.openxmlformats.org/drawingml/2006/main">
            <a:off x="952500" y="4162425"/>
            <a:ext cx="552450" cy="552450"/>
          </a:xfrm>
          <a:prstGeom xmlns:a="http://schemas.openxmlformats.org/drawingml/2006/main" prst="rect">
            <a:avLst/>
          </a:prstGeom>
        </p:spPr>
      </p:pic>
      <p:sp>
        <p:nvSpPr>
          <p:cNvPr id="10" name="text-53">
            <a:extLst xmlns:a="http://schemas.openxmlformats.org/drawingml/2006/main">
              <a:ext uri="{FF2B5EF4-FFF2-40B4-BE49-F238E27FC236}">
                <a16:creationId xmlns:a16="http://schemas.microsoft.com/office/drawing/2014/main" id="{DC5FBC96-B75A-4C08-8029-A8996EC91A1B}"/>
              </a:ext>
            </a:extLst>
          </p:cNvPr>
          <p:cNvSpPr>
            <a:spLocks xmlns:a="http://schemas.openxmlformats.org/drawingml/2006/main" noGrp="1"/>
          </p:cNvSpPr>
          <p:nvPr/>
        </p:nvSpPr>
        <p:spPr>
          <a:xfrm xmlns:a="http://schemas.openxmlformats.org/drawingml/2006/main">
            <a:off x="2000250" y="41243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Product and inventory</a:t>
            </a:r>
          </a:p>
        </p:txBody>
      </p:sp>
      <p:sp>
        <p:nvSpPr>
          <p:cNvPr id="11" name="text-54">
            <a:extLst xmlns:a="http://schemas.openxmlformats.org/drawingml/2006/main">
              <a:ext uri="{FF2B5EF4-FFF2-40B4-BE49-F238E27FC236}">
                <a16:creationId xmlns:a16="http://schemas.microsoft.com/office/drawing/2014/main" id="{140832FE-2932-4DE3-8BE6-65EA588D8306}"/>
              </a:ext>
            </a:extLst>
          </p:cNvPr>
          <p:cNvSpPr>
            <a:spLocks xmlns:a="http://schemas.openxmlformats.org/drawingml/2006/main" noGrp="1"/>
          </p:cNvSpPr>
          <p:nvPr/>
        </p:nvSpPr>
        <p:spPr>
          <a:xfrm xmlns:a="http://schemas.openxmlformats.org/drawingml/2006/main">
            <a:off x="8382000" y="415290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A9B8CB"/>
                </a:solidFill>
              </a:defRPr>
            </a:defPPr>
            <a:lvl1pPr algn="l">
              <a:defRPr sz="2325" b="0">
                <a:solidFill>
                  <a:srgbClr val="A9B8CB"/>
                </a:solidFill>
              </a:defRPr>
            </a:lvl1pPr>
            <a:lvl2pPr algn="l">
              <a:defRPr sz="2325" b="0">
                <a:solidFill>
                  <a:srgbClr val="A9B8CB"/>
                </a:solidFill>
              </a:defRPr>
            </a:lvl2pPr>
            <a:lvl3pPr algn="l">
              <a:defRPr sz="2325" b="0">
                <a:solidFill>
                  <a:srgbClr val="A9B8CB"/>
                </a:solidFill>
              </a:defRPr>
            </a:lvl3pPr>
            <a:lvl4pPr algn="l">
              <a:defRPr sz="2325" b="0">
                <a:solidFill>
                  <a:srgbClr val="A9B8CB"/>
                </a:solidFill>
              </a:defRPr>
            </a:lvl4pPr>
            <a:lvl5pPr algn="l">
              <a:defRPr sz="2325" b="0">
                <a:solidFill>
                  <a:srgbClr val="A9B8CB"/>
                </a:solidFill>
              </a:defRPr>
            </a:lvl5pPr>
            <a:lvl6pPr algn="l">
              <a:defRPr sz="2325" b="0">
                <a:solidFill>
                  <a:srgbClr val="A9B8CB"/>
                </a:solidFill>
              </a:defRPr>
            </a:lvl6pPr>
            <a:lvl7pPr algn="l">
              <a:defRPr sz="2325" b="0">
                <a:solidFill>
                  <a:srgbClr val="A9B8CB"/>
                </a:solidFill>
              </a:defRPr>
            </a:lvl7pPr>
            <a:lvl8pPr algn="l">
              <a:defRPr sz="2325" b="0">
                <a:solidFill>
                  <a:srgbClr val="A9B8CB"/>
                </a:solidFill>
              </a:defRPr>
            </a:lvl8pPr>
            <a:lvl9pPr algn="l">
              <a:defRPr sz="2325" b="0">
                <a:solidFill>
                  <a:srgbClr val="A9B8CB"/>
                </a:solidFill>
              </a:defRPr>
            </a:lvl9pPr>
          </a:lstStyle>
          <a:p xmlns:a="http://schemas.openxmlformats.org/drawingml/2006/main">
            <a:pPr algn="l">
              <a:defRPr sz="2325" b="0">
                <a:solidFill>
                  <a:srgbClr val="A9B8CB"/>
                </a:solidFill>
              </a:defRPr>
            </a:pPr>
            <a:r>
              <a:rPr sz="2325" b="0">
                <a:solidFill>
                  <a:srgbClr val="A9B8CB"/>
                </a:solidFill>
              </a:rPr>
              <a:t>Base stock, selling options, adjustments, import and archival</a:t>
            </a:r>
          </a:p>
        </p:txBody>
      </p:sp>
      <p:sp>
        <p:nvSpPr>
          <p:cNvPr id="12" name="rule-55">
            <a:extLst xmlns:a="http://schemas.openxmlformats.org/drawingml/2006/main">
              <a:ext uri="{FF2B5EF4-FFF2-40B4-BE49-F238E27FC236}">
                <a16:creationId xmlns:a16="http://schemas.microsoft.com/office/drawing/2014/main" id="{7CB494D6-B2DF-4B8B-89EE-C54DDE36EA73}"/>
              </a:ext>
            </a:extLst>
          </p:cNvPr>
          <p:cNvSpPr>
            <a:spLocks xmlns:a="http://schemas.openxmlformats.org/drawingml/2006/main" noGrp="1"/>
          </p:cNvSpPr>
          <p:nvPr/>
        </p:nvSpPr>
        <p:spPr>
          <a:xfrm xmlns:a="http://schemas.openxmlformats.org/drawingml/2006/main">
            <a:off x="2000250" y="5048250"/>
            <a:ext cx="15335250" cy="0"/>
          </a:xfrm>
          <a:prstGeom xmlns:a="http://schemas.openxmlformats.org/drawingml/2006/main" prst="line">
            <a:avLst/>
          </a:prstGeom>
          <a:ln xmlns:a="http://schemas.openxmlformats.org/drawingml/2006/main" w="19050">
            <a:solidFill>
              <a:srgbClr val="334155"/>
            </a:solidFill>
            <a:prstDash val="solid"/>
          </a:ln>
        </p:spPr>
      </p:sp>
      <p:pic>
        <p:nvPicPr>
          <p:cNvPr id="13" name="">
            <a:extLst xmlns:a="http://schemas.openxmlformats.org/drawingml/2006/main">
              <a:ext uri="{FF2B5EF4-FFF2-40B4-BE49-F238E27FC236}">
                <a16:creationId xmlns:a16="http://schemas.microsoft.com/office/drawing/2014/main" id="{C724C1D9-E326-415E-83B0-64A25868123E}"/>
              </a:ext>
            </a:extLst>
          </p:cNvPr>
          <p:cNvPicPr>
            <a:picLocks xmlns:a="http://schemas.openxmlformats.org/drawingml/2006/main" noChangeAspect="1"/>
          </p:cNvPicPr>
          <p:nvPr/>
        </p:nvPicPr>
        <p:blipFill>
          <a:blip xmlns:r="http://schemas.openxmlformats.org/officeDocument/2006/relationships" xmlns:a="http://schemas.openxmlformats.org/drawingml/2006/main" r:embed="Rde09c4d7f97543bb"/>
          <a:stretch xmlns:a="http://schemas.openxmlformats.org/drawingml/2006/main"/>
        </p:blipFill>
        <p:spPr>
          <a:xfrm xmlns:a="http://schemas.openxmlformats.org/drawingml/2006/main">
            <a:off x="952500" y="5362575"/>
            <a:ext cx="552450" cy="552450"/>
          </a:xfrm>
          <a:prstGeom xmlns:a="http://schemas.openxmlformats.org/drawingml/2006/main" prst="rect">
            <a:avLst/>
          </a:prstGeom>
        </p:spPr>
      </p:pic>
      <p:sp>
        <p:nvSpPr>
          <p:cNvPr id="14" name="text-56">
            <a:extLst xmlns:a="http://schemas.openxmlformats.org/drawingml/2006/main">
              <a:ext uri="{FF2B5EF4-FFF2-40B4-BE49-F238E27FC236}">
                <a16:creationId xmlns:a16="http://schemas.microsoft.com/office/drawing/2014/main" id="{08AE48F2-A8F3-47A2-8008-1A2CBDFEFA67}"/>
              </a:ext>
            </a:extLst>
          </p:cNvPr>
          <p:cNvSpPr>
            <a:spLocks xmlns:a="http://schemas.openxmlformats.org/drawingml/2006/main" noGrp="1"/>
          </p:cNvSpPr>
          <p:nvPr/>
        </p:nvSpPr>
        <p:spPr>
          <a:xfrm xmlns:a="http://schemas.openxmlformats.org/drawingml/2006/main">
            <a:off x="2000250" y="53244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Replenishment and suppliers</a:t>
            </a:r>
          </a:p>
        </p:txBody>
      </p:sp>
      <p:sp>
        <p:nvSpPr>
          <p:cNvPr id="15" name="text-57">
            <a:extLst xmlns:a="http://schemas.openxmlformats.org/drawingml/2006/main">
              <a:ext uri="{FF2B5EF4-FFF2-40B4-BE49-F238E27FC236}">
                <a16:creationId xmlns:a16="http://schemas.microsoft.com/office/drawing/2014/main" id="{8EC7256C-CE0F-43B9-9E65-4D2D289866BC}"/>
              </a:ext>
            </a:extLst>
          </p:cNvPr>
          <p:cNvSpPr>
            <a:spLocks xmlns:a="http://schemas.openxmlformats.org/drawingml/2006/main" noGrp="1"/>
          </p:cNvSpPr>
          <p:nvPr/>
        </p:nvSpPr>
        <p:spPr>
          <a:xfrm xmlns:a="http://schemas.openxmlformats.org/drawingml/2006/main">
            <a:off x="8382000" y="535305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A9B8CB"/>
                </a:solidFill>
              </a:defRPr>
            </a:defPPr>
            <a:lvl1pPr algn="l">
              <a:defRPr sz="2325" b="0">
                <a:solidFill>
                  <a:srgbClr val="A9B8CB"/>
                </a:solidFill>
              </a:defRPr>
            </a:lvl1pPr>
            <a:lvl2pPr algn="l">
              <a:defRPr sz="2325" b="0">
                <a:solidFill>
                  <a:srgbClr val="A9B8CB"/>
                </a:solidFill>
              </a:defRPr>
            </a:lvl2pPr>
            <a:lvl3pPr algn="l">
              <a:defRPr sz="2325" b="0">
                <a:solidFill>
                  <a:srgbClr val="A9B8CB"/>
                </a:solidFill>
              </a:defRPr>
            </a:lvl3pPr>
            <a:lvl4pPr algn="l">
              <a:defRPr sz="2325" b="0">
                <a:solidFill>
                  <a:srgbClr val="A9B8CB"/>
                </a:solidFill>
              </a:defRPr>
            </a:lvl4pPr>
            <a:lvl5pPr algn="l">
              <a:defRPr sz="2325" b="0">
                <a:solidFill>
                  <a:srgbClr val="A9B8CB"/>
                </a:solidFill>
              </a:defRPr>
            </a:lvl5pPr>
            <a:lvl6pPr algn="l">
              <a:defRPr sz="2325" b="0">
                <a:solidFill>
                  <a:srgbClr val="A9B8CB"/>
                </a:solidFill>
              </a:defRPr>
            </a:lvl6pPr>
            <a:lvl7pPr algn="l">
              <a:defRPr sz="2325" b="0">
                <a:solidFill>
                  <a:srgbClr val="A9B8CB"/>
                </a:solidFill>
              </a:defRPr>
            </a:lvl7pPr>
            <a:lvl8pPr algn="l">
              <a:defRPr sz="2325" b="0">
                <a:solidFill>
                  <a:srgbClr val="A9B8CB"/>
                </a:solidFill>
              </a:defRPr>
            </a:lvl8pPr>
            <a:lvl9pPr algn="l">
              <a:defRPr sz="2325" b="0">
                <a:solidFill>
                  <a:srgbClr val="A9B8CB"/>
                </a:solidFill>
              </a:defRPr>
            </a:lvl9pPr>
          </a:lstStyle>
          <a:p xmlns:a="http://schemas.openxmlformats.org/drawingml/2006/main">
            <a:pPr algn="l">
              <a:defRPr sz="2325" b="0">
                <a:solidFill>
                  <a:srgbClr val="A9B8CB"/>
                </a:solidFill>
              </a:defRPr>
            </a:pPr>
            <a:r>
              <a:rPr sz="2325" b="0">
                <a:solidFill>
                  <a:srgbClr val="A9B8CB"/>
                </a:solidFill>
              </a:rPr>
              <a:t>Receiving, purchase orders, consignment stock and balances</a:t>
            </a:r>
          </a:p>
        </p:txBody>
      </p:sp>
      <p:sp>
        <p:nvSpPr>
          <p:cNvPr id="16" name="rule-58">
            <a:extLst xmlns:a="http://schemas.openxmlformats.org/drawingml/2006/main">
              <a:ext uri="{FF2B5EF4-FFF2-40B4-BE49-F238E27FC236}">
                <a16:creationId xmlns:a16="http://schemas.microsoft.com/office/drawing/2014/main" id="{41F5C60C-FC2F-469D-A7FB-D744D84BED2D}"/>
              </a:ext>
            </a:extLst>
          </p:cNvPr>
          <p:cNvSpPr>
            <a:spLocks xmlns:a="http://schemas.openxmlformats.org/drawingml/2006/main" noGrp="1"/>
          </p:cNvSpPr>
          <p:nvPr/>
        </p:nvSpPr>
        <p:spPr>
          <a:xfrm xmlns:a="http://schemas.openxmlformats.org/drawingml/2006/main">
            <a:off x="2000250" y="6248400"/>
            <a:ext cx="15335250" cy="0"/>
          </a:xfrm>
          <a:prstGeom xmlns:a="http://schemas.openxmlformats.org/drawingml/2006/main" prst="line">
            <a:avLst/>
          </a:prstGeom>
          <a:ln xmlns:a="http://schemas.openxmlformats.org/drawingml/2006/main" w="19050">
            <a:solidFill>
              <a:srgbClr val="334155"/>
            </a:solidFill>
            <a:prstDash val="solid"/>
          </a:ln>
        </p:spPr>
      </p:sp>
      <p:pic>
        <p:nvPicPr>
          <p:cNvPr id="17" name="">
            <a:extLst xmlns:a="http://schemas.openxmlformats.org/drawingml/2006/main">
              <a:ext uri="{FF2B5EF4-FFF2-40B4-BE49-F238E27FC236}">
                <a16:creationId xmlns:a16="http://schemas.microsoft.com/office/drawing/2014/main" id="{4BC425E5-2B8A-412E-A0E0-03CDCDE4E980}"/>
              </a:ext>
            </a:extLst>
          </p:cNvPr>
          <p:cNvPicPr>
            <a:picLocks xmlns:a="http://schemas.openxmlformats.org/drawingml/2006/main" noChangeAspect="1"/>
          </p:cNvPicPr>
          <p:nvPr/>
        </p:nvPicPr>
        <p:blipFill>
          <a:blip xmlns:r="http://schemas.openxmlformats.org/officeDocument/2006/relationships" xmlns:a="http://schemas.openxmlformats.org/drawingml/2006/main" r:embed="R932846d6b0254c50"/>
          <a:stretch xmlns:a="http://schemas.openxmlformats.org/drawingml/2006/main"/>
        </p:blipFill>
        <p:spPr>
          <a:xfrm xmlns:a="http://schemas.openxmlformats.org/drawingml/2006/main">
            <a:off x="952500" y="6562725"/>
            <a:ext cx="552450" cy="552450"/>
          </a:xfrm>
          <a:prstGeom xmlns:a="http://schemas.openxmlformats.org/drawingml/2006/main" prst="rect">
            <a:avLst/>
          </a:prstGeom>
        </p:spPr>
      </p:pic>
      <p:sp>
        <p:nvSpPr>
          <p:cNvPr id="18" name="text-59">
            <a:extLst xmlns:a="http://schemas.openxmlformats.org/drawingml/2006/main">
              <a:ext uri="{FF2B5EF4-FFF2-40B4-BE49-F238E27FC236}">
                <a16:creationId xmlns:a16="http://schemas.microsoft.com/office/drawing/2014/main" id="{23AFDC01-9272-4182-A31A-3BFB017CE3C4}"/>
              </a:ext>
            </a:extLst>
          </p:cNvPr>
          <p:cNvSpPr>
            <a:spLocks xmlns:a="http://schemas.openxmlformats.org/drawingml/2006/main" noGrp="1"/>
          </p:cNvSpPr>
          <p:nvPr/>
        </p:nvSpPr>
        <p:spPr>
          <a:xfrm xmlns:a="http://schemas.openxmlformats.org/drawingml/2006/main">
            <a:off x="2000250" y="65246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Monitoring and reports</a:t>
            </a:r>
          </a:p>
        </p:txBody>
      </p:sp>
      <p:sp>
        <p:nvSpPr>
          <p:cNvPr id="19" name="text-60">
            <a:extLst xmlns:a="http://schemas.openxmlformats.org/drawingml/2006/main">
              <a:ext uri="{FF2B5EF4-FFF2-40B4-BE49-F238E27FC236}">
                <a16:creationId xmlns:a16="http://schemas.microsoft.com/office/drawing/2014/main" id="{07F2FFB2-8A75-4DCC-A2D3-4F54C224DC3D}"/>
              </a:ext>
            </a:extLst>
          </p:cNvPr>
          <p:cNvSpPr>
            <a:spLocks xmlns:a="http://schemas.openxmlformats.org/drawingml/2006/main" noGrp="1"/>
          </p:cNvSpPr>
          <p:nvPr/>
        </p:nvSpPr>
        <p:spPr>
          <a:xfrm xmlns:a="http://schemas.openxmlformats.org/drawingml/2006/main">
            <a:off x="8382000" y="655320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A9B8CB"/>
                </a:solidFill>
              </a:defRPr>
            </a:defPPr>
            <a:lvl1pPr algn="l">
              <a:defRPr sz="2325" b="0">
                <a:solidFill>
                  <a:srgbClr val="A9B8CB"/>
                </a:solidFill>
              </a:defRPr>
            </a:lvl1pPr>
            <a:lvl2pPr algn="l">
              <a:defRPr sz="2325" b="0">
                <a:solidFill>
                  <a:srgbClr val="A9B8CB"/>
                </a:solidFill>
              </a:defRPr>
            </a:lvl2pPr>
            <a:lvl3pPr algn="l">
              <a:defRPr sz="2325" b="0">
                <a:solidFill>
                  <a:srgbClr val="A9B8CB"/>
                </a:solidFill>
              </a:defRPr>
            </a:lvl3pPr>
            <a:lvl4pPr algn="l">
              <a:defRPr sz="2325" b="0">
                <a:solidFill>
                  <a:srgbClr val="A9B8CB"/>
                </a:solidFill>
              </a:defRPr>
            </a:lvl4pPr>
            <a:lvl5pPr algn="l">
              <a:defRPr sz="2325" b="0">
                <a:solidFill>
                  <a:srgbClr val="A9B8CB"/>
                </a:solidFill>
              </a:defRPr>
            </a:lvl5pPr>
            <a:lvl6pPr algn="l">
              <a:defRPr sz="2325" b="0">
                <a:solidFill>
                  <a:srgbClr val="A9B8CB"/>
                </a:solidFill>
              </a:defRPr>
            </a:lvl6pPr>
            <a:lvl7pPr algn="l">
              <a:defRPr sz="2325" b="0">
                <a:solidFill>
                  <a:srgbClr val="A9B8CB"/>
                </a:solidFill>
              </a:defRPr>
            </a:lvl7pPr>
            <a:lvl8pPr algn="l">
              <a:defRPr sz="2325" b="0">
                <a:solidFill>
                  <a:srgbClr val="A9B8CB"/>
                </a:solidFill>
              </a:defRPr>
            </a:lvl8pPr>
            <a:lvl9pPr algn="l">
              <a:defRPr sz="2325" b="0">
                <a:solidFill>
                  <a:srgbClr val="A9B8CB"/>
                </a:solidFill>
              </a:defRPr>
            </a:lvl9pPr>
          </a:lstStyle>
          <a:p xmlns:a="http://schemas.openxmlformats.org/drawingml/2006/main">
            <a:pPr algn="l">
              <a:defRPr sz="2325" b="0">
                <a:solidFill>
                  <a:srgbClr val="A9B8CB"/>
                </a:solidFill>
              </a:defRPr>
            </a:pPr>
            <a:r>
              <a:rPr sz="2325" b="0">
                <a:solidFill>
                  <a:srgbClr val="A9B8CB"/>
                </a:solidFill>
              </a:rPr>
              <a:t>Stock alerts, descriptive analytics, sales and inventory exports</a:t>
            </a:r>
          </a:p>
        </p:txBody>
      </p:sp>
      <p:sp>
        <p:nvSpPr>
          <p:cNvPr id="20" name="rule-61">
            <a:extLst xmlns:a="http://schemas.openxmlformats.org/drawingml/2006/main">
              <a:ext uri="{FF2B5EF4-FFF2-40B4-BE49-F238E27FC236}">
                <a16:creationId xmlns:a16="http://schemas.microsoft.com/office/drawing/2014/main" id="{31FE590B-64C5-48BB-89DB-88E5CA4E32E2}"/>
              </a:ext>
            </a:extLst>
          </p:cNvPr>
          <p:cNvSpPr>
            <a:spLocks xmlns:a="http://schemas.openxmlformats.org/drawingml/2006/main" noGrp="1"/>
          </p:cNvSpPr>
          <p:nvPr/>
        </p:nvSpPr>
        <p:spPr>
          <a:xfrm xmlns:a="http://schemas.openxmlformats.org/drawingml/2006/main">
            <a:off x="2000250" y="7448550"/>
            <a:ext cx="15335250" cy="0"/>
          </a:xfrm>
          <a:prstGeom xmlns:a="http://schemas.openxmlformats.org/drawingml/2006/main" prst="line">
            <a:avLst/>
          </a:prstGeom>
          <a:ln xmlns:a="http://schemas.openxmlformats.org/drawingml/2006/main" w="19050">
            <a:solidFill>
              <a:srgbClr val="334155"/>
            </a:solidFill>
            <a:prstDash val="solid"/>
          </a:ln>
        </p:spPr>
      </p:sp>
      <p:pic>
        <p:nvPicPr>
          <p:cNvPr id="21" name="">
            <a:extLst xmlns:a="http://schemas.openxmlformats.org/drawingml/2006/main">
              <a:ext uri="{FF2B5EF4-FFF2-40B4-BE49-F238E27FC236}">
                <a16:creationId xmlns:a16="http://schemas.microsoft.com/office/drawing/2014/main" id="{C78F1B84-3523-48B6-BCC8-B691476B30AE}"/>
              </a:ext>
            </a:extLst>
          </p:cNvPr>
          <p:cNvPicPr>
            <a:picLocks xmlns:a="http://schemas.openxmlformats.org/drawingml/2006/main" noChangeAspect="1"/>
          </p:cNvPicPr>
          <p:nvPr/>
        </p:nvPicPr>
        <p:blipFill>
          <a:blip xmlns:r="http://schemas.openxmlformats.org/officeDocument/2006/relationships" xmlns:a="http://schemas.openxmlformats.org/drawingml/2006/main" r:embed="R2b68b75db7d84c10"/>
          <a:stretch xmlns:a="http://schemas.openxmlformats.org/drawingml/2006/main"/>
        </p:blipFill>
        <p:spPr>
          <a:xfrm xmlns:a="http://schemas.openxmlformats.org/drawingml/2006/main">
            <a:off x="952500" y="7762875"/>
            <a:ext cx="552450" cy="552450"/>
          </a:xfrm>
          <a:prstGeom xmlns:a="http://schemas.openxmlformats.org/drawingml/2006/main" prst="rect">
            <a:avLst/>
          </a:prstGeom>
        </p:spPr>
      </p:pic>
      <p:sp>
        <p:nvSpPr>
          <p:cNvPr id="22" name="text-62">
            <a:extLst xmlns:a="http://schemas.openxmlformats.org/drawingml/2006/main">
              <a:ext uri="{FF2B5EF4-FFF2-40B4-BE49-F238E27FC236}">
                <a16:creationId xmlns:a16="http://schemas.microsoft.com/office/drawing/2014/main" id="{82F87430-E965-4E7E-9CEE-8B48A2F167DF}"/>
              </a:ext>
            </a:extLst>
          </p:cNvPr>
          <p:cNvSpPr>
            <a:spLocks xmlns:a="http://schemas.openxmlformats.org/drawingml/2006/main" noGrp="1"/>
          </p:cNvSpPr>
          <p:nvPr/>
        </p:nvSpPr>
        <p:spPr>
          <a:xfrm xmlns:a="http://schemas.openxmlformats.org/drawingml/2006/main">
            <a:off x="2000250" y="77247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User administration</a:t>
            </a:r>
          </a:p>
        </p:txBody>
      </p:sp>
      <p:sp>
        <p:nvSpPr>
          <p:cNvPr id="23" name="text-63">
            <a:extLst xmlns:a="http://schemas.openxmlformats.org/drawingml/2006/main">
              <a:ext uri="{FF2B5EF4-FFF2-40B4-BE49-F238E27FC236}">
                <a16:creationId xmlns:a16="http://schemas.microsoft.com/office/drawing/2014/main" id="{127103D5-031D-4BE9-954A-070E9DC1D3B8}"/>
              </a:ext>
            </a:extLst>
          </p:cNvPr>
          <p:cNvSpPr>
            <a:spLocks xmlns:a="http://schemas.openxmlformats.org/drawingml/2006/main" noGrp="1"/>
          </p:cNvSpPr>
          <p:nvPr/>
        </p:nvSpPr>
        <p:spPr>
          <a:xfrm xmlns:a="http://schemas.openxmlformats.org/drawingml/2006/main">
            <a:off x="8382000" y="775335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A9B8CB"/>
                </a:solidFill>
              </a:defRPr>
            </a:defPPr>
            <a:lvl1pPr algn="l">
              <a:defRPr sz="2325" b="0">
                <a:solidFill>
                  <a:srgbClr val="A9B8CB"/>
                </a:solidFill>
              </a:defRPr>
            </a:lvl1pPr>
            <a:lvl2pPr algn="l">
              <a:defRPr sz="2325" b="0">
                <a:solidFill>
                  <a:srgbClr val="A9B8CB"/>
                </a:solidFill>
              </a:defRPr>
            </a:lvl2pPr>
            <a:lvl3pPr algn="l">
              <a:defRPr sz="2325" b="0">
                <a:solidFill>
                  <a:srgbClr val="A9B8CB"/>
                </a:solidFill>
              </a:defRPr>
            </a:lvl3pPr>
            <a:lvl4pPr algn="l">
              <a:defRPr sz="2325" b="0">
                <a:solidFill>
                  <a:srgbClr val="A9B8CB"/>
                </a:solidFill>
              </a:defRPr>
            </a:lvl4pPr>
            <a:lvl5pPr algn="l">
              <a:defRPr sz="2325" b="0">
                <a:solidFill>
                  <a:srgbClr val="A9B8CB"/>
                </a:solidFill>
              </a:defRPr>
            </a:lvl5pPr>
            <a:lvl6pPr algn="l">
              <a:defRPr sz="2325" b="0">
                <a:solidFill>
                  <a:srgbClr val="A9B8CB"/>
                </a:solidFill>
              </a:defRPr>
            </a:lvl6pPr>
            <a:lvl7pPr algn="l">
              <a:defRPr sz="2325" b="0">
                <a:solidFill>
                  <a:srgbClr val="A9B8CB"/>
                </a:solidFill>
              </a:defRPr>
            </a:lvl7pPr>
            <a:lvl8pPr algn="l">
              <a:defRPr sz="2325" b="0">
                <a:solidFill>
                  <a:srgbClr val="A9B8CB"/>
                </a:solidFill>
              </a:defRPr>
            </a:lvl8pPr>
            <a:lvl9pPr algn="l">
              <a:defRPr sz="2325" b="0">
                <a:solidFill>
                  <a:srgbClr val="A9B8CB"/>
                </a:solidFill>
              </a:defRPr>
            </a:lvl9pPr>
          </a:lstStyle>
          <a:p xmlns:a="http://schemas.openxmlformats.org/drawingml/2006/main">
            <a:pPr algn="l">
              <a:defRPr sz="2325" b="0">
                <a:solidFill>
                  <a:srgbClr val="A9B8CB"/>
                </a:solidFill>
              </a:defRPr>
            </a:pPr>
            <a:r>
              <a:rPr sz="2325" b="0">
                <a:solidFill>
                  <a:srgbClr val="A9B8CB"/>
                </a:solidFill>
              </a:rPr>
              <a:t>Invite onboarding, assigned-store accounts and TOTP MFA</a:t>
            </a:r>
          </a:p>
        </p:txBody>
      </p:sp>
      <p:sp>
        <p:nvSpPr>
          <p:cNvPr id="24" name="text-64">
            <a:extLst xmlns:a="http://schemas.openxmlformats.org/drawingml/2006/main">
              <a:ext uri="{FF2B5EF4-FFF2-40B4-BE49-F238E27FC236}">
                <a16:creationId xmlns:a16="http://schemas.microsoft.com/office/drawing/2014/main" id="{0522A6ED-087C-4A9E-9387-30F26C17D973}"/>
              </a:ext>
            </a:extLst>
          </p:cNvPr>
          <p:cNvSpPr>
            <a:spLocks xmlns:a="http://schemas.openxmlformats.org/drawingml/2006/main" noGrp="1"/>
          </p:cNvSpPr>
          <p:nvPr/>
        </p:nvSpPr>
        <p:spPr>
          <a:xfrm xmlns:a="http://schemas.openxmlformats.org/drawingml/2006/main">
            <a:off x="952500" y="9105900"/>
            <a:ext cx="1638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0A5FA"/>
                </a:solidFill>
              </a:defRPr>
            </a:defPPr>
            <a:lvl1pPr algn="l">
              <a:defRPr sz="2100" b="0">
                <a:solidFill>
                  <a:srgbClr val="60A5FA"/>
                </a:solidFill>
              </a:defRPr>
            </a:lvl1pPr>
            <a:lvl2pPr algn="l">
              <a:defRPr sz="2100" b="0">
                <a:solidFill>
                  <a:srgbClr val="60A5FA"/>
                </a:solidFill>
              </a:defRPr>
            </a:lvl2pPr>
            <a:lvl3pPr algn="l">
              <a:defRPr sz="2100" b="0">
                <a:solidFill>
                  <a:srgbClr val="60A5FA"/>
                </a:solidFill>
              </a:defRPr>
            </a:lvl3pPr>
            <a:lvl4pPr algn="l">
              <a:defRPr sz="2100" b="0">
                <a:solidFill>
                  <a:srgbClr val="60A5FA"/>
                </a:solidFill>
              </a:defRPr>
            </a:lvl4pPr>
            <a:lvl5pPr algn="l">
              <a:defRPr sz="2100" b="0">
                <a:solidFill>
                  <a:srgbClr val="60A5FA"/>
                </a:solidFill>
              </a:defRPr>
            </a:lvl5pPr>
            <a:lvl6pPr algn="l">
              <a:defRPr sz="2100" b="0">
                <a:solidFill>
                  <a:srgbClr val="60A5FA"/>
                </a:solidFill>
              </a:defRPr>
            </a:lvl6pPr>
            <a:lvl7pPr algn="l">
              <a:defRPr sz="2100" b="0">
                <a:solidFill>
                  <a:srgbClr val="60A5FA"/>
                </a:solidFill>
              </a:defRPr>
            </a:lvl7pPr>
            <a:lvl8pPr algn="l">
              <a:defRPr sz="2100" b="0">
                <a:solidFill>
                  <a:srgbClr val="60A5FA"/>
                </a:solidFill>
              </a:defRPr>
            </a:lvl8pPr>
            <a:lvl9pPr algn="l">
              <a:defRPr sz="2100" b="0">
                <a:solidFill>
                  <a:srgbClr val="60A5FA"/>
                </a:solidFill>
              </a:defRPr>
            </a:lvl9pPr>
          </a:lstStyle>
          <a:p xmlns:a="http://schemas.openxmlformats.org/drawingml/2006/main">
            <a:pPr algn="l">
              <a:defRPr sz="2100" b="0">
                <a:solidFill>
                  <a:srgbClr val="60A5FA"/>
                </a:solidFill>
              </a:defRPr>
            </a:pPr>
            <a:r>
              <a:rPr sz="2100" b="0">
                <a:solidFill>
                  <a:srgbClr val="60A5FA"/>
                </a:solidFill>
              </a:rPr>
              <a:t>Roles: Admin, Cashier, Inventory, and a separate Super Admin invite portal</a:t>
            </a:r>
          </a:p>
        </p:txBody>
      </p:sp>
    </p:spTree>
    <p:extLst>
      <p:ext uri="{BB962C8B-B14F-4D97-AF65-F5344CB8AC3E}">
        <p14:creationId xmlns:p14="http://schemas.microsoft.com/office/powerpoint/2010/main" val="697151218"/>
      </p:ext>
    </p:extLst>
  </p:cSld>
</p:sld>
</file>

<file path=ppt/slides/slide5.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9E67E26-7075-4940-A27F-E844E0AFC8D0}"/>
              </a:ext>
            </a:extLst>
          </p:cNvPr>
          <p:cNvCxnSpPr>
            <a:stCxn xmlns:a="http://schemas.openxmlformats.org/drawingml/2006/main" id="6" idx="2"/>
            <a:endCxn xmlns:a="http://schemas.openxmlformats.org/drawingml/2006/main" id="8" idx="0"/>
          </p:cNvCxnSpPr>
          <p:nvPr/>
        </p:nvCxnSpPr>
        <p:spPr>
          <a:xfrm xmlns:a="http://schemas.openxmlformats.org/drawingml/2006/main">
            <a:off x="4048125" y="6191250"/>
            <a:ext cx="0" cy="1333500"/>
          </a:xfrm>
          <a:prstGeom xmlns:a="http://schemas.openxmlformats.org/drawingml/2006/main" prst="straightConnector1">
            <a:avLst/>
          </a:prstGeom>
          <a:ln xmlns:a="http://schemas.openxmlformats.org/drawingml/2006/main" w="28575">
            <a:solidFill>
              <a:srgbClr val="60A5FA"/>
            </a:solidFill>
            <a:headEnd type="triangle" w="med" len="med"/>
            <a:tailEnd type="triangle" w="med" len="med"/>
          </a:ln>
        </p:spPr>
      </p:cxnSp>
      <p:cxnSp>
        <p:nvCxnSpPr>
          <p:cNvPr id="7" name="">
            <a:extLst xmlns:a="http://schemas.openxmlformats.org/drawingml/2006/main">
              <a:ext uri="{FF2B5EF4-FFF2-40B4-BE49-F238E27FC236}">
                <a16:creationId xmlns:a16="http://schemas.microsoft.com/office/drawing/2014/main" id="{EF572974-B408-4223-8CA4-159F9FDED11D}"/>
              </a:ext>
            </a:extLst>
          </p:cNvPr>
          <p:cNvCxnSpPr>
            <a:stCxn xmlns:a="http://schemas.openxmlformats.org/drawingml/2006/main" id="5" idx="2"/>
            <a:endCxn xmlns:a="http://schemas.openxmlformats.org/drawingml/2006/main" id="6" idx="0"/>
          </p:cNvCxnSpPr>
          <p:nvPr/>
        </p:nvCxnSpPr>
        <p:spPr>
          <a:xfrm xmlns:a="http://schemas.openxmlformats.org/drawingml/2006/main">
            <a:off x="4048125" y="3857625"/>
            <a:ext cx="0" cy="619125"/>
          </a:xfrm>
          <a:prstGeom xmlns:a="http://schemas.openxmlformats.org/drawingml/2006/main" prst="straightConnector1">
            <a:avLst/>
          </a:prstGeom>
          <a:ln xmlns:a="http://schemas.openxmlformats.org/drawingml/2006/main" w="28575">
            <a:solidFill>
              <a:srgbClr val="60A5FA"/>
            </a:solidFill>
            <a:headEnd type="triangle" w="med" len="med"/>
            <a:tailEnd type="triangle" w="med" len="med"/>
          </a:ln>
        </p:spPr>
      </p:cxnSp>
      <p:sp>
        <p:nvSpPr>
          <p:cNvPr id="25" name="text-65">
            <a:extLst xmlns:a="http://schemas.openxmlformats.org/drawingml/2006/main">
              <a:ext uri="{FF2B5EF4-FFF2-40B4-BE49-F238E27FC236}">
                <a16:creationId xmlns:a16="http://schemas.microsoft.com/office/drawing/2014/main" id="{EB03FFBD-66F6-4E0D-9183-D2DC16AC143B}"/>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System architecture</a:t>
            </a:r>
          </a:p>
        </p:txBody>
      </p:sp>
      <p:sp>
        <p:nvSpPr>
          <p:cNvPr id="2" name="text-66">
            <a:extLst xmlns:a="http://schemas.openxmlformats.org/drawingml/2006/main">
              <a:ext uri="{FF2B5EF4-FFF2-40B4-BE49-F238E27FC236}">
                <a16:creationId xmlns:a16="http://schemas.microsoft.com/office/drawing/2014/main" id="{6EBA8343-2D07-4A16-B000-FED46DD48B06}"/>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2</a:t>
            </a:r>
          </a:p>
        </p:txBody>
      </p:sp>
      <p:sp>
        <p:nvSpPr>
          <p:cNvPr id="3" name="text-67">
            <a:extLst xmlns:a="http://schemas.openxmlformats.org/drawingml/2006/main">
              <a:ext uri="{FF2B5EF4-FFF2-40B4-BE49-F238E27FC236}">
                <a16:creationId xmlns:a16="http://schemas.microsoft.com/office/drawing/2014/main" id="{03337D68-64D6-4E2C-8AE0-AA0482C782C7}"/>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05</a:t>
            </a:r>
          </a:p>
        </p:txBody>
      </p:sp>
      <p:sp>
        <p:nvSpPr>
          <p:cNvPr id="4" name="text-68">
            <a:extLst xmlns:a="http://schemas.openxmlformats.org/drawingml/2006/main">
              <a:ext uri="{FF2B5EF4-FFF2-40B4-BE49-F238E27FC236}">
                <a16:creationId xmlns:a16="http://schemas.microsoft.com/office/drawing/2014/main" id="{90370C5A-D62F-4890-8654-01B660ADA879}"/>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Client logic, backend services, and authoritative persistence</a:t>
            </a:r>
          </a:p>
        </p:txBody>
      </p:sp>
      <p:sp>
        <p:nvSpPr>
          <p:cNvPr id="5" name="node-69">
            <a:extLst xmlns:a="http://schemas.openxmlformats.org/drawingml/2006/main">
              <a:ext uri="{FF2B5EF4-FFF2-40B4-BE49-F238E27FC236}">
                <a16:creationId xmlns:a16="http://schemas.microsoft.com/office/drawing/2014/main" id="{AF895489-BD6E-40D7-B68C-30EE4863E07E}"/>
              </a:ext>
            </a:extLst>
          </p:cNvPr>
          <p:cNvSpPr>
            <a:spLocks xmlns:a="http://schemas.openxmlformats.org/drawingml/2006/main" noGrp="1"/>
          </p:cNvSpPr>
          <p:nvPr/>
        </p:nvSpPr>
        <p:spPr>
          <a:xfrm xmlns:a="http://schemas.openxmlformats.org/drawingml/2006/main">
            <a:off x="952500" y="2714625"/>
            <a:ext cx="6191250" cy="11430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250">
                <a:solidFill>
                  <a:srgbClr val="F8FAFC"/>
                </a:solidFill>
              </a:defRPr>
            </a:defPPr>
            <a:lvl1pPr algn="ctr">
              <a:defRPr sz="2250">
                <a:solidFill>
                  <a:srgbClr val="F8FAFC"/>
                </a:solidFill>
              </a:defRPr>
            </a:lvl1pPr>
            <a:lvl2pPr algn="ctr">
              <a:defRPr sz="2250">
                <a:solidFill>
                  <a:srgbClr val="F8FAFC"/>
                </a:solidFill>
              </a:defRPr>
            </a:lvl2pPr>
            <a:lvl3pPr algn="ctr">
              <a:defRPr sz="2250">
                <a:solidFill>
                  <a:srgbClr val="F8FAFC"/>
                </a:solidFill>
              </a:defRPr>
            </a:lvl3pPr>
            <a:lvl4pPr algn="ctr">
              <a:defRPr sz="2250">
                <a:solidFill>
                  <a:srgbClr val="F8FAFC"/>
                </a:solidFill>
              </a:defRPr>
            </a:lvl4pPr>
            <a:lvl5pPr algn="ctr">
              <a:defRPr sz="2250">
                <a:solidFill>
                  <a:srgbClr val="F8FAFC"/>
                </a:solidFill>
              </a:defRPr>
            </a:lvl5pPr>
            <a:lvl6pPr algn="ctr">
              <a:defRPr sz="2250">
                <a:solidFill>
                  <a:srgbClr val="F8FAFC"/>
                </a:solidFill>
              </a:defRPr>
            </a:lvl6pPr>
            <a:lvl7pPr algn="ctr">
              <a:defRPr sz="2250">
                <a:solidFill>
                  <a:srgbClr val="F8FAFC"/>
                </a:solidFill>
              </a:defRPr>
            </a:lvl7pPr>
            <a:lvl8pPr algn="ctr">
              <a:defRPr sz="2250">
                <a:solidFill>
                  <a:srgbClr val="F8FAFC"/>
                </a:solidFill>
              </a:defRPr>
            </a:lvl8pPr>
            <a:lvl9pPr algn="ctr">
              <a:defRPr sz="2250">
                <a:solidFill>
                  <a:srgbClr val="F8FAFC"/>
                </a:solidFill>
              </a:defRPr>
            </a:lvl9pPr>
          </a:lstStyle>
          <a:p xmlns:a="http://schemas.openxmlformats.org/drawingml/2006/main">
            <a:pPr algn="ctr">
              <a:defRPr sz="2250">
                <a:solidFill>
                  <a:srgbClr val="F8FAFC"/>
                </a:solidFill>
              </a:defRPr>
            </a:pPr>
            <a:r>
              <a:rPr sz="2250">
                <a:solidFill>
                  <a:srgbClr val="F8FAFC"/>
                </a:solidFill>
              </a:rPr>
              <a:t>Authorized users</a:t>
            </a:r>
          </a:p>
          <a:p xmlns:a="http://schemas.openxmlformats.org/drawingml/2006/main">
            <a:pPr algn="ctr">
              <a:defRPr sz="2250">
                <a:solidFill>
                  <a:srgbClr val="F8FAFC"/>
                </a:solidFill>
              </a:defRPr>
            </a:pPr>
            <a:r>
              <a:rPr sz="2250">
                <a:solidFill>
                  <a:srgbClr val="F8FAFC"/>
                </a:solidFill>
              </a:rPr>
              <a:t>Assigned role and store</a:t>
            </a:r>
          </a:p>
        </p:txBody>
      </p:sp>
      <p:sp>
        <p:nvSpPr>
          <p:cNvPr id="6" name="node-70">
            <a:extLst xmlns:a="http://schemas.openxmlformats.org/drawingml/2006/main">
              <a:ext uri="{FF2B5EF4-FFF2-40B4-BE49-F238E27FC236}">
                <a16:creationId xmlns:a16="http://schemas.microsoft.com/office/drawing/2014/main" id="{4A622714-A0F8-4BBE-B5F0-9544760157D4}"/>
              </a:ext>
            </a:extLst>
          </p:cNvPr>
          <p:cNvSpPr>
            <a:spLocks xmlns:a="http://schemas.openxmlformats.org/drawingml/2006/main" noGrp="1"/>
          </p:cNvSpPr>
          <p:nvPr/>
        </p:nvSpPr>
        <p:spPr>
          <a:xfrm xmlns:a="http://schemas.openxmlformats.org/drawingml/2006/main">
            <a:off x="952500" y="4476750"/>
            <a:ext cx="6191250" cy="17145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400">
                <a:solidFill>
                  <a:srgbClr val="F8FAFC"/>
                </a:solidFill>
              </a:defRPr>
            </a:defPPr>
            <a:lvl1pPr algn="ctr">
              <a:defRPr sz="2400">
                <a:solidFill>
                  <a:srgbClr val="F8FAFC"/>
                </a:solidFill>
              </a:defRPr>
            </a:lvl1pPr>
            <a:lvl2pPr algn="ctr">
              <a:defRPr sz="2400">
                <a:solidFill>
                  <a:srgbClr val="F8FAFC"/>
                </a:solidFill>
              </a:defRPr>
            </a:lvl2pPr>
            <a:lvl3pPr algn="ctr">
              <a:defRPr sz="2400">
                <a:solidFill>
                  <a:srgbClr val="F8FAFC"/>
                </a:solidFill>
              </a:defRPr>
            </a:lvl3pPr>
            <a:lvl4pPr algn="ctr">
              <a:defRPr sz="2400">
                <a:solidFill>
                  <a:srgbClr val="F8FAFC"/>
                </a:solidFill>
              </a:defRPr>
            </a:lvl4pPr>
            <a:lvl5pPr algn="ctr">
              <a:defRPr sz="2400">
                <a:solidFill>
                  <a:srgbClr val="F8FAFC"/>
                </a:solidFill>
              </a:defRPr>
            </a:lvl5pPr>
            <a:lvl6pPr algn="ctr">
              <a:defRPr sz="2400">
                <a:solidFill>
                  <a:srgbClr val="F8FAFC"/>
                </a:solidFill>
              </a:defRPr>
            </a:lvl6pPr>
            <a:lvl7pPr algn="ctr">
              <a:defRPr sz="2400">
                <a:solidFill>
                  <a:srgbClr val="F8FAFC"/>
                </a:solidFill>
              </a:defRPr>
            </a:lvl7pPr>
            <a:lvl8pPr algn="ctr">
              <a:defRPr sz="2400">
                <a:solidFill>
                  <a:srgbClr val="F8FAFC"/>
                </a:solidFill>
              </a:defRPr>
            </a:lvl8pPr>
            <a:lvl9pPr algn="ctr">
              <a:defRPr sz="2400">
                <a:solidFill>
                  <a:srgbClr val="F8FAFC"/>
                </a:solidFill>
              </a:defRPr>
            </a:lvl9pPr>
          </a:lstStyle>
          <a:p xmlns:a="http://schemas.openxmlformats.org/drawingml/2006/main">
            <a:pPr algn="ctr">
              <a:defRPr sz="2400">
                <a:solidFill>
                  <a:srgbClr val="F8FAFC"/>
                </a:solidFill>
              </a:defRPr>
            </a:pPr>
            <a:r>
              <a:rPr sz="2400">
                <a:solidFill>
                  <a:srgbClr val="F8FAFC"/>
                </a:solidFill>
              </a:rPr>
              <a:t>React + TypeScript</a:t>
            </a:r>
          </a:p>
          <a:p xmlns:a="http://schemas.openxmlformats.org/drawingml/2006/main">
            <a:pPr algn="ctr">
              <a:defRPr sz="2400">
                <a:solidFill>
                  <a:srgbClr val="F8FAFC"/>
                </a:solidFill>
              </a:defRPr>
            </a:pPr>
            <a:r>
              <a:rPr sz="2400">
                <a:solidFill>
                  <a:srgbClr val="F8FAFC"/>
                </a:solidFill>
              </a:rPr>
              <a:t>Vite browser application</a:t>
            </a:r>
          </a:p>
          <a:p xmlns:a="http://schemas.openxmlformats.org/drawingml/2006/main">
            <a:pPr algn="ctr">
              <a:defRPr sz="2400">
                <a:solidFill>
                  <a:srgbClr val="F8FAFC"/>
                </a:solidFill>
              </a:defRPr>
            </a:pPr>
            <a:r>
              <a:rPr sz="2400">
                <a:solidFill>
                  <a:srgbClr val="F8FAFC"/>
                </a:solidFill>
              </a:rPr>
              <a:t>Zustand + TanStack Query</a:t>
            </a:r>
          </a:p>
        </p:txBody>
      </p:sp>
      <p:sp>
        <p:nvSpPr>
          <p:cNvPr id="8" name="node-71">
            <a:extLst xmlns:a="http://schemas.openxmlformats.org/drawingml/2006/main">
              <a:ext uri="{FF2B5EF4-FFF2-40B4-BE49-F238E27FC236}">
                <a16:creationId xmlns:a16="http://schemas.microsoft.com/office/drawing/2014/main" id="{ED2BC133-02D2-4FA4-A53F-0BAA6F76EBD0}"/>
              </a:ext>
            </a:extLst>
          </p:cNvPr>
          <p:cNvSpPr>
            <a:spLocks xmlns:a="http://schemas.openxmlformats.org/drawingml/2006/main" noGrp="1"/>
          </p:cNvSpPr>
          <p:nvPr/>
        </p:nvSpPr>
        <p:spPr>
          <a:xfrm xmlns:a="http://schemas.openxmlformats.org/drawingml/2006/main">
            <a:off x="952500" y="7524750"/>
            <a:ext cx="6191250" cy="11430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IndexedDB</a:t>
            </a:r>
          </a:p>
          <a:p xmlns:a="http://schemas.openxmlformats.org/drawingml/2006/main">
            <a:pPr algn="ctr">
              <a:defRPr sz="2175">
                <a:solidFill>
                  <a:srgbClr val="F8FAFC"/>
                </a:solidFill>
              </a:defRPr>
            </a:pPr>
            <a:r>
              <a:rPr sz="2175">
                <a:solidFill>
                  <a:srgbClr val="F8FAFC"/>
                </a:solidFill>
              </a:rPr>
              <a:t>Product cache + selected queues</a:t>
            </a:r>
          </a:p>
        </p:txBody>
      </p:sp>
      <p:sp>
        <p:nvSpPr>
          <p:cNvPr id="10" name="node-72">
            <a:extLst xmlns:a="http://schemas.openxmlformats.org/drawingml/2006/main">
              <a:ext uri="{FF2B5EF4-FFF2-40B4-BE49-F238E27FC236}">
                <a16:creationId xmlns:a16="http://schemas.microsoft.com/office/drawing/2014/main" id="{8CEB9A0D-87E1-4E11-A5AC-2B03DC3C07C5}"/>
              </a:ext>
            </a:extLst>
          </p:cNvPr>
          <p:cNvSpPr>
            <a:spLocks xmlns:a="http://schemas.openxmlformats.org/drawingml/2006/main" noGrp="1"/>
          </p:cNvSpPr>
          <p:nvPr/>
        </p:nvSpPr>
        <p:spPr>
          <a:xfrm xmlns:a="http://schemas.openxmlformats.org/drawingml/2006/main">
            <a:off x="9334500" y="2714625"/>
            <a:ext cx="3810000" cy="11430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Supabase Auth</a:t>
            </a:r>
          </a:p>
          <a:p xmlns:a="http://schemas.openxmlformats.org/drawingml/2006/main">
            <a:pPr algn="ctr">
              <a:defRPr sz="2175">
                <a:solidFill>
                  <a:srgbClr val="F8FAFC"/>
                </a:solidFill>
              </a:defRPr>
            </a:pPr>
            <a:r>
              <a:rPr sz="2175">
                <a:solidFill>
                  <a:srgbClr val="F8FAFC"/>
                </a:solidFill>
              </a:rPr>
              <a:t>Email/password + TOTP</a:t>
            </a:r>
          </a:p>
        </p:txBody>
      </p:sp>
      <p:sp>
        <p:nvSpPr>
          <p:cNvPr id="11" name="node-73">
            <a:extLst xmlns:a="http://schemas.openxmlformats.org/drawingml/2006/main">
              <a:ext uri="{FF2B5EF4-FFF2-40B4-BE49-F238E27FC236}">
                <a16:creationId xmlns:a16="http://schemas.microsoft.com/office/drawing/2014/main" id="{C56FFBAD-08A8-4E1A-A1BD-6DFD62121C90}"/>
              </a:ext>
            </a:extLst>
          </p:cNvPr>
          <p:cNvSpPr>
            <a:spLocks xmlns:a="http://schemas.openxmlformats.org/drawingml/2006/main" noGrp="1"/>
          </p:cNvSpPr>
          <p:nvPr/>
        </p:nvSpPr>
        <p:spPr>
          <a:xfrm xmlns:a="http://schemas.openxmlformats.org/drawingml/2006/main">
            <a:off x="9334500" y="4476750"/>
            <a:ext cx="3810000" cy="11430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Data API + RPC</a:t>
            </a:r>
          </a:p>
          <a:p xmlns:a="http://schemas.openxmlformats.org/drawingml/2006/main">
            <a:pPr algn="ctr">
              <a:defRPr sz="2175">
                <a:solidFill>
                  <a:srgbClr val="F8FAFC"/>
                </a:solidFill>
              </a:defRPr>
            </a:pPr>
            <a:r>
              <a:rPr sz="2175">
                <a:solidFill>
                  <a:srgbClr val="F8FAFC"/>
                </a:solidFill>
              </a:rPr>
              <a:t>Tables + SQL functions</a:t>
            </a:r>
          </a:p>
        </p:txBody>
      </p:sp>
      <p:sp>
        <p:nvSpPr>
          <p:cNvPr id="12" name="node-74">
            <a:extLst xmlns:a="http://schemas.openxmlformats.org/drawingml/2006/main">
              <a:ext uri="{FF2B5EF4-FFF2-40B4-BE49-F238E27FC236}">
                <a16:creationId xmlns:a16="http://schemas.microsoft.com/office/drawing/2014/main" id="{2AF94CBE-A78E-4B8A-AFED-FAA95732FA0B}"/>
              </a:ext>
            </a:extLst>
          </p:cNvPr>
          <p:cNvSpPr>
            <a:spLocks xmlns:a="http://schemas.openxmlformats.org/drawingml/2006/main" noGrp="1"/>
          </p:cNvSpPr>
          <p:nvPr/>
        </p:nvSpPr>
        <p:spPr>
          <a:xfrm xmlns:a="http://schemas.openxmlformats.org/drawingml/2006/main">
            <a:off x="9334500" y="6238875"/>
            <a:ext cx="3810000" cy="11430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Edge Functions</a:t>
            </a:r>
          </a:p>
          <a:p xmlns:a="http://schemas.openxmlformats.org/drawingml/2006/main">
            <a:pPr algn="ctr">
              <a:defRPr sz="2175">
                <a:solidFill>
                  <a:srgbClr val="F8FAFC"/>
                </a:solidFill>
              </a:defRPr>
            </a:pPr>
            <a:r>
              <a:rPr sz="2175">
                <a:solidFill>
                  <a:srgbClr val="F8FAFC"/>
                </a:solidFill>
              </a:rPr>
              <a:t>Accounts and invites</a:t>
            </a:r>
          </a:p>
        </p:txBody>
      </p:sp>
      <p:sp>
        <p:nvSpPr>
          <p:cNvPr id="13" name="node-75">
            <a:extLst xmlns:a="http://schemas.openxmlformats.org/drawingml/2006/main">
              <a:ext uri="{FF2B5EF4-FFF2-40B4-BE49-F238E27FC236}">
                <a16:creationId xmlns:a16="http://schemas.microsoft.com/office/drawing/2014/main" id="{82154624-4441-4F19-959B-025E39A66988}"/>
              </a:ext>
            </a:extLst>
          </p:cNvPr>
          <p:cNvSpPr>
            <a:spLocks xmlns:a="http://schemas.openxmlformats.org/drawingml/2006/main" noGrp="1"/>
          </p:cNvSpPr>
          <p:nvPr/>
        </p:nvSpPr>
        <p:spPr>
          <a:xfrm xmlns:a="http://schemas.openxmlformats.org/drawingml/2006/main">
            <a:off x="9334500" y="8001000"/>
            <a:ext cx="3810000" cy="104775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Supabase Storage</a:t>
            </a:r>
          </a:p>
          <a:p xmlns:a="http://schemas.openxmlformats.org/drawingml/2006/main">
            <a:pPr algn="ctr">
              <a:defRPr sz="2175">
                <a:solidFill>
                  <a:srgbClr val="F8FAFC"/>
                </a:solidFill>
              </a:defRPr>
            </a:pPr>
            <a:r>
              <a:rPr sz="2175">
                <a:solidFill>
                  <a:srgbClr val="F8FAFC"/>
                </a:solidFill>
              </a:rPr>
              <a:t>Uploaded assets</a:t>
            </a:r>
          </a:p>
        </p:txBody>
      </p:sp>
      <p:sp>
        <p:nvSpPr>
          <p:cNvPr id="14" name="node-76">
            <a:extLst xmlns:a="http://schemas.openxmlformats.org/drawingml/2006/main">
              <a:ext uri="{FF2B5EF4-FFF2-40B4-BE49-F238E27FC236}">
                <a16:creationId xmlns:a16="http://schemas.microsoft.com/office/drawing/2014/main" id="{F6EF1B96-D980-4FE7-BC8A-DE28F564C664}"/>
              </a:ext>
            </a:extLst>
          </p:cNvPr>
          <p:cNvSpPr>
            <a:spLocks xmlns:a="http://schemas.openxmlformats.org/drawingml/2006/main" noGrp="1"/>
          </p:cNvSpPr>
          <p:nvPr/>
        </p:nvSpPr>
        <p:spPr>
          <a:xfrm xmlns:a="http://schemas.openxmlformats.org/drawingml/2006/main">
            <a:off x="14573250" y="4476750"/>
            <a:ext cx="2762250" cy="290512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00">
                <a:solidFill>
                  <a:srgbClr val="F8FAFC"/>
                </a:solidFill>
              </a:defRPr>
            </a:defPPr>
            <a:lvl1pPr algn="ctr">
              <a:defRPr sz="2100">
                <a:solidFill>
                  <a:srgbClr val="F8FAFC"/>
                </a:solidFill>
              </a:defRPr>
            </a:lvl1pPr>
            <a:lvl2pPr algn="ctr">
              <a:defRPr sz="2100">
                <a:solidFill>
                  <a:srgbClr val="F8FAFC"/>
                </a:solidFill>
              </a:defRPr>
            </a:lvl2pPr>
            <a:lvl3pPr algn="ctr">
              <a:defRPr sz="2100">
                <a:solidFill>
                  <a:srgbClr val="F8FAFC"/>
                </a:solidFill>
              </a:defRPr>
            </a:lvl3pPr>
            <a:lvl4pPr algn="ctr">
              <a:defRPr sz="2100">
                <a:solidFill>
                  <a:srgbClr val="F8FAFC"/>
                </a:solidFill>
              </a:defRPr>
            </a:lvl4pPr>
            <a:lvl5pPr algn="ctr">
              <a:defRPr sz="2100">
                <a:solidFill>
                  <a:srgbClr val="F8FAFC"/>
                </a:solidFill>
              </a:defRPr>
            </a:lvl5pPr>
            <a:lvl6pPr algn="ctr">
              <a:defRPr sz="2100">
                <a:solidFill>
                  <a:srgbClr val="F8FAFC"/>
                </a:solidFill>
              </a:defRPr>
            </a:lvl6pPr>
            <a:lvl7pPr algn="ctr">
              <a:defRPr sz="2100">
                <a:solidFill>
                  <a:srgbClr val="F8FAFC"/>
                </a:solidFill>
              </a:defRPr>
            </a:lvl7pPr>
            <a:lvl8pPr algn="ctr">
              <a:defRPr sz="2100">
                <a:solidFill>
                  <a:srgbClr val="F8FAFC"/>
                </a:solidFill>
              </a:defRPr>
            </a:lvl8pPr>
            <a:lvl9pPr algn="ctr">
              <a:defRPr sz="2100">
                <a:solidFill>
                  <a:srgbClr val="F8FAFC"/>
                </a:solidFill>
              </a:defRPr>
            </a:lvl9pPr>
          </a:lstStyle>
          <a:p xmlns:a="http://schemas.openxmlformats.org/drawingml/2006/main">
            <a:pPr algn="ctr">
              <a:defRPr sz="2100">
                <a:solidFill>
                  <a:srgbClr val="F8FAFC"/>
                </a:solidFill>
              </a:defRPr>
            </a:pPr>
            <a:r>
              <a:rPr sz="2100">
                <a:solidFill>
                  <a:srgbClr val="F8FAFC"/>
                </a:solidFill>
              </a:rPr>
              <a:t>PostgreSQL</a:t>
            </a:r>
          </a:p>
          <a:p xmlns:a="http://schemas.openxmlformats.org/drawingml/2006/main">
            <a:r>
              <a:t/>
            </a:r>
          </a:p>
          <a:p xmlns:a="http://schemas.openxmlformats.org/drawingml/2006/main">
            <a:pPr algn="ctr">
              <a:defRPr sz="2100">
                <a:solidFill>
                  <a:srgbClr val="F8FAFC"/>
                </a:solidFill>
              </a:defRPr>
            </a:pPr>
            <a:r>
              <a:rPr sz="2100">
                <a:solidFill>
                  <a:srgbClr val="F8FAFC"/>
                </a:solidFill>
              </a:rPr>
              <a:t>RLS</a:t>
            </a:r>
          </a:p>
          <a:p xmlns:a="http://schemas.openxmlformats.org/drawingml/2006/main">
            <a:pPr algn="ctr">
              <a:defRPr sz="2100">
                <a:solidFill>
                  <a:srgbClr val="F8FAFC"/>
                </a:solidFill>
              </a:defRPr>
            </a:pPr>
            <a:r>
              <a:rPr sz="2100">
                <a:solidFill>
                  <a:srgbClr val="F8FAFC"/>
                </a:solidFill>
              </a:rPr>
              <a:t>SQL validation</a:t>
            </a:r>
          </a:p>
          <a:p xmlns:a="http://schemas.openxmlformats.org/drawingml/2006/main">
            <a:pPr algn="ctr">
              <a:defRPr sz="2100">
                <a:solidFill>
                  <a:srgbClr val="F8FAFC"/>
                </a:solidFill>
              </a:defRPr>
            </a:pPr>
            <a:r>
              <a:rPr sz="2100">
                <a:solidFill>
                  <a:srgbClr val="F8FAFC"/>
                </a:solidFill>
              </a:rPr>
              <a:t>Stock triggers</a:t>
            </a:r>
          </a:p>
          <a:p xmlns:a="http://schemas.openxmlformats.org/drawingml/2006/main">
            <a:r>
              <a:t/>
            </a:r>
          </a:p>
          <a:p xmlns:a="http://schemas.openxmlformats.org/drawingml/2006/main">
            <a:pPr algn="ctr">
              <a:defRPr sz="2100">
                <a:solidFill>
                  <a:srgbClr val="F8FAFC"/>
                </a:solidFill>
              </a:defRPr>
            </a:pPr>
            <a:r>
              <a:rPr sz="2100">
                <a:solidFill>
                  <a:srgbClr val="F8FAFC"/>
                </a:solidFill>
              </a:rPr>
              <a:t>Records and</a:t>
            </a:r>
          </a:p>
          <a:p xmlns:a="http://schemas.openxmlformats.org/drawingml/2006/main">
            <a:pPr algn="ctr">
              <a:defRPr sz="2100">
                <a:solidFill>
                  <a:srgbClr val="F8FAFC"/>
                </a:solidFill>
              </a:defRPr>
            </a:pPr>
            <a:r>
              <a:rPr sz="2100">
                <a:solidFill>
                  <a:srgbClr val="F8FAFC"/>
                </a:solidFill>
              </a:rPr>
              <a:t>snapshots</a:t>
            </a:r>
          </a:p>
        </p:txBody>
      </p:sp>
      <p:cxnSp>
        <p:nvCxnSpPr>
          <p:cNvPr id="15" name="">
            <a:extLst xmlns:a="http://schemas.openxmlformats.org/drawingml/2006/main">
              <a:ext uri="{FF2B5EF4-FFF2-40B4-BE49-F238E27FC236}">
                <a16:creationId xmlns:a16="http://schemas.microsoft.com/office/drawing/2014/main" id="{3125AE1D-C46B-40A0-BF52-45E8A94E9AD0}"/>
              </a:ext>
            </a:extLst>
          </p:cNvPr>
          <p:cNvCxnSpPr/>
          <p:nvPr/>
        </p:nvCxnSpPr>
        <p:spPr>
          <a:xfrm xmlns:a="http://schemas.openxmlformats.org/drawingml/2006/main">
            <a:off x="7143750" y="5334000"/>
            <a:ext cx="1095375" cy="0"/>
          </a:xfrm>
          <a:prstGeom xmlns:a="http://schemas.openxmlformats.org/drawingml/2006/main" prst="straightConnector1">
            <a:avLst/>
          </a:prstGeom>
          <a:ln xmlns:a="http://schemas.openxmlformats.org/drawingml/2006/main" w="28575">
            <a:solidFill>
              <a:srgbClr val="60A5FA"/>
            </a:solidFill>
            <a:headEnd type="triangle" w="med" len="med"/>
          </a:ln>
        </p:spPr>
      </p:cxnSp>
      <p:cxnSp>
        <p:nvCxnSpPr>
          <p:cNvPr id="16" name="">
            <a:extLst xmlns:a="http://schemas.openxmlformats.org/drawingml/2006/main">
              <a:ext uri="{FF2B5EF4-FFF2-40B4-BE49-F238E27FC236}">
                <a16:creationId xmlns:a16="http://schemas.microsoft.com/office/drawing/2014/main" id="{49BBAEB7-12CA-41B8-97EC-24B47605DB04}"/>
              </a:ext>
            </a:extLst>
          </p:cNvPr>
          <p:cNvCxnSpPr/>
          <p:nvPr/>
        </p:nvCxnSpPr>
        <p:spPr>
          <a:xfrm xmlns:a="http://schemas.openxmlformats.org/drawingml/2006/main">
            <a:off x="8239125" y="3286125"/>
            <a:ext cx="0" cy="5238750"/>
          </a:xfrm>
          <a:prstGeom xmlns:a="http://schemas.openxmlformats.org/drawingml/2006/main" prst="straightConnector1">
            <a:avLst/>
          </a:prstGeom>
          <a:ln xmlns:a="http://schemas.openxmlformats.org/drawingml/2006/main" w="28575">
            <a:solidFill>
              <a:srgbClr val="60A5FA"/>
            </a:solidFill>
          </a:ln>
        </p:spPr>
      </p:cxnSp>
      <p:cxnSp>
        <p:nvCxnSpPr>
          <p:cNvPr id="17" name="">
            <a:extLst xmlns:a="http://schemas.openxmlformats.org/drawingml/2006/main">
              <a:ext uri="{FF2B5EF4-FFF2-40B4-BE49-F238E27FC236}">
                <a16:creationId xmlns:a16="http://schemas.microsoft.com/office/drawing/2014/main" id="{7E245A7D-9265-44F4-A822-1F5600AE6CA5}"/>
              </a:ext>
            </a:extLst>
          </p:cNvPr>
          <p:cNvCxnSpPr/>
          <p:nvPr/>
        </p:nvCxnSpPr>
        <p:spPr>
          <a:xfrm xmlns:a="http://schemas.openxmlformats.org/drawingml/2006/main">
            <a:off x="8239125" y="3286125"/>
            <a:ext cx="10953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8" name="">
            <a:extLst xmlns:a="http://schemas.openxmlformats.org/drawingml/2006/main">
              <a:ext uri="{FF2B5EF4-FFF2-40B4-BE49-F238E27FC236}">
                <a16:creationId xmlns:a16="http://schemas.microsoft.com/office/drawing/2014/main" id="{BE02F13A-0EB9-4CF9-B9E5-6A33A19EF53B}"/>
              </a:ext>
            </a:extLst>
          </p:cNvPr>
          <p:cNvCxnSpPr/>
          <p:nvPr/>
        </p:nvCxnSpPr>
        <p:spPr>
          <a:xfrm xmlns:a="http://schemas.openxmlformats.org/drawingml/2006/main">
            <a:off x="8239125" y="5048250"/>
            <a:ext cx="10953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9" name="">
            <a:extLst xmlns:a="http://schemas.openxmlformats.org/drawingml/2006/main">
              <a:ext uri="{FF2B5EF4-FFF2-40B4-BE49-F238E27FC236}">
                <a16:creationId xmlns:a16="http://schemas.microsoft.com/office/drawing/2014/main" id="{ECD5C1E0-7378-4786-88D6-518EA6C4ECCF}"/>
              </a:ext>
            </a:extLst>
          </p:cNvPr>
          <p:cNvCxnSpPr/>
          <p:nvPr/>
        </p:nvCxnSpPr>
        <p:spPr>
          <a:xfrm xmlns:a="http://schemas.openxmlformats.org/drawingml/2006/main">
            <a:off x="8239125" y="6810375"/>
            <a:ext cx="10953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20" name="">
            <a:extLst xmlns:a="http://schemas.openxmlformats.org/drawingml/2006/main">
              <a:ext uri="{FF2B5EF4-FFF2-40B4-BE49-F238E27FC236}">
                <a16:creationId xmlns:a16="http://schemas.microsoft.com/office/drawing/2014/main" id="{3793E7F1-8B11-4806-A6EA-48799091D586}"/>
              </a:ext>
            </a:extLst>
          </p:cNvPr>
          <p:cNvCxnSpPr/>
          <p:nvPr/>
        </p:nvCxnSpPr>
        <p:spPr>
          <a:xfrm xmlns:a="http://schemas.openxmlformats.org/drawingml/2006/main">
            <a:off x="8239125" y="8524875"/>
            <a:ext cx="10953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21" name="">
            <a:extLst xmlns:a="http://schemas.openxmlformats.org/drawingml/2006/main">
              <a:ext uri="{FF2B5EF4-FFF2-40B4-BE49-F238E27FC236}">
                <a16:creationId xmlns:a16="http://schemas.microsoft.com/office/drawing/2014/main" id="{52760EA4-42D8-49C5-A03C-4756EC271092}"/>
              </a:ext>
            </a:extLst>
          </p:cNvPr>
          <p:cNvCxnSpPr/>
          <p:nvPr/>
        </p:nvCxnSpPr>
        <p:spPr>
          <a:xfrm xmlns:a="http://schemas.openxmlformats.org/drawingml/2006/main">
            <a:off x="13144500" y="5048250"/>
            <a:ext cx="1428750" cy="0"/>
          </a:xfrm>
          <a:prstGeom xmlns:a="http://schemas.openxmlformats.org/drawingml/2006/main" prst="straightConnector1">
            <a:avLst/>
          </a:prstGeom>
          <a:ln xmlns:a="http://schemas.openxmlformats.org/drawingml/2006/main" w="28575">
            <a:solidFill>
              <a:srgbClr val="60A5FA"/>
            </a:solidFill>
            <a:headEnd type="triangle" w="med" len="med"/>
            <a:tailEnd type="triangle" w="med" len="med"/>
          </a:ln>
        </p:spPr>
      </p:cxnSp>
      <p:cxnSp>
        <p:nvCxnSpPr>
          <p:cNvPr id="22" name="">
            <a:extLst xmlns:a="http://schemas.openxmlformats.org/drawingml/2006/main">
              <a:ext uri="{FF2B5EF4-FFF2-40B4-BE49-F238E27FC236}">
                <a16:creationId xmlns:a16="http://schemas.microsoft.com/office/drawing/2014/main" id="{D400C807-CA0F-4743-A55E-696CDF350C49}"/>
              </a:ext>
            </a:extLst>
          </p:cNvPr>
          <p:cNvCxnSpPr/>
          <p:nvPr/>
        </p:nvCxnSpPr>
        <p:spPr>
          <a:xfrm xmlns:a="http://schemas.openxmlformats.org/drawingml/2006/main">
            <a:off x="13144500" y="6810375"/>
            <a:ext cx="1428750" cy="0"/>
          </a:xfrm>
          <a:prstGeom xmlns:a="http://schemas.openxmlformats.org/drawingml/2006/main" prst="straightConnector1">
            <a:avLst/>
          </a:prstGeom>
          <a:ln xmlns:a="http://schemas.openxmlformats.org/drawingml/2006/main" w="28575">
            <a:solidFill>
              <a:srgbClr val="60A5FA"/>
            </a:solidFill>
            <a:headEnd type="triangle" w="med" len="med"/>
            <a:tailEnd type="triangle" w="med" len="med"/>
          </a:ln>
        </p:spPr>
      </p:cxnSp>
      <p:sp>
        <p:nvSpPr>
          <p:cNvPr id="23" name="text-77">
            <a:extLst xmlns:a="http://schemas.openxmlformats.org/drawingml/2006/main">
              <a:ext uri="{FF2B5EF4-FFF2-40B4-BE49-F238E27FC236}">
                <a16:creationId xmlns:a16="http://schemas.microsoft.com/office/drawing/2014/main" id="{BD3BC662-865F-4995-B67A-3B6D093C6FA9}"/>
              </a:ext>
            </a:extLst>
          </p:cNvPr>
          <p:cNvSpPr>
            <a:spLocks xmlns:a="http://schemas.openxmlformats.org/drawingml/2006/main" noGrp="1"/>
          </p:cNvSpPr>
          <p:nvPr/>
        </p:nvSpPr>
        <p:spPr>
          <a:xfrm xmlns:a="http://schemas.openxmlformats.org/drawingml/2006/main">
            <a:off x="952500" y="65913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A9B8CB"/>
                </a:solidFill>
              </a:defRPr>
            </a:defPPr>
            <a:lvl1pPr algn="l">
              <a:defRPr sz="2100" b="0">
                <a:solidFill>
                  <a:srgbClr val="A9B8CB"/>
                </a:solidFill>
              </a:defRPr>
            </a:lvl1pPr>
            <a:lvl2pPr algn="l">
              <a:defRPr sz="2100" b="0">
                <a:solidFill>
                  <a:srgbClr val="A9B8CB"/>
                </a:solidFill>
              </a:defRPr>
            </a:lvl2pPr>
            <a:lvl3pPr algn="l">
              <a:defRPr sz="2100" b="0">
                <a:solidFill>
                  <a:srgbClr val="A9B8CB"/>
                </a:solidFill>
              </a:defRPr>
            </a:lvl3pPr>
            <a:lvl4pPr algn="l">
              <a:defRPr sz="2100" b="0">
                <a:solidFill>
                  <a:srgbClr val="A9B8CB"/>
                </a:solidFill>
              </a:defRPr>
            </a:lvl4pPr>
            <a:lvl5pPr algn="l">
              <a:defRPr sz="2100" b="0">
                <a:solidFill>
                  <a:srgbClr val="A9B8CB"/>
                </a:solidFill>
              </a:defRPr>
            </a:lvl5pPr>
            <a:lvl6pPr algn="l">
              <a:defRPr sz="2100" b="0">
                <a:solidFill>
                  <a:srgbClr val="A9B8CB"/>
                </a:solidFill>
              </a:defRPr>
            </a:lvl6pPr>
            <a:lvl7pPr algn="l">
              <a:defRPr sz="2100" b="0">
                <a:solidFill>
                  <a:srgbClr val="A9B8CB"/>
                </a:solidFill>
              </a:defRPr>
            </a:lvl7pPr>
            <a:lvl8pPr algn="l">
              <a:defRPr sz="2100" b="0">
                <a:solidFill>
                  <a:srgbClr val="A9B8CB"/>
                </a:solidFill>
              </a:defRPr>
            </a:lvl8pPr>
            <a:lvl9pPr algn="l">
              <a:defRPr sz="2100" b="0">
                <a:solidFill>
                  <a:srgbClr val="A9B8CB"/>
                </a:solidFill>
              </a:defRPr>
            </a:lvl9pPr>
          </a:lstStyle>
          <a:p xmlns:a="http://schemas.openxmlformats.org/drawingml/2006/main">
            <a:pPr algn="l">
              <a:defRPr sz="2100" b="0">
                <a:solidFill>
                  <a:srgbClr val="A9B8CB"/>
                </a:solidFill>
              </a:defRPr>
            </a:pPr>
            <a:r>
              <a:rPr sz="2100" b="0">
                <a:solidFill>
                  <a:srgbClr val="A9B8CB"/>
                </a:solidFill>
              </a:rPr>
              <a:t>HTTPS + user JWT</a:t>
            </a:r>
          </a:p>
        </p:txBody>
      </p:sp>
      <p:sp>
        <p:nvSpPr>
          <p:cNvPr id="24" name="text-78">
            <a:extLst xmlns:a="http://schemas.openxmlformats.org/drawingml/2006/main">
              <a:ext uri="{FF2B5EF4-FFF2-40B4-BE49-F238E27FC236}">
                <a16:creationId xmlns:a16="http://schemas.microsoft.com/office/drawing/2014/main" id="{1B189436-F2E3-4382-815D-823AC9956421}"/>
              </a:ext>
            </a:extLst>
          </p:cNvPr>
          <p:cNvSpPr>
            <a:spLocks xmlns:a="http://schemas.openxmlformats.org/drawingml/2006/main" noGrp="1"/>
          </p:cNvSpPr>
          <p:nvPr/>
        </p:nvSpPr>
        <p:spPr>
          <a:xfrm xmlns:a="http://schemas.openxmlformats.org/drawingml/2006/main">
            <a:off x="952500" y="9163050"/>
            <a:ext cx="1638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9B8CB"/>
                </a:solidFill>
              </a:defRPr>
            </a:defPPr>
            <a:lvl1pPr algn="l">
              <a:defRPr sz="1800" b="0">
                <a:solidFill>
                  <a:srgbClr val="A9B8CB"/>
                </a:solidFill>
              </a:defRPr>
            </a:lvl1pPr>
            <a:lvl2pPr algn="l">
              <a:defRPr sz="1800" b="0">
                <a:solidFill>
                  <a:srgbClr val="A9B8CB"/>
                </a:solidFill>
              </a:defRPr>
            </a:lvl2pPr>
            <a:lvl3pPr algn="l">
              <a:defRPr sz="1800" b="0">
                <a:solidFill>
                  <a:srgbClr val="A9B8CB"/>
                </a:solidFill>
              </a:defRPr>
            </a:lvl3pPr>
            <a:lvl4pPr algn="l">
              <a:defRPr sz="1800" b="0">
                <a:solidFill>
                  <a:srgbClr val="A9B8CB"/>
                </a:solidFill>
              </a:defRPr>
            </a:lvl4pPr>
            <a:lvl5pPr algn="l">
              <a:defRPr sz="1800" b="0">
                <a:solidFill>
                  <a:srgbClr val="A9B8CB"/>
                </a:solidFill>
              </a:defRPr>
            </a:lvl5pPr>
            <a:lvl6pPr algn="l">
              <a:defRPr sz="1800" b="0">
                <a:solidFill>
                  <a:srgbClr val="A9B8CB"/>
                </a:solidFill>
              </a:defRPr>
            </a:lvl6pPr>
            <a:lvl7pPr algn="l">
              <a:defRPr sz="1800" b="0">
                <a:solidFill>
                  <a:srgbClr val="A9B8CB"/>
                </a:solidFill>
              </a:defRPr>
            </a:lvl7pPr>
            <a:lvl8pPr algn="l">
              <a:defRPr sz="1800" b="0">
                <a:solidFill>
                  <a:srgbClr val="A9B8CB"/>
                </a:solidFill>
              </a:defRPr>
            </a:lvl8pPr>
            <a:lvl9pPr algn="l">
              <a:defRPr sz="1800" b="0">
                <a:solidFill>
                  <a:srgbClr val="A9B8CB"/>
                </a:solidFill>
              </a:defRPr>
            </a:lvl9pPr>
          </a:lstStyle>
          <a:p xmlns:a="http://schemas.openxmlformats.org/drawingml/2006/main">
            <a:pPr algn="l">
              <a:defRPr sz="1800" b="0">
                <a:solidFill>
                  <a:srgbClr val="A9B8CB"/>
                </a:solidFill>
              </a:defRPr>
            </a:pPr>
            <a:r>
              <a:rPr sz="1800" b="0">
                <a:solidFill>
                  <a:srgbClr val="A9B8CB"/>
                </a:solidFill>
              </a:rPr>
              <a:t>Vercel SPA configuration present. Applied migrations and live hosting require confirmation.</a:t>
            </a:r>
          </a:p>
        </p:txBody>
      </p:sp>
    </p:spTree>
    <p:extLst>
      <p:ext uri="{BB962C8B-B14F-4D97-AF65-F5344CB8AC3E}">
        <p14:creationId xmlns:p14="http://schemas.microsoft.com/office/powerpoint/2010/main" val="1000188603"/>
      </p:ext>
    </p:extLst>
  </p:cSld>
</p:sld>
</file>

<file path=ppt/slides/slide6.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8B60DB5E-C421-43B6-961E-E92F0E6CA6ED}"/>
              </a:ext>
            </a:extLst>
          </p:cNvPr>
          <p:cNvCxnSpPr>
            <a:stCxn xmlns:a="http://schemas.openxmlformats.org/drawingml/2006/main" id="5" idx="3"/>
            <a:endCxn xmlns:a="http://schemas.openxmlformats.org/drawingml/2006/main" id="9" idx="1"/>
          </p:cNvCxnSpPr>
          <p:nvPr/>
        </p:nvCxnSpPr>
        <p:spPr>
          <a:xfrm xmlns:a="http://schemas.openxmlformats.org/drawingml/2006/main">
            <a:off x="5334000" y="3476625"/>
            <a:ext cx="1619250" cy="3286125"/>
          </a:xfrm>
          <a:prstGeom xmlns:a="http://schemas.openxmlformats.org/drawingml/2006/main" prst="bentConnector4">
            <a:avLst/>
          </a:prstGeom>
          <a:ln xmlns:a="http://schemas.openxmlformats.org/drawingml/2006/main" w="28575">
            <a:solidFill>
              <a:srgbClr val="60A5FA"/>
            </a:solidFill>
            <a:tailEnd type="triangle" w="med" len="med"/>
          </a:ln>
        </p:spPr>
      </p:cxnSp>
      <p:cxnSp>
        <p:nvCxnSpPr>
          <p:cNvPr id="17" name="">
            <a:extLst xmlns:a="http://schemas.openxmlformats.org/drawingml/2006/main">
              <a:ext uri="{FF2B5EF4-FFF2-40B4-BE49-F238E27FC236}">
                <a16:creationId xmlns:a16="http://schemas.microsoft.com/office/drawing/2014/main" id="{22F90095-4487-4436-BB13-B89F4F19DF85}"/>
              </a:ext>
            </a:extLst>
          </p:cNvPr>
          <p:cNvCxnSpPr>
            <a:stCxn xmlns:a="http://schemas.openxmlformats.org/drawingml/2006/main" id="7" idx="1"/>
            <a:endCxn xmlns:a="http://schemas.openxmlformats.org/drawingml/2006/main" id="9" idx="3"/>
          </p:cNvCxnSpPr>
          <p:nvPr/>
        </p:nvCxnSpPr>
        <p:spPr>
          <a:xfrm xmlns:a="http://schemas.openxmlformats.org/drawingml/2006/main" flipH="1">
            <a:off x="12001500" y="3476625"/>
            <a:ext cx="1428750" cy="3286125"/>
          </a:xfrm>
          <a:prstGeom xmlns:a="http://schemas.openxmlformats.org/drawingml/2006/main" prst="bentConnector4">
            <a:avLst/>
          </a:prstGeom>
          <a:ln xmlns:a="http://schemas.openxmlformats.org/drawingml/2006/main" w="28575">
            <a:solidFill>
              <a:srgbClr val="60A5FA"/>
            </a:solidFill>
            <a:tailEnd type="triangle" w="med" len="med"/>
          </a:ln>
        </p:spPr>
      </p:cxnSp>
      <p:cxnSp>
        <p:nvCxnSpPr>
          <p:cNvPr id="15" name="">
            <a:extLst xmlns:a="http://schemas.openxmlformats.org/drawingml/2006/main">
              <a:ext uri="{FF2B5EF4-FFF2-40B4-BE49-F238E27FC236}">
                <a16:creationId xmlns:a16="http://schemas.microsoft.com/office/drawing/2014/main" id="{9E98DFE8-28D2-47A7-805C-21AA91FE0C9F}"/>
              </a:ext>
            </a:extLst>
          </p:cNvPr>
          <p:cNvCxnSpPr>
            <a:stCxn xmlns:a="http://schemas.openxmlformats.org/drawingml/2006/main" id="6" idx="2"/>
            <a:endCxn xmlns:a="http://schemas.openxmlformats.org/drawingml/2006/main" id="9" idx="0"/>
          </p:cNvCxnSpPr>
          <p:nvPr/>
        </p:nvCxnSpPr>
        <p:spPr>
          <a:xfrm xmlns:a="http://schemas.openxmlformats.org/drawingml/2006/main">
            <a:off x="9477375" y="4095750"/>
            <a:ext cx="0" cy="1857375"/>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3" name="">
            <a:extLst xmlns:a="http://schemas.openxmlformats.org/drawingml/2006/main">
              <a:ext uri="{FF2B5EF4-FFF2-40B4-BE49-F238E27FC236}">
                <a16:creationId xmlns:a16="http://schemas.microsoft.com/office/drawing/2014/main" id="{10C3A59E-D17F-4DBA-933C-F647284D6327}"/>
              </a:ext>
            </a:extLst>
          </p:cNvPr>
          <p:cNvCxnSpPr>
            <a:stCxn xmlns:a="http://schemas.openxmlformats.org/drawingml/2006/main" id="5" idx="2"/>
            <a:endCxn xmlns:a="http://schemas.openxmlformats.org/drawingml/2006/main" id="8" idx="0"/>
          </p:cNvCxnSpPr>
          <p:nvPr/>
        </p:nvCxnSpPr>
        <p:spPr>
          <a:xfrm xmlns:a="http://schemas.openxmlformats.org/drawingml/2006/main">
            <a:off x="3143250" y="4095750"/>
            <a:ext cx="0" cy="2143125"/>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1" name="">
            <a:extLst xmlns:a="http://schemas.openxmlformats.org/drawingml/2006/main">
              <a:ext uri="{FF2B5EF4-FFF2-40B4-BE49-F238E27FC236}">
                <a16:creationId xmlns:a16="http://schemas.microsoft.com/office/drawing/2014/main" id="{31C91356-ECB5-4D05-B413-A9DE11400337}"/>
              </a:ext>
            </a:extLst>
          </p:cNvPr>
          <p:cNvCxnSpPr>
            <a:stCxn xmlns:a="http://schemas.openxmlformats.org/drawingml/2006/main" id="5" idx="3"/>
            <a:endCxn xmlns:a="http://schemas.openxmlformats.org/drawingml/2006/main" id="6" idx="1"/>
          </p:cNvCxnSpPr>
          <p:nvPr/>
        </p:nvCxnSpPr>
        <p:spPr>
          <a:xfrm xmlns:a="http://schemas.openxmlformats.org/drawingml/2006/main">
            <a:off x="5334000" y="3476625"/>
            <a:ext cx="1619250" cy="0"/>
          </a:xfrm>
          <a:prstGeom xmlns:a="http://schemas.openxmlformats.org/drawingml/2006/main" prst="straightConnector1">
            <a:avLst/>
          </a:prstGeom>
          <a:ln xmlns:a="http://schemas.openxmlformats.org/drawingml/2006/main" w="28575">
            <a:solidFill>
              <a:srgbClr val="60A5FA"/>
            </a:solidFill>
            <a:tailEnd type="triangle" w="med" len="med"/>
          </a:ln>
        </p:spPr>
      </p:cxnSp>
      <p:sp>
        <p:nvSpPr>
          <p:cNvPr id="28" name="text-79">
            <a:extLst xmlns:a="http://schemas.openxmlformats.org/drawingml/2006/main">
              <a:ext uri="{FF2B5EF4-FFF2-40B4-BE49-F238E27FC236}">
                <a16:creationId xmlns:a16="http://schemas.microsoft.com/office/drawing/2014/main" id="{5D3E4894-83D3-4610-A1B3-D245E0020BCF}"/>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Database design and data flow</a:t>
            </a:r>
          </a:p>
        </p:txBody>
      </p:sp>
      <p:sp>
        <p:nvSpPr>
          <p:cNvPr id="2" name="text-80">
            <a:extLst xmlns:a="http://schemas.openxmlformats.org/drawingml/2006/main">
              <a:ext uri="{FF2B5EF4-FFF2-40B4-BE49-F238E27FC236}">
                <a16:creationId xmlns:a16="http://schemas.microsoft.com/office/drawing/2014/main" id="{A68490CA-E96A-46D8-B29B-B9564AAD41D6}"/>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2</a:t>
            </a:r>
          </a:p>
        </p:txBody>
      </p:sp>
      <p:sp>
        <p:nvSpPr>
          <p:cNvPr id="3" name="text-81">
            <a:extLst xmlns:a="http://schemas.openxmlformats.org/drawingml/2006/main">
              <a:ext uri="{FF2B5EF4-FFF2-40B4-BE49-F238E27FC236}">
                <a16:creationId xmlns:a16="http://schemas.microsoft.com/office/drawing/2014/main" id="{DB8812E7-5B71-4AC0-8D07-073AB3840936}"/>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06</a:t>
            </a:r>
          </a:p>
        </p:txBody>
      </p:sp>
      <p:sp>
        <p:nvSpPr>
          <p:cNvPr id="4" name="text-82">
            <a:extLst xmlns:a="http://schemas.openxmlformats.org/drawingml/2006/main">
              <a:ext uri="{FF2B5EF4-FFF2-40B4-BE49-F238E27FC236}">
                <a16:creationId xmlns:a16="http://schemas.microsoft.com/office/drawing/2014/main" id="{CB6EE448-AF8C-4B24-BE35-9435CADFFF76}"/>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Key product and transaction relationships   ·   simplified 1:N overview</a:t>
            </a:r>
          </a:p>
        </p:txBody>
      </p:sp>
      <p:sp>
        <p:nvSpPr>
          <p:cNvPr id="5" name="node-83">
            <a:extLst xmlns:a="http://schemas.openxmlformats.org/drawingml/2006/main">
              <a:ext uri="{FF2B5EF4-FFF2-40B4-BE49-F238E27FC236}">
                <a16:creationId xmlns:a16="http://schemas.microsoft.com/office/drawing/2014/main" id="{7FD21B60-63C4-4E63-8658-8CBD6D8FC95E}"/>
              </a:ext>
            </a:extLst>
          </p:cNvPr>
          <p:cNvSpPr>
            <a:spLocks xmlns:a="http://schemas.openxmlformats.org/drawingml/2006/main" noGrp="1"/>
          </p:cNvSpPr>
          <p:nvPr/>
        </p:nvSpPr>
        <p:spPr>
          <a:xfrm xmlns:a="http://schemas.openxmlformats.org/drawingml/2006/main">
            <a:off x="952500" y="2857500"/>
            <a:ext cx="4381500" cy="123825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550">
                <a:solidFill>
                  <a:srgbClr val="F8FAFC"/>
                </a:solidFill>
              </a:defRPr>
            </a:defPPr>
            <a:lvl1pPr algn="ctr">
              <a:defRPr sz="2550">
                <a:solidFill>
                  <a:srgbClr val="F8FAFC"/>
                </a:solidFill>
              </a:defRPr>
            </a:lvl1pPr>
            <a:lvl2pPr algn="ctr">
              <a:defRPr sz="2550">
                <a:solidFill>
                  <a:srgbClr val="F8FAFC"/>
                </a:solidFill>
              </a:defRPr>
            </a:lvl2pPr>
            <a:lvl3pPr algn="ctr">
              <a:defRPr sz="2550">
                <a:solidFill>
                  <a:srgbClr val="F8FAFC"/>
                </a:solidFill>
              </a:defRPr>
            </a:lvl3pPr>
            <a:lvl4pPr algn="ctr">
              <a:defRPr sz="2550">
                <a:solidFill>
                  <a:srgbClr val="F8FAFC"/>
                </a:solidFill>
              </a:defRPr>
            </a:lvl4pPr>
            <a:lvl5pPr algn="ctr">
              <a:defRPr sz="2550">
                <a:solidFill>
                  <a:srgbClr val="F8FAFC"/>
                </a:solidFill>
              </a:defRPr>
            </a:lvl5pPr>
            <a:lvl6pPr algn="ctr">
              <a:defRPr sz="2550">
                <a:solidFill>
                  <a:srgbClr val="F8FAFC"/>
                </a:solidFill>
              </a:defRPr>
            </a:lvl6pPr>
            <a:lvl7pPr algn="ctr">
              <a:defRPr sz="2550">
                <a:solidFill>
                  <a:srgbClr val="F8FAFC"/>
                </a:solidFill>
              </a:defRPr>
            </a:lvl7pPr>
            <a:lvl8pPr algn="ctr">
              <a:defRPr sz="2550">
                <a:solidFill>
                  <a:srgbClr val="F8FAFC"/>
                </a:solidFill>
              </a:defRPr>
            </a:lvl8pPr>
            <a:lvl9pPr algn="ctr">
              <a:defRPr sz="2550">
                <a:solidFill>
                  <a:srgbClr val="F8FAFC"/>
                </a:solidFill>
              </a:defRPr>
            </a:lvl9pPr>
          </a:lstStyle>
          <a:p xmlns:a="http://schemas.openxmlformats.org/drawingml/2006/main">
            <a:pPr algn="ctr">
              <a:defRPr sz="2550">
                <a:solidFill>
                  <a:srgbClr val="F8FAFC"/>
                </a:solidFill>
              </a:defRPr>
            </a:pPr>
            <a:r>
              <a:rPr sz="2550">
                <a:solidFill>
                  <a:srgbClr val="F8FAFC"/>
                </a:solidFill>
              </a:rPr>
              <a:t>products</a:t>
            </a:r>
          </a:p>
          <a:p xmlns:a="http://schemas.openxmlformats.org/drawingml/2006/main">
            <a:pPr algn="ctr">
              <a:defRPr sz="2550">
                <a:solidFill>
                  <a:srgbClr val="F8FAFC"/>
                </a:solidFill>
              </a:defRPr>
            </a:pPr>
            <a:r>
              <a:rPr sz="2550">
                <a:solidFill>
                  <a:srgbClr val="F8FAFC"/>
                </a:solidFill>
              </a:rPr>
              <a:t>current_stock, store_id</a:t>
            </a:r>
          </a:p>
        </p:txBody>
      </p:sp>
      <p:sp>
        <p:nvSpPr>
          <p:cNvPr id="6" name="node-84">
            <a:extLst xmlns:a="http://schemas.openxmlformats.org/drawingml/2006/main">
              <a:ext uri="{FF2B5EF4-FFF2-40B4-BE49-F238E27FC236}">
                <a16:creationId xmlns:a16="http://schemas.microsoft.com/office/drawing/2014/main" id="{4F6B116C-87A0-4CD5-97D3-59658201FC48}"/>
              </a:ext>
            </a:extLst>
          </p:cNvPr>
          <p:cNvSpPr>
            <a:spLocks xmlns:a="http://schemas.openxmlformats.org/drawingml/2006/main" noGrp="1"/>
          </p:cNvSpPr>
          <p:nvPr/>
        </p:nvSpPr>
        <p:spPr>
          <a:xfrm xmlns:a="http://schemas.openxmlformats.org/drawingml/2006/main">
            <a:off x="6953250" y="2857500"/>
            <a:ext cx="5048250" cy="123825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250">
                <a:solidFill>
                  <a:srgbClr val="F8FAFC"/>
                </a:solidFill>
              </a:defRPr>
            </a:defPPr>
            <a:lvl1pPr algn="ctr">
              <a:defRPr sz="2250">
                <a:solidFill>
                  <a:srgbClr val="F8FAFC"/>
                </a:solidFill>
              </a:defRPr>
            </a:lvl1pPr>
            <a:lvl2pPr algn="ctr">
              <a:defRPr sz="2250">
                <a:solidFill>
                  <a:srgbClr val="F8FAFC"/>
                </a:solidFill>
              </a:defRPr>
            </a:lvl2pPr>
            <a:lvl3pPr algn="ctr">
              <a:defRPr sz="2250">
                <a:solidFill>
                  <a:srgbClr val="F8FAFC"/>
                </a:solidFill>
              </a:defRPr>
            </a:lvl3pPr>
            <a:lvl4pPr algn="ctr">
              <a:defRPr sz="2250">
                <a:solidFill>
                  <a:srgbClr val="F8FAFC"/>
                </a:solidFill>
              </a:defRPr>
            </a:lvl4pPr>
            <a:lvl5pPr algn="ctr">
              <a:defRPr sz="2250">
                <a:solidFill>
                  <a:srgbClr val="F8FAFC"/>
                </a:solidFill>
              </a:defRPr>
            </a:lvl5pPr>
            <a:lvl6pPr algn="ctr">
              <a:defRPr sz="2250">
                <a:solidFill>
                  <a:srgbClr val="F8FAFC"/>
                </a:solidFill>
              </a:defRPr>
            </a:lvl6pPr>
            <a:lvl7pPr algn="ctr">
              <a:defRPr sz="2250">
                <a:solidFill>
                  <a:srgbClr val="F8FAFC"/>
                </a:solidFill>
              </a:defRPr>
            </a:lvl7pPr>
            <a:lvl8pPr algn="ctr">
              <a:defRPr sz="2250">
                <a:solidFill>
                  <a:srgbClr val="F8FAFC"/>
                </a:solidFill>
              </a:defRPr>
            </a:lvl8pPr>
            <a:lvl9pPr algn="ctr">
              <a:defRPr sz="2250">
                <a:solidFill>
                  <a:srgbClr val="F8FAFC"/>
                </a:solidFill>
              </a:defRPr>
            </a:lvl9pPr>
          </a:lstStyle>
          <a:p xmlns:a="http://schemas.openxmlformats.org/drawingml/2006/main">
            <a:pPr algn="ctr">
              <a:defRPr sz="2250">
                <a:solidFill>
                  <a:srgbClr val="F8FAFC"/>
                </a:solidFill>
              </a:defRPr>
            </a:pPr>
            <a:r>
              <a:rPr sz="2250">
                <a:solidFill>
                  <a:srgbClr val="F8FAFC"/>
                </a:solidFill>
              </a:rPr>
              <a:t>product_selling_options</a:t>
            </a:r>
          </a:p>
          <a:p xmlns:a="http://schemas.openxmlformats.org/drawingml/2006/main">
            <a:pPr algn="ctr">
              <a:defRPr sz="2250">
                <a:solidFill>
                  <a:srgbClr val="F8FAFC"/>
                </a:solidFill>
              </a:defRPr>
            </a:pPr>
            <a:r>
              <a:rPr sz="2250">
                <a:solidFill>
                  <a:srgbClr val="F8FAFC"/>
                </a:solidFill>
              </a:rPr>
              <a:t>product_id, multiplier</a:t>
            </a:r>
          </a:p>
        </p:txBody>
      </p:sp>
      <p:sp>
        <p:nvSpPr>
          <p:cNvPr id="7" name="node-85">
            <a:extLst xmlns:a="http://schemas.openxmlformats.org/drawingml/2006/main">
              <a:ext uri="{FF2B5EF4-FFF2-40B4-BE49-F238E27FC236}">
                <a16:creationId xmlns:a16="http://schemas.microsoft.com/office/drawing/2014/main" id="{520DF25F-A888-49A9-8C44-0635F10D69BB}"/>
              </a:ext>
            </a:extLst>
          </p:cNvPr>
          <p:cNvSpPr>
            <a:spLocks xmlns:a="http://schemas.openxmlformats.org/drawingml/2006/main" noGrp="1"/>
          </p:cNvSpPr>
          <p:nvPr/>
        </p:nvSpPr>
        <p:spPr>
          <a:xfrm xmlns:a="http://schemas.openxmlformats.org/drawingml/2006/main">
            <a:off x="13430250" y="2857500"/>
            <a:ext cx="3905250" cy="123825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325">
                <a:solidFill>
                  <a:srgbClr val="F8FAFC"/>
                </a:solidFill>
              </a:defRPr>
            </a:defPPr>
            <a:lvl1pPr algn="ctr">
              <a:defRPr sz="2325">
                <a:solidFill>
                  <a:srgbClr val="F8FAFC"/>
                </a:solidFill>
              </a:defRPr>
            </a:lvl1pPr>
            <a:lvl2pPr algn="ctr">
              <a:defRPr sz="2325">
                <a:solidFill>
                  <a:srgbClr val="F8FAFC"/>
                </a:solidFill>
              </a:defRPr>
            </a:lvl2pPr>
            <a:lvl3pPr algn="ctr">
              <a:defRPr sz="2325">
                <a:solidFill>
                  <a:srgbClr val="F8FAFC"/>
                </a:solidFill>
              </a:defRPr>
            </a:lvl3pPr>
            <a:lvl4pPr algn="ctr">
              <a:defRPr sz="2325">
                <a:solidFill>
                  <a:srgbClr val="F8FAFC"/>
                </a:solidFill>
              </a:defRPr>
            </a:lvl4pPr>
            <a:lvl5pPr algn="ctr">
              <a:defRPr sz="2325">
                <a:solidFill>
                  <a:srgbClr val="F8FAFC"/>
                </a:solidFill>
              </a:defRPr>
            </a:lvl5pPr>
            <a:lvl6pPr algn="ctr">
              <a:defRPr sz="2325">
                <a:solidFill>
                  <a:srgbClr val="F8FAFC"/>
                </a:solidFill>
              </a:defRPr>
            </a:lvl6pPr>
            <a:lvl7pPr algn="ctr">
              <a:defRPr sz="2325">
                <a:solidFill>
                  <a:srgbClr val="F8FAFC"/>
                </a:solidFill>
              </a:defRPr>
            </a:lvl7pPr>
            <a:lvl8pPr algn="ctr">
              <a:defRPr sz="2325">
                <a:solidFill>
                  <a:srgbClr val="F8FAFC"/>
                </a:solidFill>
              </a:defRPr>
            </a:lvl8pPr>
            <a:lvl9pPr algn="ctr">
              <a:defRPr sz="2325">
                <a:solidFill>
                  <a:srgbClr val="F8FAFC"/>
                </a:solidFill>
              </a:defRPr>
            </a:lvl9pPr>
          </a:lstStyle>
          <a:p xmlns:a="http://schemas.openxmlformats.org/drawingml/2006/main">
            <a:pPr algn="ctr">
              <a:defRPr sz="2325">
                <a:solidFill>
                  <a:srgbClr val="F8FAFC"/>
                </a:solidFill>
              </a:defRPr>
            </a:pPr>
            <a:r>
              <a:rPr sz="2325">
                <a:solidFill>
                  <a:srgbClr val="F8FAFC"/>
                </a:solidFill>
              </a:rPr>
              <a:t>sales</a:t>
            </a:r>
          </a:p>
          <a:p xmlns:a="http://schemas.openxmlformats.org/drawingml/2006/main">
            <a:pPr algn="ctr">
              <a:defRPr sz="2325">
                <a:solidFill>
                  <a:srgbClr val="F8FAFC"/>
                </a:solidFill>
              </a:defRPr>
            </a:pPr>
            <a:r>
              <a:rPr sz="2325">
                <a:solidFill>
                  <a:srgbClr val="F8FAFC"/>
                </a:solidFill>
              </a:rPr>
              <a:t>store_id, cashier_id, total</a:t>
            </a:r>
          </a:p>
        </p:txBody>
      </p:sp>
      <p:sp>
        <p:nvSpPr>
          <p:cNvPr id="8" name="node-86">
            <a:extLst xmlns:a="http://schemas.openxmlformats.org/drawingml/2006/main">
              <a:ext uri="{FF2B5EF4-FFF2-40B4-BE49-F238E27FC236}">
                <a16:creationId xmlns:a16="http://schemas.microsoft.com/office/drawing/2014/main" id="{331D8F21-28BD-427F-A01E-C87D0995ABFF}"/>
              </a:ext>
            </a:extLst>
          </p:cNvPr>
          <p:cNvSpPr>
            <a:spLocks xmlns:a="http://schemas.openxmlformats.org/drawingml/2006/main" noGrp="1"/>
          </p:cNvSpPr>
          <p:nvPr/>
        </p:nvSpPr>
        <p:spPr>
          <a:xfrm xmlns:a="http://schemas.openxmlformats.org/drawingml/2006/main">
            <a:off x="952500" y="6238875"/>
            <a:ext cx="4381500" cy="133350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restock_history</a:t>
            </a:r>
          </a:p>
          <a:p xmlns:a="http://schemas.openxmlformats.org/drawingml/2006/main">
            <a:pPr algn="ctr">
              <a:defRPr sz="2175">
                <a:solidFill>
                  <a:srgbClr val="F8FAFC"/>
                </a:solidFill>
              </a:defRPr>
            </a:pPr>
            <a:r>
              <a:rPr sz="2175">
                <a:solidFill>
                  <a:srgbClr val="F8FAFC"/>
                </a:solidFill>
              </a:rPr>
              <a:t>product_id, base_units_added</a:t>
            </a:r>
          </a:p>
        </p:txBody>
      </p:sp>
      <p:sp>
        <p:nvSpPr>
          <p:cNvPr id="9" name="node-87">
            <a:extLst xmlns:a="http://schemas.openxmlformats.org/drawingml/2006/main">
              <a:ext uri="{FF2B5EF4-FFF2-40B4-BE49-F238E27FC236}">
                <a16:creationId xmlns:a16="http://schemas.microsoft.com/office/drawing/2014/main" id="{1DEB5E7A-C913-4790-A6FD-72DFAE558A54}"/>
              </a:ext>
            </a:extLst>
          </p:cNvPr>
          <p:cNvSpPr>
            <a:spLocks xmlns:a="http://schemas.openxmlformats.org/drawingml/2006/main" noGrp="1"/>
          </p:cNvSpPr>
          <p:nvPr/>
        </p:nvSpPr>
        <p:spPr>
          <a:xfrm xmlns:a="http://schemas.openxmlformats.org/drawingml/2006/main">
            <a:off x="6953250" y="5953125"/>
            <a:ext cx="5048250" cy="1619250"/>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325">
                <a:solidFill>
                  <a:srgbClr val="F8FAFC"/>
                </a:solidFill>
              </a:defRPr>
            </a:defPPr>
            <a:lvl1pPr algn="ctr">
              <a:defRPr sz="2325">
                <a:solidFill>
                  <a:srgbClr val="F8FAFC"/>
                </a:solidFill>
              </a:defRPr>
            </a:lvl1pPr>
            <a:lvl2pPr algn="ctr">
              <a:defRPr sz="2325">
                <a:solidFill>
                  <a:srgbClr val="F8FAFC"/>
                </a:solidFill>
              </a:defRPr>
            </a:lvl2pPr>
            <a:lvl3pPr algn="ctr">
              <a:defRPr sz="2325">
                <a:solidFill>
                  <a:srgbClr val="F8FAFC"/>
                </a:solidFill>
              </a:defRPr>
            </a:lvl3pPr>
            <a:lvl4pPr algn="ctr">
              <a:defRPr sz="2325">
                <a:solidFill>
                  <a:srgbClr val="F8FAFC"/>
                </a:solidFill>
              </a:defRPr>
            </a:lvl4pPr>
            <a:lvl5pPr algn="ctr">
              <a:defRPr sz="2325">
                <a:solidFill>
                  <a:srgbClr val="F8FAFC"/>
                </a:solidFill>
              </a:defRPr>
            </a:lvl5pPr>
            <a:lvl6pPr algn="ctr">
              <a:defRPr sz="2325">
                <a:solidFill>
                  <a:srgbClr val="F8FAFC"/>
                </a:solidFill>
              </a:defRPr>
            </a:lvl6pPr>
            <a:lvl7pPr algn="ctr">
              <a:defRPr sz="2325">
                <a:solidFill>
                  <a:srgbClr val="F8FAFC"/>
                </a:solidFill>
              </a:defRPr>
            </a:lvl7pPr>
            <a:lvl8pPr algn="ctr">
              <a:defRPr sz="2325">
                <a:solidFill>
                  <a:srgbClr val="F8FAFC"/>
                </a:solidFill>
              </a:defRPr>
            </a:lvl8pPr>
            <a:lvl9pPr algn="ctr">
              <a:defRPr sz="2325">
                <a:solidFill>
                  <a:srgbClr val="F8FAFC"/>
                </a:solidFill>
              </a:defRPr>
            </a:lvl9pPr>
          </a:lstStyle>
          <a:p xmlns:a="http://schemas.openxmlformats.org/drawingml/2006/main">
            <a:pPr algn="ctr">
              <a:defRPr sz="2325">
                <a:solidFill>
                  <a:srgbClr val="F8FAFC"/>
                </a:solidFill>
              </a:defRPr>
            </a:pPr>
            <a:r>
              <a:rPr sz="2325">
                <a:solidFill>
                  <a:srgbClr val="F8FAFC"/>
                </a:solidFill>
              </a:rPr>
              <a:t>sale_items</a:t>
            </a:r>
          </a:p>
          <a:p xmlns:a="http://schemas.openxmlformats.org/drawingml/2006/main">
            <a:pPr algn="ctr">
              <a:defRPr sz="2325">
                <a:solidFill>
                  <a:srgbClr val="F8FAFC"/>
                </a:solidFill>
              </a:defRPr>
            </a:pPr>
            <a:r>
              <a:rPr sz="2325">
                <a:solidFill>
                  <a:srgbClr val="F8FAFC"/>
                </a:solidFill>
              </a:rPr>
              <a:t>sale_id, product_id</a:t>
            </a:r>
          </a:p>
          <a:p xmlns:a="http://schemas.openxmlformats.org/drawingml/2006/main">
            <a:pPr algn="ctr">
              <a:defRPr sz="2325">
                <a:solidFill>
                  <a:srgbClr val="F8FAFC"/>
                </a:solidFill>
              </a:defRPr>
            </a:pPr>
            <a:r>
              <a:rPr sz="2325">
                <a:solidFill>
                  <a:srgbClr val="F8FAFC"/>
                </a:solidFill>
              </a:rPr>
              <a:t>selling_option_id, snapshots</a:t>
            </a:r>
          </a:p>
        </p:txBody>
      </p:sp>
      <p:sp>
        <p:nvSpPr>
          <p:cNvPr id="10" name="node-88">
            <a:extLst xmlns:a="http://schemas.openxmlformats.org/drawingml/2006/main">
              <a:ext uri="{FF2B5EF4-FFF2-40B4-BE49-F238E27FC236}">
                <a16:creationId xmlns:a16="http://schemas.microsoft.com/office/drawing/2014/main" id="{6B270436-9D34-4492-9A57-844973F50D9B}"/>
              </a:ext>
            </a:extLst>
          </p:cNvPr>
          <p:cNvSpPr>
            <a:spLocks xmlns:a="http://schemas.openxmlformats.org/drawingml/2006/main" noGrp="1"/>
          </p:cNvSpPr>
          <p:nvPr/>
        </p:nvSpPr>
        <p:spPr>
          <a:xfrm xmlns:a="http://schemas.openxmlformats.org/drawingml/2006/main">
            <a:off x="13430250" y="6238875"/>
            <a:ext cx="3905250" cy="14763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025">
                <a:solidFill>
                  <a:srgbClr val="F8FAFC"/>
                </a:solidFill>
              </a:defRPr>
            </a:defPPr>
            <a:lvl1pPr algn="ctr">
              <a:defRPr sz="2025">
                <a:solidFill>
                  <a:srgbClr val="F8FAFC"/>
                </a:solidFill>
              </a:defRPr>
            </a:lvl1pPr>
            <a:lvl2pPr algn="ctr">
              <a:defRPr sz="2025">
                <a:solidFill>
                  <a:srgbClr val="F8FAFC"/>
                </a:solidFill>
              </a:defRPr>
            </a:lvl2pPr>
            <a:lvl3pPr algn="ctr">
              <a:defRPr sz="2025">
                <a:solidFill>
                  <a:srgbClr val="F8FAFC"/>
                </a:solidFill>
              </a:defRPr>
            </a:lvl3pPr>
            <a:lvl4pPr algn="ctr">
              <a:defRPr sz="2025">
                <a:solidFill>
                  <a:srgbClr val="F8FAFC"/>
                </a:solidFill>
              </a:defRPr>
            </a:lvl4pPr>
            <a:lvl5pPr algn="ctr">
              <a:defRPr sz="2025">
                <a:solidFill>
                  <a:srgbClr val="F8FAFC"/>
                </a:solidFill>
              </a:defRPr>
            </a:lvl5pPr>
            <a:lvl6pPr algn="ctr">
              <a:defRPr sz="2025">
                <a:solidFill>
                  <a:srgbClr val="F8FAFC"/>
                </a:solidFill>
              </a:defRPr>
            </a:lvl6pPr>
            <a:lvl7pPr algn="ctr">
              <a:defRPr sz="2025">
                <a:solidFill>
                  <a:srgbClr val="F8FAFC"/>
                </a:solidFill>
              </a:defRPr>
            </a:lvl7pPr>
            <a:lvl8pPr algn="ctr">
              <a:defRPr sz="2025">
                <a:solidFill>
                  <a:srgbClr val="F8FAFC"/>
                </a:solidFill>
              </a:defRPr>
            </a:lvl8pPr>
            <a:lvl9pPr algn="ctr">
              <a:defRPr sz="2025">
                <a:solidFill>
                  <a:srgbClr val="F8FAFC"/>
                </a:solidFill>
              </a:defRPr>
            </a:lvl9pPr>
          </a:lstStyle>
          <a:p xmlns:a="http://schemas.openxmlformats.org/drawingml/2006/main">
            <a:pPr algn="ctr">
              <a:defRPr sz="2025">
                <a:solidFill>
                  <a:srgbClr val="F8FAFC"/>
                </a:solidFill>
              </a:defRPr>
            </a:pPr>
            <a:r>
              <a:rPr sz="2025">
                <a:solidFill>
                  <a:srgbClr val="F8FAFC"/>
                </a:solidFill>
              </a:rPr>
              <a:t>inventory_movements</a:t>
            </a:r>
          </a:p>
          <a:p xmlns:a="http://schemas.openxmlformats.org/drawingml/2006/main">
            <a:pPr algn="ctr">
              <a:defRPr sz="2025">
                <a:solidFill>
                  <a:srgbClr val="F8FAFC"/>
                </a:solidFill>
              </a:defRPr>
            </a:pPr>
            <a:r>
              <a:rPr sz="2025">
                <a:solidFill>
                  <a:srgbClr val="F8FAFC"/>
                </a:solidFill>
              </a:rPr>
              <a:t>product_id, stock_before</a:t>
            </a:r>
          </a:p>
          <a:p xmlns:a="http://schemas.openxmlformats.org/drawingml/2006/main">
            <a:pPr algn="ctr">
              <a:defRPr sz="2025">
                <a:solidFill>
                  <a:srgbClr val="F8FAFC"/>
                </a:solidFill>
              </a:defRPr>
            </a:pPr>
            <a:r>
              <a:rPr sz="2025">
                <a:solidFill>
                  <a:srgbClr val="F8FAFC"/>
                </a:solidFill>
              </a:rPr>
              <a:t>stock_after, reference_id</a:t>
            </a:r>
          </a:p>
        </p:txBody>
      </p:sp>
      <p:sp>
        <p:nvSpPr>
          <p:cNvPr id="12" name="text-89">
            <a:extLst xmlns:a="http://schemas.openxmlformats.org/drawingml/2006/main">
              <a:ext uri="{FF2B5EF4-FFF2-40B4-BE49-F238E27FC236}">
                <a16:creationId xmlns:a16="http://schemas.microsoft.com/office/drawing/2014/main" id="{B07EBB43-4B1F-4541-8D53-CF4B9EE14FFC}"/>
              </a:ext>
            </a:extLst>
          </p:cNvPr>
          <p:cNvSpPr>
            <a:spLocks xmlns:a="http://schemas.openxmlformats.org/drawingml/2006/main" noGrp="1"/>
          </p:cNvSpPr>
          <p:nvPr/>
        </p:nvSpPr>
        <p:spPr>
          <a:xfrm xmlns:a="http://schemas.openxmlformats.org/drawingml/2006/main">
            <a:off x="5857875" y="3124200"/>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sp>
        <p:nvSpPr>
          <p:cNvPr id="14" name="text-90">
            <a:extLst xmlns:a="http://schemas.openxmlformats.org/drawingml/2006/main">
              <a:ext uri="{FF2B5EF4-FFF2-40B4-BE49-F238E27FC236}">
                <a16:creationId xmlns:a16="http://schemas.microsoft.com/office/drawing/2014/main" id="{D41F5593-4FFC-4773-9C80-978D4EBEA9CC}"/>
              </a:ext>
            </a:extLst>
          </p:cNvPr>
          <p:cNvSpPr>
            <a:spLocks xmlns:a="http://schemas.openxmlformats.org/drawingml/2006/main" noGrp="1"/>
          </p:cNvSpPr>
          <p:nvPr/>
        </p:nvSpPr>
        <p:spPr>
          <a:xfrm xmlns:a="http://schemas.openxmlformats.org/drawingml/2006/main">
            <a:off x="2952750" y="4953000"/>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sp>
        <p:nvSpPr>
          <p:cNvPr id="16" name="text-91">
            <a:extLst xmlns:a="http://schemas.openxmlformats.org/drawingml/2006/main">
              <a:ext uri="{FF2B5EF4-FFF2-40B4-BE49-F238E27FC236}">
                <a16:creationId xmlns:a16="http://schemas.microsoft.com/office/drawing/2014/main" id="{2930F1BE-1038-4819-A9DC-239ED34D3BF7}"/>
              </a:ext>
            </a:extLst>
          </p:cNvPr>
          <p:cNvSpPr>
            <a:spLocks xmlns:a="http://schemas.openxmlformats.org/drawingml/2006/main" noGrp="1"/>
          </p:cNvSpPr>
          <p:nvPr/>
        </p:nvSpPr>
        <p:spPr>
          <a:xfrm xmlns:a="http://schemas.openxmlformats.org/drawingml/2006/main">
            <a:off x="9715500" y="48863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sp>
        <p:nvSpPr>
          <p:cNvPr id="18" name="text-92">
            <a:extLst xmlns:a="http://schemas.openxmlformats.org/drawingml/2006/main">
              <a:ext uri="{FF2B5EF4-FFF2-40B4-BE49-F238E27FC236}">
                <a16:creationId xmlns:a16="http://schemas.microsoft.com/office/drawing/2014/main" id="{275B471B-27FE-45BF-A3EE-5F2C4261E140}"/>
              </a:ext>
            </a:extLst>
          </p:cNvPr>
          <p:cNvSpPr>
            <a:spLocks xmlns:a="http://schemas.openxmlformats.org/drawingml/2006/main" noGrp="1"/>
          </p:cNvSpPr>
          <p:nvPr/>
        </p:nvSpPr>
        <p:spPr>
          <a:xfrm xmlns:a="http://schemas.openxmlformats.org/drawingml/2006/main">
            <a:off x="12287250" y="50006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sp>
        <p:nvSpPr>
          <p:cNvPr id="20" name="text-93">
            <a:extLst xmlns:a="http://schemas.openxmlformats.org/drawingml/2006/main">
              <a:ext uri="{FF2B5EF4-FFF2-40B4-BE49-F238E27FC236}">
                <a16:creationId xmlns:a16="http://schemas.microsoft.com/office/drawing/2014/main" id="{3113B67B-31BF-467F-BEF6-8EE5A7D4E5CE}"/>
              </a:ext>
            </a:extLst>
          </p:cNvPr>
          <p:cNvSpPr>
            <a:spLocks xmlns:a="http://schemas.openxmlformats.org/drawingml/2006/main" noGrp="1"/>
          </p:cNvSpPr>
          <p:nvPr/>
        </p:nvSpPr>
        <p:spPr>
          <a:xfrm xmlns:a="http://schemas.openxmlformats.org/drawingml/2006/main">
            <a:off x="5591175" y="51720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cxnSp>
        <p:nvCxnSpPr>
          <p:cNvPr id="21" name="">
            <a:extLst xmlns:a="http://schemas.openxmlformats.org/drawingml/2006/main">
              <a:ext uri="{FF2B5EF4-FFF2-40B4-BE49-F238E27FC236}">
                <a16:creationId xmlns:a16="http://schemas.microsoft.com/office/drawing/2014/main" id="{DDFFE78E-0CFE-4B17-A084-F8B1F0382557}"/>
              </a:ext>
            </a:extLst>
          </p:cNvPr>
          <p:cNvCxnSpPr/>
          <p:nvPr/>
        </p:nvCxnSpPr>
        <p:spPr>
          <a:xfrm xmlns:a="http://schemas.openxmlformats.org/drawingml/2006/main">
            <a:off x="571500" y="3476625"/>
            <a:ext cx="381000" cy="0"/>
          </a:xfrm>
          <a:prstGeom xmlns:a="http://schemas.openxmlformats.org/drawingml/2006/main" prst="straightConnector1">
            <a:avLst/>
          </a:prstGeom>
          <a:ln xmlns:a="http://schemas.openxmlformats.org/drawingml/2006/main" w="28575">
            <a:solidFill>
              <a:srgbClr val="60A5FA"/>
            </a:solidFill>
          </a:ln>
        </p:spPr>
      </p:cxnSp>
      <p:cxnSp>
        <p:nvCxnSpPr>
          <p:cNvPr id="22" name="">
            <a:extLst xmlns:a="http://schemas.openxmlformats.org/drawingml/2006/main">
              <a:ext uri="{FF2B5EF4-FFF2-40B4-BE49-F238E27FC236}">
                <a16:creationId xmlns:a16="http://schemas.microsoft.com/office/drawing/2014/main" id="{5C45280C-DF38-49CC-BC65-9D96D8C39254}"/>
              </a:ext>
            </a:extLst>
          </p:cNvPr>
          <p:cNvCxnSpPr/>
          <p:nvPr/>
        </p:nvCxnSpPr>
        <p:spPr>
          <a:xfrm xmlns:a="http://schemas.openxmlformats.org/drawingml/2006/main">
            <a:off x="571500" y="3476625"/>
            <a:ext cx="0" cy="4524375"/>
          </a:xfrm>
          <a:prstGeom xmlns:a="http://schemas.openxmlformats.org/drawingml/2006/main" prst="straightConnector1">
            <a:avLst/>
          </a:prstGeom>
          <a:ln xmlns:a="http://schemas.openxmlformats.org/drawingml/2006/main" w="28575">
            <a:solidFill>
              <a:srgbClr val="60A5FA"/>
            </a:solidFill>
          </a:ln>
        </p:spPr>
      </p:cxnSp>
      <p:cxnSp>
        <p:nvCxnSpPr>
          <p:cNvPr id="23" name="">
            <a:extLst xmlns:a="http://schemas.openxmlformats.org/drawingml/2006/main">
              <a:ext uri="{FF2B5EF4-FFF2-40B4-BE49-F238E27FC236}">
                <a16:creationId xmlns:a16="http://schemas.microsoft.com/office/drawing/2014/main" id="{33461DEF-45DD-4788-AB0E-B086DA5BC973}"/>
              </a:ext>
            </a:extLst>
          </p:cNvPr>
          <p:cNvCxnSpPr/>
          <p:nvPr/>
        </p:nvCxnSpPr>
        <p:spPr>
          <a:xfrm xmlns:a="http://schemas.openxmlformats.org/drawingml/2006/main">
            <a:off x="571500" y="8001000"/>
            <a:ext cx="14811375" cy="0"/>
          </a:xfrm>
          <a:prstGeom xmlns:a="http://schemas.openxmlformats.org/drawingml/2006/main" prst="straightConnector1">
            <a:avLst/>
          </a:prstGeom>
          <a:ln xmlns:a="http://schemas.openxmlformats.org/drawingml/2006/main" w="28575">
            <a:solidFill>
              <a:srgbClr val="60A5FA"/>
            </a:solidFill>
          </a:ln>
        </p:spPr>
      </p:cxnSp>
      <p:cxnSp>
        <p:nvCxnSpPr>
          <p:cNvPr id="24" name="">
            <a:extLst xmlns:a="http://schemas.openxmlformats.org/drawingml/2006/main">
              <a:ext uri="{FF2B5EF4-FFF2-40B4-BE49-F238E27FC236}">
                <a16:creationId xmlns:a16="http://schemas.microsoft.com/office/drawing/2014/main" id="{EA0CE6E9-8E48-4F38-B3BD-5FCD89FD2187}"/>
              </a:ext>
            </a:extLst>
          </p:cNvPr>
          <p:cNvCxnSpPr/>
          <p:nvPr/>
        </p:nvCxnSpPr>
        <p:spPr>
          <a:xfrm xmlns:a="http://schemas.openxmlformats.org/drawingml/2006/main">
            <a:off x="15382875" y="7715250"/>
            <a:ext cx="0" cy="285750"/>
          </a:xfrm>
          <a:prstGeom xmlns:a="http://schemas.openxmlformats.org/drawingml/2006/main" prst="straightConnector1">
            <a:avLst/>
          </a:prstGeom>
          <a:ln xmlns:a="http://schemas.openxmlformats.org/drawingml/2006/main" w="28575">
            <a:solidFill>
              <a:srgbClr val="60A5FA"/>
            </a:solidFill>
            <a:headEnd type="triangle" w="med" len="med"/>
          </a:ln>
        </p:spPr>
      </p:cxnSp>
      <p:sp>
        <p:nvSpPr>
          <p:cNvPr id="25" name="text-94">
            <a:extLst xmlns:a="http://schemas.openxmlformats.org/drawingml/2006/main">
              <a:ext uri="{FF2B5EF4-FFF2-40B4-BE49-F238E27FC236}">
                <a16:creationId xmlns:a16="http://schemas.microsoft.com/office/drawing/2014/main" id="{D4608783-A413-470A-8C6C-D731CF61C929}"/>
              </a:ext>
            </a:extLst>
          </p:cNvPr>
          <p:cNvSpPr>
            <a:spLocks xmlns:a="http://schemas.openxmlformats.org/drawingml/2006/main" noGrp="1"/>
          </p:cNvSpPr>
          <p:nvPr/>
        </p:nvSpPr>
        <p:spPr>
          <a:xfrm xmlns:a="http://schemas.openxmlformats.org/drawingml/2006/main">
            <a:off x="15621000" y="7791450"/>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2D3EE"/>
                </a:solidFill>
              </a:defRPr>
            </a:defPPr>
            <a:lvl1pPr algn="l">
              <a:defRPr sz="1875" b="0">
                <a:solidFill>
                  <a:srgbClr val="22D3EE"/>
                </a:solidFill>
              </a:defRPr>
            </a:lvl1pPr>
            <a:lvl2pPr algn="l">
              <a:defRPr sz="1875" b="0">
                <a:solidFill>
                  <a:srgbClr val="22D3EE"/>
                </a:solidFill>
              </a:defRPr>
            </a:lvl2pPr>
            <a:lvl3pPr algn="l">
              <a:defRPr sz="1875" b="0">
                <a:solidFill>
                  <a:srgbClr val="22D3EE"/>
                </a:solidFill>
              </a:defRPr>
            </a:lvl3pPr>
            <a:lvl4pPr algn="l">
              <a:defRPr sz="1875" b="0">
                <a:solidFill>
                  <a:srgbClr val="22D3EE"/>
                </a:solidFill>
              </a:defRPr>
            </a:lvl4pPr>
            <a:lvl5pPr algn="l">
              <a:defRPr sz="1875" b="0">
                <a:solidFill>
                  <a:srgbClr val="22D3EE"/>
                </a:solidFill>
              </a:defRPr>
            </a:lvl5pPr>
            <a:lvl6pPr algn="l">
              <a:defRPr sz="1875" b="0">
                <a:solidFill>
                  <a:srgbClr val="22D3EE"/>
                </a:solidFill>
              </a:defRPr>
            </a:lvl6pPr>
            <a:lvl7pPr algn="l">
              <a:defRPr sz="1875" b="0">
                <a:solidFill>
                  <a:srgbClr val="22D3EE"/>
                </a:solidFill>
              </a:defRPr>
            </a:lvl7pPr>
            <a:lvl8pPr algn="l">
              <a:defRPr sz="1875" b="0">
                <a:solidFill>
                  <a:srgbClr val="22D3EE"/>
                </a:solidFill>
              </a:defRPr>
            </a:lvl8pPr>
            <a:lvl9pPr algn="l">
              <a:defRPr sz="1875" b="0">
                <a:solidFill>
                  <a:srgbClr val="22D3EE"/>
                </a:solidFill>
              </a:defRPr>
            </a:lvl9pPr>
          </a:lstStyle>
          <a:p xmlns:a="http://schemas.openxmlformats.org/drawingml/2006/main">
            <a:pPr algn="l">
              <a:defRPr sz="1875" b="0">
                <a:solidFill>
                  <a:srgbClr val="22D3EE"/>
                </a:solidFill>
              </a:defRPr>
            </a:pPr>
            <a:r>
              <a:rPr sz="1875" b="0">
                <a:solidFill>
                  <a:srgbClr val="22D3EE"/>
                </a:solidFill>
              </a:rPr>
              <a:t>1 : N</a:t>
            </a:r>
          </a:p>
        </p:txBody>
      </p:sp>
      <p:sp>
        <p:nvSpPr>
          <p:cNvPr id="26" name="text-95">
            <a:extLst xmlns:a="http://schemas.openxmlformats.org/drawingml/2006/main">
              <a:ext uri="{FF2B5EF4-FFF2-40B4-BE49-F238E27FC236}">
                <a16:creationId xmlns:a16="http://schemas.microsoft.com/office/drawing/2014/main" id="{E079B1EB-D856-4887-B771-7554777475D6}"/>
              </a:ext>
            </a:extLst>
          </p:cNvPr>
          <p:cNvSpPr>
            <a:spLocks xmlns:a="http://schemas.openxmlformats.org/drawingml/2006/main" noGrp="1"/>
          </p:cNvSpPr>
          <p:nvPr/>
        </p:nvSpPr>
        <p:spPr>
          <a:xfrm xmlns:a="http://schemas.openxmlformats.org/drawingml/2006/main">
            <a:off x="952500" y="8296275"/>
            <a:ext cx="1638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60A5FA"/>
                </a:solidFill>
              </a:defRPr>
            </a:defPPr>
            <a:lvl1pPr algn="l">
              <a:defRPr sz="2325" b="0">
                <a:solidFill>
                  <a:srgbClr val="60A5FA"/>
                </a:solidFill>
              </a:defRPr>
            </a:lvl1pPr>
            <a:lvl2pPr algn="l">
              <a:defRPr sz="2325" b="0">
                <a:solidFill>
                  <a:srgbClr val="60A5FA"/>
                </a:solidFill>
              </a:defRPr>
            </a:lvl2pPr>
            <a:lvl3pPr algn="l">
              <a:defRPr sz="2325" b="0">
                <a:solidFill>
                  <a:srgbClr val="60A5FA"/>
                </a:solidFill>
              </a:defRPr>
            </a:lvl3pPr>
            <a:lvl4pPr algn="l">
              <a:defRPr sz="2325" b="0">
                <a:solidFill>
                  <a:srgbClr val="60A5FA"/>
                </a:solidFill>
              </a:defRPr>
            </a:lvl4pPr>
            <a:lvl5pPr algn="l">
              <a:defRPr sz="2325" b="0">
                <a:solidFill>
                  <a:srgbClr val="60A5FA"/>
                </a:solidFill>
              </a:defRPr>
            </a:lvl5pPr>
            <a:lvl6pPr algn="l">
              <a:defRPr sz="2325" b="0">
                <a:solidFill>
                  <a:srgbClr val="60A5FA"/>
                </a:solidFill>
              </a:defRPr>
            </a:lvl6pPr>
            <a:lvl7pPr algn="l">
              <a:defRPr sz="2325" b="0">
                <a:solidFill>
                  <a:srgbClr val="60A5FA"/>
                </a:solidFill>
              </a:defRPr>
            </a:lvl7pPr>
            <a:lvl8pPr algn="l">
              <a:defRPr sz="2325" b="0">
                <a:solidFill>
                  <a:srgbClr val="60A5FA"/>
                </a:solidFill>
              </a:defRPr>
            </a:lvl8pPr>
            <a:lvl9pPr algn="l">
              <a:defRPr sz="2325" b="0">
                <a:solidFill>
                  <a:srgbClr val="60A5FA"/>
                </a:solidFill>
              </a:defRPr>
            </a:lvl9pPr>
          </a:lstStyle>
          <a:p xmlns:a="http://schemas.openxmlformats.org/drawingml/2006/main">
            <a:pPr algn="l">
              <a:defRPr sz="2325" b="0">
                <a:solidFill>
                  <a:srgbClr val="60A5FA"/>
                </a:solidFill>
              </a:defRPr>
            </a:pPr>
            <a:r>
              <a:rPr sz="2325" b="0">
                <a:solidFill>
                  <a:srgbClr val="60A5FA"/>
                </a:solidFill>
              </a:rPr>
              <a:t>Stock history references products. Sale movements also record the sale ID.</a:t>
            </a:r>
          </a:p>
        </p:txBody>
      </p:sp>
      <p:sp>
        <p:nvSpPr>
          <p:cNvPr id="27" name="text-96">
            <a:extLst xmlns:a="http://schemas.openxmlformats.org/drawingml/2006/main">
              <a:ext uri="{FF2B5EF4-FFF2-40B4-BE49-F238E27FC236}">
                <a16:creationId xmlns:a16="http://schemas.microsoft.com/office/drawing/2014/main" id="{D6016D18-24EC-4780-834A-913B8D35D4B7}"/>
              </a:ext>
            </a:extLst>
          </p:cNvPr>
          <p:cNvSpPr>
            <a:spLocks xmlns:a="http://schemas.openxmlformats.org/drawingml/2006/main" noGrp="1"/>
          </p:cNvSpPr>
          <p:nvPr/>
        </p:nvSpPr>
        <p:spPr>
          <a:xfrm xmlns:a="http://schemas.openxmlformats.org/drawingml/2006/main">
            <a:off x="952500" y="8991600"/>
            <a:ext cx="1638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9B8CB"/>
                </a:solidFill>
              </a:defRPr>
            </a:defPPr>
            <a:lvl1pPr algn="l">
              <a:defRPr sz="1800" b="0">
                <a:solidFill>
                  <a:srgbClr val="A9B8CB"/>
                </a:solidFill>
              </a:defRPr>
            </a:lvl1pPr>
            <a:lvl2pPr algn="l">
              <a:defRPr sz="1800" b="0">
                <a:solidFill>
                  <a:srgbClr val="A9B8CB"/>
                </a:solidFill>
              </a:defRPr>
            </a:lvl2pPr>
            <a:lvl3pPr algn="l">
              <a:defRPr sz="1800" b="0">
                <a:solidFill>
                  <a:srgbClr val="A9B8CB"/>
                </a:solidFill>
              </a:defRPr>
            </a:lvl3pPr>
            <a:lvl4pPr algn="l">
              <a:defRPr sz="1800" b="0">
                <a:solidFill>
                  <a:srgbClr val="A9B8CB"/>
                </a:solidFill>
              </a:defRPr>
            </a:lvl4pPr>
            <a:lvl5pPr algn="l">
              <a:defRPr sz="1800" b="0">
                <a:solidFill>
                  <a:srgbClr val="A9B8CB"/>
                </a:solidFill>
              </a:defRPr>
            </a:lvl5pPr>
            <a:lvl6pPr algn="l">
              <a:defRPr sz="1800" b="0">
                <a:solidFill>
                  <a:srgbClr val="A9B8CB"/>
                </a:solidFill>
              </a:defRPr>
            </a:lvl6pPr>
            <a:lvl7pPr algn="l">
              <a:defRPr sz="1800" b="0">
                <a:solidFill>
                  <a:srgbClr val="A9B8CB"/>
                </a:solidFill>
              </a:defRPr>
            </a:lvl7pPr>
            <a:lvl8pPr algn="l">
              <a:defRPr sz="1800" b="0">
                <a:solidFill>
                  <a:srgbClr val="A9B8CB"/>
                </a:solidFill>
              </a:defRPr>
            </a:lvl8pPr>
            <a:lvl9pPr algn="l">
              <a:defRPr sz="1800" b="0">
                <a:solidFill>
                  <a:srgbClr val="A9B8CB"/>
                </a:solidFill>
              </a:defRPr>
            </a:lvl9pPr>
          </a:lstStyle>
          <a:p xmlns:a="http://schemas.openxmlformats.org/drawingml/2006/main">
            <a:pPr algn="l">
              <a:defRPr sz="1800" b="0">
                <a:solidFill>
                  <a:srgbClr val="A9B8CB"/>
                </a:solidFill>
              </a:defRPr>
            </a:pPr>
            <a:r>
              <a:rPr sz="1800" b="0">
                <a:solidFill>
                  <a:srgbClr val="A9B8CB"/>
                </a:solidFill>
              </a:rPr>
              <a:t>stores / profiles / store_users enforce scope. Receipt, payment, lot and supplier entities omitted for readability.</a:t>
            </a:r>
          </a:p>
        </p:txBody>
      </p:sp>
    </p:spTree>
    <p:extLst>
      <p:ext uri="{BB962C8B-B14F-4D97-AF65-F5344CB8AC3E}">
        <p14:creationId xmlns:p14="http://schemas.microsoft.com/office/powerpoint/2010/main" val="248399673"/>
      </p:ext>
    </p:extLst>
  </p:cSld>
</p:sld>
</file>

<file path=ppt/slides/slide7.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DB89EAD1-062A-4F68-91B0-73A8BB702FCE}"/>
              </a:ext>
            </a:extLst>
          </p:cNvPr>
          <p:cNvCxnSpPr>
            <a:stCxn xmlns:a="http://schemas.openxmlformats.org/drawingml/2006/main" id="23" idx="3"/>
            <a:endCxn xmlns:a="http://schemas.openxmlformats.org/drawingml/2006/main" id="24" idx="1"/>
          </p:cNvCxnSpPr>
          <p:nvPr/>
        </p:nvCxnSpPr>
        <p:spPr>
          <a:xfrm xmlns:a="http://schemas.openxmlformats.org/drawingml/2006/main">
            <a:off x="11953875" y="8139113"/>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25" name="">
            <a:extLst xmlns:a="http://schemas.openxmlformats.org/drawingml/2006/main">
              <a:ext uri="{FF2B5EF4-FFF2-40B4-BE49-F238E27FC236}">
                <a16:creationId xmlns:a16="http://schemas.microsoft.com/office/drawing/2014/main" id="{58263882-C67D-45F6-9C0A-BA77C38B1BC0}"/>
              </a:ext>
            </a:extLst>
          </p:cNvPr>
          <p:cNvCxnSpPr>
            <a:stCxn xmlns:a="http://schemas.openxmlformats.org/drawingml/2006/main" id="22" idx="3"/>
            <a:endCxn xmlns:a="http://schemas.openxmlformats.org/drawingml/2006/main" id="23" idx="1"/>
          </p:cNvCxnSpPr>
          <p:nvPr/>
        </p:nvCxnSpPr>
        <p:spPr>
          <a:xfrm xmlns:a="http://schemas.openxmlformats.org/drawingml/2006/main">
            <a:off x="6572250" y="8139113"/>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8" name="">
            <a:extLst xmlns:a="http://schemas.openxmlformats.org/drawingml/2006/main">
              <a:ext uri="{FF2B5EF4-FFF2-40B4-BE49-F238E27FC236}">
                <a16:creationId xmlns:a16="http://schemas.microsoft.com/office/drawing/2014/main" id="{56E18DC2-6AD1-45D6-9B7F-033E1E7EE16F}"/>
              </a:ext>
            </a:extLst>
          </p:cNvPr>
          <p:cNvCxnSpPr>
            <a:stCxn xmlns:a="http://schemas.openxmlformats.org/drawingml/2006/main" id="15" idx="3"/>
            <a:endCxn xmlns:a="http://schemas.openxmlformats.org/drawingml/2006/main" id="16" idx="1"/>
          </p:cNvCxnSpPr>
          <p:nvPr/>
        </p:nvCxnSpPr>
        <p:spPr>
          <a:xfrm xmlns:a="http://schemas.openxmlformats.org/drawingml/2006/main">
            <a:off x="11953875" y="5900738"/>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7" name="">
            <a:extLst xmlns:a="http://schemas.openxmlformats.org/drawingml/2006/main">
              <a:ext uri="{FF2B5EF4-FFF2-40B4-BE49-F238E27FC236}">
                <a16:creationId xmlns:a16="http://schemas.microsoft.com/office/drawing/2014/main" id="{64BDC8A4-915E-4448-AC98-A805F8478F24}"/>
              </a:ext>
            </a:extLst>
          </p:cNvPr>
          <p:cNvCxnSpPr>
            <a:stCxn xmlns:a="http://schemas.openxmlformats.org/drawingml/2006/main" id="14" idx="3"/>
            <a:endCxn xmlns:a="http://schemas.openxmlformats.org/drawingml/2006/main" id="15" idx="1"/>
          </p:cNvCxnSpPr>
          <p:nvPr/>
        </p:nvCxnSpPr>
        <p:spPr>
          <a:xfrm xmlns:a="http://schemas.openxmlformats.org/drawingml/2006/main">
            <a:off x="6572250" y="5900738"/>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10" name="">
            <a:extLst xmlns:a="http://schemas.openxmlformats.org/drawingml/2006/main">
              <a:ext uri="{FF2B5EF4-FFF2-40B4-BE49-F238E27FC236}">
                <a16:creationId xmlns:a16="http://schemas.microsoft.com/office/drawing/2014/main" id="{7FE6B35B-2D14-4BBE-AD74-679D24212DD6}"/>
              </a:ext>
            </a:extLst>
          </p:cNvPr>
          <p:cNvCxnSpPr>
            <a:stCxn xmlns:a="http://schemas.openxmlformats.org/drawingml/2006/main" id="7" idx="3"/>
            <a:endCxn xmlns:a="http://schemas.openxmlformats.org/drawingml/2006/main" id="8" idx="1"/>
          </p:cNvCxnSpPr>
          <p:nvPr/>
        </p:nvCxnSpPr>
        <p:spPr>
          <a:xfrm xmlns:a="http://schemas.openxmlformats.org/drawingml/2006/main">
            <a:off x="11953875" y="3662363"/>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cxnSp>
        <p:nvCxnSpPr>
          <p:cNvPr id="9" name="">
            <a:extLst xmlns:a="http://schemas.openxmlformats.org/drawingml/2006/main">
              <a:ext uri="{FF2B5EF4-FFF2-40B4-BE49-F238E27FC236}">
                <a16:creationId xmlns:a16="http://schemas.microsoft.com/office/drawing/2014/main" id="{F63989CB-E005-4952-BB2B-B30F3D25C939}"/>
              </a:ext>
            </a:extLst>
          </p:cNvPr>
          <p:cNvCxnSpPr>
            <a:stCxn xmlns:a="http://schemas.openxmlformats.org/drawingml/2006/main" id="6" idx="3"/>
            <a:endCxn xmlns:a="http://schemas.openxmlformats.org/drawingml/2006/main" id="7" idx="1"/>
          </p:cNvCxnSpPr>
          <p:nvPr/>
        </p:nvCxnSpPr>
        <p:spPr>
          <a:xfrm xmlns:a="http://schemas.openxmlformats.org/drawingml/2006/main">
            <a:off x="6572250" y="3662363"/>
            <a:ext cx="904875" cy="0"/>
          </a:xfrm>
          <a:prstGeom xmlns:a="http://schemas.openxmlformats.org/drawingml/2006/main" prst="straightConnector1">
            <a:avLst/>
          </a:prstGeom>
          <a:ln xmlns:a="http://schemas.openxmlformats.org/drawingml/2006/main" w="28575">
            <a:solidFill>
              <a:srgbClr val="60A5FA"/>
            </a:solidFill>
            <a:tailEnd type="triangle" w="med" len="med"/>
          </a:ln>
        </p:spPr>
      </p:cxnSp>
      <p:sp>
        <p:nvSpPr>
          <p:cNvPr id="28" name="text-97">
            <a:extLst xmlns:a="http://schemas.openxmlformats.org/drawingml/2006/main">
              <a:ext uri="{FF2B5EF4-FFF2-40B4-BE49-F238E27FC236}">
                <a16:creationId xmlns:a16="http://schemas.microsoft.com/office/drawing/2014/main" id="{991D1EBC-6746-4A42-A05B-30EE6C871EFD}"/>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Core system logic</a:t>
            </a:r>
          </a:p>
        </p:txBody>
      </p:sp>
      <p:sp>
        <p:nvSpPr>
          <p:cNvPr id="2" name="text-98">
            <a:extLst xmlns:a="http://schemas.openxmlformats.org/drawingml/2006/main">
              <a:ext uri="{FF2B5EF4-FFF2-40B4-BE49-F238E27FC236}">
                <a16:creationId xmlns:a16="http://schemas.microsoft.com/office/drawing/2014/main" id="{35DDEE4F-FD56-4F00-8F25-CB6AF48BA152}"/>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2</a:t>
            </a:r>
          </a:p>
        </p:txBody>
      </p:sp>
      <p:sp>
        <p:nvSpPr>
          <p:cNvPr id="3" name="text-99">
            <a:extLst xmlns:a="http://schemas.openxmlformats.org/drawingml/2006/main">
              <a:ext uri="{FF2B5EF4-FFF2-40B4-BE49-F238E27FC236}">
                <a16:creationId xmlns:a16="http://schemas.microsoft.com/office/drawing/2014/main" id="{7E1A9C86-F2FA-4883-9AC9-39A3E02C964A}"/>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07</a:t>
            </a:r>
          </a:p>
        </p:txBody>
      </p:sp>
      <p:sp>
        <p:nvSpPr>
          <p:cNvPr id="4" name="text-100">
            <a:extLst xmlns:a="http://schemas.openxmlformats.org/drawingml/2006/main">
              <a:ext uri="{FF2B5EF4-FFF2-40B4-BE49-F238E27FC236}">
                <a16:creationId xmlns:a16="http://schemas.microsoft.com/office/drawing/2014/main" id="{D2F0DE69-9D22-47CF-B37A-3F8EEAA38E36}"/>
              </a:ext>
            </a:extLst>
          </p:cNvPr>
          <p:cNvSpPr>
            <a:spLocks xmlns:a="http://schemas.openxmlformats.org/drawingml/2006/main" noGrp="1"/>
          </p:cNvSpPr>
          <p:nvPr/>
        </p:nvSpPr>
        <p:spPr>
          <a:xfrm xmlns:a="http://schemas.openxmlformats.org/drawingml/2006/main">
            <a:off x="952500" y="24288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60A5FA"/>
                </a:solidFill>
              </a:defRPr>
            </a:defPPr>
            <a:lvl1pPr algn="l">
              <a:defRPr sz="3225" b="1">
                <a:solidFill>
                  <a:srgbClr val="60A5FA"/>
                </a:solidFill>
              </a:defRPr>
            </a:lvl1pPr>
            <a:lvl2pPr algn="l">
              <a:defRPr sz="3225" b="1">
                <a:solidFill>
                  <a:srgbClr val="60A5FA"/>
                </a:solidFill>
              </a:defRPr>
            </a:lvl2pPr>
            <a:lvl3pPr algn="l">
              <a:defRPr sz="3225" b="1">
                <a:solidFill>
                  <a:srgbClr val="60A5FA"/>
                </a:solidFill>
              </a:defRPr>
            </a:lvl3pPr>
            <a:lvl4pPr algn="l">
              <a:defRPr sz="3225" b="1">
                <a:solidFill>
                  <a:srgbClr val="60A5FA"/>
                </a:solidFill>
              </a:defRPr>
            </a:lvl4pPr>
            <a:lvl5pPr algn="l">
              <a:defRPr sz="3225" b="1">
                <a:solidFill>
                  <a:srgbClr val="60A5FA"/>
                </a:solidFill>
              </a:defRPr>
            </a:lvl5pPr>
            <a:lvl6pPr algn="l">
              <a:defRPr sz="3225" b="1">
                <a:solidFill>
                  <a:srgbClr val="60A5FA"/>
                </a:solidFill>
              </a:defRPr>
            </a:lvl6pPr>
            <a:lvl7pPr algn="l">
              <a:defRPr sz="3225" b="1">
                <a:solidFill>
                  <a:srgbClr val="60A5FA"/>
                </a:solidFill>
              </a:defRPr>
            </a:lvl7pPr>
            <a:lvl8pPr algn="l">
              <a:defRPr sz="3225" b="1">
                <a:solidFill>
                  <a:srgbClr val="60A5FA"/>
                </a:solidFill>
              </a:defRPr>
            </a:lvl8pPr>
            <a:lvl9pPr algn="l">
              <a:defRPr sz="3225" b="1">
                <a:solidFill>
                  <a:srgbClr val="60A5FA"/>
                </a:solidFill>
              </a:defRPr>
            </a:lvl9pPr>
          </a:lstStyle>
          <a:p xmlns:a="http://schemas.openxmlformats.org/drawingml/2006/main">
            <a:pPr algn="l">
              <a:defRPr sz="3225" b="1">
                <a:solidFill>
                  <a:srgbClr val="60A5FA"/>
                </a:solidFill>
              </a:defRPr>
            </a:pPr>
            <a:r>
              <a:rPr sz="3225" b="1">
                <a:solidFill>
                  <a:srgbClr val="60A5FA"/>
                </a:solidFill>
              </a:rPr>
              <a:t>01</a:t>
            </a:r>
          </a:p>
        </p:txBody>
      </p:sp>
      <p:sp>
        <p:nvSpPr>
          <p:cNvPr id="5" name="text-101">
            <a:extLst xmlns:a="http://schemas.openxmlformats.org/drawingml/2006/main">
              <a:ext uri="{FF2B5EF4-FFF2-40B4-BE49-F238E27FC236}">
                <a16:creationId xmlns:a16="http://schemas.microsoft.com/office/drawing/2014/main" id="{FF32A7DD-1C1A-4B40-8DFD-0383B9620A42}"/>
              </a:ext>
            </a:extLst>
          </p:cNvPr>
          <p:cNvSpPr>
            <a:spLocks xmlns:a="http://schemas.openxmlformats.org/drawingml/2006/main" noGrp="1"/>
          </p:cNvSpPr>
          <p:nvPr/>
        </p:nvSpPr>
        <p:spPr>
          <a:xfrm xmlns:a="http://schemas.openxmlformats.org/drawingml/2006/main">
            <a:off x="2095500" y="2428875"/>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Database-validated checkout</a:t>
            </a:r>
          </a:p>
        </p:txBody>
      </p:sp>
      <p:sp>
        <p:nvSpPr>
          <p:cNvPr id="6" name="node-102">
            <a:extLst xmlns:a="http://schemas.openxmlformats.org/drawingml/2006/main">
              <a:ext uri="{FF2B5EF4-FFF2-40B4-BE49-F238E27FC236}">
                <a16:creationId xmlns:a16="http://schemas.microsoft.com/office/drawing/2014/main" id="{DB1DB7F3-383A-44A5-A641-B9A1C40A6DA8}"/>
              </a:ext>
            </a:extLst>
          </p:cNvPr>
          <p:cNvSpPr>
            <a:spLocks xmlns:a="http://schemas.openxmlformats.org/drawingml/2006/main" noGrp="1"/>
          </p:cNvSpPr>
          <p:nvPr/>
        </p:nvSpPr>
        <p:spPr>
          <a:xfrm xmlns:a="http://schemas.openxmlformats.org/drawingml/2006/main">
            <a:off x="2095500" y="320992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Cart + payment</a:t>
            </a:r>
          </a:p>
        </p:txBody>
      </p:sp>
      <p:sp>
        <p:nvSpPr>
          <p:cNvPr id="7" name="node-103">
            <a:extLst xmlns:a="http://schemas.openxmlformats.org/drawingml/2006/main">
              <a:ext uri="{FF2B5EF4-FFF2-40B4-BE49-F238E27FC236}">
                <a16:creationId xmlns:a16="http://schemas.microsoft.com/office/drawing/2014/main" id="{F48994B9-3C7C-4D2F-8E3F-6E66EC9B21D0}"/>
              </a:ext>
            </a:extLst>
          </p:cNvPr>
          <p:cNvSpPr>
            <a:spLocks xmlns:a="http://schemas.openxmlformats.org/drawingml/2006/main" noGrp="1"/>
          </p:cNvSpPr>
          <p:nvPr/>
        </p:nvSpPr>
        <p:spPr>
          <a:xfrm xmlns:a="http://schemas.openxmlformats.org/drawingml/2006/main">
            <a:off x="7477125" y="320992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Role, stock, price checks</a:t>
            </a:r>
          </a:p>
        </p:txBody>
      </p:sp>
      <p:sp>
        <p:nvSpPr>
          <p:cNvPr id="8" name="node-104">
            <a:extLst xmlns:a="http://schemas.openxmlformats.org/drawingml/2006/main">
              <a:ext uri="{FF2B5EF4-FFF2-40B4-BE49-F238E27FC236}">
                <a16:creationId xmlns:a16="http://schemas.microsoft.com/office/drawing/2014/main" id="{A6E72539-AA99-4749-91BE-9E5F5AB26937}"/>
              </a:ext>
            </a:extLst>
          </p:cNvPr>
          <p:cNvSpPr>
            <a:spLocks xmlns:a="http://schemas.openxmlformats.org/drawingml/2006/main" noGrp="1"/>
          </p:cNvSpPr>
          <p:nvPr/>
        </p:nvSpPr>
        <p:spPr>
          <a:xfrm xmlns:a="http://schemas.openxmlformats.org/drawingml/2006/main">
            <a:off x="12858750" y="320992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Commit sale + stock</a:t>
            </a:r>
          </a:p>
        </p:txBody>
      </p:sp>
      <p:sp>
        <p:nvSpPr>
          <p:cNvPr id="11" name="text-105">
            <a:extLst xmlns:a="http://schemas.openxmlformats.org/drawingml/2006/main">
              <a:ext uri="{FF2B5EF4-FFF2-40B4-BE49-F238E27FC236}">
                <a16:creationId xmlns:a16="http://schemas.microsoft.com/office/drawing/2014/main" id="{A7113AAE-3CDB-449D-AD07-98479F389273}"/>
              </a:ext>
            </a:extLst>
          </p:cNvPr>
          <p:cNvSpPr>
            <a:spLocks xmlns:a="http://schemas.openxmlformats.org/drawingml/2006/main" noGrp="1"/>
          </p:cNvSpPr>
          <p:nvPr/>
        </p:nvSpPr>
        <p:spPr>
          <a:xfrm xmlns:a="http://schemas.openxmlformats.org/drawingml/2006/main">
            <a:off x="2095500" y="4295775"/>
            <a:ext cx="1514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process_pos_sale_v4 calls v3. Row locks and exceptions protect the transaction.</a:t>
            </a:r>
          </a:p>
        </p:txBody>
      </p:sp>
      <p:sp>
        <p:nvSpPr>
          <p:cNvPr id="12" name="text-106">
            <a:extLst xmlns:a="http://schemas.openxmlformats.org/drawingml/2006/main">
              <a:ext uri="{FF2B5EF4-FFF2-40B4-BE49-F238E27FC236}">
                <a16:creationId xmlns:a16="http://schemas.microsoft.com/office/drawing/2014/main" id="{DDB34215-4797-4989-ADF4-4D96AA23CCE5}"/>
              </a:ext>
            </a:extLst>
          </p:cNvPr>
          <p:cNvSpPr>
            <a:spLocks xmlns:a="http://schemas.openxmlformats.org/drawingml/2006/main" noGrp="1"/>
          </p:cNvSpPr>
          <p:nvPr/>
        </p:nvSpPr>
        <p:spPr>
          <a:xfrm xmlns:a="http://schemas.openxmlformats.org/drawingml/2006/main">
            <a:off x="952500" y="4667250"/>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60A5FA"/>
                </a:solidFill>
              </a:defRPr>
            </a:defPPr>
            <a:lvl1pPr algn="l">
              <a:defRPr sz="3225" b="1">
                <a:solidFill>
                  <a:srgbClr val="60A5FA"/>
                </a:solidFill>
              </a:defRPr>
            </a:lvl1pPr>
            <a:lvl2pPr algn="l">
              <a:defRPr sz="3225" b="1">
                <a:solidFill>
                  <a:srgbClr val="60A5FA"/>
                </a:solidFill>
              </a:defRPr>
            </a:lvl2pPr>
            <a:lvl3pPr algn="l">
              <a:defRPr sz="3225" b="1">
                <a:solidFill>
                  <a:srgbClr val="60A5FA"/>
                </a:solidFill>
              </a:defRPr>
            </a:lvl3pPr>
            <a:lvl4pPr algn="l">
              <a:defRPr sz="3225" b="1">
                <a:solidFill>
                  <a:srgbClr val="60A5FA"/>
                </a:solidFill>
              </a:defRPr>
            </a:lvl4pPr>
            <a:lvl5pPr algn="l">
              <a:defRPr sz="3225" b="1">
                <a:solidFill>
                  <a:srgbClr val="60A5FA"/>
                </a:solidFill>
              </a:defRPr>
            </a:lvl5pPr>
            <a:lvl6pPr algn="l">
              <a:defRPr sz="3225" b="1">
                <a:solidFill>
                  <a:srgbClr val="60A5FA"/>
                </a:solidFill>
              </a:defRPr>
            </a:lvl6pPr>
            <a:lvl7pPr algn="l">
              <a:defRPr sz="3225" b="1">
                <a:solidFill>
                  <a:srgbClr val="60A5FA"/>
                </a:solidFill>
              </a:defRPr>
            </a:lvl7pPr>
            <a:lvl8pPr algn="l">
              <a:defRPr sz="3225" b="1">
                <a:solidFill>
                  <a:srgbClr val="60A5FA"/>
                </a:solidFill>
              </a:defRPr>
            </a:lvl8pPr>
            <a:lvl9pPr algn="l">
              <a:defRPr sz="3225" b="1">
                <a:solidFill>
                  <a:srgbClr val="60A5FA"/>
                </a:solidFill>
              </a:defRPr>
            </a:lvl9pPr>
          </a:lstStyle>
          <a:p xmlns:a="http://schemas.openxmlformats.org/drawingml/2006/main">
            <a:pPr algn="l">
              <a:defRPr sz="3225" b="1">
                <a:solidFill>
                  <a:srgbClr val="60A5FA"/>
                </a:solidFill>
              </a:defRPr>
            </a:pPr>
            <a:r>
              <a:rPr sz="3225" b="1">
                <a:solidFill>
                  <a:srgbClr val="60A5FA"/>
                </a:solidFill>
              </a:rPr>
              <a:t>02</a:t>
            </a:r>
          </a:p>
        </p:txBody>
      </p:sp>
      <p:sp>
        <p:nvSpPr>
          <p:cNvPr id="13" name="text-107">
            <a:extLst xmlns:a="http://schemas.openxmlformats.org/drawingml/2006/main">
              <a:ext uri="{FF2B5EF4-FFF2-40B4-BE49-F238E27FC236}">
                <a16:creationId xmlns:a16="http://schemas.microsoft.com/office/drawing/2014/main" id="{60742F99-FDCF-4398-B0A4-03D16D1F9E5F}"/>
              </a:ext>
            </a:extLst>
          </p:cNvPr>
          <p:cNvSpPr>
            <a:spLocks xmlns:a="http://schemas.openxmlformats.org/drawingml/2006/main" noGrp="1"/>
          </p:cNvSpPr>
          <p:nvPr/>
        </p:nvSpPr>
        <p:spPr>
          <a:xfrm xmlns:a="http://schemas.openxmlformats.org/drawingml/2006/main">
            <a:off x="2095500" y="4667250"/>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Bulk sales use base-unit stock</a:t>
            </a:r>
          </a:p>
        </p:txBody>
      </p:sp>
      <p:sp>
        <p:nvSpPr>
          <p:cNvPr id="14" name="node-108">
            <a:extLst xmlns:a="http://schemas.openxmlformats.org/drawingml/2006/main">
              <a:ext uri="{FF2B5EF4-FFF2-40B4-BE49-F238E27FC236}">
                <a16:creationId xmlns:a16="http://schemas.microsoft.com/office/drawing/2014/main" id="{A1F163C8-565C-4DFE-AB7F-34EB7C580E2F}"/>
              </a:ext>
            </a:extLst>
          </p:cNvPr>
          <p:cNvSpPr>
            <a:spLocks xmlns:a="http://schemas.openxmlformats.org/drawingml/2006/main" noGrp="1"/>
          </p:cNvSpPr>
          <p:nvPr/>
        </p:nvSpPr>
        <p:spPr>
          <a:xfrm xmlns:a="http://schemas.openxmlformats.org/drawingml/2006/main">
            <a:off x="2095500" y="5448300"/>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2 packs × 6 pieces</a:t>
            </a:r>
          </a:p>
        </p:txBody>
      </p:sp>
      <p:sp>
        <p:nvSpPr>
          <p:cNvPr id="15" name="node-109">
            <a:extLst xmlns:a="http://schemas.openxmlformats.org/drawingml/2006/main">
              <a:ext uri="{FF2B5EF4-FFF2-40B4-BE49-F238E27FC236}">
                <a16:creationId xmlns:a16="http://schemas.microsoft.com/office/drawing/2014/main" id="{F8D5ACC7-4392-4807-83F4-BA64F45B2241}"/>
              </a:ext>
            </a:extLst>
          </p:cNvPr>
          <p:cNvSpPr>
            <a:spLocks xmlns:a="http://schemas.openxmlformats.org/drawingml/2006/main" noGrp="1"/>
          </p:cNvSpPr>
          <p:nvPr/>
        </p:nvSpPr>
        <p:spPr>
          <a:xfrm xmlns:a="http://schemas.openxmlformats.org/drawingml/2006/main">
            <a:off x="7477125" y="5448300"/>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12 base units required</a:t>
            </a:r>
          </a:p>
        </p:txBody>
      </p:sp>
      <p:sp>
        <p:nvSpPr>
          <p:cNvPr id="16" name="node-110">
            <a:extLst xmlns:a="http://schemas.openxmlformats.org/drawingml/2006/main">
              <a:ext uri="{FF2B5EF4-FFF2-40B4-BE49-F238E27FC236}">
                <a16:creationId xmlns:a16="http://schemas.microsoft.com/office/drawing/2014/main" id="{5822318E-1490-4093-865B-7C8B13C05239}"/>
              </a:ext>
            </a:extLst>
          </p:cNvPr>
          <p:cNvSpPr>
            <a:spLocks xmlns:a="http://schemas.openxmlformats.org/drawingml/2006/main" noGrp="1"/>
          </p:cNvSpPr>
          <p:nvPr/>
        </p:nvSpPr>
        <p:spPr>
          <a:xfrm xmlns:a="http://schemas.openxmlformats.org/drawingml/2006/main">
            <a:off x="12858750" y="5448300"/>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24 pieces become 12</a:t>
            </a:r>
          </a:p>
        </p:txBody>
      </p:sp>
      <p:sp>
        <p:nvSpPr>
          <p:cNvPr id="19" name="text-111">
            <a:extLst xmlns:a="http://schemas.openxmlformats.org/drawingml/2006/main">
              <a:ext uri="{FF2B5EF4-FFF2-40B4-BE49-F238E27FC236}">
                <a16:creationId xmlns:a16="http://schemas.microsoft.com/office/drawing/2014/main" id="{B6CF77AA-2F09-4E1E-9B11-4EEF2C610A09}"/>
              </a:ext>
            </a:extLst>
          </p:cNvPr>
          <p:cNvSpPr>
            <a:spLocks xmlns:a="http://schemas.openxmlformats.org/drawingml/2006/main" noGrp="1"/>
          </p:cNvSpPr>
          <p:nvPr/>
        </p:nvSpPr>
        <p:spPr>
          <a:xfrm xmlns:a="http://schemas.openxmlformats.org/drawingml/2006/main">
            <a:off x="2095500" y="6534150"/>
            <a:ext cx="1514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Illustrative arithmetic only. The stock-deduction trigger uses the configured multiplier.</a:t>
            </a:r>
          </a:p>
        </p:txBody>
      </p:sp>
      <p:sp>
        <p:nvSpPr>
          <p:cNvPr id="20" name="text-112">
            <a:extLst xmlns:a="http://schemas.openxmlformats.org/drawingml/2006/main">
              <a:ext uri="{FF2B5EF4-FFF2-40B4-BE49-F238E27FC236}">
                <a16:creationId xmlns:a16="http://schemas.microsoft.com/office/drawing/2014/main" id="{5839F33D-8EFB-4E2E-9674-AC81CF5F42DD}"/>
              </a:ext>
            </a:extLst>
          </p:cNvPr>
          <p:cNvSpPr>
            <a:spLocks xmlns:a="http://schemas.openxmlformats.org/drawingml/2006/main" noGrp="1"/>
          </p:cNvSpPr>
          <p:nvPr/>
        </p:nvSpPr>
        <p:spPr>
          <a:xfrm xmlns:a="http://schemas.openxmlformats.org/drawingml/2006/main">
            <a:off x="952500" y="69056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60A5FA"/>
                </a:solidFill>
              </a:defRPr>
            </a:defPPr>
            <a:lvl1pPr algn="l">
              <a:defRPr sz="3225" b="1">
                <a:solidFill>
                  <a:srgbClr val="60A5FA"/>
                </a:solidFill>
              </a:defRPr>
            </a:lvl1pPr>
            <a:lvl2pPr algn="l">
              <a:defRPr sz="3225" b="1">
                <a:solidFill>
                  <a:srgbClr val="60A5FA"/>
                </a:solidFill>
              </a:defRPr>
            </a:lvl2pPr>
            <a:lvl3pPr algn="l">
              <a:defRPr sz="3225" b="1">
                <a:solidFill>
                  <a:srgbClr val="60A5FA"/>
                </a:solidFill>
              </a:defRPr>
            </a:lvl3pPr>
            <a:lvl4pPr algn="l">
              <a:defRPr sz="3225" b="1">
                <a:solidFill>
                  <a:srgbClr val="60A5FA"/>
                </a:solidFill>
              </a:defRPr>
            </a:lvl4pPr>
            <a:lvl5pPr algn="l">
              <a:defRPr sz="3225" b="1">
                <a:solidFill>
                  <a:srgbClr val="60A5FA"/>
                </a:solidFill>
              </a:defRPr>
            </a:lvl5pPr>
            <a:lvl6pPr algn="l">
              <a:defRPr sz="3225" b="1">
                <a:solidFill>
                  <a:srgbClr val="60A5FA"/>
                </a:solidFill>
              </a:defRPr>
            </a:lvl6pPr>
            <a:lvl7pPr algn="l">
              <a:defRPr sz="3225" b="1">
                <a:solidFill>
                  <a:srgbClr val="60A5FA"/>
                </a:solidFill>
              </a:defRPr>
            </a:lvl7pPr>
            <a:lvl8pPr algn="l">
              <a:defRPr sz="3225" b="1">
                <a:solidFill>
                  <a:srgbClr val="60A5FA"/>
                </a:solidFill>
              </a:defRPr>
            </a:lvl8pPr>
            <a:lvl9pPr algn="l">
              <a:defRPr sz="3225" b="1">
                <a:solidFill>
                  <a:srgbClr val="60A5FA"/>
                </a:solidFill>
              </a:defRPr>
            </a:lvl9pPr>
          </a:lstStyle>
          <a:p xmlns:a="http://schemas.openxmlformats.org/drawingml/2006/main">
            <a:pPr algn="l">
              <a:defRPr sz="3225" b="1">
                <a:solidFill>
                  <a:srgbClr val="60A5FA"/>
                </a:solidFill>
              </a:defRPr>
            </a:pPr>
            <a:r>
              <a:rPr sz="3225" b="1">
                <a:solidFill>
                  <a:srgbClr val="60A5FA"/>
                </a:solidFill>
              </a:rPr>
              <a:t>03</a:t>
            </a:r>
          </a:p>
        </p:txBody>
      </p:sp>
      <p:sp>
        <p:nvSpPr>
          <p:cNvPr id="21" name="text-113">
            <a:extLst xmlns:a="http://schemas.openxmlformats.org/drawingml/2006/main">
              <a:ext uri="{FF2B5EF4-FFF2-40B4-BE49-F238E27FC236}">
                <a16:creationId xmlns:a16="http://schemas.microsoft.com/office/drawing/2014/main" id="{FEDC74C7-6128-442D-A3E5-FCB279C6B622}"/>
              </a:ext>
            </a:extLst>
          </p:cNvPr>
          <p:cNvSpPr>
            <a:spLocks xmlns:a="http://schemas.openxmlformats.org/drawingml/2006/main" noGrp="1"/>
          </p:cNvSpPr>
          <p:nvPr/>
        </p:nvSpPr>
        <p:spPr>
          <a:xfrm xmlns:a="http://schemas.openxmlformats.org/drawingml/2006/main">
            <a:off x="2095500" y="6905625"/>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F8FAFC"/>
                </a:solidFill>
              </a:defRPr>
            </a:defPPr>
            <a:lvl1pPr algn="l">
              <a:defRPr sz="2775" b="1">
                <a:solidFill>
                  <a:srgbClr val="F8FAFC"/>
                </a:solidFill>
              </a:defRPr>
            </a:lvl1pPr>
            <a:lvl2pPr algn="l">
              <a:defRPr sz="2775" b="1">
                <a:solidFill>
                  <a:srgbClr val="F8FAFC"/>
                </a:solidFill>
              </a:defRPr>
            </a:lvl2pPr>
            <a:lvl3pPr algn="l">
              <a:defRPr sz="2775" b="1">
                <a:solidFill>
                  <a:srgbClr val="F8FAFC"/>
                </a:solidFill>
              </a:defRPr>
            </a:lvl3pPr>
            <a:lvl4pPr algn="l">
              <a:defRPr sz="2775" b="1">
                <a:solidFill>
                  <a:srgbClr val="F8FAFC"/>
                </a:solidFill>
              </a:defRPr>
            </a:lvl4pPr>
            <a:lvl5pPr algn="l">
              <a:defRPr sz="2775" b="1">
                <a:solidFill>
                  <a:srgbClr val="F8FAFC"/>
                </a:solidFill>
              </a:defRPr>
            </a:lvl5pPr>
            <a:lvl6pPr algn="l">
              <a:defRPr sz="2775" b="1">
                <a:solidFill>
                  <a:srgbClr val="F8FAFC"/>
                </a:solidFill>
              </a:defRPr>
            </a:lvl6pPr>
            <a:lvl7pPr algn="l">
              <a:defRPr sz="2775" b="1">
                <a:solidFill>
                  <a:srgbClr val="F8FAFC"/>
                </a:solidFill>
              </a:defRPr>
            </a:lvl7pPr>
            <a:lvl8pPr algn="l">
              <a:defRPr sz="2775" b="1">
                <a:solidFill>
                  <a:srgbClr val="F8FAFC"/>
                </a:solidFill>
              </a:defRPr>
            </a:lvl8pPr>
            <a:lvl9pPr algn="l">
              <a:defRPr sz="2775" b="1">
                <a:solidFill>
                  <a:srgbClr val="F8FAFC"/>
                </a:solidFill>
              </a:defRPr>
            </a:lvl9pPr>
          </a:lstStyle>
          <a:p xmlns:a="http://schemas.openxmlformats.org/drawingml/2006/main">
            <a:pPr algn="l">
              <a:defRPr sz="2775" b="1">
                <a:solidFill>
                  <a:srgbClr val="F8FAFC"/>
                </a:solidFill>
              </a:defRPr>
            </a:pPr>
            <a:r>
              <a:rPr sz="2775" b="1">
                <a:solidFill>
                  <a:srgbClr val="F8FAFC"/>
                </a:solidFill>
              </a:rPr>
              <a:t>Receiving separates stock from price approval</a:t>
            </a:r>
          </a:p>
        </p:txBody>
      </p:sp>
      <p:sp>
        <p:nvSpPr>
          <p:cNvPr id="22" name="node-114">
            <a:extLst xmlns:a="http://schemas.openxmlformats.org/drawingml/2006/main">
              <a:ext uri="{FF2B5EF4-FFF2-40B4-BE49-F238E27FC236}">
                <a16:creationId xmlns:a16="http://schemas.microsoft.com/office/drawing/2014/main" id="{F9E492FD-03F6-439B-9412-2F46F63AF8BA}"/>
              </a:ext>
            </a:extLst>
          </p:cNvPr>
          <p:cNvSpPr>
            <a:spLocks xmlns:a="http://schemas.openxmlformats.org/drawingml/2006/main" noGrp="1"/>
          </p:cNvSpPr>
          <p:nvPr/>
        </p:nvSpPr>
        <p:spPr>
          <a:xfrm xmlns:a="http://schemas.openxmlformats.org/drawingml/2006/main">
            <a:off x="2095500" y="768667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Receive configured units</a:t>
            </a:r>
          </a:p>
        </p:txBody>
      </p:sp>
      <p:sp>
        <p:nvSpPr>
          <p:cNvPr id="23" name="node-115">
            <a:extLst xmlns:a="http://schemas.openxmlformats.org/drawingml/2006/main">
              <a:ext uri="{FF2B5EF4-FFF2-40B4-BE49-F238E27FC236}">
                <a16:creationId xmlns:a16="http://schemas.microsoft.com/office/drawing/2014/main" id="{FA5A1789-CF65-4332-B954-859955DB6673}"/>
              </a:ext>
            </a:extLst>
          </p:cNvPr>
          <p:cNvSpPr>
            <a:spLocks xmlns:a="http://schemas.openxmlformats.org/drawingml/2006/main" noGrp="1"/>
          </p:cNvSpPr>
          <p:nvPr/>
        </p:nvSpPr>
        <p:spPr>
          <a:xfrm xmlns:a="http://schemas.openxmlformats.org/drawingml/2006/main">
            <a:off x="7477125" y="768667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Record cost + stock history</a:t>
            </a:r>
          </a:p>
        </p:txBody>
      </p:sp>
      <p:sp>
        <p:nvSpPr>
          <p:cNvPr id="24" name="node-116">
            <a:extLst xmlns:a="http://schemas.openxmlformats.org/drawingml/2006/main">
              <a:ext uri="{FF2B5EF4-FFF2-40B4-BE49-F238E27FC236}">
                <a16:creationId xmlns:a16="http://schemas.microsoft.com/office/drawing/2014/main" id="{EF8459D3-BB96-41DF-B417-0F7DD8EFF4B8}"/>
              </a:ext>
            </a:extLst>
          </p:cNvPr>
          <p:cNvSpPr>
            <a:spLocks xmlns:a="http://schemas.openxmlformats.org/drawingml/2006/main" noGrp="1"/>
          </p:cNvSpPr>
          <p:nvPr/>
        </p:nvSpPr>
        <p:spPr>
          <a:xfrm xmlns:a="http://schemas.openxmlformats.org/drawingml/2006/main">
            <a:off x="12858750" y="7686675"/>
            <a:ext cx="4476750" cy="904875"/>
          </a:xfrm>
          <a:prstGeom xmlns:a="http://schemas.openxmlformats.org/drawingml/2006/main" prst="rect">
            <a:avLst/>
          </a:prstGeom>
          <a:solidFill xmlns:a="http://schemas.openxmlformats.org/drawingml/2006/main">
            <a:srgbClr val="111827"/>
          </a:solidFill>
          <a:ln xmlns:a="http://schemas.openxmlformats.org/drawingml/2006/main" w="19050">
            <a:solidFill>
              <a:srgbClr val="334155"/>
            </a:solidFill>
          </a:ln>
        </p:spPr>
        <p:txBody>
          <a:bodyPr xmlns:a="http://schemas.openxmlformats.org/drawingml/2006/main" lIns="190500" tIns="190500" rIns="190500" bIns="190500" anchor="ctr"/>
          <a:lstStyle xmlns:a="http://schemas.openxmlformats.org/drawingml/2006/main">
            <a:defPPr algn="ctr">
              <a:defRPr sz="2175">
                <a:solidFill>
                  <a:srgbClr val="F8FAFC"/>
                </a:solidFill>
              </a:defRPr>
            </a:defPPr>
            <a:lvl1pPr algn="ctr">
              <a:defRPr sz="2175">
                <a:solidFill>
                  <a:srgbClr val="F8FAFC"/>
                </a:solidFill>
              </a:defRPr>
            </a:lvl1pPr>
            <a:lvl2pPr algn="ctr">
              <a:defRPr sz="2175">
                <a:solidFill>
                  <a:srgbClr val="F8FAFC"/>
                </a:solidFill>
              </a:defRPr>
            </a:lvl2pPr>
            <a:lvl3pPr algn="ctr">
              <a:defRPr sz="2175">
                <a:solidFill>
                  <a:srgbClr val="F8FAFC"/>
                </a:solidFill>
              </a:defRPr>
            </a:lvl3pPr>
            <a:lvl4pPr algn="ctr">
              <a:defRPr sz="2175">
                <a:solidFill>
                  <a:srgbClr val="F8FAFC"/>
                </a:solidFill>
              </a:defRPr>
            </a:lvl4pPr>
            <a:lvl5pPr algn="ctr">
              <a:defRPr sz="2175">
                <a:solidFill>
                  <a:srgbClr val="F8FAFC"/>
                </a:solidFill>
              </a:defRPr>
            </a:lvl5pPr>
            <a:lvl6pPr algn="ctr">
              <a:defRPr sz="2175">
                <a:solidFill>
                  <a:srgbClr val="F8FAFC"/>
                </a:solidFill>
              </a:defRPr>
            </a:lvl6pPr>
            <a:lvl7pPr algn="ctr">
              <a:defRPr sz="2175">
                <a:solidFill>
                  <a:srgbClr val="F8FAFC"/>
                </a:solidFill>
              </a:defRPr>
            </a:lvl7pPr>
            <a:lvl8pPr algn="ctr">
              <a:defRPr sz="2175">
                <a:solidFill>
                  <a:srgbClr val="F8FAFC"/>
                </a:solidFill>
              </a:defRPr>
            </a:lvl8pPr>
            <a:lvl9pPr algn="ctr">
              <a:defRPr sz="2175">
                <a:solidFill>
                  <a:srgbClr val="F8FAFC"/>
                </a:solidFill>
              </a:defRPr>
            </a:lvl9pPr>
          </a:lstStyle>
          <a:p xmlns:a="http://schemas.openxmlformats.org/drawingml/2006/main">
            <a:pPr algn="ctr">
              <a:defRPr sz="2175">
                <a:solidFill>
                  <a:srgbClr val="F8FAFC"/>
                </a:solidFill>
              </a:defRPr>
            </a:pPr>
            <a:r>
              <a:rPr sz="2175">
                <a:solidFill>
                  <a:srgbClr val="F8FAFC"/>
                </a:solidFill>
              </a:rPr>
              <a:t>Review suggested price</a:t>
            </a:r>
          </a:p>
        </p:txBody>
      </p:sp>
      <p:sp>
        <p:nvSpPr>
          <p:cNvPr id="27" name="text-117">
            <a:extLst xmlns:a="http://schemas.openxmlformats.org/drawingml/2006/main">
              <a:ext uri="{FF2B5EF4-FFF2-40B4-BE49-F238E27FC236}">
                <a16:creationId xmlns:a16="http://schemas.microsoft.com/office/drawing/2014/main" id="{149098BB-60AD-4DCA-85A3-484EB1B73697}"/>
              </a:ext>
            </a:extLst>
          </p:cNvPr>
          <p:cNvSpPr>
            <a:spLocks xmlns:a="http://schemas.openxmlformats.org/drawingml/2006/main" noGrp="1"/>
          </p:cNvSpPr>
          <p:nvPr/>
        </p:nvSpPr>
        <p:spPr>
          <a:xfrm xmlns:a="http://schemas.openxmlformats.org/drawingml/2006/main">
            <a:off x="2095500" y="8772525"/>
            <a:ext cx="1514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receive_product_stock calls the receiving function. An authorized action applies a price change.</a:t>
            </a:r>
          </a:p>
        </p:txBody>
      </p:sp>
    </p:spTree>
    <p:extLst>
      <p:ext uri="{BB962C8B-B14F-4D97-AF65-F5344CB8AC3E}">
        <p14:creationId xmlns:p14="http://schemas.microsoft.com/office/powerpoint/2010/main" val="62236269"/>
      </p:ext>
    </p:extLst>
  </p:cSld>
</p:sld>
</file>

<file path=ppt/slides/slide8.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13" name="text-118">
            <a:extLst xmlns:a="http://schemas.openxmlformats.org/drawingml/2006/main">
              <a:ext uri="{FF2B5EF4-FFF2-40B4-BE49-F238E27FC236}">
                <a16:creationId xmlns:a16="http://schemas.microsoft.com/office/drawing/2014/main" id="{CCF6CE63-88E6-4848-A58C-32DB131B8E0F}"/>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Security and user access</a:t>
            </a:r>
          </a:p>
        </p:txBody>
      </p:sp>
      <p:sp>
        <p:nvSpPr>
          <p:cNvPr id="2" name="text-119">
            <a:extLst xmlns:a="http://schemas.openxmlformats.org/drawingml/2006/main">
              <a:ext uri="{FF2B5EF4-FFF2-40B4-BE49-F238E27FC236}">
                <a16:creationId xmlns:a16="http://schemas.microsoft.com/office/drawing/2014/main" id="{FC16D50C-5B2F-4932-996C-8D581F6185F4}"/>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2</a:t>
            </a:r>
          </a:p>
        </p:txBody>
      </p:sp>
      <p:sp>
        <p:nvSpPr>
          <p:cNvPr id="3" name="text-120">
            <a:extLst xmlns:a="http://schemas.openxmlformats.org/drawingml/2006/main">
              <a:ext uri="{FF2B5EF4-FFF2-40B4-BE49-F238E27FC236}">
                <a16:creationId xmlns:a16="http://schemas.microsoft.com/office/drawing/2014/main" id="{5636956C-D34E-4BF8-908F-0340474B3F4A}"/>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08</a:t>
            </a:r>
          </a:p>
        </p:txBody>
      </p:sp>
      <p:sp>
        <p:nvSpPr>
          <p:cNvPr id="4" name="text-121">
            <a:extLst xmlns:a="http://schemas.openxmlformats.org/drawingml/2006/main">
              <a:ext uri="{FF2B5EF4-FFF2-40B4-BE49-F238E27FC236}">
                <a16:creationId xmlns:a16="http://schemas.microsoft.com/office/drawing/2014/main" id="{2BD4311B-4232-422E-98F9-7C9700D9D83F}"/>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Interface gates and backend authorization form separate layers</a:t>
            </a:r>
          </a:p>
        </p:txBody>
      </p:sp>
      <p:graphicFrame>
        <p:nvGraphicFramePr>
          <p:cNvPr id="5" name="">
            <a:extLst xmlns:a="http://schemas.openxmlformats.org/drawingml/2006/main">
              <a:ext uri="{FF2B5EF4-FFF2-40B4-BE49-F238E27FC236}">
                <a16:creationId xmlns:a16="http://schemas.microsoft.com/office/drawing/2014/main" id="{E480E58E-205B-416F-B5AE-92C8A09025C5}"/>
              </a:ext>
            </a:extLst>
          </p:cNvPr>
          <p:cNvGraphicFramePr/>
          <p:nvPr/>
        </p:nvGraphicFramePr>
        <p:xfrm>
          <a:off xmlns:a="http://schemas.openxmlformats.org/drawingml/2006/main" x="952500" y="2905125"/>
          <a:ext xmlns:a="http://schemas.openxmlformats.org/drawingml/2006/main" cx="16383000" cy="4000500"/>
        </p:xfrm>
        <a:graphic xmlns:a="http://schemas.openxmlformats.org/drawingml/2006/main">
          <a:graphicData uri="http://schemas.openxmlformats.org/drawingml/2006/table">
            <a:tbl>
              <a:tblPr/>
              <a:tblGrid>
                <a:gridCol w="3048000"/>
                <a:gridCol w="2857500"/>
                <a:gridCol w="4000500"/>
                <a:gridCol w="3333750"/>
                <a:gridCol w="3143250"/>
              </a:tblGrid>
              <a:tr h="800100">
                <a:tc>
                  <a:txBody>
                    <a:bodyPr lIns="171450" tIns="171450" rIns="171450" bIns="171450"/>
                    <a:lstStyle/>
                    <a:p>
                      <a:pPr algn="l"/>
                      <a:r>
                        <a:rPr sz="2175" b="1">
                          <a:solidFill>
                            <a:srgbClr val="22D3EE"/>
                          </a:solidFill>
                        </a:rPr>
                        <a:t>Role</a:t>
                      </a:r>
                    </a:p>
                  </a:txBody>
                  <a:tcPr marL="91440" marR="91440" marT="45720" marB="45720" anchor="ctr">
                    <a:solidFill>
                      <a:srgbClr val="1E3A5F"/>
                    </a:solidFill>
                  </a:tcPr>
                </a:tc>
                <a:tc>
                  <a:txBody>
                    <a:bodyPr lIns="171450" tIns="171450" rIns="171450" bIns="171450"/>
                    <a:lstStyle/>
                    <a:p>
                      <a:pPr algn="l"/>
                      <a:r>
                        <a:rPr sz="2175" b="1">
                          <a:solidFill>
                            <a:srgbClr val="22D3EE"/>
                          </a:solidFill>
                        </a:rPr>
                        <a:t>POS</a:t>
                      </a:r>
                    </a:p>
                  </a:txBody>
                  <a:tcPr marL="91440" marR="91440" marT="45720" marB="45720" anchor="ctr">
                    <a:solidFill>
                      <a:srgbClr val="1E3A5F"/>
                    </a:solidFill>
                  </a:tcPr>
                </a:tc>
                <a:tc>
                  <a:txBody>
                    <a:bodyPr lIns="171450" tIns="171450" rIns="171450" bIns="171450"/>
                    <a:lstStyle/>
                    <a:p>
                      <a:pPr algn="l"/>
                      <a:r>
                        <a:rPr sz="2175" b="1">
                          <a:solidFill>
                            <a:srgbClr val="22D3EE"/>
                          </a:solidFill>
                        </a:rPr>
                        <a:t>Products / stock</a:t>
                      </a:r>
                    </a:p>
                  </a:txBody>
                  <a:tcPr marL="91440" marR="91440" marT="45720" marB="45720" anchor="ctr">
                    <a:solidFill>
                      <a:srgbClr val="1E3A5F"/>
                    </a:solidFill>
                  </a:tcPr>
                </a:tc>
                <a:tc>
                  <a:txBody>
                    <a:bodyPr lIns="171450" tIns="171450" rIns="171450" bIns="171450"/>
                    <a:lstStyle/>
                    <a:p>
                      <a:pPr algn="l"/>
                      <a:r>
                        <a:rPr sz="2175" b="1">
                          <a:solidFill>
                            <a:srgbClr val="22D3EE"/>
                          </a:solidFill>
                        </a:rPr>
                        <a:t>Reports</a:t>
                      </a:r>
                    </a:p>
                  </a:txBody>
                  <a:tcPr marL="91440" marR="91440" marT="45720" marB="45720" anchor="ctr">
                    <a:solidFill>
                      <a:srgbClr val="1E3A5F"/>
                    </a:solidFill>
                  </a:tcPr>
                </a:tc>
                <a:tc>
                  <a:txBody>
                    <a:bodyPr lIns="171450" tIns="171450" rIns="171450" bIns="171450"/>
                    <a:lstStyle/>
                    <a:p>
                      <a:pPr algn="l"/>
                      <a:r>
                        <a:rPr sz="2175" b="1">
                          <a:solidFill>
                            <a:srgbClr val="22D3EE"/>
                          </a:solidFill>
                        </a:rPr>
                        <a:t>User setup</a:t>
                      </a:r>
                    </a:p>
                  </a:txBody>
                  <a:tcPr marL="91440" marR="91440" marT="45720" marB="45720" anchor="ctr">
                    <a:solidFill>
                      <a:srgbClr val="1E3A5F"/>
                    </a:solidFill>
                  </a:tcPr>
                </a:tc>
              </a:tr>
              <a:tr h="800100">
                <a:tc>
                  <a:txBody>
                    <a:bodyPr lIns="171450" tIns="171450" rIns="171450" bIns="171450"/>
                    <a:lstStyle/>
                    <a:p>
                      <a:pPr algn="l"/>
                      <a:r>
                        <a:rPr sz="2100" b="1">
                          <a:solidFill>
                            <a:srgbClr val="F8FAFC"/>
                          </a:solidFill>
                        </a:rPr>
                        <a:t>Admin</a:t>
                      </a:r>
                    </a:p>
                  </a:txBody>
                  <a:tcPr marL="91440" marR="91440" marT="45720" marB="45720" anchor="ctr">
                    <a:solidFill>
                      <a:srgbClr val="111827"/>
                    </a:solidFill>
                  </a:tcPr>
                </a:tc>
                <a:tc>
                  <a:txBody>
                    <a:bodyPr lIns="171450" tIns="171450" rIns="171450" bIns="171450"/>
                    <a:lstStyle/>
                    <a:p>
                      <a:pPr algn="l"/>
                      <a:r>
                        <a:rPr sz="2100" b="0">
                          <a:solidFill>
                            <a:srgbClr val="F8FAFC"/>
                          </a:solidFill>
                        </a:rPr>
                        <a:t>Desktop</a:t>
                      </a:r>
                    </a:p>
                  </a:txBody>
                  <a:tcPr marL="91440" marR="91440" marT="45720" marB="45720" anchor="ctr">
                    <a:solidFill>
                      <a:srgbClr val="111827"/>
                    </a:solidFill>
                  </a:tcPr>
                </a:tc>
                <a:tc>
                  <a:txBody>
                    <a:bodyPr lIns="171450" tIns="171450" rIns="171450" bIns="171450"/>
                    <a:lstStyle/>
                    <a:p>
                      <a:pPr algn="l"/>
                      <a:r>
                        <a:rPr sz="2100" b="0">
                          <a:solidFill>
                            <a:srgbClr val="F8FAFC"/>
                          </a:solidFill>
                        </a:rPr>
                        <a:t>Assigned stores</a:t>
                      </a:r>
                    </a:p>
                  </a:txBody>
                  <a:tcPr marL="91440" marR="91440" marT="45720" marB="45720" anchor="ctr">
                    <a:solidFill>
                      <a:srgbClr val="111827"/>
                    </a:solidFill>
                  </a:tcPr>
                </a:tc>
                <a:tc>
                  <a:txBody>
                    <a:bodyPr lIns="171450" tIns="171450" rIns="171450" bIns="171450"/>
                    <a:lstStyle/>
                    <a:p>
                      <a:pPr algn="l"/>
                      <a:r>
                        <a:rPr sz="2100" b="0">
                          <a:solidFill>
                            <a:srgbClr val="F8FAFC"/>
                          </a:solidFill>
                        </a:rPr>
                        <a:t>Sales + inventory</a:t>
                      </a:r>
                    </a:p>
                  </a:txBody>
                  <a:tcPr marL="91440" marR="91440" marT="45720" marB="45720" anchor="ctr">
                    <a:solidFill>
                      <a:srgbClr val="111827"/>
                    </a:solidFill>
                  </a:tcPr>
                </a:tc>
                <a:tc>
                  <a:txBody>
                    <a:bodyPr lIns="171450" tIns="171450" rIns="171450" bIns="171450"/>
                    <a:lstStyle/>
                    <a:p>
                      <a:pPr algn="l"/>
                      <a:r>
                        <a:rPr sz="2100" b="0">
                          <a:solidFill>
                            <a:srgbClr val="F8FAFC"/>
                          </a:solidFill>
                        </a:rPr>
                        <a:t>Scoped users</a:t>
                      </a:r>
                    </a:p>
                  </a:txBody>
                  <a:tcPr marL="91440" marR="91440" marT="45720" marB="45720" anchor="ctr">
                    <a:solidFill>
                      <a:srgbClr val="111827"/>
                    </a:solidFill>
                  </a:tcPr>
                </a:tc>
              </a:tr>
              <a:tr h="800100">
                <a:tc>
                  <a:txBody>
                    <a:bodyPr lIns="171450" tIns="171450" rIns="171450" bIns="171450"/>
                    <a:lstStyle/>
                    <a:p>
                      <a:pPr algn="l"/>
                      <a:r>
                        <a:rPr sz="2100" b="1">
                          <a:solidFill>
                            <a:srgbClr val="F8FAFC"/>
                          </a:solidFill>
                        </a:rPr>
                        <a:t>Cashier</a:t>
                      </a:r>
                    </a:p>
                  </a:txBody>
                  <a:tcPr marL="91440" marR="91440" marT="45720" marB="45720" anchor="ctr">
                    <a:solidFill>
                      <a:srgbClr val="0B1120"/>
                    </a:solidFill>
                  </a:tcPr>
                </a:tc>
                <a:tc>
                  <a:txBody>
                    <a:bodyPr lIns="171450" tIns="171450" rIns="171450" bIns="171450"/>
                    <a:lstStyle/>
                    <a:p>
                      <a:pPr algn="l"/>
                      <a:r>
                        <a:rPr sz="2100" b="0">
                          <a:solidFill>
                            <a:srgbClr val="F8FAFC"/>
                          </a:solidFill>
                        </a:rPr>
                        <a:t>Assigned store</a:t>
                      </a:r>
                    </a:p>
                  </a:txBody>
                  <a:tcPr marL="91440" marR="91440" marT="45720" marB="45720" anchor="ctr">
                    <a:solidFill>
                      <a:srgbClr val="0B1120"/>
                    </a:solidFill>
                  </a:tcPr>
                </a:tc>
                <a:tc>
                  <a:txBody>
                    <a:bodyPr lIns="171450" tIns="171450" rIns="171450" bIns="171450"/>
                    <a:lstStyle/>
                    <a:p>
                      <a:pPr algn="l"/>
                      <a:r>
                        <a:rPr sz="2100" b="0">
                          <a:solidFill>
                            <a:srgbClr val="F8FAFC"/>
                          </a:solidFill>
                        </a:rPr>
                        <a:t>No management</a:t>
                      </a:r>
                    </a:p>
                  </a:txBody>
                  <a:tcPr marL="91440" marR="91440" marT="45720" marB="45720" anchor="ctr">
                    <a:solidFill>
                      <a:srgbClr val="0B1120"/>
                    </a:solidFill>
                  </a:tcPr>
                </a:tc>
                <a:tc>
                  <a:txBody>
                    <a:bodyPr lIns="171450" tIns="171450" rIns="171450" bIns="171450"/>
                    <a:lstStyle/>
                    <a:p>
                      <a:pPr algn="l"/>
                      <a:r>
                        <a:rPr sz="2100" b="0">
                          <a:solidFill>
                            <a:srgbClr val="F8FAFC"/>
                          </a:solidFill>
                        </a:rPr>
                        <a:t>POS history</a:t>
                      </a:r>
                    </a:p>
                  </a:txBody>
                  <a:tcPr marL="91440" marR="91440" marT="45720" marB="45720" anchor="ctr">
                    <a:solidFill>
                      <a:srgbClr val="0B1120"/>
                    </a:solidFill>
                  </a:tcPr>
                </a:tc>
                <a:tc>
                  <a:txBody>
                    <a:bodyPr lIns="171450" tIns="171450" rIns="171450" bIns="171450"/>
                    <a:lstStyle/>
                    <a:p>
                      <a:pPr algn="l"/>
                      <a:r>
                        <a:rPr sz="2100" b="0">
                          <a:solidFill>
                            <a:srgbClr val="F8FAFC"/>
                          </a:solidFill>
                        </a:rPr>
                        <a:t>No</a:t>
                      </a:r>
                    </a:p>
                  </a:txBody>
                  <a:tcPr marL="91440" marR="91440" marT="45720" marB="45720" anchor="ctr">
                    <a:solidFill>
                      <a:srgbClr val="0B1120"/>
                    </a:solidFill>
                  </a:tcPr>
                </a:tc>
              </a:tr>
              <a:tr h="800100">
                <a:tc>
                  <a:txBody>
                    <a:bodyPr lIns="171450" tIns="171450" rIns="171450" bIns="171450"/>
                    <a:lstStyle/>
                    <a:p>
                      <a:pPr algn="l"/>
                      <a:r>
                        <a:rPr sz="2100" b="1">
                          <a:solidFill>
                            <a:srgbClr val="F8FAFC"/>
                          </a:solidFill>
                        </a:rPr>
                        <a:t>Inventory</a:t>
                      </a:r>
                    </a:p>
                  </a:txBody>
                  <a:tcPr marL="91440" marR="91440" marT="45720" marB="45720" anchor="ctr">
                    <a:solidFill>
                      <a:srgbClr val="111827"/>
                    </a:solidFill>
                  </a:tcPr>
                </a:tc>
                <a:tc>
                  <a:txBody>
                    <a:bodyPr lIns="171450" tIns="171450" rIns="171450" bIns="171450"/>
                    <a:lstStyle/>
                    <a:p>
                      <a:pPr algn="l"/>
                      <a:r>
                        <a:rPr sz="2100" b="0">
                          <a:solidFill>
                            <a:srgbClr val="F8FAFC"/>
                          </a:solidFill>
                        </a:rPr>
                        <a:t>No</a:t>
                      </a:r>
                    </a:p>
                  </a:txBody>
                  <a:tcPr marL="91440" marR="91440" marT="45720" marB="45720" anchor="ctr">
                    <a:solidFill>
                      <a:srgbClr val="111827"/>
                    </a:solidFill>
                  </a:tcPr>
                </a:tc>
                <a:tc>
                  <a:txBody>
                    <a:bodyPr lIns="171450" tIns="171450" rIns="171450" bIns="171450"/>
                    <a:lstStyle/>
                    <a:p>
                      <a:pPr algn="l"/>
                      <a:r>
                        <a:rPr sz="2100" b="0">
                          <a:solidFill>
                            <a:srgbClr val="F8FAFC"/>
                          </a:solidFill>
                        </a:rPr>
                        <a:t>Permitted stock work</a:t>
                      </a:r>
                    </a:p>
                  </a:txBody>
                  <a:tcPr marL="91440" marR="91440" marT="45720" marB="45720" anchor="ctr">
                    <a:solidFill>
                      <a:srgbClr val="111827"/>
                    </a:solidFill>
                  </a:tcPr>
                </a:tc>
                <a:tc>
                  <a:txBody>
                    <a:bodyPr lIns="171450" tIns="171450" rIns="171450" bIns="171450"/>
                    <a:lstStyle/>
                    <a:p>
                      <a:pPr algn="l"/>
                      <a:r>
                        <a:rPr sz="2100" b="0">
                          <a:solidFill>
                            <a:srgbClr val="F8FAFC"/>
                          </a:solidFill>
                        </a:rPr>
                        <a:t>Inventory only</a:t>
                      </a:r>
                    </a:p>
                  </a:txBody>
                  <a:tcPr marL="91440" marR="91440" marT="45720" marB="45720" anchor="ctr">
                    <a:solidFill>
                      <a:srgbClr val="111827"/>
                    </a:solidFill>
                  </a:tcPr>
                </a:tc>
                <a:tc>
                  <a:txBody>
                    <a:bodyPr lIns="171450" tIns="171450" rIns="171450" bIns="171450"/>
                    <a:lstStyle/>
                    <a:p>
                      <a:pPr algn="l"/>
                      <a:r>
                        <a:rPr sz="2100" b="0">
                          <a:solidFill>
                            <a:srgbClr val="F8FAFC"/>
                          </a:solidFill>
                        </a:rPr>
                        <a:t>No</a:t>
                      </a:r>
                    </a:p>
                  </a:txBody>
                  <a:tcPr marL="91440" marR="91440" marT="45720" marB="45720" anchor="ctr">
                    <a:solidFill>
                      <a:srgbClr val="111827"/>
                    </a:solidFill>
                  </a:tcPr>
                </a:tc>
              </a:tr>
              <a:tr h="800100">
                <a:tc>
                  <a:txBody>
                    <a:bodyPr lIns="171450" tIns="171450" rIns="171450" bIns="171450"/>
                    <a:lstStyle/>
                    <a:p>
                      <a:pPr algn="l"/>
                      <a:r>
                        <a:rPr sz="2100" b="1">
                          <a:solidFill>
                            <a:srgbClr val="F8FAFC"/>
                          </a:solidFill>
                        </a:rPr>
                        <a:t>Super Admin</a:t>
                      </a:r>
                    </a:p>
                  </a:txBody>
                  <a:tcPr marL="91440" marR="91440" marT="45720" marB="45720" anchor="ctr">
                    <a:solidFill>
                      <a:srgbClr val="0B1120"/>
                    </a:solidFill>
                  </a:tcPr>
                </a:tc>
                <a:tc>
                  <a:txBody>
                    <a:bodyPr lIns="171450" tIns="171450" rIns="171450" bIns="171450"/>
                    <a:lstStyle/>
                    <a:p>
                      <a:pPr algn="l"/>
                      <a:r>
                        <a:rPr sz="2100" b="0">
                          <a:solidFill>
                            <a:srgbClr val="F8FAFC"/>
                          </a:solidFill>
                        </a:rPr>
                        <a:t>No</a:t>
                      </a:r>
                    </a:p>
                  </a:txBody>
                  <a:tcPr marL="91440" marR="91440" marT="45720" marB="45720" anchor="ctr">
                    <a:solidFill>
                      <a:srgbClr val="0B1120"/>
                    </a:solidFill>
                  </a:tcPr>
                </a:tc>
                <a:tc>
                  <a:txBody>
                    <a:bodyPr lIns="171450" tIns="171450" rIns="171450" bIns="171450"/>
                    <a:lstStyle/>
                    <a:p>
                      <a:pPr algn="l"/>
                      <a:r>
                        <a:rPr sz="2100" b="0">
                          <a:solidFill>
                            <a:srgbClr val="F8FAFC"/>
                          </a:solidFill>
                        </a:rPr>
                        <a:t>No store workspace</a:t>
                      </a:r>
                    </a:p>
                  </a:txBody>
                  <a:tcPr marL="91440" marR="91440" marT="45720" marB="45720" anchor="ctr">
                    <a:solidFill>
                      <a:srgbClr val="0B1120"/>
                    </a:solidFill>
                  </a:tcPr>
                </a:tc>
                <a:tc>
                  <a:txBody>
                    <a:bodyPr lIns="171450" tIns="171450" rIns="171450" bIns="171450"/>
                    <a:lstStyle/>
                    <a:p>
                      <a:pPr algn="l"/>
                      <a:r>
                        <a:rPr sz="2100" b="0">
                          <a:solidFill>
                            <a:srgbClr val="F8FAFC"/>
                          </a:solidFill>
                        </a:rPr>
                        <a:t>No store reports</a:t>
                      </a:r>
                    </a:p>
                  </a:txBody>
                  <a:tcPr marL="91440" marR="91440" marT="45720" marB="45720" anchor="ctr">
                    <a:solidFill>
                      <a:srgbClr val="0B1120"/>
                    </a:solidFill>
                  </a:tcPr>
                </a:tc>
                <a:tc>
                  <a:txBody>
                    <a:bodyPr lIns="171450" tIns="171450" rIns="171450" bIns="171450"/>
                    <a:lstStyle/>
                    <a:p>
                      <a:pPr algn="l"/>
                      <a:r>
                        <a:rPr sz="2100" b="0">
                          <a:solidFill>
                            <a:srgbClr val="F8FAFC"/>
                          </a:solidFill>
                        </a:rPr>
                        <a:t>Invite codes</a:t>
                      </a:r>
                    </a:p>
                  </a:txBody>
                  <a:tcPr marL="91440" marR="91440" marT="45720" marB="45720" anchor="ctr">
                    <a:solidFill>
                      <a:srgbClr val="0B1120"/>
                    </a:solidFill>
                  </a:tcPr>
                </a:tc>
              </a:tr>
            </a:tbl>
          </a:graphicData>
        </a:graphic>
      </p:graphicFrame>
      <p:sp>
        <p:nvSpPr>
          <p:cNvPr id="6" name="text-122">
            <a:extLst xmlns:a="http://schemas.openxmlformats.org/drawingml/2006/main">
              <a:ext uri="{FF2B5EF4-FFF2-40B4-BE49-F238E27FC236}">
                <a16:creationId xmlns:a16="http://schemas.microsoft.com/office/drawing/2014/main" id="{35A699CF-9A12-4073-89BC-6939FC767516}"/>
              </a:ext>
            </a:extLst>
          </p:cNvPr>
          <p:cNvSpPr>
            <a:spLocks xmlns:a="http://schemas.openxmlformats.org/drawingml/2006/main" noGrp="1"/>
          </p:cNvSpPr>
          <p:nvPr/>
        </p:nvSpPr>
        <p:spPr>
          <a:xfrm xmlns:a="http://schemas.openxmlformats.org/drawingml/2006/main">
            <a:off x="952500" y="75533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22D3EE"/>
                </a:solidFill>
              </a:defRPr>
            </a:defPPr>
            <a:lvl1pPr algn="l">
              <a:defRPr sz="2325" b="1">
                <a:solidFill>
                  <a:srgbClr val="22D3EE"/>
                </a:solidFill>
              </a:defRPr>
            </a:lvl1pPr>
            <a:lvl2pPr algn="l">
              <a:defRPr sz="2325" b="1">
                <a:solidFill>
                  <a:srgbClr val="22D3EE"/>
                </a:solidFill>
              </a:defRPr>
            </a:lvl2pPr>
            <a:lvl3pPr algn="l">
              <a:defRPr sz="2325" b="1">
                <a:solidFill>
                  <a:srgbClr val="22D3EE"/>
                </a:solidFill>
              </a:defRPr>
            </a:lvl3pPr>
            <a:lvl4pPr algn="l">
              <a:defRPr sz="2325" b="1">
                <a:solidFill>
                  <a:srgbClr val="22D3EE"/>
                </a:solidFill>
              </a:defRPr>
            </a:lvl4pPr>
            <a:lvl5pPr algn="l">
              <a:defRPr sz="2325" b="1">
                <a:solidFill>
                  <a:srgbClr val="22D3EE"/>
                </a:solidFill>
              </a:defRPr>
            </a:lvl5pPr>
            <a:lvl6pPr algn="l">
              <a:defRPr sz="2325" b="1">
                <a:solidFill>
                  <a:srgbClr val="22D3EE"/>
                </a:solidFill>
              </a:defRPr>
            </a:lvl6pPr>
            <a:lvl7pPr algn="l">
              <a:defRPr sz="2325" b="1">
                <a:solidFill>
                  <a:srgbClr val="22D3EE"/>
                </a:solidFill>
              </a:defRPr>
            </a:lvl7pPr>
            <a:lvl8pPr algn="l">
              <a:defRPr sz="2325" b="1">
                <a:solidFill>
                  <a:srgbClr val="22D3EE"/>
                </a:solidFill>
              </a:defRPr>
            </a:lvl8pPr>
            <a:lvl9pPr algn="l">
              <a:defRPr sz="2325" b="1">
                <a:solidFill>
                  <a:srgbClr val="22D3EE"/>
                </a:solidFill>
              </a:defRPr>
            </a:lvl9pPr>
          </a:lstStyle>
          <a:p xmlns:a="http://schemas.openxmlformats.org/drawingml/2006/main">
            <a:pPr algn="l">
              <a:defRPr sz="2325" b="1">
                <a:solidFill>
                  <a:srgbClr val="22D3EE"/>
                </a:solidFill>
              </a:defRPr>
            </a:pPr>
            <a:r>
              <a:rPr sz="2325" b="1">
                <a:solidFill>
                  <a:srgbClr val="22D3EE"/>
                </a:solidFill>
              </a:rPr>
              <a:t>Authentication</a:t>
            </a:r>
          </a:p>
        </p:txBody>
      </p:sp>
      <p:sp>
        <p:nvSpPr>
          <p:cNvPr id="7" name="text-123">
            <a:extLst xmlns:a="http://schemas.openxmlformats.org/drawingml/2006/main">
              <a:ext uri="{FF2B5EF4-FFF2-40B4-BE49-F238E27FC236}">
                <a16:creationId xmlns:a16="http://schemas.microsoft.com/office/drawing/2014/main" id="{B7FB0013-68F7-4F89-91F5-62D74AD8C8DD}"/>
              </a:ext>
            </a:extLst>
          </p:cNvPr>
          <p:cNvSpPr>
            <a:spLocks xmlns:a="http://schemas.openxmlformats.org/drawingml/2006/main" noGrp="1"/>
          </p:cNvSpPr>
          <p:nvPr/>
        </p:nvSpPr>
        <p:spPr>
          <a:xfrm xmlns:a="http://schemas.openxmlformats.org/drawingml/2006/main">
            <a:off x="6477000" y="75533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22D3EE"/>
                </a:solidFill>
              </a:defRPr>
            </a:defPPr>
            <a:lvl1pPr algn="l">
              <a:defRPr sz="2325" b="1">
                <a:solidFill>
                  <a:srgbClr val="22D3EE"/>
                </a:solidFill>
              </a:defRPr>
            </a:lvl1pPr>
            <a:lvl2pPr algn="l">
              <a:defRPr sz="2325" b="1">
                <a:solidFill>
                  <a:srgbClr val="22D3EE"/>
                </a:solidFill>
              </a:defRPr>
            </a:lvl2pPr>
            <a:lvl3pPr algn="l">
              <a:defRPr sz="2325" b="1">
                <a:solidFill>
                  <a:srgbClr val="22D3EE"/>
                </a:solidFill>
              </a:defRPr>
            </a:lvl3pPr>
            <a:lvl4pPr algn="l">
              <a:defRPr sz="2325" b="1">
                <a:solidFill>
                  <a:srgbClr val="22D3EE"/>
                </a:solidFill>
              </a:defRPr>
            </a:lvl4pPr>
            <a:lvl5pPr algn="l">
              <a:defRPr sz="2325" b="1">
                <a:solidFill>
                  <a:srgbClr val="22D3EE"/>
                </a:solidFill>
              </a:defRPr>
            </a:lvl5pPr>
            <a:lvl6pPr algn="l">
              <a:defRPr sz="2325" b="1">
                <a:solidFill>
                  <a:srgbClr val="22D3EE"/>
                </a:solidFill>
              </a:defRPr>
            </a:lvl6pPr>
            <a:lvl7pPr algn="l">
              <a:defRPr sz="2325" b="1">
                <a:solidFill>
                  <a:srgbClr val="22D3EE"/>
                </a:solidFill>
              </a:defRPr>
            </a:lvl7pPr>
            <a:lvl8pPr algn="l">
              <a:defRPr sz="2325" b="1">
                <a:solidFill>
                  <a:srgbClr val="22D3EE"/>
                </a:solidFill>
              </a:defRPr>
            </a:lvl8pPr>
            <a:lvl9pPr algn="l">
              <a:defRPr sz="2325" b="1">
                <a:solidFill>
                  <a:srgbClr val="22D3EE"/>
                </a:solidFill>
              </a:defRPr>
            </a:lvl9pPr>
          </a:lstStyle>
          <a:p xmlns:a="http://schemas.openxmlformats.org/drawingml/2006/main">
            <a:pPr algn="l">
              <a:defRPr sz="2325" b="1">
                <a:solidFill>
                  <a:srgbClr val="22D3EE"/>
                </a:solidFill>
              </a:defRPr>
            </a:pPr>
            <a:r>
              <a:rPr sz="2325" b="1">
                <a:solidFill>
                  <a:srgbClr val="22D3EE"/>
                </a:solidFill>
              </a:rPr>
              <a:t>Database boundary</a:t>
            </a:r>
          </a:p>
        </p:txBody>
      </p:sp>
      <p:sp>
        <p:nvSpPr>
          <p:cNvPr id="8" name="text-124">
            <a:extLst xmlns:a="http://schemas.openxmlformats.org/drawingml/2006/main">
              <a:ext uri="{FF2B5EF4-FFF2-40B4-BE49-F238E27FC236}">
                <a16:creationId xmlns:a16="http://schemas.microsoft.com/office/drawing/2014/main" id="{916D800C-878A-4D62-B26B-C444FF466E89}"/>
              </a:ext>
            </a:extLst>
          </p:cNvPr>
          <p:cNvSpPr>
            <a:spLocks xmlns:a="http://schemas.openxmlformats.org/drawingml/2006/main" noGrp="1"/>
          </p:cNvSpPr>
          <p:nvPr/>
        </p:nvSpPr>
        <p:spPr>
          <a:xfrm xmlns:a="http://schemas.openxmlformats.org/drawingml/2006/main">
            <a:off x="12192000" y="75533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22D3EE"/>
                </a:solidFill>
              </a:defRPr>
            </a:defPPr>
            <a:lvl1pPr algn="l">
              <a:defRPr sz="2325" b="1">
                <a:solidFill>
                  <a:srgbClr val="22D3EE"/>
                </a:solidFill>
              </a:defRPr>
            </a:lvl1pPr>
            <a:lvl2pPr algn="l">
              <a:defRPr sz="2325" b="1">
                <a:solidFill>
                  <a:srgbClr val="22D3EE"/>
                </a:solidFill>
              </a:defRPr>
            </a:lvl2pPr>
            <a:lvl3pPr algn="l">
              <a:defRPr sz="2325" b="1">
                <a:solidFill>
                  <a:srgbClr val="22D3EE"/>
                </a:solidFill>
              </a:defRPr>
            </a:lvl3pPr>
            <a:lvl4pPr algn="l">
              <a:defRPr sz="2325" b="1">
                <a:solidFill>
                  <a:srgbClr val="22D3EE"/>
                </a:solidFill>
              </a:defRPr>
            </a:lvl4pPr>
            <a:lvl5pPr algn="l">
              <a:defRPr sz="2325" b="1">
                <a:solidFill>
                  <a:srgbClr val="22D3EE"/>
                </a:solidFill>
              </a:defRPr>
            </a:lvl5pPr>
            <a:lvl6pPr algn="l">
              <a:defRPr sz="2325" b="1">
                <a:solidFill>
                  <a:srgbClr val="22D3EE"/>
                </a:solidFill>
              </a:defRPr>
            </a:lvl6pPr>
            <a:lvl7pPr algn="l">
              <a:defRPr sz="2325" b="1">
                <a:solidFill>
                  <a:srgbClr val="22D3EE"/>
                </a:solidFill>
              </a:defRPr>
            </a:lvl7pPr>
            <a:lvl8pPr algn="l">
              <a:defRPr sz="2325" b="1">
                <a:solidFill>
                  <a:srgbClr val="22D3EE"/>
                </a:solidFill>
              </a:defRPr>
            </a:lvl8pPr>
            <a:lvl9pPr algn="l">
              <a:defRPr sz="2325" b="1">
                <a:solidFill>
                  <a:srgbClr val="22D3EE"/>
                </a:solidFill>
              </a:defRPr>
            </a:lvl9pPr>
          </a:lstStyle>
          <a:p xmlns:a="http://schemas.openxmlformats.org/drawingml/2006/main">
            <a:pPr algn="l">
              <a:defRPr sz="2325" b="1">
                <a:solidFill>
                  <a:srgbClr val="22D3EE"/>
                </a:solidFill>
              </a:defRPr>
            </a:pPr>
            <a:r>
              <a:rPr sz="2325" b="1">
                <a:solidFill>
                  <a:srgbClr val="22D3EE"/>
                </a:solidFill>
              </a:rPr>
              <a:t>Assurance</a:t>
            </a:r>
          </a:p>
        </p:txBody>
      </p:sp>
      <p:sp>
        <p:nvSpPr>
          <p:cNvPr id="9" name="text-125">
            <a:extLst xmlns:a="http://schemas.openxmlformats.org/drawingml/2006/main">
              <a:ext uri="{FF2B5EF4-FFF2-40B4-BE49-F238E27FC236}">
                <a16:creationId xmlns:a16="http://schemas.microsoft.com/office/drawing/2014/main" id="{039F1056-99B6-4DE9-A71E-A42B8C4F9311}"/>
              </a:ext>
            </a:extLst>
          </p:cNvPr>
          <p:cNvSpPr>
            <a:spLocks xmlns:a="http://schemas.openxmlformats.org/drawingml/2006/main" noGrp="1"/>
          </p:cNvSpPr>
          <p:nvPr/>
        </p:nvSpPr>
        <p:spPr>
          <a:xfrm xmlns:a="http://schemas.openxmlformats.org/drawingml/2006/main">
            <a:off x="952500" y="80962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Supabase Auth</a:t>
            </a:r>
          </a:p>
          <a:p xmlns:a="http://schemas.openxmlformats.org/drawingml/2006/main">
            <a:pPr algn="l">
              <a:defRPr sz="2175" b="0">
                <a:solidFill>
                  <a:srgbClr val="A9B8CB"/>
                </a:solidFill>
              </a:defRPr>
            </a:pPr>
            <a:r>
              <a:rPr sz="2175" b="0">
                <a:solidFill>
                  <a:srgbClr val="A9B8CB"/>
                </a:solidFill>
              </a:rPr>
              <a:t>TOTP enrollment supported</a:t>
            </a:r>
          </a:p>
        </p:txBody>
      </p:sp>
      <p:sp>
        <p:nvSpPr>
          <p:cNvPr id="10" name="text-126">
            <a:extLst xmlns:a="http://schemas.openxmlformats.org/drawingml/2006/main">
              <a:ext uri="{FF2B5EF4-FFF2-40B4-BE49-F238E27FC236}">
                <a16:creationId xmlns:a16="http://schemas.microsoft.com/office/drawing/2014/main" id="{7FBFD83C-D73D-4927-996C-FE5899F73A64}"/>
              </a:ext>
            </a:extLst>
          </p:cNvPr>
          <p:cNvSpPr>
            <a:spLocks xmlns:a="http://schemas.openxmlformats.org/drawingml/2006/main" noGrp="1"/>
          </p:cNvSpPr>
          <p:nvPr/>
        </p:nvSpPr>
        <p:spPr>
          <a:xfrm xmlns:a="http://schemas.openxmlformats.org/drawingml/2006/main">
            <a:off x="6477000" y="809625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RLS + role/store checks</a:t>
            </a:r>
          </a:p>
          <a:p xmlns:a="http://schemas.openxmlformats.org/drawingml/2006/main">
            <a:pPr algn="l">
              <a:defRPr sz="2175" b="0">
                <a:solidFill>
                  <a:srgbClr val="A9B8CB"/>
                </a:solidFill>
              </a:defRPr>
            </a:pPr>
            <a:r>
              <a:rPr sz="2175" b="0">
                <a:solidFill>
                  <a:srgbClr val="A9B8CB"/>
                </a:solidFill>
              </a:rPr>
              <a:t>Privileged account functions</a:t>
            </a:r>
          </a:p>
        </p:txBody>
      </p:sp>
      <p:sp>
        <p:nvSpPr>
          <p:cNvPr id="11" name="text-127">
            <a:extLst xmlns:a="http://schemas.openxmlformats.org/drawingml/2006/main">
              <a:ext uri="{FF2B5EF4-FFF2-40B4-BE49-F238E27FC236}">
                <a16:creationId xmlns:a16="http://schemas.microsoft.com/office/drawing/2014/main" id="{06B0C5AC-D346-4AB6-9093-56372D05888E}"/>
              </a:ext>
            </a:extLst>
          </p:cNvPr>
          <p:cNvSpPr>
            <a:spLocks xmlns:a="http://schemas.openxmlformats.org/drawingml/2006/main" noGrp="1"/>
          </p:cNvSpPr>
          <p:nvPr/>
        </p:nvSpPr>
        <p:spPr>
          <a:xfrm xmlns:a="http://schemas.openxmlformats.org/drawingml/2006/main">
            <a:off x="12192000" y="809625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9B8CB"/>
                </a:solidFill>
              </a:defRPr>
            </a:defPPr>
            <a:lvl1pPr algn="l">
              <a:defRPr sz="2175" b="0">
                <a:solidFill>
                  <a:srgbClr val="A9B8CB"/>
                </a:solidFill>
              </a:defRPr>
            </a:lvl1pPr>
            <a:lvl2pPr algn="l">
              <a:defRPr sz="2175" b="0">
                <a:solidFill>
                  <a:srgbClr val="A9B8CB"/>
                </a:solidFill>
              </a:defRPr>
            </a:lvl2pPr>
            <a:lvl3pPr algn="l">
              <a:defRPr sz="2175" b="0">
                <a:solidFill>
                  <a:srgbClr val="A9B8CB"/>
                </a:solidFill>
              </a:defRPr>
            </a:lvl3pPr>
            <a:lvl4pPr algn="l">
              <a:defRPr sz="2175" b="0">
                <a:solidFill>
                  <a:srgbClr val="A9B8CB"/>
                </a:solidFill>
              </a:defRPr>
            </a:lvl4pPr>
            <a:lvl5pPr algn="l">
              <a:defRPr sz="2175" b="0">
                <a:solidFill>
                  <a:srgbClr val="A9B8CB"/>
                </a:solidFill>
              </a:defRPr>
            </a:lvl5pPr>
            <a:lvl6pPr algn="l">
              <a:defRPr sz="2175" b="0">
                <a:solidFill>
                  <a:srgbClr val="A9B8CB"/>
                </a:solidFill>
              </a:defRPr>
            </a:lvl6pPr>
            <a:lvl7pPr algn="l">
              <a:defRPr sz="2175" b="0">
                <a:solidFill>
                  <a:srgbClr val="A9B8CB"/>
                </a:solidFill>
              </a:defRPr>
            </a:lvl7pPr>
            <a:lvl8pPr algn="l">
              <a:defRPr sz="2175" b="0">
                <a:solidFill>
                  <a:srgbClr val="A9B8CB"/>
                </a:solidFill>
              </a:defRPr>
            </a:lvl8pPr>
            <a:lvl9pPr algn="l">
              <a:defRPr sz="2175" b="0">
                <a:solidFill>
                  <a:srgbClr val="A9B8CB"/>
                </a:solidFill>
              </a:defRPr>
            </a:lvl9pPr>
          </a:lstStyle>
          <a:p xmlns:a="http://schemas.openxmlformats.org/drawingml/2006/main">
            <a:pPr algn="l">
              <a:defRPr sz="2175" b="0">
                <a:solidFill>
                  <a:srgbClr val="A9B8CB"/>
                </a:solidFill>
              </a:defRPr>
            </a:pPr>
            <a:r>
              <a:rPr sz="2175" b="0">
                <a:solidFill>
                  <a:srgbClr val="A9B8CB"/>
                </a:solidFill>
              </a:rPr>
              <a:t>AAL2 when a verified</a:t>
            </a:r>
          </a:p>
          <a:p xmlns:a="http://schemas.openxmlformats.org/drawingml/2006/main">
            <a:pPr algn="l">
              <a:defRPr sz="2175" b="0">
                <a:solidFill>
                  <a:srgbClr val="A9B8CB"/>
                </a:solidFill>
              </a:defRPr>
            </a:pPr>
            <a:r>
              <a:rPr sz="2175" b="0">
                <a:solidFill>
                  <a:srgbClr val="A9B8CB"/>
                </a:solidFill>
              </a:rPr>
              <a:t>factor requires it</a:t>
            </a:r>
          </a:p>
        </p:txBody>
      </p:sp>
      <p:sp>
        <p:nvSpPr>
          <p:cNvPr id="12" name="text-128">
            <a:extLst xmlns:a="http://schemas.openxmlformats.org/drawingml/2006/main">
              <a:ext uri="{FF2B5EF4-FFF2-40B4-BE49-F238E27FC236}">
                <a16:creationId xmlns:a16="http://schemas.microsoft.com/office/drawing/2014/main" id="{0658F979-234A-4E1F-933E-69E89B4A1651}"/>
              </a:ext>
            </a:extLst>
          </p:cNvPr>
          <p:cNvSpPr>
            <a:spLocks xmlns:a="http://schemas.openxmlformats.org/drawingml/2006/main" noGrp="1"/>
          </p:cNvSpPr>
          <p:nvPr/>
        </p:nvSpPr>
        <p:spPr>
          <a:xfrm xmlns:a="http://schemas.openxmlformats.org/drawingml/2006/main">
            <a:off x="952500" y="9058275"/>
            <a:ext cx="1638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9B8CB"/>
                </a:solidFill>
              </a:defRPr>
            </a:defPPr>
            <a:lvl1pPr algn="l">
              <a:defRPr sz="1800" b="0">
                <a:solidFill>
                  <a:srgbClr val="A9B8CB"/>
                </a:solidFill>
              </a:defRPr>
            </a:lvl1pPr>
            <a:lvl2pPr algn="l">
              <a:defRPr sz="1800" b="0">
                <a:solidFill>
                  <a:srgbClr val="A9B8CB"/>
                </a:solidFill>
              </a:defRPr>
            </a:lvl2pPr>
            <a:lvl3pPr algn="l">
              <a:defRPr sz="1800" b="0">
                <a:solidFill>
                  <a:srgbClr val="A9B8CB"/>
                </a:solidFill>
              </a:defRPr>
            </a:lvl3pPr>
            <a:lvl4pPr algn="l">
              <a:defRPr sz="1800" b="0">
                <a:solidFill>
                  <a:srgbClr val="A9B8CB"/>
                </a:solidFill>
              </a:defRPr>
            </a:lvl4pPr>
            <a:lvl5pPr algn="l">
              <a:defRPr sz="1800" b="0">
                <a:solidFill>
                  <a:srgbClr val="A9B8CB"/>
                </a:solidFill>
              </a:defRPr>
            </a:lvl5pPr>
            <a:lvl6pPr algn="l">
              <a:defRPr sz="1800" b="0">
                <a:solidFill>
                  <a:srgbClr val="A9B8CB"/>
                </a:solidFill>
              </a:defRPr>
            </a:lvl6pPr>
            <a:lvl7pPr algn="l">
              <a:defRPr sz="1800" b="0">
                <a:solidFill>
                  <a:srgbClr val="A9B8CB"/>
                </a:solidFill>
              </a:defRPr>
            </a:lvl7pPr>
            <a:lvl8pPr algn="l">
              <a:defRPr sz="1800" b="0">
                <a:solidFill>
                  <a:srgbClr val="A9B8CB"/>
                </a:solidFill>
              </a:defRPr>
            </a:lvl8pPr>
            <a:lvl9pPr algn="l">
              <a:defRPr sz="1800" b="0">
                <a:solidFill>
                  <a:srgbClr val="A9B8CB"/>
                </a:solidFill>
              </a:defRPr>
            </a:lvl9pPr>
          </a:lstStyle>
          <a:p xmlns:a="http://schemas.openxmlformats.org/drawingml/2006/main">
            <a:pPr algn="l">
              <a:defRPr sz="1800" b="0">
                <a:solidFill>
                  <a:srgbClr val="A9B8CB"/>
                </a:solidFill>
              </a:defRPr>
            </a:pPr>
            <a:r>
              <a:rPr sz="1800" b="0">
                <a:solidFill>
                  <a:srgbClr val="A9B8CB"/>
                </a:solidFill>
              </a:rPr>
              <a:t>Repository controls are implemented. Live authorization and security evaluation remain to be verified.</a:t>
            </a:r>
          </a:p>
        </p:txBody>
      </p:sp>
    </p:spTree>
    <p:extLst>
      <p:ext uri="{BB962C8B-B14F-4D97-AF65-F5344CB8AC3E}">
        <p14:creationId xmlns:p14="http://schemas.microsoft.com/office/powerpoint/2010/main" val="722465356"/>
      </p:ext>
    </p:extLst>
  </p:cSld>
</p:sld>
</file>

<file path=ppt/slides/slide9.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15" name="text-129">
            <a:extLst xmlns:a="http://schemas.openxmlformats.org/drawingml/2006/main">
              <a:ext uri="{FF2B5EF4-FFF2-40B4-BE49-F238E27FC236}">
                <a16:creationId xmlns:a16="http://schemas.microsoft.com/office/drawing/2014/main" id="{0845E4BE-28C7-46D2-9CB1-894D69807C3E}"/>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Development and testing</a:t>
            </a:r>
          </a:p>
        </p:txBody>
      </p:sp>
      <p:sp>
        <p:nvSpPr>
          <p:cNvPr id="2" name="text-130">
            <a:extLst xmlns:a="http://schemas.openxmlformats.org/drawingml/2006/main">
              <a:ext uri="{FF2B5EF4-FFF2-40B4-BE49-F238E27FC236}">
                <a16:creationId xmlns:a16="http://schemas.microsoft.com/office/drawing/2014/main" id="{9C5350B1-CEE2-4045-9E93-EAC20B9FE570}"/>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3</a:t>
            </a:r>
          </a:p>
        </p:txBody>
      </p:sp>
      <p:sp>
        <p:nvSpPr>
          <p:cNvPr id="3" name="text-131">
            <a:extLst xmlns:a="http://schemas.openxmlformats.org/drawingml/2006/main">
              <a:ext uri="{FF2B5EF4-FFF2-40B4-BE49-F238E27FC236}">
                <a16:creationId xmlns:a16="http://schemas.microsoft.com/office/drawing/2014/main" id="{64789B4C-F254-4D8A-B384-164CDADD0AD5}"/>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09</a:t>
            </a:r>
          </a:p>
        </p:txBody>
      </p:sp>
      <p:sp>
        <p:nvSpPr>
          <p:cNvPr id="4" name="text-132">
            <a:extLst xmlns:a="http://schemas.openxmlformats.org/drawingml/2006/main">
              <a:ext uri="{FF2B5EF4-FFF2-40B4-BE49-F238E27FC236}">
                <a16:creationId xmlns:a16="http://schemas.microsoft.com/office/drawing/2014/main" id="{A813FF30-6C27-4DA4-8BF9-ECC116290D2B}"/>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Manuscript methodology: Agile Scrum</a:t>
            </a:r>
          </a:p>
        </p:txBody>
      </p:sp>
      <p:sp>
        <p:nvSpPr>
          <p:cNvPr id="5" name="text-133">
            <a:extLst xmlns:a="http://schemas.openxmlformats.org/drawingml/2006/main">
              <a:ext uri="{FF2B5EF4-FFF2-40B4-BE49-F238E27FC236}">
                <a16:creationId xmlns:a16="http://schemas.microsoft.com/office/drawing/2014/main" id="{A5E0390D-6F70-4EE6-BECA-D14B7ED43953}"/>
              </a:ext>
            </a:extLst>
          </p:cNvPr>
          <p:cNvSpPr>
            <a:spLocks xmlns:a="http://schemas.openxmlformats.org/drawingml/2006/main" noGrp="1"/>
          </p:cNvSpPr>
          <p:nvPr/>
        </p:nvSpPr>
        <p:spPr>
          <a:xfrm xmlns:a="http://schemas.openxmlformats.org/drawingml/2006/main">
            <a:off x="952500" y="2762250"/>
            <a:ext cx="1638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60A5FA"/>
                </a:solidFill>
              </a:defRPr>
            </a:defPPr>
            <a:lvl1pPr algn="l">
              <a:defRPr sz="2925" b="1">
                <a:solidFill>
                  <a:srgbClr val="60A5FA"/>
                </a:solidFill>
              </a:defRPr>
            </a:lvl1pPr>
            <a:lvl2pPr algn="l">
              <a:defRPr sz="2925" b="1">
                <a:solidFill>
                  <a:srgbClr val="60A5FA"/>
                </a:solidFill>
              </a:defRPr>
            </a:lvl2pPr>
            <a:lvl3pPr algn="l">
              <a:defRPr sz="2925" b="1">
                <a:solidFill>
                  <a:srgbClr val="60A5FA"/>
                </a:solidFill>
              </a:defRPr>
            </a:lvl3pPr>
            <a:lvl4pPr algn="l">
              <a:defRPr sz="2925" b="1">
                <a:solidFill>
                  <a:srgbClr val="60A5FA"/>
                </a:solidFill>
              </a:defRPr>
            </a:lvl4pPr>
            <a:lvl5pPr algn="l">
              <a:defRPr sz="2925" b="1">
                <a:solidFill>
                  <a:srgbClr val="60A5FA"/>
                </a:solidFill>
              </a:defRPr>
            </a:lvl5pPr>
            <a:lvl6pPr algn="l">
              <a:defRPr sz="2925" b="1">
                <a:solidFill>
                  <a:srgbClr val="60A5FA"/>
                </a:solidFill>
              </a:defRPr>
            </a:lvl6pPr>
            <a:lvl7pPr algn="l">
              <a:defRPr sz="2925" b="1">
                <a:solidFill>
                  <a:srgbClr val="60A5FA"/>
                </a:solidFill>
              </a:defRPr>
            </a:lvl7pPr>
            <a:lvl8pPr algn="l">
              <a:defRPr sz="2925" b="1">
                <a:solidFill>
                  <a:srgbClr val="60A5FA"/>
                </a:solidFill>
              </a:defRPr>
            </a:lvl8pPr>
            <a:lvl9pPr algn="l">
              <a:defRPr sz="2925" b="1">
                <a:solidFill>
                  <a:srgbClr val="60A5FA"/>
                </a:solidFill>
              </a:defRPr>
            </a:lvl9pPr>
          </a:lstStyle>
          <a:p xmlns:a="http://schemas.openxmlformats.org/drawingml/2006/main">
            <a:pPr algn="l">
              <a:defRPr sz="2925" b="1">
                <a:solidFill>
                  <a:srgbClr val="60A5FA"/>
                </a:solidFill>
              </a:defRPr>
            </a:pPr>
            <a:r>
              <a:rPr sz="2925" b="1">
                <a:solidFill>
                  <a:srgbClr val="60A5FA"/>
                </a:solidFill>
              </a:rPr>
              <a:t>Plan   /   Design   /   Develop   /   Test   /   Deploy   /   Review</a:t>
            </a:r>
          </a:p>
        </p:txBody>
      </p:sp>
      <p:sp>
        <p:nvSpPr>
          <p:cNvPr id="6" name="rule-134">
            <a:extLst xmlns:a="http://schemas.openxmlformats.org/drawingml/2006/main">
              <a:ext uri="{FF2B5EF4-FFF2-40B4-BE49-F238E27FC236}">
                <a16:creationId xmlns:a16="http://schemas.microsoft.com/office/drawing/2014/main" id="{D819693A-CAB9-4BE5-8256-83683E97C6FB}"/>
              </a:ext>
            </a:extLst>
          </p:cNvPr>
          <p:cNvSpPr>
            <a:spLocks xmlns:a="http://schemas.openxmlformats.org/drawingml/2006/main" noGrp="1"/>
          </p:cNvSpPr>
          <p:nvPr/>
        </p:nvSpPr>
        <p:spPr>
          <a:xfrm xmlns:a="http://schemas.openxmlformats.org/drawingml/2006/main">
            <a:off x="952500" y="3800475"/>
            <a:ext cx="16383000" cy="0"/>
          </a:xfrm>
          <a:prstGeom xmlns:a="http://schemas.openxmlformats.org/drawingml/2006/main" prst="line">
            <a:avLst/>
          </a:prstGeom>
          <a:ln xmlns:a="http://schemas.openxmlformats.org/drawingml/2006/main" w="19050">
            <a:solidFill>
              <a:srgbClr val="334155"/>
            </a:solidFill>
            <a:prstDash val="solid"/>
          </a:ln>
        </p:spPr>
      </p:sp>
      <p:sp>
        <p:nvSpPr>
          <p:cNvPr id="7" name="text-135">
            <a:extLst xmlns:a="http://schemas.openxmlformats.org/drawingml/2006/main">
              <a:ext uri="{FF2B5EF4-FFF2-40B4-BE49-F238E27FC236}">
                <a16:creationId xmlns:a16="http://schemas.microsoft.com/office/drawing/2014/main" id="{2C6DA696-EDC0-484F-AE96-45AA793E0FA7}"/>
              </a:ext>
            </a:extLst>
          </p:cNvPr>
          <p:cNvSpPr>
            <a:spLocks xmlns:a="http://schemas.openxmlformats.org/drawingml/2006/main" noGrp="1"/>
          </p:cNvSpPr>
          <p:nvPr/>
        </p:nvSpPr>
        <p:spPr>
          <a:xfrm xmlns:a="http://schemas.openxmlformats.org/drawingml/2006/main">
            <a:off x="952500" y="438150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F8FAFC"/>
                </a:solidFill>
              </a:defRPr>
            </a:defPPr>
            <a:lvl1pPr algn="l">
              <a:defRPr sz="2925" b="1">
                <a:solidFill>
                  <a:srgbClr val="F8FAFC"/>
                </a:solidFill>
              </a:defRPr>
            </a:lvl1pPr>
            <a:lvl2pPr algn="l">
              <a:defRPr sz="2925" b="1">
                <a:solidFill>
                  <a:srgbClr val="F8FAFC"/>
                </a:solidFill>
              </a:defRPr>
            </a:lvl2pPr>
            <a:lvl3pPr algn="l">
              <a:defRPr sz="2925" b="1">
                <a:solidFill>
                  <a:srgbClr val="F8FAFC"/>
                </a:solidFill>
              </a:defRPr>
            </a:lvl3pPr>
            <a:lvl4pPr algn="l">
              <a:defRPr sz="2925" b="1">
                <a:solidFill>
                  <a:srgbClr val="F8FAFC"/>
                </a:solidFill>
              </a:defRPr>
            </a:lvl4pPr>
            <a:lvl5pPr algn="l">
              <a:defRPr sz="2925" b="1">
                <a:solidFill>
                  <a:srgbClr val="F8FAFC"/>
                </a:solidFill>
              </a:defRPr>
            </a:lvl5pPr>
            <a:lvl6pPr algn="l">
              <a:defRPr sz="2925" b="1">
                <a:solidFill>
                  <a:srgbClr val="F8FAFC"/>
                </a:solidFill>
              </a:defRPr>
            </a:lvl6pPr>
            <a:lvl7pPr algn="l">
              <a:defRPr sz="2925" b="1">
                <a:solidFill>
                  <a:srgbClr val="F8FAFC"/>
                </a:solidFill>
              </a:defRPr>
            </a:lvl7pPr>
            <a:lvl8pPr algn="l">
              <a:defRPr sz="2925" b="1">
                <a:solidFill>
                  <a:srgbClr val="F8FAFC"/>
                </a:solidFill>
              </a:defRPr>
            </a:lvl8pPr>
            <a:lvl9pPr algn="l">
              <a:defRPr sz="2925" b="1">
                <a:solidFill>
                  <a:srgbClr val="F8FAFC"/>
                </a:solidFill>
              </a:defRPr>
            </a:lvl9pPr>
          </a:lstStyle>
          <a:p xmlns:a="http://schemas.openxmlformats.org/drawingml/2006/main">
            <a:pPr algn="l">
              <a:defRPr sz="2925" b="1">
                <a:solidFill>
                  <a:srgbClr val="F8FAFC"/>
                </a:solidFill>
              </a:defRPr>
            </a:pPr>
            <a:r>
              <a:rPr sz="2925" b="1">
                <a:solidFill>
                  <a:srgbClr val="F8FAFC"/>
                </a:solidFill>
              </a:rPr>
              <a:t>Verified locally</a:t>
            </a:r>
          </a:p>
        </p:txBody>
      </p:sp>
      <p:sp>
        <p:nvSpPr>
          <p:cNvPr id="8" name="text-136">
            <a:extLst xmlns:a="http://schemas.openxmlformats.org/drawingml/2006/main">
              <a:ext uri="{FF2B5EF4-FFF2-40B4-BE49-F238E27FC236}">
                <a16:creationId xmlns:a16="http://schemas.microsoft.com/office/drawing/2014/main" id="{3F48B4B3-6DB2-4E4A-A637-760D323A23D3}"/>
              </a:ext>
            </a:extLst>
          </p:cNvPr>
          <p:cNvSpPr>
            <a:spLocks xmlns:a="http://schemas.openxmlformats.org/drawingml/2006/main" noGrp="1"/>
          </p:cNvSpPr>
          <p:nvPr/>
        </p:nvSpPr>
        <p:spPr>
          <a:xfrm xmlns:a="http://schemas.openxmlformats.org/drawingml/2006/main">
            <a:off x="9906000" y="438150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F8FAFC"/>
                </a:solidFill>
              </a:defRPr>
            </a:defPPr>
            <a:lvl1pPr algn="l">
              <a:defRPr sz="2925" b="1">
                <a:solidFill>
                  <a:srgbClr val="F8FAFC"/>
                </a:solidFill>
              </a:defRPr>
            </a:lvl1pPr>
            <a:lvl2pPr algn="l">
              <a:defRPr sz="2925" b="1">
                <a:solidFill>
                  <a:srgbClr val="F8FAFC"/>
                </a:solidFill>
              </a:defRPr>
            </a:lvl2pPr>
            <a:lvl3pPr algn="l">
              <a:defRPr sz="2925" b="1">
                <a:solidFill>
                  <a:srgbClr val="F8FAFC"/>
                </a:solidFill>
              </a:defRPr>
            </a:lvl3pPr>
            <a:lvl4pPr algn="l">
              <a:defRPr sz="2925" b="1">
                <a:solidFill>
                  <a:srgbClr val="F8FAFC"/>
                </a:solidFill>
              </a:defRPr>
            </a:lvl4pPr>
            <a:lvl5pPr algn="l">
              <a:defRPr sz="2925" b="1">
                <a:solidFill>
                  <a:srgbClr val="F8FAFC"/>
                </a:solidFill>
              </a:defRPr>
            </a:lvl5pPr>
            <a:lvl6pPr algn="l">
              <a:defRPr sz="2925" b="1">
                <a:solidFill>
                  <a:srgbClr val="F8FAFC"/>
                </a:solidFill>
              </a:defRPr>
            </a:lvl6pPr>
            <a:lvl7pPr algn="l">
              <a:defRPr sz="2925" b="1">
                <a:solidFill>
                  <a:srgbClr val="F8FAFC"/>
                </a:solidFill>
              </a:defRPr>
            </a:lvl7pPr>
            <a:lvl8pPr algn="l">
              <a:defRPr sz="2925" b="1">
                <a:solidFill>
                  <a:srgbClr val="F8FAFC"/>
                </a:solidFill>
              </a:defRPr>
            </a:lvl8pPr>
            <a:lvl9pPr algn="l">
              <a:defRPr sz="2925" b="1">
                <a:solidFill>
                  <a:srgbClr val="F8FAFC"/>
                </a:solidFill>
              </a:defRPr>
            </a:lvl9pPr>
          </a:lstStyle>
          <a:p xmlns:a="http://schemas.openxmlformats.org/drawingml/2006/main">
            <a:pPr algn="l">
              <a:defRPr sz="2925" b="1">
                <a:solidFill>
                  <a:srgbClr val="F8FAFC"/>
                </a:solidFill>
              </a:defRPr>
            </a:pPr>
            <a:r>
              <a:rPr sz="2925" b="1">
                <a:solidFill>
                  <a:srgbClr val="F8FAFC"/>
                </a:solidFill>
              </a:rPr>
              <a:t>Pending live evidence</a:t>
            </a:r>
          </a:p>
        </p:txBody>
      </p:sp>
      <p:sp>
        <p:nvSpPr>
          <p:cNvPr id="9" name="text-137">
            <a:extLst xmlns:a="http://schemas.openxmlformats.org/drawingml/2006/main">
              <a:ext uri="{FF2B5EF4-FFF2-40B4-BE49-F238E27FC236}">
                <a16:creationId xmlns:a16="http://schemas.microsoft.com/office/drawing/2014/main" id="{91FB55DD-5D19-4368-9F78-59A0824A72F3}"/>
              </a:ext>
            </a:extLst>
          </p:cNvPr>
          <p:cNvSpPr>
            <a:spLocks xmlns:a="http://schemas.openxmlformats.org/drawingml/2006/main" noGrp="1"/>
          </p:cNvSpPr>
          <p:nvPr/>
        </p:nvSpPr>
        <p:spPr>
          <a:xfrm xmlns:a="http://schemas.openxmlformats.org/drawingml/2006/main">
            <a:off x="952500" y="5191125"/>
            <a:ext cx="571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500" b="1">
                <a:solidFill>
                  <a:srgbClr val="22D3EE"/>
                </a:solidFill>
              </a:defRPr>
            </a:defPPr>
            <a:lvl1pPr algn="l">
              <a:defRPr sz="7500" b="1">
                <a:solidFill>
                  <a:srgbClr val="22D3EE"/>
                </a:solidFill>
              </a:defRPr>
            </a:lvl1pPr>
            <a:lvl2pPr algn="l">
              <a:defRPr sz="7500" b="1">
                <a:solidFill>
                  <a:srgbClr val="22D3EE"/>
                </a:solidFill>
              </a:defRPr>
            </a:lvl2pPr>
            <a:lvl3pPr algn="l">
              <a:defRPr sz="7500" b="1">
                <a:solidFill>
                  <a:srgbClr val="22D3EE"/>
                </a:solidFill>
              </a:defRPr>
            </a:lvl3pPr>
            <a:lvl4pPr algn="l">
              <a:defRPr sz="7500" b="1">
                <a:solidFill>
                  <a:srgbClr val="22D3EE"/>
                </a:solidFill>
              </a:defRPr>
            </a:lvl4pPr>
            <a:lvl5pPr algn="l">
              <a:defRPr sz="7500" b="1">
                <a:solidFill>
                  <a:srgbClr val="22D3EE"/>
                </a:solidFill>
              </a:defRPr>
            </a:lvl5pPr>
            <a:lvl6pPr algn="l">
              <a:defRPr sz="7500" b="1">
                <a:solidFill>
                  <a:srgbClr val="22D3EE"/>
                </a:solidFill>
              </a:defRPr>
            </a:lvl6pPr>
            <a:lvl7pPr algn="l">
              <a:defRPr sz="7500" b="1">
                <a:solidFill>
                  <a:srgbClr val="22D3EE"/>
                </a:solidFill>
              </a:defRPr>
            </a:lvl7pPr>
            <a:lvl8pPr algn="l">
              <a:defRPr sz="7500" b="1">
                <a:solidFill>
                  <a:srgbClr val="22D3EE"/>
                </a:solidFill>
              </a:defRPr>
            </a:lvl8pPr>
            <a:lvl9pPr algn="l">
              <a:defRPr sz="7500" b="1">
                <a:solidFill>
                  <a:srgbClr val="22D3EE"/>
                </a:solidFill>
              </a:defRPr>
            </a:lvl9pPr>
          </a:lstStyle>
          <a:p xmlns:a="http://schemas.openxmlformats.org/drawingml/2006/main">
            <a:pPr algn="l">
              <a:defRPr sz="7500" b="1">
                <a:solidFill>
                  <a:srgbClr val="22D3EE"/>
                </a:solidFill>
              </a:defRPr>
            </a:pPr>
            <a:r>
              <a:rPr sz="7500" b="1">
                <a:solidFill>
                  <a:srgbClr val="22D3EE"/>
                </a:solidFill>
              </a:rPr>
              <a:t>7 / 7</a:t>
            </a:r>
          </a:p>
        </p:txBody>
      </p:sp>
      <p:sp>
        <p:nvSpPr>
          <p:cNvPr id="10" name="text-138">
            <a:extLst xmlns:a="http://schemas.openxmlformats.org/drawingml/2006/main">
              <a:ext uri="{FF2B5EF4-FFF2-40B4-BE49-F238E27FC236}">
                <a16:creationId xmlns:a16="http://schemas.microsoft.com/office/drawing/2014/main" id="{AA844913-EE81-47C0-B9A0-94408B03667F}"/>
              </a:ext>
            </a:extLst>
          </p:cNvPr>
          <p:cNvSpPr>
            <a:spLocks xmlns:a="http://schemas.openxmlformats.org/drawingml/2006/main" noGrp="1"/>
          </p:cNvSpPr>
          <p:nvPr/>
        </p:nvSpPr>
        <p:spPr>
          <a:xfrm xmlns:a="http://schemas.openxmlformats.org/drawingml/2006/main">
            <a:off x="952500" y="652462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F8FAFC"/>
                </a:solidFill>
              </a:defRPr>
            </a:defPPr>
            <a:lvl1pPr algn="l">
              <a:defRPr sz="2475" b="0">
                <a:solidFill>
                  <a:srgbClr val="F8FAFC"/>
                </a:solidFill>
              </a:defRPr>
            </a:lvl1pPr>
            <a:lvl2pPr algn="l">
              <a:defRPr sz="2475" b="0">
                <a:solidFill>
                  <a:srgbClr val="F8FAFC"/>
                </a:solidFill>
              </a:defRPr>
            </a:lvl2pPr>
            <a:lvl3pPr algn="l">
              <a:defRPr sz="2475" b="0">
                <a:solidFill>
                  <a:srgbClr val="F8FAFC"/>
                </a:solidFill>
              </a:defRPr>
            </a:lvl3pPr>
            <a:lvl4pPr algn="l">
              <a:defRPr sz="2475" b="0">
                <a:solidFill>
                  <a:srgbClr val="F8FAFC"/>
                </a:solidFill>
              </a:defRPr>
            </a:lvl4pPr>
            <a:lvl5pPr algn="l">
              <a:defRPr sz="2475" b="0">
                <a:solidFill>
                  <a:srgbClr val="F8FAFC"/>
                </a:solidFill>
              </a:defRPr>
            </a:lvl5pPr>
            <a:lvl6pPr algn="l">
              <a:defRPr sz="2475" b="0">
                <a:solidFill>
                  <a:srgbClr val="F8FAFC"/>
                </a:solidFill>
              </a:defRPr>
            </a:lvl6pPr>
            <a:lvl7pPr algn="l">
              <a:defRPr sz="2475" b="0">
                <a:solidFill>
                  <a:srgbClr val="F8FAFC"/>
                </a:solidFill>
              </a:defRPr>
            </a:lvl7pPr>
            <a:lvl8pPr algn="l">
              <a:defRPr sz="2475" b="0">
                <a:solidFill>
                  <a:srgbClr val="F8FAFC"/>
                </a:solidFill>
              </a:defRPr>
            </a:lvl8pPr>
            <a:lvl9pPr algn="l">
              <a:defRPr sz="2475" b="0">
                <a:solidFill>
                  <a:srgbClr val="F8FAFC"/>
                </a:solidFill>
              </a:defRPr>
            </a:lvl9pPr>
          </a:lstStyle>
          <a:p xmlns:a="http://schemas.openxmlformats.org/drawingml/2006/main">
            <a:pPr algn="l">
              <a:defRPr sz="2475" b="0">
                <a:solidFill>
                  <a:srgbClr val="F8FAFC"/>
                </a:solidFill>
              </a:defRPr>
            </a:pPr>
            <a:r>
              <a:rPr sz="2475" b="0">
                <a:solidFill>
                  <a:srgbClr val="F8FAFC"/>
                </a:solidFill>
              </a:rPr>
              <a:t>reporting unit tests passed</a:t>
            </a:r>
          </a:p>
        </p:txBody>
      </p:sp>
      <p:sp>
        <p:nvSpPr>
          <p:cNvPr id="11" name="text-139">
            <a:extLst xmlns:a="http://schemas.openxmlformats.org/drawingml/2006/main">
              <a:ext uri="{FF2B5EF4-FFF2-40B4-BE49-F238E27FC236}">
                <a16:creationId xmlns:a16="http://schemas.microsoft.com/office/drawing/2014/main" id="{7084F9DA-AB41-4FA9-94E9-CB33CA215795}"/>
              </a:ext>
            </a:extLst>
          </p:cNvPr>
          <p:cNvSpPr>
            <a:spLocks xmlns:a="http://schemas.openxmlformats.org/drawingml/2006/main" noGrp="1"/>
          </p:cNvSpPr>
          <p:nvPr/>
        </p:nvSpPr>
        <p:spPr>
          <a:xfrm xmlns:a="http://schemas.openxmlformats.org/drawingml/2006/main">
            <a:off x="952500" y="738187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TypeScript check: passed</a:t>
            </a:r>
          </a:p>
          <a:p xmlns:a="http://schemas.openxmlformats.org/drawingml/2006/main">
            <a:pPr algn="l">
              <a:defRPr sz="2550" b="0">
                <a:solidFill>
                  <a:srgbClr val="A9B8CB"/>
                </a:solidFill>
              </a:defRPr>
            </a:pPr>
            <a:r>
              <a:rPr sz="2550" b="0">
                <a:solidFill>
                  <a:srgbClr val="A9B8CB"/>
                </a:solidFill>
              </a:rPr>
              <a:t>ESLint check: passed</a:t>
            </a:r>
          </a:p>
        </p:txBody>
      </p:sp>
      <p:sp>
        <p:nvSpPr>
          <p:cNvPr id="12" name="text-140">
            <a:extLst xmlns:a="http://schemas.openxmlformats.org/drawingml/2006/main">
              <a:ext uri="{FF2B5EF4-FFF2-40B4-BE49-F238E27FC236}">
                <a16:creationId xmlns:a16="http://schemas.microsoft.com/office/drawing/2014/main" id="{FC35D04B-927E-4DE2-9DA4-1CD0E7D872C3}"/>
              </a:ext>
            </a:extLst>
          </p:cNvPr>
          <p:cNvSpPr>
            <a:spLocks xmlns:a="http://schemas.openxmlformats.org/drawingml/2006/main" noGrp="1"/>
          </p:cNvSpPr>
          <p:nvPr/>
        </p:nvSpPr>
        <p:spPr>
          <a:xfrm xmlns:a="http://schemas.openxmlformats.org/drawingml/2006/main">
            <a:off x="9906000" y="5381625"/>
            <a:ext cx="7429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Checkout, stock and RLS integration</a:t>
            </a:r>
          </a:p>
          <a:p xmlns:a="http://schemas.openxmlformats.org/drawingml/2006/main">
            <a:pPr algn="l">
              <a:defRPr sz="2550" b="0">
                <a:solidFill>
                  <a:srgbClr val="A9B8CB"/>
                </a:solidFill>
              </a:defRPr>
            </a:pPr>
            <a:r>
              <a:rPr sz="2550" b="0">
                <a:solidFill>
                  <a:srgbClr val="A9B8CB"/>
                </a:solidFill>
              </a:rPr>
              <a:t>MFA and deployed migration checks</a:t>
            </a:r>
          </a:p>
          <a:p xmlns:a="http://schemas.openxmlformats.org/drawingml/2006/main">
            <a:pPr algn="l">
              <a:defRPr sz="2550" b="0">
                <a:solidFill>
                  <a:srgbClr val="A9B8CB"/>
                </a:solidFill>
              </a:defRPr>
            </a:pPr>
            <a:r>
              <a:rPr sz="2550" b="0">
                <a:solidFill>
                  <a:srgbClr val="A9B8CB"/>
                </a:solidFill>
              </a:rPr>
              <a:t>Intended-user acceptability evaluation</a:t>
            </a:r>
          </a:p>
        </p:txBody>
      </p:sp>
      <p:sp>
        <p:nvSpPr>
          <p:cNvPr id="13" name="text-141">
            <a:extLst xmlns:a="http://schemas.openxmlformats.org/drawingml/2006/main">
              <a:ext uri="{FF2B5EF4-FFF2-40B4-BE49-F238E27FC236}">
                <a16:creationId xmlns:a16="http://schemas.microsoft.com/office/drawing/2014/main" id="{3B76B8F5-C7F3-4484-BFB8-9B3C627E18A4}"/>
              </a:ext>
            </a:extLst>
          </p:cNvPr>
          <p:cNvSpPr>
            <a:spLocks xmlns:a="http://schemas.openxmlformats.org/drawingml/2006/main" noGrp="1"/>
          </p:cNvSpPr>
          <p:nvPr/>
        </p:nvSpPr>
        <p:spPr>
          <a:xfrm xmlns:a="http://schemas.openxmlformats.org/drawingml/2006/main">
            <a:off x="9906000" y="8010525"/>
            <a:ext cx="733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BBF24"/>
                </a:solidFill>
              </a:defRPr>
            </a:defPPr>
            <a:lvl1pPr algn="l">
              <a:defRPr sz="2100" b="0">
                <a:solidFill>
                  <a:srgbClr val="FBBF24"/>
                </a:solidFill>
              </a:defRPr>
            </a:lvl1pPr>
            <a:lvl2pPr algn="l">
              <a:defRPr sz="2100" b="0">
                <a:solidFill>
                  <a:srgbClr val="FBBF24"/>
                </a:solidFill>
              </a:defRPr>
            </a:lvl2pPr>
            <a:lvl3pPr algn="l">
              <a:defRPr sz="2100" b="0">
                <a:solidFill>
                  <a:srgbClr val="FBBF24"/>
                </a:solidFill>
              </a:defRPr>
            </a:lvl3pPr>
            <a:lvl4pPr algn="l">
              <a:defRPr sz="2100" b="0">
                <a:solidFill>
                  <a:srgbClr val="FBBF24"/>
                </a:solidFill>
              </a:defRPr>
            </a:lvl4pPr>
            <a:lvl5pPr algn="l">
              <a:defRPr sz="2100" b="0">
                <a:solidFill>
                  <a:srgbClr val="FBBF24"/>
                </a:solidFill>
              </a:defRPr>
            </a:lvl5pPr>
            <a:lvl6pPr algn="l">
              <a:defRPr sz="2100" b="0">
                <a:solidFill>
                  <a:srgbClr val="FBBF24"/>
                </a:solidFill>
              </a:defRPr>
            </a:lvl6pPr>
            <a:lvl7pPr algn="l">
              <a:defRPr sz="2100" b="0">
                <a:solidFill>
                  <a:srgbClr val="FBBF24"/>
                </a:solidFill>
              </a:defRPr>
            </a:lvl7pPr>
            <a:lvl8pPr algn="l">
              <a:defRPr sz="2100" b="0">
                <a:solidFill>
                  <a:srgbClr val="FBBF24"/>
                </a:solidFill>
              </a:defRPr>
            </a:lvl8pPr>
            <a:lvl9pPr algn="l">
              <a:defRPr sz="2100" b="0">
                <a:solidFill>
                  <a:srgbClr val="FBBF24"/>
                </a:solidFill>
              </a:defRPr>
            </a:lvl9pPr>
          </a:lstStyle>
          <a:p xmlns:a="http://schemas.openxmlformats.org/drawingml/2006/main">
            <a:pPr algn="l">
              <a:defRPr sz="2100" b="0">
                <a:solidFill>
                  <a:srgbClr val="FBBF24"/>
                </a:solidFill>
              </a:defRPr>
            </a:pPr>
            <a:r>
              <a:rPr sz="2100" b="0">
                <a:solidFill>
                  <a:srgbClr val="FBBF24"/>
                </a:solidFill>
              </a:rPr>
              <a:t>Integration harness exists but was not run. It creates and deletes records. CI can skip it.</a:t>
            </a:r>
          </a:p>
        </p:txBody>
      </p:sp>
      <p:sp>
        <p:nvSpPr>
          <p:cNvPr id="14" name="text-142">
            <a:extLst xmlns:a="http://schemas.openxmlformats.org/drawingml/2006/main">
              <a:ext uri="{FF2B5EF4-FFF2-40B4-BE49-F238E27FC236}">
                <a16:creationId xmlns:a16="http://schemas.microsoft.com/office/drawing/2014/main" id="{EF3CE1DA-46D4-4D32-8B7C-81C5C91AA729}"/>
              </a:ext>
            </a:extLst>
          </p:cNvPr>
          <p:cNvSpPr>
            <a:spLocks xmlns:a="http://schemas.openxmlformats.org/drawingml/2006/main" noGrp="1"/>
          </p:cNvSpPr>
          <p:nvPr/>
        </p:nvSpPr>
        <p:spPr>
          <a:xfrm xmlns:a="http://schemas.openxmlformats.org/drawingml/2006/main">
            <a:off x="952500" y="9067800"/>
            <a:ext cx="1638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9B8CB"/>
                </a:solidFill>
              </a:defRPr>
            </a:defPPr>
            <a:lvl1pPr algn="l">
              <a:defRPr sz="1800" b="0">
                <a:solidFill>
                  <a:srgbClr val="A9B8CB"/>
                </a:solidFill>
              </a:defRPr>
            </a:lvl1pPr>
            <a:lvl2pPr algn="l">
              <a:defRPr sz="1800" b="0">
                <a:solidFill>
                  <a:srgbClr val="A9B8CB"/>
                </a:solidFill>
              </a:defRPr>
            </a:lvl2pPr>
            <a:lvl3pPr algn="l">
              <a:defRPr sz="1800" b="0">
                <a:solidFill>
                  <a:srgbClr val="A9B8CB"/>
                </a:solidFill>
              </a:defRPr>
            </a:lvl3pPr>
            <a:lvl4pPr algn="l">
              <a:defRPr sz="1800" b="0">
                <a:solidFill>
                  <a:srgbClr val="A9B8CB"/>
                </a:solidFill>
              </a:defRPr>
            </a:lvl4pPr>
            <a:lvl5pPr algn="l">
              <a:defRPr sz="1800" b="0">
                <a:solidFill>
                  <a:srgbClr val="A9B8CB"/>
                </a:solidFill>
              </a:defRPr>
            </a:lvl5pPr>
            <a:lvl6pPr algn="l">
              <a:defRPr sz="1800" b="0">
                <a:solidFill>
                  <a:srgbClr val="A9B8CB"/>
                </a:solidFill>
              </a:defRPr>
            </a:lvl6pPr>
            <a:lvl7pPr algn="l">
              <a:defRPr sz="1800" b="0">
                <a:solidFill>
                  <a:srgbClr val="A9B8CB"/>
                </a:solidFill>
              </a:defRPr>
            </a:lvl7pPr>
            <a:lvl8pPr algn="l">
              <a:defRPr sz="1800" b="0">
                <a:solidFill>
                  <a:srgbClr val="A9B8CB"/>
                </a:solidFill>
              </a:defRPr>
            </a:lvl8pPr>
            <a:lvl9pPr algn="l">
              <a:defRPr sz="1800" b="0">
                <a:solidFill>
                  <a:srgbClr val="A9B8CB"/>
                </a:solidFill>
              </a:defRPr>
            </a:lvl9pPr>
          </a:lstStyle>
          <a:p xmlns:a="http://schemas.openxmlformats.org/drawingml/2006/main">
            <a:pPr algn="l">
              <a:defRPr sz="1800" b="0">
                <a:solidFill>
                  <a:srgbClr val="A9B8CB"/>
                </a:solidFill>
              </a:defRPr>
            </a:pPr>
            <a:r>
              <a:rPr sz="1800" b="0">
                <a:solidFill>
                  <a:srgbClr val="A9B8CB"/>
                </a:solidFill>
              </a:rPr>
              <a:t>Local results: 20 October 2026. Unit results do not establish end-to-end readiness or ISO compliance.</a:t>
            </a:r>
          </a:p>
        </p:txBody>
      </p:sp>
    </p:spTree>
    <p:extLst>
      <p:ext uri="{BB962C8B-B14F-4D97-AF65-F5344CB8AC3E}">
        <p14:creationId xmlns:p14="http://schemas.microsoft.com/office/powerpoint/2010/main" val="471418729"/>
      </p:ext>
    </p:extLst>
  </p:cSld>
</p:sld>
</file>

<file path=ppt/slides/slide10.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28" name="text-143">
            <a:extLst xmlns:a="http://schemas.openxmlformats.org/drawingml/2006/main">
              <a:ext uri="{FF2B5EF4-FFF2-40B4-BE49-F238E27FC236}">
                <a16:creationId xmlns:a16="http://schemas.microsoft.com/office/drawing/2014/main" id="{EF2E9328-D4DF-4E8B-9275-46E2895255EC}"/>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System readiness and demonstration plan</a:t>
            </a:r>
          </a:p>
        </p:txBody>
      </p:sp>
      <p:sp>
        <p:nvSpPr>
          <p:cNvPr id="2" name="text-144">
            <a:extLst xmlns:a="http://schemas.openxmlformats.org/drawingml/2006/main">
              <a:ext uri="{FF2B5EF4-FFF2-40B4-BE49-F238E27FC236}">
                <a16:creationId xmlns:a16="http://schemas.microsoft.com/office/drawing/2014/main" id="{3D14A4C1-E9D2-409C-B3C8-C31152B29680}"/>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3</a:t>
            </a:r>
          </a:p>
        </p:txBody>
      </p:sp>
      <p:sp>
        <p:nvSpPr>
          <p:cNvPr id="3" name="text-145">
            <a:extLst xmlns:a="http://schemas.openxmlformats.org/drawingml/2006/main">
              <a:ext uri="{FF2B5EF4-FFF2-40B4-BE49-F238E27FC236}">
                <a16:creationId xmlns:a16="http://schemas.microsoft.com/office/drawing/2014/main" id="{474B72D0-8BEF-4A8D-8B2F-40F091D04AE2}"/>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10</a:t>
            </a:r>
          </a:p>
        </p:txBody>
      </p:sp>
      <p:sp>
        <p:nvSpPr>
          <p:cNvPr id="4" name="text-146">
            <a:extLst xmlns:a="http://schemas.openxmlformats.org/drawingml/2006/main">
              <a:ext uri="{FF2B5EF4-FFF2-40B4-BE49-F238E27FC236}">
                <a16:creationId xmlns:a16="http://schemas.microsoft.com/office/drawing/2014/main" id="{CD37C796-EEF2-4715-B89C-5F647EA0EEC5}"/>
              </a:ext>
            </a:extLst>
          </p:cNvPr>
          <p:cNvSpPr>
            <a:spLocks xmlns:a="http://schemas.openxmlformats.org/drawingml/2006/main" noGrp="1"/>
          </p:cNvSpPr>
          <p:nvPr/>
        </p:nvSpPr>
        <p:spPr>
          <a:xfrm xmlns:a="http://schemas.openxmlformats.org/drawingml/2006/main">
            <a:off x="952500" y="1809750"/>
            <a:ext cx="1638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A9B8CB"/>
                </a:solidFill>
              </a:defRPr>
            </a:defPPr>
            <a:lvl1pPr algn="l">
              <a:defRPr sz="2250" b="0">
                <a:solidFill>
                  <a:srgbClr val="A9B8CB"/>
                </a:solidFill>
              </a:defRPr>
            </a:lvl1pPr>
            <a:lvl2pPr algn="l">
              <a:defRPr sz="2250" b="0">
                <a:solidFill>
                  <a:srgbClr val="A9B8CB"/>
                </a:solidFill>
              </a:defRPr>
            </a:lvl2pPr>
            <a:lvl3pPr algn="l">
              <a:defRPr sz="2250" b="0">
                <a:solidFill>
                  <a:srgbClr val="A9B8CB"/>
                </a:solidFill>
              </a:defRPr>
            </a:lvl3pPr>
            <a:lvl4pPr algn="l">
              <a:defRPr sz="2250" b="0">
                <a:solidFill>
                  <a:srgbClr val="A9B8CB"/>
                </a:solidFill>
              </a:defRPr>
            </a:lvl4pPr>
            <a:lvl5pPr algn="l">
              <a:defRPr sz="2250" b="0">
                <a:solidFill>
                  <a:srgbClr val="A9B8CB"/>
                </a:solidFill>
              </a:defRPr>
            </a:lvl5pPr>
            <a:lvl6pPr algn="l">
              <a:defRPr sz="2250" b="0">
                <a:solidFill>
                  <a:srgbClr val="A9B8CB"/>
                </a:solidFill>
              </a:defRPr>
            </a:lvl6pPr>
            <a:lvl7pPr algn="l">
              <a:defRPr sz="2250" b="0">
                <a:solidFill>
                  <a:srgbClr val="A9B8CB"/>
                </a:solidFill>
              </a:defRPr>
            </a:lvl7pPr>
            <a:lvl8pPr algn="l">
              <a:defRPr sz="2250" b="0">
                <a:solidFill>
                  <a:srgbClr val="A9B8CB"/>
                </a:solidFill>
              </a:defRPr>
            </a:lvl8pPr>
            <a:lvl9pPr algn="l">
              <a:defRPr sz="2250" b="0">
                <a:solidFill>
                  <a:srgbClr val="A9B8CB"/>
                </a:solidFill>
              </a:defRPr>
            </a:lvl9pPr>
          </a:lstStyle>
          <a:p xmlns:a="http://schemas.openxmlformats.org/drawingml/2006/main">
            <a:pPr algn="l">
              <a:defRPr sz="2250" b="0">
                <a:solidFill>
                  <a:srgbClr val="A9B8CB"/>
                </a:solidFill>
              </a:defRPr>
            </a:pPr>
            <a:r>
              <a:rPr sz="2250" b="0">
                <a:solidFill>
                  <a:srgbClr val="A9B8CB"/>
                </a:solidFill>
              </a:rPr>
              <a:t>Proposed sequence after an authorized operator prepares the demonstration environment</a:t>
            </a:r>
          </a:p>
        </p:txBody>
      </p:sp>
      <p:sp>
        <p:nvSpPr>
          <p:cNvPr id="5" name="text-147">
            <a:extLst xmlns:a="http://schemas.openxmlformats.org/drawingml/2006/main">
              <a:ext uri="{FF2B5EF4-FFF2-40B4-BE49-F238E27FC236}">
                <a16:creationId xmlns:a16="http://schemas.microsoft.com/office/drawing/2014/main" id="{B67210A0-98A5-416B-A806-EA3AE69F1478}"/>
              </a:ext>
            </a:extLst>
          </p:cNvPr>
          <p:cNvSpPr>
            <a:spLocks xmlns:a="http://schemas.openxmlformats.org/drawingml/2006/main" noGrp="1"/>
          </p:cNvSpPr>
          <p:nvPr/>
        </p:nvSpPr>
        <p:spPr>
          <a:xfrm xmlns:a="http://schemas.openxmlformats.org/drawingml/2006/main">
            <a:off x="952500" y="27908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22D3EE"/>
                </a:solidFill>
              </a:defRPr>
            </a:defPPr>
            <a:lvl1pPr algn="l">
              <a:defRPr sz="2625" b="1">
                <a:solidFill>
                  <a:srgbClr val="22D3EE"/>
                </a:solidFill>
              </a:defRPr>
            </a:lvl1pPr>
            <a:lvl2pPr algn="l">
              <a:defRPr sz="2625" b="1">
                <a:solidFill>
                  <a:srgbClr val="22D3EE"/>
                </a:solidFill>
              </a:defRPr>
            </a:lvl2pPr>
            <a:lvl3pPr algn="l">
              <a:defRPr sz="2625" b="1">
                <a:solidFill>
                  <a:srgbClr val="22D3EE"/>
                </a:solidFill>
              </a:defRPr>
            </a:lvl3pPr>
            <a:lvl4pPr algn="l">
              <a:defRPr sz="2625" b="1">
                <a:solidFill>
                  <a:srgbClr val="22D3EE"/>
                </a:solidFill>
              </a:defRPr>
            </a:lvl4pPr>
            <a:lvl5pPr algn="l">
              <a:defRPr sz="2625" b="1">
                <a:solidFill>
                  <a:srgbClr val="22D3EE"/>
                </a:solidFill>
              </a:defRPr>
            </a:lvl5pPr>
            <a:lvl6pPr algn="l">
              <a:defRPr sz="2625" b="1">
                <a:solidFill>
                  <a:srgbClr val="22D3EE"/>
                </a:solidFill>
              </a:defRPr>
            </a:lvl6pPr>
            <a:lvl7pPr algn="l">
              <a:defRPr sz="2625" b="1">
                <a:solidFill>
                  <a:srgbClr val="22D3EE"/>
                </a:solidFill>
              </a:defRPr>
            </a:lvl7pPr>
            <a:lvl8pPr algn="l">
              <a:defRPr sz="2625" b="1">
                <a:solidFill>
                  <a:srgbClr val="22D3EE"/>
                </a:solidFill>
              </a:defRPr>
            </a:lvl8pPr>
            <a:lvl9pPr algn="l">
              <a:defRPr sz="2625" b="1">
                <a:solidFill>
                  <a:srgbClr val="22D3EE"/>
                </a:solidFill>
              </a:defRPr>
            </a:lvl9pPr>
          </a:lstStyle>
          <a:p xmlns:a="http://schemas.openxmlformats.org/drawingml/2006/main">
            <a:pPr algn="l">
              <a:defRPr sz="2625" b="1">
                <a:solidFill>
                  <a:srgbClr val="22D3EE"/>
                </a:solidFill>
              </a:defRPr>
            </a:pPr>
            <a:r>
              <a:rPr sz="2625" b="1">
                <a:solidFill>
                  <a:srgbClr val="22D3EE"/>
                </a:solidFill>
              </a:rPr>
              <a:t>Initial state</a:t>
            </a:r>
          </a:p>
        </p:txBody>
      </p:sp>
      <p:sp>
        <p:nvSpPr>
          <p:cNvPr id="6" name="text-148">
            <a:extLst xmlns:a="http://schemas.openxmlformats.org/drawingml/2006/main">
              <a:ext uri="{FF2B5EF4-FFF2-40B4-BE49-F238E27FC236}">
                <a16:creationId xmlns:a16="http://schemas.microsoft.com/office/drawing/2014/main" id="{A055C20F-5FCF-4414-9582-F0F0F0474F79}"/>
              </a:ext>
            </a:extLst>
          </p:cNvPr>
          <p:cNvSpPr>
            <a:spLocks xmlns:a="http://schemas.openxmlformats.org/drawingml/2006/main" noGrp="1"/>
          </p:cNvSpPr>
          <p:nvPr/>
        </p:nvSpPr>
        <p:spPr>
          <a:xfrm xmlns:a="http://schemas.openxmlformats.org/drawingml/2006/main">
            <a:off x="952500" y="3476625"/>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F8FAFC"/>
                </a:solidFill>
              </a:defRPr>
            </a:defPPr>
            <a:lvl1pPr algn="l">
              <a:defRPr sz="2550" b="0">
                <a:solidFill>
                  <a:srgbClr val="F8FAFC"/>
                </a:solidFill>
              </a:defRPr>
            </a:lvl1pPr>
            <a:lvl2pPr algn="l">
              <a:defRPr sz="2550" b="0">
                <a:solidFill>
                  <a:srgbClr val="F8FAFC"/>
                </a:solidFill>
              </a:defRPr>
            </a:lvl2pPr>
            <a:lvl3pPr algn="l">
              <a:defRPr sz="2550" b="0">
                <a:solidFill>
                  <a:srgbClr val="F8FAFC"/>
                </a:solidFill>
              </a:defRPr>
            </a:lvl3pPr>
            <a:lvl4pPr algn="l">
              <a:defRPr sz="2550" b="0">
                <a:solidFill>
                  <a:srgbClr val="F8FAFC"/>
                </a:solidFill>
              </a:defRPr>
            </a:lvl4pPr>
            <a:lvl5pPr algn="l">
              <a:defRPr sz="2550" b="0">
                <a:solidFill>
                  <a:srgbClr val="F8FAFC"/>
                </a:solidFill>
              </a:defRPr>
            </a:lvl5pPr>
            <a:lvl6pPr algn="l">
              <a:defRPr sz="2550" b="0">
                <a:solidFill>
                  <a:srgbClr val="F8FAFC"/>
                </a:solidFill>
              </a:defRPr>
            </a:lvl6pPr>
            <a:lvl7pPr algn="l">
              <a:defRPr sz="2550" b="0">
                <a:solidFill>
                  <a:srgbClr val="F8FAFC"/>
                </a:solidFill>
              </a:defRPr>
            </a:lvl7pPr>
            <a:lvl8pPr algn="l">
              <a:defRPr sz="2550" b="0">
                <a:solidFill>
                  <a:srgbClr val="F8FAFC"/>
                </a:solidFill>
              </a:defRPr>
            </a:lvl8pPr>
            <a:lvl9pPr algn="l">
              <a:defRPr sz="2550" b="0">
                <a:solidFill>
                  <a:srgbClr val="F8FAFC"/>
                </a:solidFill>
              </a:defRPr>
            </a:lvl9pPr>
          </a:lstStyle>
          <a:p xmlns:a="http://schemas.openxmlformats.org/drawingml/2006/main">
            <a:pPr algn="l">
              <a:defRPr sz="2550" b="0">
                <a:solidFill>
                  <a:srgbClr val="F8FAFC"/>
                </a:solidFill>
              </a:defRPr>
            </a:pPr>
            <a:r>
              <a:rPr sz="2550" b="0">
                <a:solidFill>
                  <a:srgbClr val="F8FAFC"/>
                </a:solidFill>
              </a:rPr>
              <a:t>Cleared business records</a:t>
            </a:r>
          </a:p>
        </p:txBody>
      </p:sp>
      <p:sp>
        <p:nvSpPr>
          <p:cNvPr id="7" name="text-149">
            <a:extLst xmlns:a="http://schemas.openxmlformats.org/drawingml/2006/main">
              <a:ext uri="{FF2B5EF4-FFF2-40B4-BE49-F238E27FC236}">
                <a16:creationId xmlns:a16="http://schemas.microsoft.com/office/drawing/2014/main" id="{16123466-23B5-480F-BAFD-D747E2E3DC23}"/>
              </a:ext>
            </a:extLst>
          </p:cNvPr>
          <p:cNvSpPr>
            <a:spLocks xmlns:a="http://schemas.openxmlformats.org/drawingml/2006/main" noGrp="1"/>
          </p:cNvSpPr>
          <p:nvPr/>
        </p:nvSpPr>
        <p:spPr>
          <a:xfrm xmlns:a="http://schemas.openxmlformats.org/drawingml/2006/main">
            <a:off x="952500" y="42291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F8FAFC"/>
                </a:solidFill>
              </a:defRPr>
            </a:defPPr>
            <a:lvl1pPr algn="l">
              <a:defRPr sz="2550" b="0">
                <a:solidFill>
                  <a:srgbClr val="F8FAFC"/>
                </a:solidFill>
              </a:defRPr>
            </a:lvl1pPr>
            <a:lvl2pPr algn="l">
              <a:defRPr sz="2550" b="0">
                <a:solidFill>
                  <a:srgbClr val="F8FAFC"/>
                </a:solidFill>
              </a:defRPr>
            </a:lvl2pPr>
            <a:lvl3pPr algn="l">
              <a:defRPr sz="2550" b="0">
                <a:solidFill>
                  <a:srgbClr val="F8FAFC"/>
                </a:solidFill>
              </a:defRPr>
            </a:lvl3pPr>
            <a:lvl4pPr algn="l">
              <a:defRPr sz="2550" b="0">
                <a:solidFill>
                  <a:srgbClr val="F8FAFC"/>
                </a:solidFill>
              </a:defRPr>
            </a:lvl4pPr>
            <a:lvl5pPr algn="l">
              <a:defRPr sz="2550" b="0">
                <a:solidFill>
                  <a:srgbClr val="F8FAFC"/>
                </a:solidFill>
              </a:defRPr>
            </a:lvl5pPr>
            <a:lvl6pPr algn="l">
              <a:defRPr sz="2550" b="0">
                <a:solidFill>
                  <a:srgbClr val="F8FAFC"/>
                </a:solidFill>
              </a:defRPr>
            </a:lvl6pPr>
            <a:lvl7pPr algn="l">
              <a:defRPr sz="2550" b="0">
                <a:solidFill>
                  <a:srgbClr val="F8FAFC"/>
                </a:solidFill>
              </a:defRPr>
            </a:lvl7pPr>
            <a:lvl8pPr algn="l">
              <a:defRPr sz="2550" b="0">
                <a:solidFill>
                  <a:srgbClr val="F8FAFC"/>
                </a:solidFill>
              </a:defRPr>
            </a:lvl8pPr>
            <a:lvl9pPr algn="l">
              <a:defRPr sz="2550" b="0">
                <a:solidFill>
                  <a:srgbClr val="F8FAFC"/>
                </a:solidFill>
              </a:defRPr>
            </a:lvl9pPr>
          </a:lstStyle>
          <a:p xmlns:a="http://schemas.openxmlformats.org/drawingml/2006/main">
            <a:pPr algn="l">
              <a:defRPr sz="2550" b="0">
                <a:solidFill>
                  <a:srgbClr val="F8FAFC"/>
                </a:solidFill>
              </a:defRPr>
            </a:pPr>
            <a:r>
              <a:rPr sz="2550" b="0">
                <a:solidFill>
                  <a:srgbClr val="F8FAFC"/>
                </a:solidFill>
              </a:rPr>
              <a:t>Schema and infrastructure retained</a:t>
            </a:r>
          </a:p>
        </p:txBody>
      </p:sp>
      <p:sp>
        <p:nvSpPr>
          <p:cNvPr id="8" name="text-150">
            <a:extLst xmlns:a="http://schemas.openxmlformats.org/drawingml/2006/main">
              <a:ext uri="{FF2B5EF4-FFF2-40B4-BE49-F238E27FC236}">
                <a16:creationId xmlns:a16="http://schemas.microsoft.com/office/drawing/2014/main" id="{85A79BD5-F27A-4F26-A1DE-0BFF9974BD57}"/>
              </a:ext>
            </a:extLst>
          </p:cNvPr>
          <p:cNvSpPr>
            <a:spLocks xmlns:a="http://schemas.openxmlformats.org/drawingml/2006/main" noGrp="1"/>
          </p:cNvSpPr>
          <p:nvPr/>
        </p:nvSpPr>
        <p:spPr>
          <a:xfrm xmlns:a="http://schemas.openxmlformats.org/drawingml/2006/main">
            <a:off x="952500" y="536257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F8FAFC"/>
                </a:solidFill>
              </a:defRPr>
            </a:defPPr>
            <a:lvl1pPr algn="l">
              <a:defRPr sz="2550" b="0">
                <a:solidFill>
                  <a:srgbClr val="F8FAFC"/>
                </a:solidFill>
              </a:defRPr>
            </a:lvl1pPr>
            <a:lvl2pPr algn="l">
              <a:defRPr sz="2550" b="0">
                <a:solidFill>
                  <a:srgbClr val="F8FAFC"/>
                </a:solidFill>
              </a:defRPr>
            </a:lvl2pPr>
            <a:lvl3pPr algn="l">
              <a:defRPr sz="2550" b="0">
                <a:solidFill>
                  <a:srgbClr val="F8FAFC"/>
                </a:solidFill>
              </a:defRPr>
            </a:lvl3pPr>
            <a:lvl4pPr algn="l">
              <a:defRPr sz="2550" b="0">
                <a:solidFill>
                  <a:srgbClr val="F8FAFC"/>
                </a:solidFill>
              </a:defRPr>
            </a:lvl4pPr>
            <a:lvl5pPr algn="l">
              <a:defRPr sz="2550" b="0">
                <a:solidFill>
                  <a:srgbClr val="F8FAFC"/>
                </a:solidFill>
              </a:defRPr>
            </a:lvl5pPr>
            <a:lvl6pPr algn="l">
              <a:defRPr sz="2550" b="0">
                <a:solidFill>
                  <a:srgbClr val="F8FAFC"/>
                </a:solidFill>
              </a:defRPr>
            </a:lvl6pPr>
            <a:lvl7pPr algn="l">
              <a:defRPr sz="2550" b="0">
                <a:solidFill>
                  <a:srgbClr val="F8FAFC"/>
                </a:solidFill>
              </a:defRPr>
            </a:lvl7pPr>
            <a:lvl8pPr algn="l">
              <a:defRPr sz="2550" b="0">
                <a:solidFill>
                  <a:srgbClr val="F8FAFC"/>
                </a:solidFill>
              </a:defRPr>
            </a:lvl8pPr>
            <a:lvl9pPr algn="l">
              <a:defRPr sz="2550" b="0">
                <a:solidFill>
                  <a:srgbClr val="F8FAFC"/>
                </a:solidFill>
              </a:defRPr>
            </a:lvl9pPr>
          </a:lstStyle>
          <a:p xmlns:a="http://schemas.openxmlformats.org/drawingml/2006/main">
            <a:pPr algn="l">
              <a:defRPr sz="2550" b="0">
                <a:solidFill>
                  <a:srgbClr val="F8FAFC"/>
                </a:solidFill>
              </a:defRPr>
            </a:pPr>
            <a:r>
              <a:rPr sz="2550" b="0">
                <a:solidFill>
                  <a:srgbClr val="F8FAFC"/>
                </a:solidFill>
              </a:rPr>
              <a:t>Required Auth and configuration retained</a:t>
            </a:r>
          </a:p>
        </p:txBody>
      </p:sp>
      <p:sp>
        <p:nvSpPr>
          <p:cNvPr id="9" name="text-151">
            <a:extLst xmlns:a="http://schemas.openxmlformats.org/drawingml/2006/main">
              <a:ext uri="{FF2B5EF4-FFF2-40B4-BE49-F238E27FC236}">
                <a16:creationId xmlns:a16="http://schemas.microsoft.com/office/drawing/2014/main" id="{91D2FD46-8C96-4AAB-8E40-43806BAFDF52}"/>
              </a:ext>
            </a:extLst>
          </p:cNvPr>
          <p:cNvSpPr>
            <a:spLocks xmlns:a="http://schemas.openxmlformats.org/drawingml/2006/main" noGrp="1"/>
          </p:cNvSpPr>
          <p:nvPr/>
        </p:nvSpPr>
        <p:spPr>
          <a:xfrm xmlns:a="http://schemas.openxmlformats.org/drawingml/2006/main">
            <a:off x="952500" y="7229475"/>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FBBF24"/>
                </a:solidFill>
              </a:defRPr>
            </a:defPPr>
            <a:lvl1pPr algn="l">
              <a:defRPr sz="2325" b="0">
                <a:solidFill>
                  <a:srgbClr val="FBBF24"/>
                </a:solidFill>
              </a:defRPr>
            </a:lvl1pPr>
            <a:lvl2pPr algn="l">
              <a:defRPr sz="2325" b="0">
                <a:solidFill>
                  <a:srgbClr val="FBBF24"/>
                </a:solidFill>
              </a:defRPr>
            </a:lvl2pPr>
            <a:lvl3pPr algn="l">
              <a:defRPr sz="2325" b="0">
                <a:solidFill>
                  <a:srgbClr val="FBBF24"/>
                </a:solidFill>
              </a:defRPr>
            </a:lvl3pPr>
            <a:lvl4pPr algn="l">
              <a:defRPr sz="2325" b="0">
                <a:solidFill>
                  <a:srgbClr val="FBBF24"/>
                </a:solidFill>
              </a:defRPr>
            </a:lvl4pPr>
            <a:lvl5pPr algn="l">
              <a:defRPr sz="2325" b="0">
                <a:solidFill>
                  <a:srgbClr val="FBBF24"/>
                </a:solidFill>
              </a:defRPr>
            </a:lvl5pPr>
            <a:lvl6pPr algn="l">
              <a:defRPr sz="2325" b="0">
                <a:solidFill>
                  <a:srgbClr val="FBBF24"/>
                </a:solidFill>
              </a:defRPr>
            </a:lvl6pPr>
            <a:lvl7pPr algn="l">
              <a:defRPr sz="2325" b="0">
                <a:solidFill>
                  <a:srgbClr val="FBBF24"/>
                </a:solidFill>
              </a:defRPr>
            </a:lvl7pPr>
            <a:lvl8pPr algn="l">
              <a:defRPr sz="2325" b="0">
                <a:solidFill>
                  <a:srgbClr val="FBBF24"/>
                </a:solidFill>
              </a:defRPr>
            </a:lvl8pPr>
            <a:lvl9pPr algn="l">
              <a:defRPr sz="2325" b="0">
                <a:solidFill>
                  <a:srgbClr val="FBBF24"/>
                </a:solidFill>
              </a:defRPr>
            </a:lvl9pPr>
          </a:lstStyle>
          <a:p xmlns:a="http://schemas.openxmlformats.org/drawingml/2006/main">
            <a:pPr algn="l">
              <a:defRPr sz="2325" b="0">
                <a:solidFill>
                  <a:srgbClr val="FBBF24"/>
                </a:solidFill>
              </a:defRPr>
            </a:pPr>
            <a:r>
              <a:rPr sz="2325" b="0">
                <a:solidFill>
                  <a:srgbClr val="FBBF24"/>
                </a:solidFill>
              </a:rPr>
              <a:t>Preparation is pending.</a:t>
            </a:r>
          </a:p>
          <a:p xmlns:a="http://schemas.openxmlformats.org/drawingml/2006/main">
            <a:pPr algn="l">
              <a:defRPr sz="2325" b="0">
                <a:solidFill>
                  <a:srgbClr val="FBBF24"/>
                </a:solidFill>
              </a:defRPr>
            </a:pPr>
            <a:r>
              <a:rPr sz="2325" b="0">
                <a:solidFill>
                  <a:srgbClr val="FBBF24"/>
                </a:solidFill>
              </a:rPr>
              <a:t>No reset was performed for this task.</a:t>
            </a:r>
          </a:p>
        </p:txBody>
      </p:sp>
      <p:sp>
        <p:nvSpPr>
          <p:cNvPr id="10" name="text-152">
            <a:extLst xmlns:a="http://schemas.openxmlformats.org/drawingml/2006/main">
              <a:ext uri="{FF2B5EF4-FFF2-40B4-BE49-F238E27FC236}">
                <a16:creationId xmlns:a16="http://schemas.microsoft.com/office/drawing/2014/main" id="{35D4A9B1-E2A0-476A-94C8-A0C411200CE2}"/>
              </a:ext>
            </a:extLst>
          </p:cNvPr>
          <p:cNvSpPr>
            <a:spLocks xmlns:a="http://schemas.openxmlformats.org/drawingml/2006/main" noGrp="1"/>
          </p:cNvSpPr>
          <p:nvPr/>
        </p:nvSpPr>
        <p:spPr>
          <a:xfrm xmlns:a="http://schemas.openxmlformats.org/drawingml/2006/main">
            <a:off x="8096250" y="2781300"/>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01</a:t>
            </a:r>
          </a:p>
        </p:txBody>
      </p:sp>
      <p:sp>
        <p:nvSpPr>
          <p:cNvPr id="11" name="text-153">
            <a:extLst xmlns:a="http://schemas.openxmlformats.org/drawingml/2006/main">
              <a:ext uri="{FF2B5EF4-FFF2-40B4-BE49-F238E27FC236}">
                <a16:creationId xmlns:a16="http://schemas.microsoft.com/office/drawing/2014/main" id="{3EF74C66-352A-4AFF-B036-9C85D9426F67}"/>
              </a:ext>
            </a:extLst>
          </p:cNvPr>
          <p:cNvSpPr>
            <a:spLocks xmlns:a="http://schemas.openxmlformats.org/drawingml/2006/main" noGrp="1"/>
          </p:cNvSpPr>
          <p:nvPr/>
        </p:nvSpPr>
        <p:spPr>
          <a:xfrm xmlns:a="http://schemas.openxmlformats.org/drawingml/2006/main">
            <a:off x="9144000" y="2781300"/>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Login</a:t>
            </a:r>
          </a:p>
        </p:txBody>
      </p:sp>
      <p:sp>
        <p:nvSpPr>
          <p:cNvPr id="12" name="rule-154">
            <a:extLst xmlns:a="http://schemas.openxmlformats.org/drawingml/2006/main">
              <a:ext uri="{FF2B5EF4-FFF2-40B4-BE49-F238E27FC236}">
                <a16:creationId xmlns:a16="http://schemas.microsoft.com/office/drawing/2014/main" id="{B1D3413F-FFCB-493D-AE59-CD3323E9EC7A}"/>
              </a:ext>
            </a:extLst>
          </p:cNvPr>
          <p:cNvSpPr>
            <a:spLocks xmlns:a="http://schemas.openxmlformats.org/drawingml/2006/main" noGrp="1"/>
          </p:cNvSpPr>
          <p:nvPr/>
        </p:nvSpPr>
        <p:spPr>
          <a:xfrm xmlns:a="http://schemas.openxmlformats.org/drawingml/2006/main">
            <a:off x="9144000" y="3409950"/>
            <a:ext cx="8191500" cy="0"/>
          </a:xfrm>
          <a:prstGeom xmlns:a="http://schemas.openxmlformats.org/drawingml/2006/main" prst="line">
            <a:avLst/>
          </a:prstGeom>
          <a:ln xmlns:a="http://schemas.openxmlformats.org/drawingml/2006/main" w="19050">
            <a:solidFill>
              <a:srgbClr val="334155"/>
            </a:solidFill>
            <a:prstDash val="solid"/>
          </a:ln>
        </p:spPr>
      </p:sp>
      <p:sp>
        <p:nvSpPr>
          <p:cNvPr id="13" name="text-155">
            <a:extLst xmlns:a="http://schemas.openxmlformats.org/drawingml/2006/main">
              <a:ext uri="{FF2B5EF4-FFF2-40B4-BE49-F238E27FC236}">
                <a16:creationId xmlns:a16="http://schemas.microsoft.com/office/drawing/2014/main" id="{CFE3BE21-40BC-4B88-A81E-2E05532E54C3}"/>
              </a:ext>
            </a:extLst>
          </p:cNvPr>
          <p:cNvSpPr>
            <a:spLocks xmlns:a="http://schemas.openxmlformats.org/drawingml/2006/main" noGrp="1"/>
          </p:cNvSpPr>
          <p:nvPr/>
        </p:nvSpPr>
        <p:spPr>
          <a:xfrm xmlns:a="http://schemas.openxmlformats.org/drawingml/2006/main">
            <a:off x="8096250" y="36290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02</a:t>
            </a:r>
          </a:p>
        </p:txBody>
      </p:sp>
      <p:sp>
        <p:nvSpPr>
          <p:cNvPr id="14" name="text-156">
            <a:extLst xmlns:a="http://schemas.openxmlformats.org/drawingml/2006/main">
              <a:ext uri="{FF2B5EF4-FFF2-40B4-BE49-F238E27FC236}">
                <a16:creationId xmlns:a16="http://schemas.microsoft.com/office/drawing/2014/main" id="{63DC8F2E-95CD-40E8-988D-99D78F2D8C8A}"/>
              </a:ext>
            </a:extLst>
          </p:cNvPr>
          <p:cNvSpPr>
            <a:spLocks xmlns:a="http://schemas.openxmlformats.org/drawingml/2006/main" noGrp="1"/>
          </p:cNvSpPr>
          <p:nvPr/>
        </p:nvSpPr>
        <p:spPr>
          <a:xfrm xmlns:a="http://schemas.openxmlformats.org/drawingml/2006/main">
            <a:off x="9144000" y="3629025"/>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Product setup</a:t>
            </a:r>
          </a:p>
        </p:txBody>
      </p:sp>
      <p:sp>
        <p:nvSpPr>
          <p:cNvPr id="15" name="rule-157">
            <a:extLst xmlns:a="http://schemas.openxmlformats.org/drawingml/2006/main">
              <a:ext uri="{FF2B5EF4-FFF2-40B4-BE49-F238E27FC236}">
                <a16:creationId xmlns:a16="http://schemas.microsoft.com/office/drawing/2014/main" id="{292885E3-C547-4107-9B20-6F5A08B6F206}"/>
              </a:ext>
            </a:extLst>
          </p:cNvPr>
          <p:cNvSpPr>
            <a:spLocks xmlns:a="http://schemas.openxmlformats.org/drawingml/2006/main" noGrp="1"/>
          </p:cNvSpPr>
          <p:nvPr/>
        </p:nvSpPr>
        <p:spPr>
          <a:xfrm xmlns:a="http://schemas.openxmlformats.org/drawingml/2006/main">
            <a:off x="9144000" y="4257675"/>
            <a:ext cx="8191500" cy="0"/>
          </a:xfrm>
          <a:prstGeom xmlns:a="http://schemas.openxmlformats.org/drawingml/2006/main" prst="line">
            <a:avLst/>
          </a:prstGeom>
          <a:ln xmlns:a="http://schemas.openxmlformats.org/drawingml/2006/main" w="19050">
            <a:solidFill>
              <a:srgbClr val="334155"/>
            </a:solidFill>
            <a:prstDash val="solid"/>
          </a:ln>
        </p:spPr>
      </p:sp>
      <p:sp>
        <p:nvSpPr>
          <p:cNvPr id="16" name="text-158">
            <a:extLst xmlns:a="http://schemas.openxmlformats.org/drawingml/2006/main">
              <a:ext uri="{FF2B5EF4-FFF2-40B4-BE49-F238E27FC236}">
                <a16:creationId xmlns:a16="http://schemas.microsoft.com/office/drawing/2014/main" id="{0457486E-D097-4B14-9CC3-30B8869F4257}"/>
              </a:ext>
            </a:extLst>
          </p:cNvPr>
          <p:cNvSpPr>
            <a:spLocks xmlns:a="http://schemas.openxmlformats.org/drawingml/2006/main" noGrp="1"/>
          </p:cNvSpPr>
          <p:nvPr/>
        </p:nvSpPr>
        <p:spPr>
          <a:xfrm xmlns:a="http://schemas.openxmlformats.org/drawingml/2006/main">
            <a:off x="8096250" y="4476750"/>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03</a:t>
            </a:r>
          </a:p>
        </p:txBody>
      </p:sp>
      <p:sp>
        <p:nvSpPr>
          <p:cNvPr id="17" name="text-159">
            <a:extLst xmlns:a="http://schemas.openxmlformats.org/drawingml/2006/main">
              <a:ext uri="{FF2B5EF4-FFF2-40B4-BE49-F238E27FC236}">
                <a16:creationId xmlns:a16="http://schemas.microsoft.com/office/drawing/2014/main" id="{2A0EC8E1-8C4F-42B4-A793-4C5CC6FE896B}"/>
              </a:ext>
            </a:extLst>
          </p:cNvPr>
          <p:cNvSpPr>
            <a:spLocks xmlns:a="http://schemas.openxmlformats.org/drawingml/2006/main" noGrp="1"/>
          </p:cNvSpPr>
          <p:nvPr/>
        </p:nvSpPr>
        <p:spPr>
          <a:xfrm xmlns:a="http://schemas.openxmlformats.org/drawingml/2006/main">
            <a:off x="9144000" y="4476750"/>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Receive stock</a:t>
            </a:r>
          </a:p>
        </p:txBody>
      </p:sp>
      <p:sp>
        <p:nvSpPr>
          <p:cNvPr id="18" name="rule-160">
            <a:extLst xmlns:a="http://schemas.openxmlformats.org/drawingml/2006/main">
              <a:ext uri="{FF2B5EF4-FFF2-40B4-BE49-F238E27FC236}">
                <a16:creationId xmlns:a16="http://schemas.microsoft.com/office/drawing/2014/main" id="{74A08995-0E2F-4FCA-8C5E-B460EB78F05E}"/>
              </a:ext>
            </a:extLst>
          </p:cNvPr>
          <p:cNvSpPr>
            <a:spLocks xmlns:a="http://schemas.openxmlformats.org/drawingml/2006/main" noGrp="1"/>
          </p:cNvSpPr>
          <p:nvPr/>
        </p:nvSpPr>
        <p:spPr>
          <a:xfrm xmlns:a="http://schemas.openxmlformats.org/drawingml/2006/main">
            <a:off x="9144000" y="5105400"/>
            <a:ext cx="8191500" cy="0"/>
          </a:xfrm>
          <a:prstGeom xmlns:a="http://schemas.openxmlformats.org/drawingml/2006/main" prst="line">
            <a:avLst/>
          </a:prstGeom>
          <a:ln xmlns:a="http://schemas.openxmlformats.org/drawingml/2006/main" w="19050">
            <a:solidFill>
              <a:srgbClr val="334155"/>
            </a:solidFill>
            <a:prstDash val="solid"/>
          </a:ln>
        </p:spPr>
      </p:sp>
      <p:sp>
        <p:nvSpPr>
          <p:cNvPr id="19" name="text-161">
            <a:extLst xmlns:a="http://schemas.openxmlformats.org/drawingml/2006/main">
              <a:ext uri="{FF2B5EF4-FFF2-40B4-BE49-F238E27FC236}">
                <a16:creationId xmlns:a16="http://schemas.microsoft.com/office/drawing/2014/main" id="{CCC8774F-EC83-40B6-907E-056A1F8792D8}"/>
              </a:ext>
            </a:extLst>
          </p:cNvPr>
          <p:cNvSpPr>
            <a:spLocks xmlns:a="http://schemas.openxmlformats.org/drawingml/2006/main" noGrp="1"/>
          </p:cNvSpPr>
          <p:nvPr/>
        </p:nvSpPr>
        <p:spPr>
          <a:xfrm xmlns:a="http://schemas.openxmlformats.org/drawingml/2006/main">
            <a:off x="8096250" y="532447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04</a:t>
            </a:r>
          </a:p>
        </p:txBody>
      </p:sp>
      <p:sp>
        <p:nvSpPr>
          <p:cNvPr id="20" name="text-162">
            <a:extLst xmlns:a="http://schemas.openxmlformats.org/drawingml/2006/main">
              <a:ext uri="{FF2B5EF4-FFF2-40B4-BE49-F238E27FC236}">
                <a16:creationId xmlns:a16="http://schemas.microsoft.com/office/drawing/2014/main" id="{CAE0FFFF-3CAB-45D1-B898-777527208297}"/>
              </a:ext>
            </a:extLst>
          </p:cNvPr>
          <p:cNvSpPr>
            <a:spLocks xmlns:a="http://schemas.openxmlformats.org/drawingml/2006/main" noGrp="1"/>
          </p:cNvSpPr>
          <p:nvPr/>
        </p:nvSpPr>
        <p:spPr>
          <a:xfrm xmlns:a="http://schemas.openxmlformats.org/drawingml/2006/main">
            <a:off x="9144000" y="5324475"/>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POS sale</a:t>
            </a:r>
          </a:p>
        </p:txBody>
      </p:sp>
      <p:sp>
        <p:nvSpPr>
          <p:cNvPr id="21" name="rule-163">
            <a:extLst xmlns:a="http://schemas.openxmlformats.org/drawingml/2006/main">
              <a:ext uri="{FF2B5EF4-FFF2-40B4-BE49-F238E27FC236}">
                <a16:creationId xmlns:a16="http://schemas.microsoft.com/office/drawing/2014/main" id="{CFB25798-25E7-49AF-86DB-9F2B679D02A4}"/>
              </a:ext>
            </a:extLst>
          </p:cNvPr>
          <p:cNvSpPr>
            <a:spLocks xmlns:a="http://schemas.openxmlformats.org/drawingml/2006/main" noGrp="1"/>
          </p:cNvSpPr>
          <p:nvPr/>
        </p:nvSpPr>
        <p:spPr>
          <a:xfrm xmlns:a="http://schemas.openxmlformats.org/drawingml/2006/main">
            <a:off x="9144000" y="5953125"/>
            <a:ext cx="8191500" cy="0"/>
          </a:xfrm>
          <a:prstGeom xmlns:a="http://schemas.openxmlformats.org/drawingml/2006/main" prst="line">
            <a:avLst/>
          </a:prstGeom>
          <a:ln xmlns:a="http://schemas.openxmlformats.org/drawingml/2006/main" w="19050">
            <a:solidFill>
              <a:srgbClr val="334155"/>
            </a:solidFill>
            <a:prstDash val="solid"/>
          </a:ln>
        </p:spPr>
      </p:sp>
      <p:sp>
        <p:nvSpPr>
          <p:cNvPr id="22" name="text-164">
            <a:extLst xmlns:a="http://schemas.openxmlformats.org/drawingml/2006/main">
              <a:ext uri="{FF2B5EF4-FFF2-40B4-BE49-F238E27FC236}">
                <a16:creationId xmlns:a16="http://schemas.microsoft.com/office/drawing/2014/main" id="{91C1521D-9F63-45BC-B802-0D94BF0A74CE}"/>
              </a:ext>
            </a:extLst>
          </p:cNvPr>
          <p:cNvSpPr>
            <a:spLocks xmlns:a="http://schemas.openxmlformats.org/drawingml/2006/main" noGrp="1"/>
          </p:cNvSpPr>
          <p:nvPr/>
        </p:nvSpPr>
        <p:spPr>
          <a:xfrm xmlns:a="http://schemas.openxmlformats.org/drawingml/2006/main">
            <a:off x="8096250" y="6172200"/>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05</a:t>
            </a:r>
          </a:p>
        </p:txBody>
      </p:sp>
      <p:sp>
        <p:nvSpPr>
          <p:cNvPr id="23" name="text-165">
            <a:extLst xmlns:a="http://schemas.openxmlformats.org/drawingml/2006/main">
              <a:ext uri="{FF2B5EF4-FFF2-40B4-BE49-F238E27FC236}">
                <a16:creationId xmlns:a16="http://schemas.microsoft.com/office/drawing/2014/main" id="{A496C48B-0D67-49A0-A081-078688455918}"/>
              </a:ext>
            </a:extLst>
          </p:cNvPr>
          <p:cNvSpPr>
            <a:spLocks xmlns:a="http://schemas.openxmlformats.org/drawingml/2006/main" noGrp="1"/>
          </p:cNvSpPr>
          <p:nvPr/>
        </p:nvSpPr>
        <p:spPr>
          <a:xfrm xmlns:a="http://schemas.openxmlformats.org/drawingml/2006/main">
            <a:off x="9144000" y="6172200"/>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Verify deduction</a:t>
            </a:r>
          </a:p>
        </p:txBody>
      </p:sp>
      <p:sp>
        <p:nvSpPr>
          <p:cNvPr id="24" name="rule-166">
            <a:extLst xmlns:a="http://schemas.openxmlformats.org/drawingml/2006/main">
              <a:ext uri="{FF2B5EF4-FFF2-40B4-BE49-F238E27FC236}">
                <a16:creationId xmlns:a16="http://schemas.microsoft.com/office/drawing/2014/main" id="{40C9347C-EF8D-4D69-A63C-DFEB7C51F6B4}"/>
              </a:ext>
            </a:extLst>
          </p:cNvPr>
          <p:cNvSpPr>
            <a:spLocks xmlns:a="http://schemas.openxmlformats.org/drawingml/2006/main" noGrp="1"/>
          </p:cNvSpPr>
          <p:nvPr/>
        </p:nvSpPr>
        <p:spPr>
          <a:xfrm xmlns:a="http://schemas.openxmlformats.org/drawingml/2006/main">
            <a:off x="9144000" y="6800850"/>
            <a:ext cx="8191500" cy="0"/>
          </a:xfrm>
          <a:prstGeom xmlns:a="http://schemas.openxmlformats.org/drawingml/2006/main" prst="line">
            <a:avLst/>
          </a:prstGeom>
          <a:ln xmlns:a="http://schemas.openxmlformats.org/drawingml/2006/main" w="19050">
            <a:solidFill>
              <a:srgbClr val="334155"/>
            </a:solidFill>
            <a:prstDash val="solid"/>
          </a:ln>
        </p:spPr>
      </p:sp>
      <p:sp>
        <p:nvSpPr>
          <p:cNvPr id="25" name="text-167">
            <a:extLst xmlns:a="http://schemas.openxmlformats.org/drawingml/2006/main">
              <a:ext uri="{FF2B5EF4-FFF2-40B4-BE49-F238E27FC236}">
                <a16:creationId xmlns:a16="http://schemas.microsoft.com/office/drawing/2014/main" id="{EFF8FAC0-3456-4CB7-A1AE-A411062D1D4B}"/>
              </a:ext>
            </a:extLst>
          </p:cNvPr>
          <p:cNvSpPr>
            <a:spLocks xmlns:a="http://schemas.openxmlformats.org/drawingml/2006/main" noGrp="1"/>
          </p:cNvSpPr>
          <p:nvPr/>
        </p:nvSpPr>
        <p:spPr>
          <a:xfrm xmlns:a="http://schemas.openxmlformats.org/drawingml/2006/main">
            <a:off x="8096250" y="7019925"/>
            <a:ext cx="80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60A5FA"/>
                </a:solidFill>
              </a:defRPr>
            </a:defPPr>
            <a:lvl1pPr algn="l">
              <a:defRPr sz="2625" b="1">
                <a:solidFill>
                  <a:srgbClr val="60A5FA"/>
                </a:solidFill>
              </a:defRPr>
            </a:lvl1pPr>
            <a:lvl2pPr algn="l">
              <a:defRPr sz="2625" b="1">
                <a:solidFill>
                  <a:srgbClr val="60A5FA"/>
                </a:solidFill>
              </a:defRPr>
            </a:lvl2pPr>
            <a:lvl3pPr algn="l">
              <a:defRPr sz="2625" b="1">
                <a:solidFill>
                  <a:srgbClr val="60A5FA"/>
                </a:solidFill>
              </a:defRPr>
            </a:lvl3pPr>
            <a:lvl4pPr algn="l">
              <a:defRPr sz="2625" b="1">
                <a:solidFill>
                  <a:srgbClr val="60A5FA"/>
                </a:solidFill>
              </a:defRPr>
            </a:lvl4pPr>
            <a:lvl5pPr algn="l">
              <a:defRPr sz="2625" b="1">
                <a:solidFill>
                  <a:srgbClr val="60A5FA"/>
                </a:solidFill>
              </a:defRPr>
            </a:lvl5pPr>
            <a:lvl6pPr algn="l">
              <a:defRPr sz="2625" b="1">
                <a:solidFill>
                  <a:srgbClr val="60A5FA"/>
                </a:solidFill>
              </a:defRPr>
            </a:lvl6pPr>
            <a:lvl7pPr algn="l">
              <a:defRPr sz="2625" b="1">
                <a:solidFill>
                  <a:srgbClr val="60A5FA"/>
                </a:solidFill>
              </a:defRPr>
            </a:lvl7pPr>
            <a:lvl8pPr algn="l">
              <a:defRPr sz="2625" b="1">
                <a:solidFill>
                  <a:srgbClr val="60A5FA"/>
                </a:solidFill>
              </a:defRPr>
            </a:lvl8pPr>
            <a:lvl9pPr algn="l">
              <a:defRPr sz="2625" b="1">
                <a:solidFill>
                  <a:srgbClr val="60A5FA"/>
                </a:solidFill>
              </a:defRPr>
            </a:lvl9pPr>
          </a:lstStyle>
          <a:p xmlns:a="http://schemas.openxmlformats.org/drawingml/2006/main">
            <a:pPr algn="l">
              <a:defRPr sz="2625" b="1">
                <a:solidFill>
                  <a:srgbClr val="60A5FA"/>
                </a:solidFill>
              </a:defRPr>
            </a:pPr>
            <a:r>
              <a:rPr sz="2625" b="1">
                <a:solidFill>
                  <a:srgbClr val="60A5FA"/>
                </a:solidFill>
              </a:rPr>
              <a:t>06</a:t>
            </a:r>
          </a:p>
        </p:txBody>
      </p:sp>
      <p:sp>
        <p:nvSpPr>
          <p:cNvPr id="26" name="text-168">
            <a:extLst xmlns:a="http://schemas.openxmlformats.org/drawingml/2006/main">
              <a:ext uri="{FF2B5EF4-FFF2-40B4-BE49-F238E27FC236}">
                <a16:creationId xmlns:a16="http://schemas.microsoft.com/office/drawing/2014/main" id="{2E148C06-B2E2-4DAB-B458-3BC3D0BF13F3}"/>
              </a:ext>
            </a:extLst>
          </p:cNvPr>
          <p:cNvSpPr>
            <a:spLocks xmlns:a="http://schemas.openxmlformats.org/drawingml/2006/main" noGrp="1"/>
          </p:cNvSpPr>
          <p:nvPr/>
        </p:nvSpPr>
        <p:spPr>
          <a:xfrm xmlns:a="http://schemas.openxmlformats.org/drawingml/2006/main">
            <a:off x="9144000" y="7019925"/>
            <a:ext cx="819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F8FAFC"/>
                </a:solidFill>
              </a:defRPr>
            </a:defPPr>
            <a:lvl1pPr algn="l">
              <a:defRPr sz="2700" b="0">
                <a:solidFill>
                  <a:srgbClr val="F8FAFC"/>
                </a:solidFill>
              </a:defRPr>
            </a:lvl1pPr>
            <a:lvl2pPr algn="l">
              <a:defRPr sz="2700" b="0">
                <a:solidFill>
                  <a:srgbClr val="F8FAFC"/>
                </a:solidFill>
              </a:defRPr>
            </a:lvl2pPr>
            <a:lvl3pPr algn="l">
              <a:defRPr sz="2700" b="0">
                <a:solidFill>
                  <a:srgbClr val="F8FAFC"/>
                </a:solidFill>
              </a:defRPr>
            </a:lvl3pPr>
            <a:lvl4pPr algn="l">
              <a:defRPr sz="2700" b="0">
                <a:solidFill>
                  <a:srgbClr val="F8FAFC"/>
                </a:solidFill>
              </a:defRPr>
            </a:lvl4pPr>
            <a:lvl5pPr algn="l">
              <a:defRPr sz="2700" b="0">
                <a:solidFill>
                  <a:srgbClr val="F8FAFC"/>
                </a:solidFill>
              </a:defRPr>
            </a:lvl5pPr>
            <a:lvl6pPr algn="l">
              <a:defRPr sz="2700" b="0">
                <a:solidFill>
                  <a:srgbClr val="F8FAFC"/>
                </a:solidFill>
              </a:defRPr>
            </a:lvl6pPr>
            <a:lvl7pPr algn="l">
              <a:defRPr sz="2700" b="0">
                <a:solidFill>
                  <a:srgbClr val="F8FAFC"/>
                </a:solidFill>
              </a:defRPr>
            </a:lvl7pPr>
            <a:lvl8pPr algn="l">
              <a:defRPr sz="2700" b="0">
                <a:solidFill>
                  <a:srgbClr val="F8FAFC"/>
                </a:solidFill>
              </a:defRPr>
            </a:lvl8pPr>
            <a:lvl9pPr algn="l">
              <a:defRPr sz="2700" b="0">
                <a:solidFill>
                  <a:srgbClr val="F8FAFC"/>
                </a:solidFill>
              </a:defRPr>
            </a:lvl9pPr>
          </a:lstStyle>
          <a:p xmlns:a="http://schemas.openxmlformats.org/drawingml/2006/main">
            <a:pPr algn="l">
              <a:defRPr sz="2700" b="0">
                <a:solidFill>
                  <a:srgbClr val="F8FAFC"/>
                </a:solidFill>
              </a:defRPr>
            </a:pPr>
            <a:r>
              <a:rPr sz="2700" b="0">
                <a:solidFill>
                  <a:srgbClr val="F8FAFC"/>
                </a:solidFill>
              </a:rPr>
              <a:t>Verify reports</a:t>
            </a:r>
          </a:p>
        </p:txBody>
      </p:sp>
      <p:sp>
        <p:nvSpPr>
          <p:cNvPr id="27" name="text-169">
            <a:extLst xmlns:a="http://schemas.openxmlformats.org/drawingml/2006/main">
              <a:ext uri="{FF2B5EF4-FFF2-40B4-BE49-F238E27FC236}">
                <a16:creationId xmlns:a16="http://schemas.microsoft.com/office/drawing/2014/main" id="{EA4D2D92-B7EA-4E0C-B2B2-261AEC788F84}"/>
              </a:ext>
            </a:extLst>
          </p:cNvPr>
          <p:cNvSpPr>
            <a:spLocks xmlns:a="http://schemas.openxmlformats.org/drawingml/2006/main" noGrp="1"/>
          </p:cNvSpPr>
          <p:nvPr/>
        </p:nvSpPr>
        <p:spPr>
          <a:xfrm xmlns:a="http://schemas.openxmlformats.org/drawingml/2006/main">
            <a:off x="8096250" y="8172450"/>
            <a:ext cx="923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22D3EE"/>
                </a:solidFill>
              </a:defRPr>
            </a:defPPr>
            <a:lvl1pPr algn="l">
              <a:defRPr sz="2325" b="0">
                <a:solidFill>
                  <a:srgbClr val="22D3EE"/>
                </a:solidFill>
              </a:defRPr>
            </a:lvl1pPr>
            <a:lvl2pPr algn="l">
              <a:defRPr sz="2325" b="0">
                <a:solidFill>
                  <a:srgbClr val="22D3EE"/>
                </a:solidFill>
              </a:defRPr>
            </a:lvl2pPr>
            <a:lvl3pPr algn="l">
              <a:defRPr sz="2325" b="0">
                <a:solidFill>
                  <a:srgbClr val="22D3EE"/>
                </a:solidFill>
              </a:defRPr>
            </a:lvl3pPr>
            <a:lvl4pPr algn="l">
              <a:defRPr sz="2325" b="0">
                <a:solidFill>
                  <a:srgbClr val="22D3EE"/>
                </a:solidFill>
              </a:defRPr>
            </a:lvl4pPr>
            <a:lvl5pPr algn="l">
              <a:defRPr sz="2325" b="0">
                <a:solidFill>
                  <a:srgbClr val="22D3EE"/>
                </a:solidFill>
              </a:defRPr>
            </a:lvl5pPr>
            <a:lvl6pPr algn="l">
              <a:defRPr sz="2325" b="0">
                <a:solidFill>
                  <a:srgbClr val="22D3EE"/>
                </a:solidFill>
              </a:defRPr>
            </a:lvl6pPr>
            <a:lvl7pPr algn="l">
              <a:defRPr sz="2325" b="0">
                <a:solidFill>
                  <a:srgbClr val="22D3EE"/>
                </a:solidFill>
              </a:defRPr>
            </a:lvl7pPr>
            <a:lvl8pPr algn="l">
              <a:defRPr sz="2325" b="0">
                <a:solidFill>
                  <a:srgbClr val="22D3EE"/>
                </a:solidFill>
              </a:defRPr>
            </a:lvl8pPr>
            <a:lvl9pPr algn="l">
              <a:defRPr sz="2325" b="0">
                <a:solidFill>
                  <a:srgbClr val="22D3EE"/>
                </a:solidFill>
              </a:defRPr>
            </a:lvl9pPr>
          </a:lstStyle>
          <a:p xmlns:a="http://schemas.openxmlformats.org/drawingml/2006/main">
            <a:pPr algn="l">
              <a:defRPr sz="2325" b="0">
                <a:solidFill>
                  <a:srgbClr val="22D3EE"/>
                </a:solidFill>
              </a:defRPr>
            </a:pPr>
            <a:r>
              <a:rPr sz="2325" b="0">
                <a:solidFill>
                  <a:srgbClr val="22D3EE"/>
                </a:solidFill>
              </a:rPr>
              <a:t>Validation target: persisted transaction, matching stock arithmetic, reports from recorded activity</a:t>
            </a:r>
          </a:p>
        </p:txBody>
      </p:sp>
    </p:spTree>
    <p:extLst>
      <p:ext uri="{BB962C8B-B14F-4D97-AF65-F5344CB8AC3E}">
        <p14:creationId xmlns:p14="http://schemas.microsoft.com/office/powerpoint/2010/main" val="2006630016"/>
      </p:ext>
    </p:extLst>
  </p:cSld>
</p:sld>
</file>

<file path=ppt/slides/slide11.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17" name="text-170">
            <a:extLst xmlns:a="http://schemas.openxmlformats.org/drawingml/2006/main">
              <a:ext uri="{FF2B5EF4-FFF2-40B4-BE49-F238E27FC236}">
                <a16:creationId xmlns:a16="http://schemas.microsoft.com/office/drawing/2014/main" id="{AE37A200-9569-439D-938E-240D0A36A6A4}"/>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Limitations and future enhancements</a:t>
            </a:r>
          </a:p>
        </p:txBody>
      </p:sp>
      <p:sp>
        <p:nvSpPr>
          <p:cNvPr id="2" name="text-171">
            <a:extLst xmlns:a="http://schemas.openxmlformats.org/drawingml/2006/main">
              <a:ext uri="{FF2B5EF4-FFF2-40B4-BE49-F238E27FC236}">
                <a16:creationId xmlns:a16="http://schemas.microsoft.com/office/drawing/2014/main" id="{747831CB-A626-444A-A99F-0D0DE37E25A1}"/>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3</a:t>
            </a:r>
          </a:p>
        </p:txBody>
      </p:sp>
      <p:sp>
        <p:nvSpPr>
          <p:cNvPr id="3" name="text-172">
            <a:extLst xmlns:a="http://schemas.openxmlformats.org/drawingml/2006/main">
              <a:ext uri="{FF2B5EF4-FFF2-40B4-BE49-F238E27FC236}">
                <a16:creationId xmlns:a16="http://schemas.microsoft.com/office/drawing/2014/main" id="{C04E1B83-551B-411C-B737-CBF14251811E}"/>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11</a:t>
            </a:r>
          </a:p>
        </p:txBody>
      </p:sp>
      <p:sp>
        <p:nvSpPr>
          <p:cNvPr id="4" name="text-173">
            <a:extLst xmlns:a="http://schemas.openxmlformats.org/drawingml/2006/main">
              <a:ext uri="{FF2B5EF4-FFF2-40B4-BE49-F238E27FC236}">
                <a16:creationId xmlns:a16="http://schemas.microsoft.com/office/drawing/2014/main" id="{5B7E561D-AD53-41E0-8F9E-8A979D9C0A7E}"/>
              </a:ext>
            </a:extLst>
          </p:cNvPr>
          <p:cNvSpPr>
            <a:spLocks xmlns:a="http://schemas.openxmlformats.org/drawingml/2006/main" noGrp="1"/>
          </p:cNvSpPr>
          <p:nvPr/>
        </p:nvSpPr>
        <p:spPr>
          <a:xfrm xmlns:a="http://schemas.openxmlformats.org/drawingml/2006/main">
            <a:off x="952500" y="25241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F8FAFC"/>
                </a:solidFill>
              </a:defRPr>
            </a:defPPr>
            <a:lvl1pPr algn="l">
              <a:defRPr sz="3000" b="1">
                <a:solidFill>
                  <a:srgbClr val="F8FAFC"/>
                </a:solidFill>
              </a:defRPr>
            </a:lvl1pPr>
            <a:lvl2pPr algn="l">
              <a:defRPr sz="3000" b="1">
                <a:solidFill>
                  <a:srgbClr val="F8FAFC"/>
                </a:solidFill>
              </a:defRPr>
            </a:lvl2pPr>
            <a:lvl3pPr algn="l">
              <a:defRPr sz="3000" b="1">
                <a:solidFill>
                  <a:srgbClr val="F8FAFC"/>
                </a:solidFill>
              </a:defRPr>
            </a:lvl3pPr>
            <a:lvl4pPr algn="l">
              <a:defRPr sz="3000" b="1">
                <a:solidFill>
                  <a:srgbClr val="F8FAFC"/>
                </a:solidFill>
              </a:defRPr>
            </a:lvl4pPr>
            <a:lvl5pPr algn="l">
              <a:defRPr sz="3000" b="1">
                <a:solidFill>
                  <a:srgbClr val="F8FAFC"/>
                </a:solidFill>
              </a:defRPr>
            </a:lvl5pPr>
            <a:lvl6pPr algn="l">
              <a:defRPr sz="3000" b="1">
                <a:solidFill>
                  <a:srgbClr val="F8FAFC"/>
                </a:solidFill>
              </a:defRPr>
            </a:lvl6pPr>
            <a:lvl7pPr algn="l">
              <a:defRPr sz="3000" b="1">
                <a:solidFill>
                  <a:srgbClr val="F8FAFC"/>
                </a:solidFill>
              </a:defRPr>
            </a:lvl7pPr>
            <a:lvl8pPr algn="l">
              <a:defRPr sz="3000" b="1">
                <a:solidFill>
                  <a:srgbClr val="F8FAFC"/>
                </a:solidFill>
              </a:defRPr>
            </a:lvl8pPr>
            <a:lvl9pPr algn="l">
              <a:defRPr sz="3000" b="1">
                <a:solidFill>
                  <a:srgbClr val="F8FAFC"/>
                </a:solidFill>
              </a:defRPr>
            </a:lvl9pPr>
          </a:lstStyle>
          <a:p xmlns:a="http://schemas.openxmlformats.org/drawingml/2006/main">
            <a:pPr algn="l">
              <a:defRPr sz="3000" b="1">
                <a:solidFill>
                  <a:srgbClr val="F8FAFC"/>
                </a:solidFill>
              </a:defRPr>
            </a:pPr>
            <a:r>
              <a:rPr sz="3000" b="1">
                <a:solidFill>
                  <a:srgbClr val="F8FAFC"/>
                </a:solidFill>
              </a:rPr>
              <a:t>Current limitations</a:t>
            </a:r>
          </a:p>
        </p:txBody>
      </p:sp>
      <p:sp>
        <p:nvSpPr>
          <p:cNvPr id="5" name="text-174">
            <a:extLst xmlns:a="http://schemas.openxmlformats.org/drawingml/2006/main">
              <a:ext uri="{FF2B5EF4-FFF2-40B4-BE49-F238E27FC236}">
                <a16:creationId xmlns:a16="http://schemas.microsoft.com/office/drawing/2014/main" id="{C316A451-3779-4C9A-8B93-77B30A5AE84E}"/>
              </a:ext>
            </a:extLst>
          </p:cNvPr>
          <p:cNvSpPr>
            <a:spLocks xmlns:a="http://schemas.openxmlformats.org/drawingml/2006/main" noGrp="1"/>
          </p:cNvSpPr>
          <p:nvPr/>
        </p:nvSpPr>
        <p:spPr>
          <a:xfrm xmlns:a="http://schemas.openxmlformats.org/drawingml/2006/main">
            <a:off x="9906000" y="2524125"/>
            <a:ext cx="742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F8FAFC"/>
                </a:solidFill>
              </a:defRPr>
            </a:defPPr>
            <a:lvl1pPr algn="l">
              <a:defRPr sz="3000" b="1">
                <a:solidFill>
                  <a:srgbClr val="F8FAFC"/>
                </a:solidFill>
              </a:defRPr>
            </a:lvl1pPr>
            <a:lvl2pPr algn="l">
              <a:defRPr sz="3000" b="1">
                <a:solidFill>
                  <a:srgbClr val="F8FAFC"/>
                </a:solidFill>
              </a:defRPr>
            </a:lvl2pPr>
            <a:lvl3pPr algn="l">
              <a:defRPr sz="3000" b="1">
                <a:solidFill>
                  <a:srgbClr val="F8FAFC"/>
                </a:solidFill>
              </a:defRPr>
            </a:lvl3pPr>
            <a:lvl4pPr algn="l">
              <a:defRPr sz="3000" b="1">
                <a:solidFill>
                  <a:srgbClr val="F8FAFC"/>
                </a:solidFill>
              </a:defRPr>
            </a:lvl4pPr>
            <a:lvl5pPr algn="l">
              <a:defRPr sz="3000" b="1">
                <a:solidFill>
                  <a:srgbClr val="F8FAFC"/>
                </a:solidFill>
              </a:defRPr>
            </a:lvl5pPr>
            <a:lvl6pPr algn="l">
              <a:defRPr sz="3000" b="1">
                <a:solidFill>
                  <a:srgbClr val="F8FAFC"/>
                </a:solidFill>
              </a:defRPr>
            </a:lvl6pPr>
            <a:lvl7pPr algn="l">
              <a:defRPr sz="3000" b="1">
                <a:solidFill>
                  <a:srgbClr val="F8FAFC"/>
                </a:solidFill>
              </a:defRPr>
            </a:lvl7pPr>
            <a:lvl8pPr algn="l">
              <a:defRPr sz="3000" b="1">
                <a:solidFill>
                  <a:srgbClr val="F8FAFC"/>
                </a:solidFill>
              </a:defRPr>
            </a:lvl8pPr>
            <a:lvl9pPr algn="l">
              <a:defRPr sz="3000" b="1">
                <a:solidFill>
                  <a:srgbClr val="F8FAFC"/>
                </a:solidFill>
              </a:defRPr>
            </a:lvl9pPr>
          </a:lstStyle>
          <a:p xmlns:a="http://schemas.openxmlformats.org/drawingml/2006/main">
            <a:pPr algn="l">
              <a:defRPr sz="3000" b="1">
                <a:solidFill>
                  <a:srgbClr val="F8FAFC"/>
                </a:solidFill>
              </a:defRPr>
            </a:pPr>
            <a:r>
              <a:rPr sz="3000" b="1">
                <a:solidFill>
                  <a:srgbClr val="F8FAFC"/>
                </a:solidFill>
              </a:rPr>
              <a:t>Potential future work</a:t>
            </a:r>
          </a:p>
        </p:txBody>
      </p:sp>
      <p:sp>
        <p:nvSpPr>
          <p:cNvPr id="6" name="text-175">
            <a:extLst xmlns:a="http://schemas.openxmlformats.org/drawingml/2006/main">
              <a:ext uri="{FF2B5EF4-FFF2-40B4-BE49-F238E27FC236}">
                <a16:creationId xmlns:a16="http://schemas.microsoft.com/office/drawing/2014/main" id="{11F59683-124D-4058-9FCD-4C5660562FF8}"/>
              </a:ext>
            </a:extLst>
          </p:cNvPr>
          <p:cNvSpPr>
            <a:spLocks xmlns:a="http://schemas.openxmlformats.org/drawingml/2006/main" noGrp="1"/>
          </p:cNvSpPr>
          <p:nvPr/>
        </p:nvSpPr>
        <p:spPr>
          <a:xfrm xmlns:a="http://schemas.openxmlformats.org/drawingml/2006/main">
            <a:off x="952500" y="3571875"/>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Online-first with bounded queues</a:t>
            </a:r>
          </a:p>
        </p:txBody>
      </p:sp>
      <p:sp>
        <p:nvSpPr>
          <p:cNvPr id="7" name="text-176">
            <a:extLst xmlns:a="http://schemas.openxmlformats.org/drawingml/2006/main">
              <a:ext uri="{FF2B5EF4-FFF2-40B4-BE49-F238E27FC236}">
                <a16:creationId xmlns:a16="http://schemas.microsoft.com/office/drawing/2014/main" id="{F0AA1C42-77DC-4B5F-B5AB-A601FAF61C75}"/>
              </a:ext>
            </a:extLst>
          </p:cNvPr>
          <p:cNvSpPr>
            <a:spLocks xmlns:a="http://schemas.openxmlformats.org/drawingml/2006/main" noGrp="1"/>
          </p:cNvSpPr>
          <p:nvPr/>
        </p:nvSpPr>
        <p:spPr>
          <a:xfrm xmlns:a="http://schemas.openxmlformats.org/drawingml/2006/main">
            <a:off x="952500" y="459105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No automatic offline conflict resolution</a:t>
            </a:r>
          </a:p>
        </p:txBody>
      </p:sp>
      <p:sp>
        <p:nvSpPr>
          <p:cNvPr id="8" name="text-177">
            <a:extLst xmlns:a="http://schemas.openxmlformats.org/drawingml/2006/main">
              <a:ext uri="{FF2B5EF4-FFF2-40B4-BE49-F238E27FC236}">
                <a16:creationId xmlns:a16="http://schemas.microsoft.com/office/drawing/2014/main" id="{A503FF90-C3D2-4DC9-A2D8-55B7EF71E708}"/>
              </a:ext>
            </a:extLst>
          </p:cNvPr>
          <p:cNvSpPr>
            <a:spLocks xmlns:a="http://schemas.openxmlformats.org/drawingml/2006/main" noGrp="1"/>
          </p:cNvSpPr>
          <p:nvPr/>
        </p:nvSpPr>
        <p:spPr>
          <a:xfrm xmlns:a="http://schemas.openxmlformats.org/drawingml/2006/main">
            <a:off x="952500" y="5610225"/>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Live migration and RLS evidence pending</a:t>
            </a:r>
          </a:p>
        </p:txBody>
      </p:sp>
      <p:sp>
        <p:nvSpPr>
          <p:cNvPr id="9" name="text-178">
            <a:extLst xmlns:a="http://schemas.openxmlformats.org/drawingml/2006/main">
              <a:ext uri="{FF2B5EF4-FFF2-40B4-BE49-F238E27FC236}">
                <a16:creationId xmlns:a16="http://schemas.microsoft.com/office/drawing/2014/main" id="{04C382CD-2765-4D83-834D-E01233FEEFF2}"/>
              </a:ext>
            </a:extLst>
          </p:cNvPr>
          <p:cNvSpPr>
            <a:spLocks xmlns:a="http://schemas.openxmlformats.org/drawingml/2006/main" noGrp="1"/>
          </p:cNvSpPr>
          <p:nvPr/>
        </p:nvSpPr>
        <p:spPr>
          <a:xfrm xmlns:a="http://schemas.openxmlformats.org/drawingml/2006/main">
            <a:off x="952500" y="6629400"/>
            <a:ext cx="771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No full accounting or tax-filing system</a:t>
            </a:r>
          </a:p>
        </p:txBody>
      </p:sp>
      <p:sp>
        <p:nvSpPr>
          <p:cNvPr id="10" name="text-179">
            <a:extLst xmlns:a="http://schemas.openxmlformats.org/drawingml/2006/main">
              <a:ext uri="{FF2B5EF4-FFF2-40B4-BE49-F238E27FC236}">
                <a16:creationId xmlns:a16="http://schemas.microsoft.com/office/drawing/2014/main" id="{4FF58084-8DAF-420D-A0D9-FAD563DBFBA6}"/>
              </a:ext>
            </a:extLst>
          </p:cNvPr>
          <p:cNvSpPr>
            <a:spLocks xmlns:a="http://schemas.openxmlformats.org/drawingml/2006/main" noGrp="1"/>
          </p:cNvSpPr>
          <p:nvPr/>
        </p:nvSpPr>
        <p:spPr>
          <a:xfrm xmlns:a="http://schemas.openxmlformats.org/drawingml/2006/main">
            <a:off x="9906000" y="3571875"/>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Queue recovery and conflict handling</a:t>
            </a:r>
          </a:p>
        </p:txBody>
      </p:sp>
      <p:sp>
        <p:nvSpPr>
          <p:cNvPr id="11" name="text-180">
            <a:extLst xmlns:a="http://schemas.openxmlformats.org/drawingml/2006/main">
              <a:ext uri="{FF2B5EF4-FFF2-40B4-BE49-F238E27FC236}">
                <a16:creationId xmlns:a16="http://schemas.microsoft.com/office/drawing/2014/main" id="{E16599EC-F358-4DB7-AAA8-E360B1978C40}"/>
              </a:ext>
            </a:extLst>
          </p:cNvPr>
          <p:cNvSpPr>
            <a:spLocks xmlns:a="http://schemas.openxmlformats.org/drawingml/2006/main" noGrp="1"/>
          </p:cNvSpPr>
          <p:nvPr/>
        </p:nvSpPr>
        <p:spPr>
          <a:xfrm xmlns:a="http://schemas.openxmlformats.org/drawingml/2006/main">
            <a:off x="9906000" y="4591050"/>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Broader concurrency and role tests</a:t>
            </a:r>
          </a:p>
        </p:txBody>
      </p:sp>
      <p:sp>
        <p:nvSpPr>
          <p:cNvPr id="12" name="text-181">
            <a:extLst xmlns:a="http://schemas.openxmlformats.org/drawingml/2006/main">
              <a:ext uri="{FF2B5EF4-FFF2-40B4-BE49-F238E27FC236}">
                <a16:creationId xmlns:a16="http://schemas.microsoft.com/office/drawing/2014/main" id="{62C52A38-99DD-4589-BB48-73A2DA471510}"/>
              </a:ext>
            </a:extLst>
          </p:cNvPr>
          <p:cNvSpPr>
            <a:spLocks xmlns:a="http://schemas.openxmlformats.org/drawingml/2006/main" noGrp="1"/>
          </p:cNvSpPr>
          <p:nvPr/>
        </p:nvSpPr>
        <p:spPr>
          <a:xfrm xmlns:a="http://schemas.openxmlformats.org/drawingml/2006/main">
            <a:off x="9906000" y="5610225"/>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Receipt OCR, subject to scope approval</a:t>
            </a:r>
          </a:p>
        </p:txBody>
      </p:sp>
      <p:sp>
        <p:nvSpPr>
          <p:cNvPr id="13" name="text-182">
            <a:extLst xmlns:a="http://schemas.openxmlformats.org/drawingml/2006/main">
              <a:ext uri="{FF2B5EF4-FFF2-40B4-BE49-F238E27FC236}">
                <a16:creationId xmlns:a16="http://schemas.microsoft.com/office/drawing/2014/main" id="{44DBC0AF-9451-44B6-9B5A-C9338C6865E3}"/>
              </a:ext>
            </a:extLst>
          </p:cNvPr>
          <p:cNvSpPr>
            <a:spLocks xmlns:a="http://schemas.openxmlformats.org/drawingml/2006/main" noGrp="1"/>
          </p:cNvSpPr>
          <p:nvPr/>
        </p:nvSpPr>
        <p:spPr>
          <a:xfrm xmlns:a="http://schemas.openxmlformats.org/drawingml/2006/main">
            <a:off x="9906000" y="6629400"/>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A9B8CB"/>
                </a:solidFill>
              </a:defRPr>
            </a:defPPr>
            <a:lvl1pPr algn="l">
              <a:defRPr sz="2550" b="0">
                <a:solidFill>
                  <a:srgbClr val="A9B8CB"/>
                </a:solidFill>
              </a:defRPr>
            </a:lvl1pPr>
            <a:lvl2pPr algn="l">
              <a:defRPr sz="2550" b="0">
                <a:solidFill>
                  <a:srgbClr val="A9B8CB"/>
                </a:solidFill>
              </a:defRPr>
            </a:lvl2pPr>
            <a:lvl3pPr algn="l">
              <a:defRPr sz="2550" b="0">
                <a:solidFill>
                  <a:srgbClr val="A9B8CB"/>
                </a:solidFill>
              </a:defRPr>
            </a:lvl3pPr>
            <a:lvl4pPr algn="l">
              <a:defRPr sz="2550" b="0">
                <a:solidFill>
                  <a:srgbClr val="A9B8CB"/>
                </a:solidFill>
              </a:defRPr>
            </a:lvl4pPr>
            <a:lvl5pPr algn="l">
              <a:defRPr sz="2550" b="0">
                <a:solidFill>
                  <a:srgbClr val="A9B8CB"/>
                </a:solidFill>
              </a:defRPr>
            </a:lvl5pPr>
            <a:lvl6pPr algn="l">
              <a:defRPr sz="2550" b="0">
                <a:solidFill>
                  <a:srgbClr val="A9B8CB"/>
                </a:solidFill>
              </a:defRPr>
            </a:lvl6pPr>
            <a:lvl7pPr algn="l">
              <a:defRPr sz="2550" b="0">
                <a:solidFill>
                  <a:srgbClr val="A9B8CB"/>
                </a:solidFill>
              </a:defRPr>
            </a:lvl7pPr>
            <a:lvl8pPr algn="l">
              <a:defRPr sz="2550" b="0">
                <a:solidFill>
                  <a:srgbClr val="A9B8CB"/>
                </a:solidFill>
              </a:defRPr>
            </a:lvl8pPr>
            <a:lvl9pPr algn="l">
              <a:defRPr sz="2550" b="0">
                <a:solidFill>
                  <a:srgbClr val="A9B8CB"/>
                </a:solidFill>
              </a:defRPr>
            </a:lvl9pPr>
          </a:lstStyle>
          <a:p xmlns:a="http://schemas.openxmlformats.org/drawingml/2006/main">
            <a:pPr algn="l">
              <a:defRPr sz="2550" b="0">
                <a:solidFill>
                  <a:srgbClr val="A9B8CB"/>
                </a:solidFill>
              </a:defRPr>
            </a:pPr>
            <a:r>
              <a:rPr sz="2550" b="0">
                <a:solidFill>
                  <a:srgbClr val="A9B8CB"/>
                </a:solidFill>
              </a:rPr>
              <a:t>Forecasting, subject to validation</a:t>
            </a:r>
          </a:p>
        </p:txBody>
      </p:sp>
      <p:sp>
        <p:nvSpPr>
          <p:cNvPr id="14" name="rule-183">
            <a:extLst xmlns:a="http://schemas.openxmlformats.org/drawingml/2006/main">
              <a:ext uri="{FF2B5EF4-FFF2-40B4-BE49-F238E27FC236}">
                <a16:creationId xmlns:a16="http://schemas.microsoft.com/office/drawing/2014/main" id="{D3F3CEB8-498F-4042-8ACB-31E24CA59B7D}"/>
              </a:ext>
            </a:extLst>
          </p:cNvPr>
          <p:cNvSpPr>
            <a:spLocks xmlns:a="http://schemas.openxmlformats.org/drawingml/2006/main" noGrp="1"/>
          </p:cNvSpPr>
          <p:nvPr/>
        </p:nvSpPr>
        <p:spPr>
          <a:xfrm xmlns:a="http://schemas.openxmlformats.org/drawingml/2006/main">
            <a:off x="952500" y="8058150"/>
            <a:ext cx="16383000" cy="0"/>
          </a:xfrm>
          <a:prstGeom xmlns:a="http://schemas.openxmlformats.org/drawingml/2006/main" prst="line">
            <a:avLst/>
          </a:prstGeom>
          <a:ln xmlns:a="http://schemas.openxmlformats.org/drawingml/2006/main" w="19050">
            <a:solidFill>
              <a:srgbClr val="334155"/>
            </a:solidFill>
            <a:prstDash val="solid"/>
          </a:ln>
        </p:spPr>
      </p:sp>
      <p:sp>
        <p:nvSpPr>
          <p:cNvPr id="15" name="text-184">
            <a:extLst xmlns:a="http://schemas.openxmlformats.org/drawingml/2006/main">
              <a:ext uri="{FF2B5EF4-FFF2-40B4-BE49-F238E27FC236}">
                <a16:creationId xmlns:a16="http://schemas.microsoft.com/office/drawing/2014/main" id="{2B6A196D-B326-4D31-BF0B-3B9F939F15A2}"/>
              </a:ext>
            </a:extLst>
          </p:cNvPr>
          <p:cNvSpPr>
            <a:spLocks xmlns:a="http://schemas.openxmlformats.org/drawingml/2006/main" noGrp="1"/>
          </p:cNvSpPr>
          <p:nvPr/>
        </p:nvSpPr>
        <p:spPr>
          <a:xfrm xmlns:a="http://schemas.openxmlformats.org/drawingml/2006/main">
            <a:off x="952500" y="841057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22D3EE"/>
                </a:solidFill>
              </a:defRPr>
            </a:defPPr>
            <a:lvl1pPr algn="l">
              <a:defRPr sz="2925" b="1">
                <a:solidFill>
                  <a:srgbClr val="22D3EE"/>
                </a:solidFill>
              </a:defRPr>
            </a:lvl1pPr>
            <a:lvl2pPr algn="l">
              <a:defRPr sz="2925" b="1">
                <a:solidFill>
                  <a:srgbClr val="22D3EE"/>
                </a:solidFill>
              </a:defRPr>
            </a:lvl2pPr>
            <a:lvl3pPr algn="l">
              <a:defRPr sz="2925" b="1">
                <a:solidFill>
                  <a:srgbClr val="22D3EE"/>
                </a:solidFill>
              </a:defRPr>
            </a:lvl3pPr>
            <a:lvl4pPr algn="l">
              <a:defRPr sz="2925" b="1">
                <a:solidFill>
                  <a:srgbClr val="22D3EE"/>
                </a:solidFill>
              </a:defRPr>
            </a:lvl4pPr>
            <a:lvl5pPr algn="l">
              <a:defRPr sz="2925" b="1">
                <a:solidFill>
                  <a:srgbClr val="22D3EE"/>
                </a:solidFill>
              </a:defRPr>
            </a:lvl5pPr>
            <a:lvl6pPr algn="l">
              <a:defRPr sz="2925" b="1">
                <a:solidFill>
                  <a:srgbClr val="22D3EE"/>
                </a:solidFill>
              </a:defRPr>
            </a:lvl6pPr>
            <a:lvl7pPr algn="l">
              <a:defRPr sz="2925" b="1">
                <a:solidFill>
                  <a:srgbClr val="22D3EE"/>
                </a:solidFill>
              </a:defRPr>
            </a:lvl7pPr>
            <a:lvl8pPr algn="l">
              <a:defRPr sz="2925" b="1">
                <a:solidFill>
                  <a:srgbClr val="22D3EE"/>
                </a:solidFill>
              </a:defRPr>
            </a:lvl8pPr>
            <a:lvl9pPr algn="l">
              <a:defRPr sz="2925" b="1">
                <a:solidFill>
                  <a:srgbClr val="22D3EE"/>
                </a:solidFill>
              </a:defRPr>
            </a:lvl9pPr>
          </a:lstStyle>
          <a:p xmlns:a="http://schemas.openxmlformats.org/drawingml/2006/main">
            <a:pPr algn="l">
              <a:defRPr sz="2925" b="1">
                <a:solidFill>
                  <a:srgbClr val="22D3EE"/>
                </a:solidFill>
              </a:defRPr>
            </a:pPr>
            <a:r>
              <a:rPr sz="2925" b="1">
                <a:solidFill>
                  <a:srgbClr val="22D3EE"/>
                </a:solidFill>
              </a:rPr>
              <a:t>Rule-based calculations fit the current scope</a:t>
            </a:r>
          </a:p>
        </p:txBody>
      </p:sp>
      <p:sp>
        <p:nvSpPr>
          <p:cNvPr id="16" name="text-185">
            <a:extLst xmlns:a="http://schemas.openxmlformats.org/drawingml/2006/main">
              <a:ext uri="{FF2B5EF4-FFF2-40B4-BE49-F238E27FC236}">
                <a16:creationId xmlns:a16="http://schemas.microsoft.com/office/drawing/2014/main" id="{778BFF1C-A24F-4F8C-B5E2-114C4BA28C01}"/>
              </a:ext>
            </a:extLst>
          </p:cNvPr>
          <p:cNvSpPr>
            <a:spLocks xmlns:a="http://schemas.openxmlformats.org/drawingml/2006/main" noGrp="1"/>
          </p:cNvSpPr>
          <p:nvPr/>
        </p:nvSpPr>
        <p:spPr>
          <a:xfrm xmlns:a="http://schemas.openxmlformats.org/drawingml/2006/main">
            <a:off x="952500" y="9039225"/>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A9B8CB"/>
                </a:solidFill>
              </a:defRPr>
            </a:defPPr>
            <a:lvl1pPr algn="l">
              <a:defRPr sz="2100" b="0">
                <a:solidFill>
                  <a:srgbClr val="A9B8CB"/>
                </a:solidFill>
              </a:defRPr>
            </a:lvl1pPr>
            <a:lvl2pPr algn="l">
              <a:defRPr sz="2100" b="0">
                <a:solidFill>
                  <a:srgbClr val="A9B8CB"/>
                </a:solidFill>
              </a:defRPr>
            </a:lvl2pPr>
            <a:lvl3pPr algn="l">
              <a:defRPr sz="2100" b="0">
                <a:solidFill>
                  <a:srgbClr val="A9B8CB"/>
                </a:solidFill>
              </a:defRPr>
            </a:lvl3pPr>
            <a:lvl4pPr algn="l">
              <a:defRPr sz="2100" b="0">
                <a:solidFill>
                  <a:srgbClr val="A9B8CB"/>
                </a:solidFill>
              </a:defRPr>
            </a:lvl4pPr>
            <a:lvl5pPr algn="l">
              <a:defRPr sz="2100" b="0">
                <a:solidFill>
                  <a:srgbClr val="A9B8CB"/>
                </a:solidFill>
              </a:defRPr>
            </a:lvl5pPr>
            <a:lvl6pPr algn="l">
              <a:defRPr sz="2100" b="0">
                <a:solidFill>
                  <a:srgbClr val="A9B8CB"/>
                </a:solidFill>
              </a:defRPr>
            </a:lvl6pPr>
            <a:lvl7pPr algn="l">
              <a:defRPr sz="2100" b="0">
                <a:solidFill>
                  <a:srgbClr val="A9B8CB"/>
                </a:solidFill>
              </a:defRPr>
            </a:lvl7pPr>
            <a:lvl8pPr algn="l">
              <a:defRPr sz="2100" b="0">
                <a:solidFill>
                  <a:srgbClr val="A9B8CB"/>
                </a:solidFill>
              </a:defRPr>
            </a:lvl8pPr>
            <a:lvl9pPr algn="l">
              <a:defRPr sz="2100" b="0">
                <a:solidFill>
                  <a:srgbClr val="A9B8CB"/>
                </a:solidFill>
              </a:defRPr>
            </a:lvl9pPr>
          </a:lstStyle>
          <a:p xmlns:a="http://schemas.openxmlformats.org/drawingml/2006/main">
            <a:pPr algn="l">
              <a:defRPr sz="2100" b="0">
                <a:solidFill>
                  <a:srgbClr val="A9B8CB"/>
                </a:solidFill>
              </a:defRPr>
            </a:pPr>
            <a:r>
              <a:rPr sz="2100" b="0">
                <a:solidFill>
                  <a:srgbClr val="A9B8CB"/>
                </a:solidFill>
              </a:rPr>
              <a:t>Configured conversions and recorded consumption support explainable stock decisions. No AI/ML claim.</a:t>
            </a:r>
          </a:p>
        </p:txBody>
      </p:sp>
    </p:spTree>
    <p:extLst>
      <p:ext uri="{BB962C8B-B14F-4D97-AF65-F5344CB8AC3E}">
        <p14:creationId xmlns:p14="http://schemas.microsoft.com/office/powerpoint/2010/main" val="165495236"/>
      </p:ext>
    </p:extLst>
  </p:cSld>
</p:sld>
</file>

<file path=ppt/slides/slide12.xml><?xml version="1.0" encoding="utf-8"?>
<p:sld xmlns:p="http://schemas.openxmlformats.org/presentationml/2006/main">
  <p:cSld>
    <p:bg>
      <p:bgPr>
        <a:solidFill xmlns:a="http://schemas.openxmlformats.org/drawingml/2006/main">
          <a:srgbClr val="0B1120"/>
        </a:solidFill>
      </p:bgPr>
    </p:bg>
    <p:spTree>
      <p:nvGrpSpPr>
        <p:cNvPr id="1" name=""/>
        <p:cNvGrpSpPr/>
        <p:nvPr/>
      </p:nvGrpSpPr>
      <p:grpSpPr>
        <a:xfrm xmlns:a="http://schemas.openxmlformats.org/drawingml/2006/main"/>
      </p:grpSpPr>
      <p:sp>
        <p:nvSpPr>
          <p:cNvPr id="8" name="text-186">
            <a:extLst xmlns:a="http://schemas.openxmlformats.org/drawingml/2006/main">
              <a:ext uri="{FF2B5EF4-FFF2-40B4-BE49-F238E27FC236}">
                <a16:creationId xmlns:a16="http://schemas.microsoft.com/office/drawing/2014/main" id="{9A153485-F5F2-479C-A8AE-4D42A90B0765}"/>
              </a:ext>
            </a:extLst>
          </p:cNvPr>
          <p:cNvSpPr>
            <a:spLocks xmlns:a="http://schemas.openxmlformats.org/drawingml/2006/main" noGrp="1"/>
          </p:cNvSpPr>
          <p:nvPr/>
        </p:nvSpPr>
        <p:spPr>
          <a:xfrm xmlns:a="http://schemas.openxmlformats.org/drawingml/2006/main">
            <a:off x="952500" y="762000"/>
            <a:ext cx="1619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8FAFC"/>
                </a:solidFill>
              </a:defRPr>
            </a:defPPr>
            <a:lvl1pPr algn="l">
              <a:defRPr sz="4800" b="1">
                <a:solidFill>
                  <a:srgbClr val="F8FAFC"/>
                </a:solidFill>
              </a:defRPr>
            </a:lvl1pPr>
            <a:lvl2pPr algn="l">
              <a:defRPr sz="4800" b="1">
                <a:solidFill>
                  <a:srgbClr val="F8FAFC"/>
                </a:solidFill>
              </a:defRPr>
            </a:lvl2pPr>
            <a:lvl3pPr algn="l">
              <a:defRPr sz="4800" b="1">
                <a:solidFill>
                  <a:srgbClr val="F8FAFC"/>
                </a:solidFill>
              </a:defRPr>
            </a:lvl3pPr>
            <a:lvl4pPr algn="l">
              <a:defRPr sz="4800" b="1">
                <a:solidFill>
                  <a:srgbClr val="F8FAFC"/>
                </a:solidFill>
              </a:defRPr>
            </a:lvl4pPr>
            <a:lvl5pPr algn="l">
              <a:defRPr sz="4800" b="1">
                <a:solidFill>
                  <a:srgbClr val="F8FAFC"/>
                </a:solidFill>
              </a:defRPr>
            </a:lvl5pPr>
            <a:lvl6pPr algn="l">
              <a:defRPr sz="4800" b="1">
                <a:solidFill>
                  <a:srgbClr val="F8FAFC"/>
                </a:solidFill>
              </a:defRPr>
            </a:lvl6pPr>
            <a:lvl7pPr algn="l">
              <a:defRPr sz="4800" b="1">
                <a:solidFill>
                  <a:srgbClr val="F8FAFC"/>
                </a:solidFill>
              </a:defRPr>
            </a:lvl7pPr>
            <a:lvl8pPr algn="l">
              <a:defRPr sz="4800" b="1">
                <a:solidFill>
                  <a:srgbClr val="F8FAFC"/>
                </a:solidFill>
              </a:defRPr>
            </a:lvl8pPr>
            <a:lvl9pPr algn="l">
              <a:defRPr sz="4800" b="1">
                <a:solidFill>
                  <a:srgbClr val="F8FAFC"/>
                </a:solidFill>
              </a:defRPr>
            </a:lvl9pPr>
          </a:lstStyle>
          <a:p xmlns:a="http://schemas.openxmlformats.org/drawingml/2006/main">
            <a:pPr algn="l">
              <a:defRPr sz="4800" b="1">
                <a:solidFill>
                  <a:srgbClr val="F8FAFC"/>
                </a:solidFill>
              </a:defRPr>
            </a:pPr>
            <a:r>
              <a:rPr sz="4800" b="1">
                <a:solidFill>
                  <a:srgbClr val="F8FAFC"/>
                </a:solidFill>
              </a:rPr>
              <a:t>Kodigo</a:t>
            </a:r>
          </a:p>
        </p:txBody>
      </p:sp>
      <p:sp>
        <p:nvSpPr>
          <p:cNvPr id="2" name="text-187">
            <a:extLst xmlns:a="http://schemas.openxmlformats.org/drawingml/2006/main">
              <a:ext uri="{FF2B5EF4-FFF2-40B4-BE49-F238E27FC236}">
                <a16:creationId xmlns:a16="http://schemas.microsoft.com/office/drawing/2014/main" id="{00D0D622-C7F6-488A-9DBD-523F5B1345B3}"/>
              </a:ext>
            </a:extLst>
          </p:cNvPr>
          <p:cNvSpPr>
            <a:spLocks xmlns:a="http://schemas.openxmlformats.org/drawingml/2006/main" noGrp="1"/>
          </p:cNvSpPr>
          <p:nvPr/>
        </p:nvSpPr>
        <p:spPr>
          <a:xfrm xmlns:a="http://schemas.openxmlformats.org/drawingml/2006/main">
            <a:off x="952500" y="95726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9B8CB"/>
                </a:solidFill>
              </a:defRPr>
            </a:defPPr>
            <a:lvl1pPr algn="l">
              <a:defRPr sz="1650" b="0">
                <a:solidFill>
                  <a:srgbClr val="A9B8CB"/>
                </a:solidFill>
              </a:defRPr>
            </a:lvl1pPr>
            <a:lvl2pPr algn="l">
              <a:defRPr sz="1650" b="0">
                <a:solidFill>
                  <a:srgbClr val="A9B8CB"/>
                </a:solidFill>
              </a:defRPr>
            </a:lvl2pPr>
            <a:lvl3pPr algn="l">
              <a:defRPr sz="1650" b="0">
                <a:solidFill>
                  <a:srgbClr val="A9B8CB"/>
                </a:solidFill>
              </a:defRPr>
            </a:lvl3pPr>
            <a:lvl4pPr algn="l">
              <a:defRPr sz="1650" b="0">
                <a:solidFill>
                  <a:srgbClr val="A9B8CB"/>
                </a:solidFill>
              </a:defRPr>
            </a:lvl4pPr>
            <a:lvl5pPr algn="l">
              <a:defRPr sz="1650" b="0">
                <a:solidFill>
                  <a:srgbClr val="A9B8CB"/>
                </a:solidFill>
              </a:defRPr>
            </a:lvl5pPr>
            <a:lvl6pPr algn="l">
              <a:defRPr sz="1650" b="0">
                <a:solidFill>
                  <a:srgbClr val="A9B8CB"/>
                </a:solidFill>
              </a:defRPr>
            </a:lvl6pPr>
            <a:lvl7pPr algn="l">
              <a:defRPr sz="1650" b="0">
                <a:solidFill>
                  <a:srgbClr val="A9B8CB"/>
                </a:solidFill>
              </a:defRPr>
            </a:lvl7pPr>
            <a:lvl8pPr algn="l">
              <a:defRPr sz="1650" b="0">
                <a:solidFill>
                  <a:srgbClr val="A9B8CB"/>
                </a:solidFill>
              </a:defRPr>
            </a:lvl8pPr>
            <a:lvl9pPr algn="l">
              <a:defRPr sz="1650" b="0">
                <a:solidFill>
                  <a:srgbClr val="A9B8CB"/>
                </a:solidFill>
              </a:defRPr>
            </a:lvl9pPr>
          </a:lstStyle>
          <a:p xmlns:a="http://schemas.openxmlformats.org/drawingml/2006/main">
            <a:pPr algn="l">
              <a:defRPr sz="1650" b="0">
                <a:solidFill>
                  <a:srgbClr val="A9B8CB"/>
                </a:solidFill>
              </a:defRPr>
            </a:pPr>
            <a:r>
              <a:rPr sz="1650" b="0">
                <a:solidFill>
                  <a:srgbClr val="A9B8CB"/>
                </a:solidFill>
              </a:rPr>
              <a:t>Kodigo   /   Presenter 3</a:t>
            </a:r>
          </a:p>
        </p:txBody>
      </p:sp>
      <p:sp>
        <p:nvSpPr>
          <p:cNvPr id="3" name="text-188">
            <a:extLst xmlns:a="http://schemas.openxmlformats.org/drawingml/2006/main">
              <a:ext uri="{FF2B5EF4-FFF2-40B4-BE49-F238E27FC236}">
                <a16:creationId xmlns:a16="http://schemas.microsoft.com/office/drawing/2014/main" id="{438786A7-EC89-4901-A24F-08A463B76A18}"/>
              </a:ext>
            </a:extLst>
          </p:cNvPr>
          <p:cNvSpPr>
            <a:spLocks xmlns:a="http://schemas.openxmlformats.org/drawingml/2006/main" noGrp="1"/>
          </p:cNvSpPr>
          <p:nvPr/>
        </p:nvSpPr>
        <p:spPr>
          <a:xfrm xmlns:a="http://schemas.openxmlformats.org/drawingml/2006/main">
            <a:off x="16287750" y="9572625"/>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A9B8CB"/>
                </a:solidFill>
              </a:defRPr>
            </a:defPPr>
            <a:lvl1pPr algn="r">
              <a:defRPr sz="1650" b="0">
                <a:solidFill>
                  <a:srgbClr val="A9B8CB"/>
                </a:solidFill>
              </a:defRPr>
            </a:lvl1pPr>
            <a:lvl2pPr algn="r">
              <a:defRPr sz="1650" b="0">
                <a:solidFill>
                  <a:srgbClr val="A9B8CB"/>
                </a:solidFill>
              </a:defRPr>
            </a:lvl2pPr>
            <a:lvl3pPr algn="r">
              <a:defRPr sz="1650" b="0">
                <a:solidFill>
                  <a:srgbClr val="A9B8CB"/>
                </a:solidFill>
              </a:defRPr>
            </a:lvl3pPr>
            <a:lvl4pPr algn="r">
              <a:defRPr sz="1650" b="0">
                <a:solidFill>
                  <a:srgbClr val="A9B8CB"/>
                </a:solidFill>
              </a:defRPr>
            </a:lvl4pPr>
            <a:lvl5pPr algn="r">
              <a:defRPr sz="1650" b="0">
                <a:solidFill>
                  <a:srgbClr val="A9B8CB"/>
                </a:solidFill>
              </a:defRPr>
            </a:lvl5pPr>
            <a:lvl6pPr algn="r">
              <a:defRPr sz="1650" b="0">
                <a:solidFill>
                  <a:srgbClr val="A9B8CB"/>
                </a:solidFill>
              </a:defRPr>
            </a:lvl6pPr>
            <a:lvl7pPr algn="r">
              <a:defRPr sz="1650" b="0">
                <a:solidFill>
                  <a:srgbClr val="A9B8CB"/>
                </a:solidFill>
              </a:defRPr>
            </a:lvl7pPr>
            <a:lvl8pPr algn="r">
              <a:defRPr sz="1650" b="0">
                <a:solidFill>
                  <a:srgbClr val="A9B8CB"/>
                </a:solidFill>
              </a:defRPr>
            </a:lvl8pPr>
            <a:lvl9pPr algn="r">
              <a:defRPr sz="1650" b="0">
                <a:solidFill>
                  <a:srgbClr val="A9B8CB"/>
                </a:solidFill>
              </a:defRPr>
            </a:lvl9pPr>
          </a:lstStyle>
          <a:p xmlns:a="http://schemas.openxmlformats.org/drawingml/2006/main">
            <a:pPr algn="r">
              <a:defRPr sz="1650" b="0">
                <a:solidFill>
                  <a:srgbClr val="A9B8CB"/>
                </a:solidFill>
              </a:defRPr>
            </a:pPr>
            <a:r>
              <a:rPr sz="1650" b="0">
                <a:solidFill>
                  <a:srgbClr val="A9B8CB"/>
                </a:solidFill>
              </a:rPr>
              <a:t>12</a:t>
            </a:r>
          </a:p>
        </p:txBody>
      </p:sp>
      <p:sp>
        <p:nvSpPr>
          <p:cNvPr id="4" name="text-189">
            <a:extLst xmlns:a="http://schemas.openxmlformats.org/drawingml/2006/main">
              <a:ext uri="{FF2B5EF4-FFF2-40B4-BE49-F238E27FC236}">
                <a16:creationId xmlns:a16="http://schemas.microsoft.com/office/drawing/2014/main" id="{6B3578B3-1F97-4116-B495-9A789E37C629}"/>
              </a:ext>
            </a:extLst>
          </p:cNvPr>
          <p:cNvSpPr>
            <a:spLocks xmlns:a="http://schemas.openxmlformats.org/drawingml/2006/main" noGrp="1"/>
          </p:cNvSpPr>
          <p:nvPr/>
        </p:nvSpPr>
        <p:spPr>
          <a:xfrm xmlns:a="http://schemas.openxmlformats.org/drawingml/2006/main">
            <a:off x="952500" y="2552700"/>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650" b="1">
                <a:solidFill>
                  <a:srgbClr val="F8FAFC"/>
                </a:solidFill>
              </a:defRPr>
            </a:defPPr>
            <a:lvl1pPr algn="l">
              <a:defRPr sz="4650" b="1">
                <a:solidFill>
                  <a:srgbClr val="F8FAFC"/>
                </a:solidFill>
              </a:defRPr>
            </a:lvl1pPr>
            <a:lvl2pPr algn="l">
              <a:defRPr sz="4650" b="1">
                <a:solidFill>
                  <a:srgbClr val="F8FAFC"/>
                </a:solidFill>
              </a:defRPr>
            </a:lvl2pPr>
            <a:lvl3pPr algn="l">
              <a:defRPr sz="4650" b="1">
                <a:solidFill>
                  <a:srgbClr val="F8FAFC"/>
                </a:solidFill>
              </a:defRPr>
            </a:lvl3pPr>
            <a:lvl4pPr algn="l">
              <a:defRPr sz="4650" b="1">
                <a:solidFill>
                  <a:srgbClr val="F8FAFC"/>
                </a:solidFill>
              </a:defRPr>
            </a:lvl4pPr>
            <a:lvl5pPr algn="l">
              <a:defRPr sz="4650" b="1">
                <a:solidFill>
                  <a:srgbClr val="F8FAFC"/>
                </a:solidFill>
              </a:defRPr>
            </a:lvl5pPr>
            <a:lvl6pPr algn="l">
              <a:defRPr sz="4650" b="1">
                <a:solidFill>
                  <a:srgbClr val="F8FAFC"/>
                </a:solidFill>
              </a:defRPr>
            </a:lvl6pPr>
            <a:lvl7pPr algn="l">
              <a:defRPr sz="4650" b="1">
                <a:solidFill>
                  <a:srgbClr val="F8FAFC"/>
                </a:solidFill>
              </a:defRPr>
            </a:lvl7pPr>
            <a:lvl8pPr algn="l">
              <a:defRPr sz="4650" b="1">
                <a:solidFill>
                  <a:srgbClr val="F8FAFC"/>
                </a:solidFill>
              </a:defRPr>
            </a:lvl8pPr>
            <a:lvl9pPr algn="l">
              <a:defRPr sz="4650" b="1">
                <a:solidFill>
                  <a:srgbClr val="F8FAFC"/>
                </a:solidFill>
              </a:defRPr>
            </a:lvl9pPr>
          </a:lstStyle>
          <a:p xmlns:a="http://schemas.openxmlformats.org/drawingml/2006/main">
            <a:pPr algn="l">
              <a:defRPr sz="4650" b="1">
                <a:solidFill>
                  <a:srgbClr val="F8FAFC"/>
                </a:solidFill>
              </a:defRPr>
            </a:pPr>
            <a:r>
              <a:rPr sz="4650" b="1">
                <a:solidFill>
                  <a:srgbClr val="F8FAFC"/>
                </a:solidFill>
              </a:rPr>
              <a:t>Connected sales and inventory</a:t>
            </a:r>
          </a:p>
        </p:txBody>
      </p:sp>
      <p:sp>
        <p:nvSpPr>
          <p:cNvPr id="5" name="text-190">
            <a:extLst xmlns:a="http://schemas.openxmlformats.org/drawingml/2006/main">
              <a:ext uri="{FF2B5EF4-FFF2-40B4-BE49-F238E27FC236}">
                <a16:creationId xmlns:a16="http://schemas.microsoft.com/office/drawing/2014/main" id="{BB0CA931-4219-4506-8580-BBBED93271E3}"/>
              </a:ext>
            </a:extLst>
          </p:cNvPr>
          <p:cNvSpPr>
            <a:spLocks xmlns:a="http://schemas.openxmlformats.org/drawingml/2006/main" noGrp="1"/>
          </p:cNvSpPr>
          <p:nvPr/>
        </p:nvSpPr>
        <p:spPr>
          <a:xfrm xmlns:a="http://schemas.openxmlformats.org/drawingml/2006/main">
            <a:off x="952500" y="4029075"/>
            <a:ext cx="16192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0">
                <a:solidFill>
                  <a:srgbClr val="A9B8CB"/>
                </a:solidFill>
              </a:defRPr>
            </a:defPPr>
            <a:lvl1pPr algn="l">
              <a:defRPr sz="3300" b="0">
                <a:solidFill>
                  <a:srgbClr val="A9B8CB"/>
                </a:solidFill>
              </a:defRPr>
            </a:lvl1pPr>
            <a:lvl2pPr algn="l">
              <a:defRPr sz="3300" b="0">
                <a:solidFill>
                  <a:srgbClr val="A9B8CB"/>
                </a:solidFill>
              </a:defRPr>
            </a:lvl2pPr>
            <a:lvl3pPr algn="l">
              <a:defRPr sz="3300" b="0">
                <a:solidFill>
                  <a:srgbClr val="A9B8CB"/>
                </a:solidFill>
              </a:defRPr>
            </a:lvl3pPr>
            <a:lvl4pPr algn="l">
              <a:defRPr sz="3300" b="0">
                <a:solidFill>
                  <a:srgbClr val="A9B8CB"/>
                </a:solidFill>
              </a:defRPr>
            </a:lvl4pPr>
            <a:lvl5pPr algn="l">
              <a:defRPr sz="3300" b="0">
                <a:solidFill>
                  <a:srgbClr val="A9B8CB"/>
                </a:solidFill>
              </a:defRPr>
            </a:lvl5pPr>
            <a:lvl6pPr algn="l">
              <a:defRPr sz="3300" b="0">
                <a:solidFill>
                  <a:srgbClr val="A9B8CB"/>
                </a:solidFill>
              </a:defRPr>
            </a:lvl6pPr>
            <a:lvl7pPr algn="l">
              <a:defRPr sz="3300" b="0">
                <a:solidFill>
                  <a:srgbClr val="A9B8CB"/>
                </a:solidFill>
              </a:defRPr>
            </a:lvl7pPr>
            <a:lvl8pPr algn="l">
              <a:defRPr sz="3300" b="0">
                <a:solidFill>
                  <a:srgbClr val="A9B8CB"/>
                </a:solidFill>
              </a:defRPr>
            </a:lvl8pPr>
            <a:lvl9pPr algn="l">
              <a:defRPr sz="3300" b="0">
                <a:solidFill>
                  <a:srgbClr val="A9B8CB"/>
                </a:solidFill>
              </a:defRPr>
            </a:lvl9pPr>
          </a:lstStyle>
          <a:p xmlns:a="http://schemas.openxmlformats.org/drawingml/2006/main">
            <a:pPr algn="l">
              <a:defRPr sz="3300" b="0">
                <a:solidFill>
                  <a:srgbClr val="A9B8CB"/>
                </a:solidFill>
              </a:defRPr>
            </a:pPr>
            <a:r>
              <a:rPr sz="3300" b="0">
                <a:solidFill>
                  <a:srgbClr val="A9B8CB"/>
                </a:solidFill>
              </a:rPr>
              <a:t>Database validation</a:t>
            </a:r>
          </a:p>
          <a:p xmlns:a="http://schemas.openxmlformats.org/drawingml/2006/main">
            <a:pPr algn="l">
              <a:defRPr sz="3300" b="0">
                <a:solidFill>
                  <a:srgbClr val="A9B8CB"/>
                </a:solidFill>
              </a:defRPr>
            </a:pPr>
            <a:r>
              <a:rPr sz="3300" b="0">
                <a:solidFill>
                  <a:srgbClr val="A9B8CB"/>
                </a:solidFill>
              </a:rPr>
              <a:t>Base-unit stock calculations</a:t>
            </a:r>
          </a:p>
          <a:p xmlns:a="http://schemas.openxmlformats.org/drawingml/2006/main">
            <a:pPr algn="l">
              <a:defRPr sz="3300" b="0">
                <a:solidFill>
                  <a:srgbClr val="A9B8CB"/>
                </a:solidFill>
              </a:defRPr>
            </a:pPr>
            <a:r>
              <a:rPr sz="3300" b="0">
                <a:solidFill>
                  <a:srgbClr val="A9B8CB"/>
                </a:solidFill>
              </a:rPr>
              <a:t>Role and store authorization</a:t>
            </a:r>
          </a:p>
        </p:txBody>
      </p:sp>
      <p:sp>
        <p:nvSpPr>
          <p:cNvPr id="6" name="text-191">
            <a:extLst xmlns:a="http://schemas.openxmlformats.org/drawingml/2006/main">
              <a:ext uri="{FF2B5EF4-FFF2-40B4-BE49-F238E27FC236}">
                <a16:creationId xmlns:a16="http://schemas.microsoft.com/office/drawing/2014/main" id="{9349FA4F-13A2-4CE6-84C3-76B951086FD5}"/>
              </a:ext>
            </a:extLst>
          </p:cNvPr>
          <p:cNvSpPr>
            <a:spLocks xmlns:a="http://schemas.openxmlformats.org/drawingml/2006/main" noGrp="1"/>
          </p:cNvSpPr>
          <p:nvPr/>
        </p:nvSpPr>
        <p:spPr>
          <a:xfrm xmlns:a="http://schemas.openxmlformats.org/drawingml/2006/main">
            <a:off x="952500" y="6829425"/>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60A5FA"/>
                </a:solidFill>
              </a:defRPr>
            </a:defPPr>
            <a:lvl1pPr algn="l">
              <a:defRPr sz="2550" b="0">
                <a:solidFill>
                  <a:srgbClr val="60A5FA"/>
                </a:solidFill>
              </a:defRPr>
            </a:lvl1pPr>
            <a:lvl2pPr algn="l">
              <a:defRPr sz="2550" b="0">
                <a:solidFill>
                  <a:srgbClr val="60A5FA"/>
                </a:solidFill>
              </a:defRPr>
            </a:lvl2pPr>
            <a:lvl3pPr algn="l">
              <a:defRPr sz="2550" b="0">
                <a:solidFill>
                  <a:srgbClr val="60A5FA"/>
                </a:solidFill>
              </a:defRPr>
            </a:lvl3pPr>
            <a:lvl4pPr algn="l">
              <a:defRPr sz="2550" b="0">
                <a:solidFill>
                  <a:srgbClr val="60A5FA"/>
                </a:solidFill>
              </a:defRPr>
            </a:lvl4pPr>
            <a:lvl5pPr algn="l">
              <a:defRPr sz="2550" b="0">
                <a:solidFill>
                  <a:srgbClr val="60A5FA"/>
                </a:solidFill>
              </a:defRPr>
            </a:lvl5pPr>
            <a:lvl6pPr algn="l">
              <a:defRPr sz="2550" b="0">
                <a:solidFill>
                  <a:srgbClr val="60A5FA"/>
                </a:solidFill>
              </a:defRPr>
            </a:lvl6pPr>
            <a:lvl7pPr algn="l">
              <a:defRPr sz="2550" b="0">
                <a:solidFill>
                  <a:srgbClr val="60A5FA"/>
                </a:solidFill>
              </a:defRPr>
            </a:lvl7pPr>
            <a:lvl8pPr algn="l">
              <a:defRPr sz="2550" b="0">
                <a:solidFill>
                  <a:srgbClr val="60A5FA"/>
                </a:solidFill>
              </a:defRPr>
            </a:lvl8pPr>
            <a:lvl9pPr algn="l">
              <a:defRPr sz="2550" b="0">
                <a:solidFill>
                  <a:srgbClr val="60A5FA"/>
                </a:solidFill>
              </a:defRPr>
            </a:lvl9pPr>
          </a:lstStyle>
          <a:p xmlns:a="http://schemas.openxmlformats.org/drawingml/2006/main">
            <a:pPr algn="l">
              <a:defRPr sz="2550" b="0">
                <a:solidFill>
                  <a:srgbClr val="60A5FA"/>
                </a:solidFill>
              </a:defRPr>
            </a:pPr>
            <a:r>
              <a:rPr sz="2550" b="0">
                <a:solidFill>
                  <a:srgbClr val="60A5FA"/>
                </a:solidFill>
              </a:rPr>
              <a:t>Repository evidence supports evaluation.</a:t>
            </a:r>
          </a:p>
          <a:p xmlns:a="http://schemas.openxmlformats.org/drawingml/2006/main">
            <a:pPr algn="l">
              <a:defRPr sz="2550" b="0">
                <a:solidFill>
                  <a:srgbClr val="60A5FA"/>
                </a:solidFill>
              </a:defRPr>
            </a:pPr>
            <a:r>
              <a:rPr sz="2550" b="0">
                <a:solidFill>
                  <a:srgbClr val="60A5FA"/>
                </a:solidFill>
              </a:rPr>
              <a:t>Live behavior and deployment checks remain.</a:t>
            </a:r>
          </a:p>
        </p:txBody>
      </p:sp>
      <p:sp>
        <p:nvSpPr>
          <p:cNvPr id="7" name="text-192">
            <a:extLst xmlns:a="http://schemas.openxmlformats.org/drawingml/2006/main">
              <a:ext uri="{FF2B5EF4-FFF2-40B4-BE49-F238E27FC236}">
                <a16:creationId xmlns:a16="http://schemas.microsoft.com/office/drawing/2014/main" id="{1F4CD778-E9C0-44B1-B570-E93B55F7077D}"/>
              </a:ext>
            </a:extLst>
          </p:cNvPr>
          <p:cNvSpPr>
            <a:spLocks xmlns:a="http://schemas.openxmlformats.org/drawingml/2006/main" noGrp="1"/>
          </p:cNvSpPr>
          <p:nvPr/>
        </p:nvSpPr>
        <p:spPr>
          <a:xfrm xmlns:a="http://schemas.openxmlformats.org/drawingml/2006/main">
            <a:off x="952500" y="8515350"/>
            <a:ext cx="1638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900" b="1">
                <a:solidFill>
                  <a:srgbClr val="22D3EE"/>
                </a:solidFill>
              </a:defRPr>
            </a:defPPr>
            <a:lvl1pPr algn="l">
              <a:defRPr sz="3900" b="1">
                <a:solidFill>
                  <a:srgbClr val="22D3EE"/>
                </a:solidFill>
              </a:defRPr>
            </a:lvl1pPr>
            <a:lvl2pPr algn="l">
              <a:defRPr sz="3900" b="1">
                <a:solidFill>
                  <a:srgbClr val="22D3EE"/>
                </a:solidFill>
              </a:defRPr>
            </a:lvl2pPr>
            <a:lvl3pPr algn="l">
              <a:defRPr sz="3900" b="1">
                <a:solidFill>
                  <a:srgbClr val="22D3EE"/>
                </a:solidFill>
              </a:defRPr>
            </a:lvl3pPr>
            <a:lvl4pPr algn="l">
              <a:defRPr sz="3900" b="1">
                <a:solidFill>
                  <a:srgbClr val="22D3EE"/>
                </a:solidFill>
              </a:defRPr>
            </a:lvl4pPr>
            <a:lvl5pPr algn="l">
              <a:defRPr sz="3900" b="1">
                <a:solidFill>
                  <a:srgbClr val="22D3EE"/>
                </a:solidFill>
              </a:defRPr>
            </a:lvl5pPr>
            <a:lvl6pPr algn="l">
              <a:defRPr sz="3900" b="1">
                <a:solidFill>
                  <a:srgbClr val="22D3EE"/>
                </a:solidFill>
              </a:defRPr>
            </a:lvl6pPr>
            <a:lvl7pPr algn="l">
              <a:defRPr sz="3900" b="1">
                <a:solidFill>
                  <a:srgbClr val="22D3EE"/>
                </a:solidFill>
              </a:defRPr>
            </a:lvl7pPr>
            <a:lvl8pPr algn="l">
              <a:defRPr sz="3900" b="1">
                <a:solidFill>
                  <a:srgbClr val="22D3EE"/>
                </a:solidFill>
              </a:defRPr>
            </a:lvl8pPr>
            <a:lvl9pPr algn="l">
              <a:defRPr sz="3900" b="1">
                <a:solidFill>
                  <a:srgbClr val="22D3EE"/>
                </a:solidFill>
              </a:defRPr>
            </a:lvl9pPr>
          </a:lstStyle>
          <a:p xmlns:a="http://schemas.openxmlformats.org/drawingml/2006/main">
            <a:pPr algn="l">
              <a:defRPr sz="3900" b="1">
                <a:solidFill>
                  <a:srgbClr val="22D3EE"/>
                </a:solidFill>
              </a:defRPr>
            </a:pPr>
            <a:r>
              <a:rPr sz="3900" b="1">
                <a:solidFill>
                  <a:srgbClr val="22D3EE"/>
                </a:solidFill>
              </a:rPr>
              <a:t>LIVE SYSTEM DEMONSTRATION</a:t>
            </a:r>
          </a:p>
        </p:txBody>
      </p:sp>
    </p:spTree>
    <p:extLst>
      <p:ext uri="{BB962C8B-B14F-4D97-AF65-F5344CB8AC3E}">
        <p14:creationId xmlns:p14="http://schemas.microsoft.com/office/powerpoint/2010/main" val="979127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2026-10-20T15:33:07.9290000Z</dcterms:created>
  <dcterms:modified xsi:type="dcterms:W3CDTF">2026-10-20T15:33:07.9290000Z</dcterms:modified>
</coreProperties>
</file>