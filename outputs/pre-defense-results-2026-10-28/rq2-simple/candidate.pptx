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9e8703ee41488a" /><Relationship Type="http://schemas.openxmlformats.org/officeDocument/2006/relationships/extended-properties" Target="/docProps/app.xml" Id="R441af9e8bb374c70" /><Relationship Type="http://schemas.openxmlformats.org/officeDocument/2006/relationships/officeDocument" Target="/ppt/presentation.xml" Id="Rb21cee00cd56462c"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95aada3f50c4036"/>
  </p:sldMasterIdLst>
  <p:notesMasterIdLst>
    <p:notesMasterId xmlns:r="http://schemas.openxmlformats.org/officeDocument/2006/relationships" r:id="R4848c5b95be741af"/>
  </p:notesMasterIdLst>
  <p:sldIdLst>
    <p:sldId xmlns:r="http://schemas.openxmlformats.org/officeDocument/2006/relationships" id="256" r:id="R6bd1fbf617004533"/>
    <p:sldId xmlns:r="http://schemas.openxmlformats.org/officeDocument/2006/relationships" id="257" r:id="R85ecbce016dd4179"/>
    <p:sldId xmlns:r="http://schemas.openxmlformats.org/officeDocument/2006/relationships" id="258" r:id="R4fef1493d6934c51"/>
    <p:sldId xmlns:r="http://schemas.openxmlformats.org/officeDocument/2006/relationships" id="259" r:id="R6af4786238e140b5"/>
    <p:sldId xmlns:r="http://schemas.openxmlformats.org/officeDocument/2006/relationships" id="260" r:id="R2dd61336390e44ce"/>
    <p:sldId xmlns:r="http://schemas.openxmlformats.org/officeDocument/2006/relationships" id="261" r:id="R08691dca737145ad"/>
    <p:sldId xmlns:r="http://schemas.openxmlformats.org/officeDocument/2006/relationships" id="262" r:id="Re886b31589dd48f1"/>
    <p:sldId xmlns:r="http://schemas.openxmlformats.org/officeDocument/2006/relationships" id="263" r:id="R21715f14f3f24ecd"/>
    <p:sldId xmlns:r="http://schemas.openxmlformats.org/officeDocument/2006/relationships" id="264" r:id="R3e272eb9fba24606"/>
    <p:sldId xmlns:r="http://schemas.openxmlformats.org/officeDocument/2006/relationships" id="265" r:id="R032cd22ed8894fa2"/>
    <p:sldId xmlns:r="http://schemas.openxmlformats.org/officeDocument/2006/relationships" id="266" r:id="R4b673ba6c5bb4457"/>
    <p:sldId xmlns:r="http://schemas.openxmlformats.org/officeDocument/2006/relationships" id="267" r:id="R861ff5e6050e4c25"/>
    <p:sldId xmlns:r="http://schemas.openxmlformats.org/officeDocument/2006/relationships" id="268" r:id="R4c016c6571c645bd"/>
    <p:sldId xmlns:r="http://schemas.openxmlformats.org/officeDocument/2006/relationships" id="269" r:id="R1232478ad220475e"/>
    <p:sldId xmlns:r="http://schemas.openxmlformats.org/officeDocument/2006/relationships" id="270" r:id="Ra2ef6e31b3754ffb"/>
    <p:sldId xmlns:r="http://schemas.openxmlformats.org/officeDocument/2006/relationships" id="271" r:id="Rb9ad364cff984350"/>
    <p:sldId xmlns:r="http://schemas.openxmlformats.org/officeDocument/2006/relationships" id="272" r:id="R5f593e4a57f943f2"/>
    <p:sldId xmlns:r="http://schemas.openxmlformats.org/officeDocument/2006/relationships" id="273" r:id="R5d9ba936c828403a"/>
    <p:sldId xmlns:r="http://schemas.openxmlformats.org/officeDocument/2006/relationships" id="274" r:id="Red5b193709de494b"/>
    <p:sldId xmlns:r="http://schemas.openxmlformats.org/officeDocument/2006/relationships" id="275" r:id="R71518d308cfd432e"/>
    <p:sldId xmlns:r="http://schemas.openxmlformats.org/officeDocument/2006/relationships" id="276" r:id="R9afa9ee5a4ba4f23"/>
    <p:sldId xmlns:r="http://schemas.openxmlformats.org/officeDocument/2006/relationships" id="277" r:id="Rd76ee1678593489d"/>
    <p:sldId xmlns:r="http://schemas.openxmlformats.org/officeDocument/2006/relationships" id="278" r:id="R4371c62d4ecc48be"/>
  </p:sldIdLst>
  <p:sldSz cx="9144000" cy="5143500"/>
  <p:notesSz cx="6858000" cy="9144000"/>
  <p:embeddedFontLst>
    <p:embeddedFont>
      <p:font typeface="Cambria"/>
      <p:regular xmlns:r="http://schemas.openxmlformats.org/officeDocument/2006/relationships" r:id="R7ade6404d5ae4128"/>
      <p:bold xmlns:r="http://schemas.openxmlformats.org/officeDocument/2006/relationships" r:id="R1c89149befb949e9"/>
      <p:italic xmlns:r="http://schemas.openxmlformats.org/officeDocument/2006/relationships" r:id="Rd16fad882efb4948"/>
      <p:boldItalic xmlns:r="http://schemas.openxmlformats.org/officeDocument/2006/relationships" r:id="Ra61c68538a394d1e"/>
    </p:embeddedFont>
    <p:embeddedFont>
      <p:font typeface="Lato"/>
      <p:regular xmlns:r="http://schemas.openxmlformats.org/officeDocument/2006/relationships" r:id="R0cc19fb60a964fa4"/>
      <p:bold xmlns:r="http://schemas.openxmlformats.org/officeDocument/2006/relationships" r:id="Rd0dc74e7439f4486"/>
      <p:italic xmlns:r="http://schemas.openxmlformats.org/officeDocument/2006/relationships" r:id="Red7d6a283c0f4cec"/>
      <p:boldItalic xmlns:r="http://schemas.openxmlformats.org/officeDocument/2006/relationships" r:id="R88cad85d5a2742e8"/>
    </p:embeddedFont>
    <p:embeddedFont>
      <p:font typeface="Open Sans"/>
      <p:regular xmlns:r="http://schemas.openxmlformats.org/officeDocument/2006/relationships" r:id="Raa0a16ab68094767"/>
      <p:bold xmlns:r="http://schemas.openxmlformats.org/officeDocument/2006/relationships" r:id="Re347f70ddd2a4613"/>
      <p:italic xmlns:r="http://schemas.openxmlformats.org/officeDocument/2006/relationships" r:id="R88997d2eb5c54811"/>
      <p:boldItalic xmlns:r="http://schemas.openxmlformats.org/officeDocument/2006/relationships" r:id="R32474c75976e4073"/>
    </p:embeddedFont>
    <p:embeddedFont>
      <p:font typeface="Raleway"/>
      <p:regular xmlns:r="http://schemas.openxmlformats.org/officeDocument/2006/relationships" r:id="R6c01bf8a1b604557"/>
      <p:bold xmlns:r="http://schemas.openxmlformats.org/officeDocument/2006/relationships" r:id="R80c0c585b56e4344"/>
      <p:italic xmlns:r="http://schemas.openxmlformats.org/officeDocument/2006/relationships" r:id="R75af26e9ac624e77"/>
      <p:boldItalic xmlns:r="http://schemas.openxmlformats.org/officeDocument/2006/relationships" r:id="R93fde4ca14584b63"/>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9277DCA9-E45C-466B-ABC7-E6CAC76AD7C3}">
  <a:tblStyle styleId="{9277DCA9-E45C-466B-ABC7-E6CAC76AD7C3}" styleName="Table_0">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D7938E3-529E-4631-9AF0-4512DD22AB85}"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96c0841867d94047" /><Relationship Type="http://schemas.openxmlformats.org/officeDocument/2006/relationships/slideMaster" Target="/ppt/slideMasters/slideMaster1.xml" Id="R595aada3f50c4036" /><Relationship Type="http://schemas.openxmlformats.org/officeDocument/2006/relationships/notesMaster" Target="/ppt/notesMasters/notesMaster1.xml" Id="R4848c5b95be741af" /><Relationship Type="http://schemas.openxmlformats.org/officeDocument/2006/relationships/presProps" Target="/ppt/presProps.xml" Id="Ra4dac54b04f84a23" /><Relationship Type="http://schemas.openxmlformats.org/officeDocument/2006/relationships/viewProps" Target="/ppt/viewProps.xml" Id="R08a9af365d9a41a7" /><Relationship Type="http://schemas.openxmlformats.org/officeDocument/2006/relationships/tableStyles" Target="/ppt/tableStyles.xml" Id="Rc988ed3066414b17" /><Relationship Type="http://schemas.openxmlformats.org/officeDocument/2006/relationships/font" Target="/ppt/fonts/font.dat" Id="R7ade6404d5ae4128" /><Relationship Type="http://schemas.openxmlformats.org/officeDocument/2006/relationships/font" Target="/ppt/fonts/font2.dat" Id="R1c89149befb949e9" /><Relationship Type="http://schemas.openxmlformats.org/officeDocument/2006/relationships/font" Target="/ppt/fonts/font3.dat" Id="Rd16fad882efb4948" /><Relationship Type="http://schemas.openxmlformats.org/officeDocument/2006/relationships/font" Target="/ppt/fonts/font4.dat" Id="Ra61c68538a394d1e" /><Relationship Type="http://schemas.openxmlformats.org/officeDocument/2006/relationships/font" Target="/ppt/fonts/font5.dat" Id="R0cc19fb60a964fa4" /><Relationship Type="http://schemas.openxmlformats.org/officeDocument/2006/relationships/font" Target="/ppt/fonts/font6.dat" Id="Rd0dc74e7439f4486" /><Relationship Type="http://schemas.openxmlformats.org/officeDocument/2006/relationships/font" Target="/ppt/fonts/font7.dat" Id="Red7d6a283c0f4cec" /><Relationship Type="http://schemas.openxmlformats.org/officeDocument/2006/relationships/font" Target="/ppt/fonts/font8.dat" Id="R88cad85d5a2742e8" /><Relationship Type="http://schemas.openxmlformats.org/officeDocument/2006/relationships/font" Target="/ppt/fonts/font9.dat" Id="Raa0a16ab68094767" /><Relationship Type="http://schemas.openxmlformats.org/officeDocument/2006/relationships/font" Target="/ppt/fonts/font10.dat" Id="Re347f70ddd2a4613" /><Relationship Type="http://schemas.openxmlformats.org/officeDocument/2006/relationships/font" Target="/ppt/fonts/font11.dat" Id="R88997d2eb5c54811" /><Relationship Type="http://schemas.openxmlformats.org/officeDocument/2006/relationships/font" Target="/ppt/fonts/font12.dat" Id="R32474c75976e4073" /><Relationship Type="http://schemas.openxmlformats.org/officeDocument/2006/relationships/font" Target="/ppt/fonts/font13.dat" Id="R6c01bf8a1b604557" /><Relationship Type="http://schemas.openxmlformats.org/officeDocument/2006/relationships/font" Target="/ppt/fonts/font14.dat" Id="R80c0c585b56e4344" /><Relationship Type="http://schemas.openxmlformats.org/officeDocument/2006/relationships/font" Target="/ppt/fonts/font15.dat" Id="R75af26e9ac624e77" /><Relationship Type="http://schemas.openxmlformats.org/officeDocument/2006/relationships/font" Target="/ppt/fonts/font16.dat" Id="R93fde4ca14584b63" /><Relationship Type="http://schemas.openxmlformats.org/officeDocument/2006/relationships/slide" Target="/ppt/slides/slide1.xml" Id="R6bd1fbf617004533" /><Relationship Type="http://schemas.openxmlformats.org/officeDocument/2006/relationships/slide" Target="/ppt/slides/slide2.xml" Id="R85ecbce016dd4179" /><Relationship Type="http://schemas.openxmlformats.org/officeDocument/2006/relationships/slide" Target="/ppt/slides/slide3.xml" Id="R4fef1493d6934c51" /><Relationship Type="http://schemas.openxmlformats.org/officeDocument/2006/relationships/slide" Target="/ppt/slides/slide4.xml" Id="R6af4786238e140b5" /><Relationship Type="http://schemas.openxmlformats.org/officeDocument/2006/relationships/slide" Target="/ppt/slides/slide5.xml" Id="R2dd61336390e44ce" /><Relationship Type="http://schemas.openxmlformats.org/officeDocument/2006/relationships/slide" Target="/ppt/slides/slide6.xml" Id="R08691dca737145ad" /><Relationship Type="http://schemas.openxmlformats.org/officeDocument/2006/relationships/slide" Target="/ppt/slides/slide7.xml" Id="Re886b31589dd48f1" /><Relationship Type="http://schemas.openxmlformats.org/officeDocument/2006/relationships/slide" Target="/ppt/slides/slide8.xml" Id="R21715f14f3f24ecd" /><Relationship Type="http://schemas.openxmlformats.org/officeDocument/2006/relationships/slide" Target="/ppt/slides/slide9.xml" Id="R3e272eb9fba24606" /><Relationship Type="http://schemas.openxmlformats.org/officeDocument/2006/relationships/slide" Target="/ppt/slides/slide10.xml" Id="R032cd22ed8894fa2" /><Relationship Type="http://schemas.openxmlformats.org/officeDocument/2006/relationships/slide" Target="/ppt/slides/slide11.xml" Id="R4b673ba6c5bb4457" /><Relationship Type="http://schemas.openxmlformats.org/officeDocument/2006/relationships/slide" Target="/ppt/slides/slide12.xml" Id="R861ff5e6050e4c25" /><Relationship Type="http://schemas.openxmlformats.org/officeDocument/2006/relationships/slide" Target="/ppt/slides/slide13.xml" Id="R4c016c6571c645bd" /><Relationship Type="http://schemas.openxmlformats.org/officeDocument/2006/relationships/slide" Target="/ppt/slides/slide14.xml" Id="R1232478ad220475e" /><Relationship Type="http://schemas.openxmlformats.org/officeDocument/2006/relationships/slide" Target="/ppt/slides/slide15.xml" Id="Ra2ef6e31b3754ffb" /><Relationship Type="http://schemas.openxmlformats.org/officeDocument/2006/relationships/slide" Target="/ppt/slides/slide16.xml" Id="Rb9ad364cff984350" /><Relationship Type="http://schemas.openxmlformats.org/officeDocument/2006/relationships/slide" Target="/ppt/slides/slide17.xml" Id="R5f593e4a57f943f2" /><Relationship Type="http://schemas.openxmlformats.org/officeDocument/2006/relationships/slide" Target="/ppt/slides/slide18.xml" Id="R5d9ba936c828403a" /><Relationship Type="http://schemas.openxmlformats.org/officeDocument/2006/relationships/slide" Target="/ppt/slides/slide19.xml" Id="Red5b193709de494b" /><Relationship Type="http://schemas.openxmlformats.org/officeDocument/2006/relationships/slide" Target="/ppt/slides/slide20.xml" Id="R71518d308cfd432e" /><Relationship Type="http://schemas.openxmlformats.org/officeDocument/2006/relationships/slide" Target="/ppt/slides/slide21.xml" Id="R9afa9ee5a4ba4f23" /><Relationship Type="http://schemas.openxmlformats.org/officeDocument/2006/relationships/slide" Target="/ppt/slides/slide22.xml" Id="Rd76ee1678593489d" /><Relationship Type="http://schemas.openxmlformats.org/officeDocument/2006/relationships/slide" Target="/ppt/slides/slide23.xml" Id="R4371c62d4ecc48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db81001da540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a1d89c1f474d4b" /><Relationship Type="http://schemas.openxmlformats.org/officeDocument/2006/relationships/notesMaster" Target="/ppt/notesMasters/notesMaster1.xml" Id="R39e5d914092a4c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a8b5a0248e204d38" /><Relationship Type="http://schemas.openxmlformats.org/officeDocument/2006/relationships/notesMaster" Target="/ppt/notesMasters/notesMaster1.xml" Id="R9195c2b4a73c4f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5633b2c2d54b90" /><Relationship Type="http://schemas.openxmlformats.org/officeDocument/2006/relationships/notesMaster" Target="/ppt/notesMasters/notesMaster1.xml" Id="Rac9fdc049bb744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2e2e0bffcb49e2" /><Relationship Type="http://schemas.openxmlformats.org/officeDocument/2006/relationships/notesMaster" Target="/ppt/notesMasters/notesMaster1.xml" Id="R0b01e37ef1ff4f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ee9b0ffbe34850" /><Relationship Type="http://schemas.openxmlformats.org/officeDocument/2006/relationships/notesMaster" Target="/ppt/notesMasters/notesMaster1.xml" Id="R0126220f2d5f44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50c6387cbde4d4b" /><Relationship Type="http://schemas.openxmlformats.org/officeDocument/2006/relationships/notesMaster" Target="/ppt/notesMasters/notesMaster1.xml" Id="Rdc1ccb5676764c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7b376470746497e" /><Relationship Type="http://schemas.openxmlformats.org/officeDocument/2006/relationships/notesMaster" Target="/ppt/notesMasters/notesMaster1.xml" Id="Rd534f2eb7ede4e0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f22bf87d9854e78" /><Relationship Type="http://schemas.openxmlformats.org/officeDocument/2006/relationships/notesMaster" Target="/ppt/notesMasters/notesMaster1.xml" Id="R56c7d2776c4a422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0c0c47da58e40a7" /><Relationship Type="http://schemas.openxmlformats.org/officeDocument/2006/relationships/notesMaster" Target="/ppt/notesMasters/notesMaster1.xml" Id="Ra10d4492e5b841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dcf1caaf4b74e25" /><Relationship Type="http://schemas.openxmlformats.org/officeDocument/2006/relationships/notesMaster" Target="/ppt/notesMasters/notesMaster1.xml" Id="R7466ad69b6d54e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db150a1ee5640f3" /><Relationship Type="http://schemas.openxmlformats.org/officeDocument/2006/relationships/notesMaster" Target="/ppt/notesMasters/notesMaster1.xml" Id="R965b8fc870f2477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ea90198ee484529" /><Relationship Type="http://schemas.openxmlformats.org/officeDocument/2006/relationships/notesMaster" Target="/ppt/notesMasters/notesMaster1.xml" Id="R7e57b65128da41e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becffa5fe994c71" /><Relationship Type="http://schemas.openxmlformats.org/officeDocument/2006/relationships/notesMaster" Target="/ppt/notesMasters/notesMaster1.xml" Id="R308fc46b7ff34ae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3cf73865d054f9e" /><Relationship Type="http://schemas.openxmlformats.org/officeDocument/2006/relationships/notesMaster" Target="/ppt/notesMasters/notesMaster1.xml" Id="R9d5964a9e331479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a71fdb910214315" /><Relationship Type="http://schemas.openxmlformats.org/officeDocument/2006/relationships/notesMaster" Target="/ppt/notesMasters/notesMaster1.xml" Id="Rc1b2dbed763045a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725f1243b924f3a" /><Relationship Type="http://schemas.openxmlformats.org/officeDocument/2006/relationships/notesMaster" Target="/ppt/notesMasters/notesMaster1.xml" Id="R0c2e07e32d16438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6820e22b42a4ab8" /><Relationship Type="http://schemas.openxmlformats.org/officeDocument/2006/relationships/notesMaster" Target="/ppt/notesMasters/notesMaster1.xml" Id="R23eccf7f2e60484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ee5b455ce1e4d25" /><Relationship Type="http://schemas.openxmlformats.org/officeDocument/2006/relationships/notesMaster" Target="/ppt/notesMasters/notesMaster1.xml" Id="R6a199a8e44cc49c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7eec2227381451f" /><Relationship Type="http://schemas.openxmlformats.org/officeDocument/2006/relationships/notesMaster" Target="/ppt/notesMasters/notesMaster1.xml" Id="R62690dc0f688435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ff83dd7ff2f432d" /><Relationship Type="http://schemas.openxmlformats.org/officeDocument/2006/relationships/notesMaster" Target="/ppt/notesMasters/notesMaster1.xml" Id="R7ed0283524304da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d93a23145c948be" /><Relationship Type="http://schemas.openxmlformats.org/officeDocument/2006/relationships/notesMaster" Target="/ppt/notesMasters/notesMaster1.xml" Id="R7b9085f1a0e4417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d380a24447d4116" /><Relationship Type="http://schemas.openxmlformats.org/officeDocument/2006/relationships/notesMaster" Target="/ppt/notesMasters/notesMaster1.xml" Id="Rd6aa9222a1704b1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18893390ba8436d" /><Relationship Type="http://schemas.openxmlformats.org/officeDocument/2006/relationships/notesMaster" Target="/ppt/notesMasters/notesMaster1.xml" Id="R338300091fc946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0:30.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Good day, panelists and adviser. We are Evon Christian Pahugot Vergara, Justin Comendador, and Xymmer James Nadera. We will present Kodigo, our point-of-sale and inventory application for small retail operations. The complete title here follows our current manuscript. We will begin with the research context, explain the developed system, and then move to the live demonstration. [Replace the adviser and academic-year placeholders before defense.]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docs/Chapter 1-4 Manuscript v3.docx, title page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0:20.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Our presentation follows the same overall sequence as our earlier defense. We will move from the background and research questions to the methodology and baseline findings. We will then explain Kodigo, its technical design, and the evidence that supports the live walkthrough.</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Final defense SWU 002.pptx, agenda and slide order</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0:55.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Imagine a busy neighborhood shop. A customer buys groceries and the cashier writes the sale in a notebook. The inventory worker updates a separate stock record later. When the owner needs to reorder, the notebook, stock count and receipts must first be compared. The pictures illustrate the fragmentation described in the manuscript. They are not a real respondent account. This is the operational problem that motivates linking sales, stock and reports in Kodigo.</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Chapters 1 and 4. Generated illustration: built-in Imagegen, 27 October 2026; prompt recorded in imagegen-prompts.md.</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study asks three questions. What operational bottlenecks occur in manual inventory tracking and reconciliation? What framework and security controls are appropriate for the system, as assessed by qualified technical evaluators? And how acceptable is the developed system to intended users? The last question considers cost-effectiveness, reliability, efficiency, and security. The baseline results address the first question. Completed ratings for the technical and acceptability evaluations are not established by the repository evidence used for this deck.</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rPr>
                <a:solidFill>
                  <a:schemeClr val="dk1"/>
                </a:solidFill>
              </a:rPr>
              <a:t>- docs/Chapter 1-4 Manuscript v3.docx, Chapter 1: Statement of the Problem</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Our general objective is to design, develop, and evaluate a cloud-based inventory and financial management framework tailored for SMEs. The specific objectives follow the research questions: identify workflow bottlenecks, determine an appropriate framework and information security measures, and evaluate system acceptability. In implementation terms, the first objective informs connected sales and inventory, the second informs the access and transaction controls, and the third requires evaluation after users interact with the prototype. These are concise paraphrases of the current manuscript, with final wording subject to adviser confirmation.</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1: Objectives of the Study</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just">
              <a:lnSpc>
                <a:spcPct val="100000"/>
              </a:lnSpc>
              <a:spcBef>
                <a:spcPts val="0"/>
              </a:spcBef>
              <a:spcAft>
                <a:spcPts val="0"/>
              </a:spcAft>
              <a:buSzPts val="1100"/>
              <a:buNone/>
            </a:pPr>
            <a:r>
              <a:t>Presenter 1. Target 0:40.</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Chapter 2 organizes the literature around record accuracy, an integrated cloud framework, and security and acceptance. The manuscript discusses inventory inaccuracies and the burden of manual consolidation, then relates centralized records to the proposed framework. It also explains why authentication, controlled access, organizational readiness, and adoption concerns matter. We have condensed those discussions here. The references are the sources cited in the current manuscript. We are using them to explain design requirements, not claiming that these studies measured Kodigo or prove that our prototype has achieved a particular improvement.</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Evidence (not spoken):</a:t>
            </a:r>
          </a:p>
          <a:p xmlns:a="http://schemas.openxmlformats.org/drawingml/2006/main">
            <a:pPr marL="457200" lvl="0" indent="-228600" algn="just">
              <a:lnSpc>
                <a:spcPct val="100000"/>
              </a:lnSpc>
              <a:spcBef>
                <a:spcPts val="0"/>
              </a:spcBef>
              <a:spcAft>
                <a:spcPts val="0"/>
              </a:spcAft>
              <a:buSzPts val="1100"/>
              <a:buNone/>
            </a:pPr>
            <a:r>
              <a:t>- docs/Chapter 1-4 Manuscript v3.docx, Chapter 2: Shabani et al. (2021), Kosadi et al. (2021), Luo (2024), Mohammad (2022), Nagahawatta et al. (2024), Rashid et al. (2024)</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0:55.</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current manuscript uses an exploratory sequential mixed-method approach. For RQ1, interviews explain operational problems and the baseline questionnaire describes their frequency. RQ2 uses structured quantitative technical validation. RQ3 uses a quantitative acceptability survey after prototype interaction. The sampling approach is criterion-based purposive sampling with maximum variation. The development methodology is Agile Scrum. Research method and software development method serve different purposes, so we show both explicitly. Chapter 4 reports eighteen baseline respondents and five interview transcripts. The manuscript’s participant plan also includes three technical validators, but a planned validator count is not proof that validation ratings have already been completed.</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3: Research Framework and Design; Sampling; Data Gathering; Software Development Methodology; Chapter 4: Response Rate</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0:20.</a:t>
            </a:r>
          </a:p>
          <a:p xmlns:a="http://schemas.openxmlformats.org/drawingml/2006/main">
            <a:r>
              <a:t/>
            </a:r>
          </a:p>
          <a:p xmlns:a="http://schemas.openxmlformats.org/drawingml/2006/main">
            <a:r>
              <a:t>The RQ1 evidence includes all eighteen targeted pre-survey respondents and all five interview transcripts. Both completion rates are one hundred percent. Operations staff form the largest role group, and respondents include both new and experienced personnel. These are baseline participants, not post-use acceptability respondents.</a:t>
            </a:r>
          </a:p>
          <a:p xmlns:a="http://schemas.openxmlformats.org/drawingml/2006/main">
            <a:r>
              <a:t/>
            </a:r>
          </a:p>
          <a:p xmlns:a="http://schemas.openxmlformats.org/drawingml/2006/main">
            <a:r>
              <a:t>Evidence (not spoken):</a:t>
            </a:r>
          </a:p>
          <a:p xmlns:a="http://schemas.openxmlformats.org/drawingml/2006/main">
            <a:r>
              <a:t>Current manuscript, Chapter 4 Response Rate and Figure 4.1. Counts of 6, 2, 3, 7 and 5, 2, 6, 5 reproduce the displayed percentages for n=18. User reference images 1 and 2.</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Reporting is the most frequently selected task, with thirteen of eighteen respondents. Stock counts follow with twelve. Ten respondents handle receiving and ten handle stock issuance or sales logging. Since participants could select several tasks, the percentages overlap. This profile shows that the diagnosed record problems affect connected daily responsibilities.</a:t>
            </a:r>
          </a:p>
          <a:p xmlns:a="http://schemas.openxmlformats.org/drawingml/2006/main">
            <a:r>
              <a:t/>
            </a:r>
          </a:p>
          <a:p xmlns:a="http://schemas.openxmlformats.org/drawingml/2006/main">
            <a:r>
              <a:t>Evidence (not spoken):</a:t>
            </a:r>
          </a:p>
          <a:p xmlns:a="http://schemas.openxmlformats.org/drawingml/2006/main">
            <a:r>
              <a:t>Current manuscript Figure 4.1, primary-tasks chart. Counts and labels match user reference image 2. Denominator n=18.</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spcBef>
                <a:spcPts val="0"/>
              </a:spcBef>
              <a:spcAft>
                <a:spcPts val="0"/>
              </a:spcAft>
              <a:buClr>
                <a:schemeClr val="dk1"/>
              </a:buClr>
              <a:buSzPts val="1100"/>
              <a:buFont typeface="Arial"/>
              <a:buNone/>
            </a:pPr>
            <a:r>
              <a:t>Presenter 1. Target 0:25.</a:t>
            </a:r>
            <a:endParaRPr>
              <a:solidFill>
                <a:schemeClr val="dk1"/>
              </a:solidFill>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baseline establishes the scale of the problem. Thirteen respondents report an inventory update delay of sixteen minutes or more. Twelve report at least three discrepancies in thirty days. Sixteen experience decision delays from uncertain information at least sometimes, and all eighteen report mismatches between records at least sometimes. These describe the existing workflow, not measured improvements from Kodigo.</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Current manuscript Table 4.1. Four selected baseline indicators retained from the preceding presentation.</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0:30.</a:t>
            </a:r>
          </a:p>
          <a:p xmlns:a="http://schemas.openxmlformats.org/drawingml/2006/main">
            <a:r>
              <a:t/>
            </a:r>
          </a:p>
          <a:p xmlns:a="http://schemas.openxmlformats.org/drawingml/2006/main">
            <a:r>
              <a:t>The interviews explain how the baseline problems develop. First, fragmented records prevent one dependable view of operations. Second, delayed updates mean that an accurate picture can arrive after a decision is needed. Third, inaccurate records affect customer promises, fulfillment and restocking. The quotations on the slide are the manuscript’s illustrative excerpts.</a:t>
            </a:r>
          </a:p>
          <a:p xmlns:a="http://schemas.openxmlformats.org/drawingml/2006/main">
            <a:r>
              <a:t/>
            </a:r>
          </a:p>
          <a:p xmlns:a="http://schemas.openxmlformats.org/drawingml/2006/main">
            <a:r>
              <a:t>Evidence (not spoken):</a:t>
            </a:r>
          </a:p>
          <a:p xmlns:a="http://schemas.openxmlformats.org/drawingml/2006/main">
            <a:r>
              <a:t>Current manuscript Table 4.4, rows 1–3. All five themes, sub-themes, illustrative quotes and operational meanings are retained across the two slides. User reference images 3 and 4.</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The remaining themes concern the cost of correction and the basis of trust. Recounting and after-hours verification draw effort away from normal operations. When records conflict, staff return to physical counts, signed slips and receipts. Together, these themes show why digitizing isolated records alone does not resolve the problem.</a:t>
            </a:r>
          </a:p>
          <a:p xmlns:a="http://schemas.openxmlformats.org/drawingml/2006/main">
            <a:r>
              <a:t/>
            </a:r>
          </a:p>
          <a:p xmlns:a="http://schemas.openxmlformats.org/drawingml/2006/main">
            <a:r>
              <a:t>Evidence (not spoken):</a:t>
            </a:r>
          </a:p>
          <a:p xmlns:a="http://schemas.openxmlformats.org/drawingml/2006/main">
            <a:r>
              <a:t>Current manuscript Table 4.4, rows 4–5. All five themes, sub-themes, illustrative quotes and operational meanings are retained across the two slides. User reference images 3 and 4.</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The survey and interviews converge on one operational finding: fragmented and delayed records make routine decisions depend on repeated checking. The effects include slower replenishment, customer-service disruption and avoidable correction costs. This supports Kodigo’s focus on connected records, while any claim of measured improvement still requires post-implementation evidence. I will now hand over to Presenter 2 for the developed system.</a:t>
            </a:r>
          </a:p>
          <a:p xmlns:a="http://schemas.openxmlformats.org/drawingml/2006/main">
            <a:r>
              <a:t/>
            </a:r>
          </a:p>
          <a:p xmlns:a="http://schemas.openxmlformats.org/drawingml/2006/main">
            <a:r>
              <a:t>Evidence (not spoken):</a:t>
            </a:r>
          </a:p>
          <a:p xmlns:a="http://schemas.openxmlformats.org/drawingml/2006/main">
            <a:r>
              <a:t>Current manuscript Table 4.5 and RQ1 Summary of Findings. User reference image 5 supplies the synthesis layout. The wording avoids an unverified claim of continuous real-time operation.</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2.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Kodigo now implements the operational modules shown here: POS and receipts, product and base-stock control, replenishment and suppliers, reporting, and user administration. Consignment support records received goods and supplier balances, including payments or credits entered by an Admin. The roles do not receive the same access. Admin operates within assigned stores, Cashier uses POS functions, Inventory performs permitted stock work, and Super Admin uses a separate invite portal. The next diagrams show the framework and the boundaries between those roles and the data operations.</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README.md, intended users and capabilities</a:t>
            </a:r>
          </a:p>
          <a:p xmlns:a="http://schemas.openxmlformats.org/drawingml/2006/main">
            <a:pPr marL="457200" lvl="0" indent="-228600" algn="l">
              <a:lnSpc>
                <a:spcPct val="100000"/>
              </a:lnSpc>
              <a:spcBef>
                <a:spcPts val="0"/>
              </a:spcBef>
              <a:spcAft>
                <a:spcPts val="0"/>
              </a:spcAft>
              <a:buSzPts val="1100"/>
              <a:buNone/>
            </a:pPr>
            <a:r>
              <a:t>- kodigo-ui/src/App.tsx</a:t>
            </a:r>
          </a:p>
          <a:p xmlns:a="http://schemas.openxmlformats.org/drawingml/2006/main">
            <a:pPr marL="457200" lvl="0" indent="-228600" algn="l">
              <a:lnSpc>
                <a:spcPct val="100000"/>
              </a:lnSpc>
              <a:spcBef>
                <a:spcPts val="0"/>
              </a:spcBef>
              <a:spcAft>
                <a:spcPts val="0"/>
              </a:spcAft>
              <a:buSzPts val="1100"/>
              <a:buNone/>
            </a:pPr>
            <a:r>
              <a:t>- kodigo-ui/src/components/pos/TransactionLifecyclePanel.tsx</a:t>
            </a:r>
          </a:p>
          <a:p xmlns:a="http://schemas.openxmlformats.org/drawingml/2006/main">
            <a:pPr marL="457200" lvl="0" indent="-228600" algn="l">
              <a:lnSpc>
                <a:spcPct val="100000"/>
              </a:lnSpc>
              <a:spcBef>
                <a:spcPts val="0"/>
              </a:spcBef>
              <a:spcAft>
                <a:spcPts val="0"/>
              </a:spcAft>
              <a:buSzPts val="1100"/>
              <a:buNone/>
            </a:pPr>
            <a:r>
              <a:t>- kodigo-ui/src/components/inventory/ConsignmentPanel.tsx</a:t>
            </a:r>
          </a:p>
          <a:p xmlns:a="http://schemas.openxmlformats.org/drawingml/2006/main">
            <a:pPr marL="457200" lvl="0" indent="-228600" algn="l">
              <a:lnSpc>
                <a:spcPct val="100000"/>
              </a:lnSpc>
              <a:spcBef>
                <a:spcPts val="0"/>
              </a:spcBef>
              <a:spcAft>
                <a:spcPts val="0"/>
              </a:spcAft>
              <a:buSzPts val="1100"/>
              <a:buNone/>
            </a:pPr>
            <a:r>
              <a:t>- kodigo-ui/src/pages/ReportsPage.tsx</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This is the current manuscript’s conceptual framework, condensed to keep its structure readable on a slide. Four roles use the Kodigo platform. Super Admin only generates Admin invite codes. Admin manages assigned-store operations, Inventory staff maintain products and stock, and Cashiers process sales and receipts. The platform groups authentication and role controls, store administration, inventory, purchasing, consignment, and POS reporting. Its outputs are validated connected records, base-unit movement history, reports derived from recorded transactions, and bounded queue replay after reconnection. Supplier information is recorded internally by authorized staff. These outputs describe the design and implementation; improved decision-making remains an evaluation objective.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Figure 3.2 and accompanying conceptual-framework description. Original figure extracted to assets/image2.png. Native slide recreation preserves its four roles, six platform groups and four output groups; wording is shortened for presentation.</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rectangle is the Kodigo system boundary. Each stick figure represents an actor role and each oval represents a user goal. The lines show which actor performs each use case. Admin manages assigned stores and users, purchasing and supplier balances, inventory, analytics and reports. Super Admin separately generates Admin invite codes. Cashier processes sales and payments and generates or reprints receipts. Inventory staff maintain product and stock records and view inventory reports. All roles authenticate, with TOTP assurance when configured. This is a presentation-level view of the current role separation. Suppliers are internal records, so there is no external Supplier actor.</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Figure 3.3 and role descriptions. User-provided Bank ATM diagram is a notation/layout reference only. All Kodigo use cases come from the current manuscript and existing deck evidence.</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1:00.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browser runs React and TypeScript, built with Vite. Zustand holds application state, and TanStack Query actively manages query data. Through Supabase JS, the browser authenticates with Auth, reads permitted tables through the Data API, and calls PostgreSQL RPCs for important operations. Edge Functions handle privileged account and invite tasks. Storage holds uploaded assets. PostgreSQL is the authoritative business store and runs validation, row policies, and stock triggers. IndexedDB provides a local product cache and selected queues. Reconnection attempts replay, but a queued sale does not establish a database commit. Vercel routing configuration exists, while the deployed hosting state and migration chain remain to be checked.</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kodigo-ui/src/App.tsx</a:t>
            </a:r>
          </a:p>
          <a:p xmlns:a="http://schemas.openxmlformats.org/drawingml/2006/main">
            <a:pPr marL="0" lvl="0" indent="0" algn="l">
              <a:lnSpc>
                <a:spcPct val="100000"/>
              </a:lnSpc>
              <a:spcBef>
                <a:spcPts val="0"/>
              </a:spcBef>
              <a:spcAft>
                <a:spcPts val="0"/>
              </a:spcAft>
              <a:buSzPts val="1100"/>
              <a:buNone/>
            </a:pPr>
            <a:r>
              <a:t>- kodigo-ui/src/lib/supabase.ts</a:t>
            </a:r>
          </a:p>
          <a:p xmlns:a="http://schemas.openxmlformats.org/drawingml/2006/main">
            <a:pPr marL="0" lvl="0" indent="0" algn="l">
              <a:lnSpc>
                <a:spcPct val="100000"/>
              </a:lnSpc>
              <a:spcBef>
                <a:spcPts val="0"/>
              </a:spcBef>
              <a:spcAft>
                <a:spcPts val="0"/>
              </a:spcAft>
              <a:buSzPts val="1100"/>
              <a:buNone/>
            </a:pPr>
            <a:r>
              <a:t>- kodigo-ui/src/stores/authStore.ts</a:t>
            </a:r>
          </a:p>
          <a:p xmlns:a="http://schemas.openxmlformats.org/drawingml/2006/main">
            <a:pPr marL="0" lvl="0" indent="0" algn="l">
              <a:lnSpc>
                <a:spcPct val="100000"/>
              </a:lnSpc>
              <a:spcBef>
                <a:spcPts val="0"/>
              </a:spcBef>
              <a:spcAft>
                <a:spcPts val="0"/>
              </a:spcAft>
              <a:buSzPts val="1100"/>
              <a:buNone/>
            </a:pPr>
            <a:r>
              <a:t>- kodigo-ui/src/lib/offline-sync.ts</a:t>
            </a:r>
          </a:p>
          <a:p xmlns:a="http://schemas.openxmlformats.org/drawingml/2006/main">
            <a:pPr marL="0" lvl="0" indent="0" algn="l">
              <a:lnSpc>
                <a:spcPct val="100000"/>
              </a:lnSpc>
              <a:spcBef>
                <a:spcPts val="0"/>
              </a:spcBef>
              <a:spcAft>
                <a:spcPts val="0"/>
              </a:spcAft>
              <a:buSzPts val="1100"/>
              <a:buNone/>
            </a:pPr>
            <a:r>
              <a:t>- supabase/functions/admin-users/index.ts</a:t>
            </a:r>
          </a:p>
          <a:p xmlns:a="http://schemas.openxmlformats.org/drawingml/2006/main">
            <a:pPr marL="0" lvl="0" indent="0" algn="l">
              <a:lnSpc>
                <a:spcPct val="100000"/>
              </a:lnSpc>
              <a:spcBef>
                <a:spcPts val="0"/>
              </a:spcBef>
              <a:spcAft>
                <a:spcPts val="0"/>
              </a:spcAft>
              <a:buSzPts val="1100"/>
              <a:buNone/>
            </a:pPr>
            <a:r>
              <a:t>- supabase/functions/generate-invite/index.ts</a:t>
            </a:r>
          </a:p>
          <a:p xmlns:a="http://schemas.openxmlformats.org/drawingml/2006/main">
            <a:pPr marL="0" lvl="0" indent="0" algn="l">
              <a:lnSpc>
                <a:spcPct val="100000"/>
              </a:lnSpc>
              <a:spcBef>
                <a:spcPts val="0"/>
              </a:spcBef>
              <a:spcAft>
                <a:spcPts val="0"/>
              </a:spcAft>
              <a:buSzPts val="1100"/>
              <a:buNone/>
            </a:pPr>
            <a:r>
              <a:t>- kodigo-ui/src/lib/branding.ts</a:t>
            </a:r>
          </a:p>
          <a:p xmlns:a="http://schemas.openxmlformats.org/drawingml/2006/main">
            <a:pPr marL="0" lvl="0" indent="0" algn="l">
              <a:lnSpc>
                <a:spcPct val="100000"/>
              </a:lnSpc>
              <a:spcBef>
                <a:spcPts val="0"/>
              </a:spcBef>
              <a:spcAft>
                <a:spcPts val="0"/>
              </a:spcAft>
              <a:buSzPts val="1100"/>
              <a:buNone/>
            </a:pPr>
            <a:r>
              <a:t>- kodigo-ui/vercel.json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A product has configured selling options, stock history, and receiving history. Sales contain sale_items that refer to the product and an optional selling option. The current sale path deducts the required quantity from the product’s base stock. Stock changes write inventory_movements, and receiving writes restock_history. Historical sale and receipt snapshots preserve the values recorded at the time of a transaction. Store membership uses stores, profiles, and store_users. This diagram omits payment, supplier, lot, and return entities for readability, but those remain part of the implementation.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supabase_schema.sql, products/sales/sale_items</a:t>
            </a:r>
          </a:p>
          <a:p xmlns:a="http://schemas.openxmlformats.org/drawingml/2006/main">
            <a:pPr marL="0" lvl="0" indent="0" algn="l">
              <a:lnSpc>
                <a:spcPct val="100000"/>
              </a:lnSpc>
              <a:spcBef>
                <a:spcPts val="0"/>
              </a:spcBef>
              <a:spcAft>
                <a:spcPts val="0"/>
              </a:spcAft>
              <a:buSzPts val="1100"/>
              <a:buNone/>
            </a:pPr>
            <a:r>
              <a:t>- migration_20_product_selling_options.sql</a:t>
            </a:r>
          </a:p>
          <a:p xmlns:a="http://schemas.openxmlformats.org/drawingml/2006/main">
            <a:pPr marL="0" lvl="0" indent="0" algn="l">
              <a:lnSpc>
                <a:spcPct val="100000"/>
              </a:lnSpc>
              <a:spcBef>
                <a:spcPts val="0"/>
              </a:spcBef>
              <a:spcAft>
                <a:spcPts val="0"/>
              </a:spcAft>
              <a:buSzPts val="1100"/>
              <a:buNone/>
            </a:pPr>
            <a:r>
              <a:t>- migration_27_inventory_branding_receipts.sql, inventory_movements</a:t>
            </a:r>
          </a:p>
          <a:p xmlns:a="http://schemas.openxmlformats.org/drawingml/2006/main">
            <a:pPr marL="0" lvl="0" indent="0" algn="l">
              <a:lnSpc>
                <a:spcPct val="100000"/>
              </a:lnSpc>
              <a:spcBef>
                <a:spcPts val="0"/>
              </a:spcBef>
              <a:spcAft>
                <a:spcPts val="0"/>
              </a:spcAft>
              <a:buSzPts val="1100"/>
              <a:buNone/>
            </a:pPr>
            <a:r>
              <a:t>- migration_29_base_unit_inventory_margin_velocity.sql, restock_history</a:t>
            </a:r>
          </a:p>
          <a:p xmlns:a="http://schemas.openxmlformats.org/drawingml/2006/main">
            <a:pPr marL="0" lvl="0" indent="0" algn="l">
              <a:lnSpc>
                <a:spcPct val="100000"/>
              </a:lnSpc>
              <a:spcBef>
                <a:spcPts val="0"/>
              </a:spcBef>
              <a:spcAft>
                <a:spcPts val="0"/>
              </a:spcAft>
              <a:buSzPts val="1100"/>
              <a:buNone/>
            </a:pPr>
            <a:r>
              <a:t>- migration_34_bulk_purchase_base_units.sql</a:t>
            </a:r>
          </a:p>
          <a:p xmlns:a="http://schemas.openxmlformats.org/drawingml/2006/main">
            <a:pPr marL="0" lvl="0" indent="0" algn="l">
              <a:lnSpc>
                <a:spcPct val="100000"/>
              </a:lnSpc>
              <a:spcBef>
                <a:spcPts val="0"/>
              </a:spcBef>
              <a:spcAft>
                <a:spcPts val="0"/>
              </a:spcAft>
              <a:buSzPts val="1100"/>
              <a:buNone/>
            </a:pPr>
            <a:r>
              <a:t>- migration_37_unit_aware_inventory_workflow.sql</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0:50.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Read the top flow from left to right. A checkout sends the cart and payment to the server. The server validates the caller, store, stock and pricing. A valid request commits the sale and stock updates and returns receipt data. An invalid request rejects or rolls back. The lower diagram makes bulk conversion tangible. Each block is one piece. There are twenty-four pieces before the sale. Two packs with six pieces each consume twelve pieces, leaving twelve. This is an arithmetic example, not an observed test result. Receiving performs the reverse stock conversion and records cost history. A selling-price change requires its own authorized review. I will now hand over to Presenter 3.</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Existing deck sources for process_pos_sale_v4, v3 transaction validation and stock triggers. Bulk arithmetic is illustrative: 24 - (2 × 6) = 12. No live transaction executed for this edit.</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0:45.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platform overview follows the same progression as our earlier deck. A desktop browser is used for the main POS flow. Barcode input is implemented, while receipt and drawer hardware are optional and depend on actual device availability. Git and the CI workflow support the development process. The frontend uses React, TypeScript, Vite, Tailwind, Zustand, and TanStack Query. Backend responsibilities use Supabase Auth, PostgreSQL, RLS, Storage, and Edge Functions. The repository contains Vercel SPA routing configuration. The current hardware module uses a QZ Tray bridge for supported printer and drawer operations. We should verify that connection separately before a live hardware demonstration.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kodigo-ui/package.json</a:t>
            </a:r>
          </a:p>
          <a:p xmlns:a="http://schemas.openxmlformats.org/drawingml/2006/main">
            <a:pPr marL="0" lvl="0" indent="0" algn="l">
              <a:lnSpc>
                <a:spcPct val="100000"/>
              </a:lnSpc>
              <a:spcBef>
                <a:spcPts val="0"/>
              </a:spcBef>
              <a:spcAft>
                <a:spcPts val="0"/>
              </a:spcAft>
              <a:buSzPts val="1100"/>
              <a:buNone/>
            </a:pPr>
            <a:r>
              <a:t>- kodigo-ui/src/lib/hardware.ts</a:t>
            </a:r>
          </a:p>
          <a:p xmlns:a="http://schemas.openxmlformats.org/drawingml/2006/main">
            <a:pPr marL="0" lvl="0" indent="0" algn="l">
              <a:lnSpc>
                <a:spcPct val="100000"/>
              </a:lnSpc>
              <a:spcBef>
                <a:spcPts val="0"/>
              </a:spcBef>
              <a:spcAft>
                <a:spcPts val="0"/>
              </a:spcAft>
              <a:buSzPts val="1100"/>
              <a:buNone/>
            </a:pPr>
            <a:r>
              <a:t>- kodigo-ui/src/App.tsx</a:t>
            </a:r>
          </a:p>
          <a:p xmlns:a="http://schemas.openxmlformats.org/drawingml/2006/main">
            <a:pPr marL="0" lvl="0" indent="0" algn="l">
              <a:lnSpc>
                <a:spcPct val="100000"/>
              </a:lnSpc>
              <a:spcBef>
                <a:spcPts val="0"/>
              </a:spcBef>
              <a:spcAft>
                <a:spcPts val="0"/>
              </a:spcAft>
              <a:buSzPts val="1100"/>
              <a:buNone/>
            </a:pPr>
            <a:r>
              <a:t>- kodigo-ui/vercel.json</a:t>
            </a:r>
          </a:p>
          <a:p xmlns:a="http://schemas.openxmlformats.org/drawingml/2006/main">
            <a:pPr marL="0" lvl="0" indent="0" algn="l">
              <a:lnSpc>
                <a:spcPct val="100000"/>
              </a:lnSpc>
              <a:spcBef>
                <a:spcPts val="0"/>
              </a:spcBef>
              <a:spcAft>
                <a:spcPts val="0"/>
              </a:spcAft>
              <a:buSzPts val="1100"/>
              <a:buNone/>
            </a:pPr>
            <a:r>
              <a:t>- .github/workflows/ci.yml</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Target 0:45.</a:t>
            </a:r>
          </a:p>
          <a:p xmlns:a="http://schemas.openxmlformats.org/drawingml/2006/main">
            <a:r>
              <a:t/>
            </a:r>
          </a:p>
          <a:p xmlns:a="http://schemas.openxmlformats.org/drawingml/2006/main">
            <a:r>
              <a:t>The system passed the application build checks, all seventeen calculation tests and all four protected-page checks. Twenty of twenty-two access-rule checks passed. Secure connections and record-access controls were also confirmed. The main finding is that basic safeguards are present, but two security gaps still need fixing. These are results of AI-assisted system checks conducted on 27 October 2026.</a:t>
            </a:r>
          </a:p>
          <a:p xmlns:a="http://schemas.openxmlformats.org/drawingml/2006/main">
            <a:r>
              <a:t/>
            </a:r>
          </a:p>
          <a:p xmlns:a="http://schemas.openxmlformats.org/drawingml/2006/main">
            <a:r>
              <a:t>Technical details and evidence for questions:</a:t>
            </a:r>
          </a:p>
          <a:p xmlns:a="http://schemas.openxmlformats.org/drawingml/2006/main">
            <a:r>
              <a:t>Presenter 3. Target 0:45.</a:t>
            </a:r>
          </a:p>
          <a:p xmlns:a="http://schemas.openxmlformats.org/drawingml/2006/main">
            <a:r>
              <a:t/>
            </a:r>
          </a:p>
          <a:p xmlns:a="http://schemas.openxmlformats.org/drawingml/2006/main">
            <a:r>
              <a:t>The technical assessment on October twenty-seven combined local checks, live deployment inspection and controlled scenarios. TypeScript, lint and production build passed. All seventeen unit tests passed. Twenty of twenty-two database scenarios passed, while four anonymous route checks and four HTTPS or API checks also passed. All thirty-six inspected public tables had RLS enabled and all eight views used invoker security. These counts represent technical checks from an AI-assisted assessment, not ratings from human experts. The next slide explains the two failures.</a:t>
            </a:r>
          </a:p>
          <a:p xmlns:a="http://schemas.openxmlformats.org/drawingml/2006/main">
            <a:r>
              <a:t/>
            </a:r>
          </a:p>
          <a:p xmlns:a="http://schemas.openxmlformats.org/drawingml/2006/main">
            <a:r>
              <a:t>Evidence (not spoken):</a:t>
            </a:r>
          </a:p>
          <a:p xmlns:a="http://schemas.openxmlformats.org/drawingml/2006/main">
            <a:r>
              <a:t>Revised thesis Table 4.6 and Kodigo_RQ2_Technical_Validation_Report.md. Assessment date 27 October 2026. Source evidence: outputs/rq2-validation-2026-10-27/. Database checks simulated roles and JWT claims inside rollback-only transactions. Browser checks used the local production preview. No new validation run is claimed for 28 October.</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Target 0:45.</a:t>
            </a:r>
          </a:p>
          <a:p xmlns:a="http://schemas.openxmlformats.org/drawingml/2006/main">
            <a:r>
              <a:t/>
            </a:r>
          </a:p>
          <a:p xmlns:a="http://schemas.openxmlformats.org/drawingml/2006/main">
            <a:r>
              <a:t>Two issues remain. First, an administrator could create a store before completing the extra identity check. Second, a person who was not signed in could add an entry to the activity history. The system must enforce the identity check and restrict who can add activity records. Both fixes must be tested before giving a full security pass.</a:t>
            </a:r>
          </a:p>
          <a:p xmlns:a="http://schemas.openxmlformats.org/drawingml/2006/main">
            <a:r>
              <a:t/>
            </a:r>
          </a:p>
          <a:p xmlns:a="http://schemas.openxmlformats.org/drawingml/2006/main">
            <a:r>
              <a:t>Technical details and evidence for questions:</a:t>
            </a:r>
          </a:p>
          <a:p xmlns:a="http://schemas.openxmlformats.org/drawingml/2006/main">
            <a:r>
              <a:t>Presenter 3. Target 0:45.</a:t>
            </a:r>
          </a:p>
          <a:p xmlns:a="http://schemas.openxmlformats.org/drawingml/2006/main">
            <a:r>
              <a:t/>
            </a:r>
          </a:p>
          <a:p xmlns:a="http://schemas.openxmlformats.org/drawingml/2006/main">
            <a:r>
              <a:t>The two observed failures limit the security conclusion. A synthetic Admin with a verified MFA factor could create a store while its simulated session was still at AAL1. Separately, the anonymous role could insert an audit event through a database function. The first requires consistent assurance checks for privileged operations. The second requires restricted execution and caller validation. All test fixtures were rolled back. The conclusion is conditional technical suitability, with remediation and retesting still required for the assessed state. These results do not complete the separate qualified-evaluator survey requirement or RQ3 acceptability evaluation.</a:t>
            </a:r>
          </a:p>
          <a:p xmlns:a="http://schemas.openxmlformats.org/drawingml/2006/main">
            <a:r>
              <a:t/>
            </a:r>
          </a:p>
          <a:p xmlns:a="http://schemas.openxmlformats.org/drawingml/2006/main">
            <a:r>
              <a:t>Evidence (not spoken):</a:t>
            </a:r>
          </a:p>
          <a:p xmlns:a="http://schemas.openxmlformats.org/drawingml/2006/main">
            <a:r>
              <a:t>Revised thesis Table 4.7 and technical answer to RQ2. Failed scenarios DB17 and DB20 in controlled-security-results-v2.json. Follow-up cleanup verification recorded zero synthetic Auth users, stores, products and audit events. No production remediation or later retest is claimed.</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1:00.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We will now move to the application. An authorized operator must prepare and independently verify the cleared demonstration business state while preserving required schema, authentication, store membership, and configuration. No reset was executed for this presentation task. A working store Admin must remain available because the current Super Admin portal cannot perform normal store setup. Browser queues must also be reconciled so old pending writes do not repopulate cleared data. The sequence is login, product setup, receiving, POS checkout, stock verification, and reports. We will compare the stored sale, stock movement, and report values. If connectivity fails, we will identify a queued transaction as pending rather than claim completed persistence. The detailed checklist contains the expected arithmetic and recovery steps.</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User task brief, demo requirements and prohibition on reset execution</a:t>
            </a:r>
          </a:p>
          <a:p xmlns:a="http://schemas.openxmlformats.org/drawingml/2006/main">
            <a:pPr marL="0" lvl="0" indent="0" algn="l">
              <a:lnSpc>
                <a:spcPct val="100000"/>
              </a:lnSpc>
              <a:spcBef>
                <a:spcPts val="0"/>
              </a:spcBef>
              <a:spcAft>
                <a:spcPts val="0"/>
              </a:spcAft>
              <a:buSzPts val="1100"/>
              <a:buNone/>
            </a:pPr>
            <a:r>
              <a:t>- kodigo-ui/src/stores/authStore.ts</a:t>
            </a:r>
          </a:p>
          <a:p xmlns:a="http://schemas.openxmlformats.org/drawingml/2006/main">
            <a:pPr marL="0" lvl="0" indent="0" algn="l">
              <a:lnSpc>
                <a:spcPct val="100000"/>
              </a:lnSpc>
              <a:spcBef>
                <a:spcPts val="0"/>
              </a:spcBef>
              <a:spcAft>
                <a:spcPts val="0"/>
              </a:spcAft>
              <a:buSzPts val="1100"/>
              <a:buNone/>
            </a:pPr>
            <a:r>
              <a:t>- kodigo-ui/src/stores/productStore.ts</a:t>
            </a:r>
          </a:p>
          <a:p xmlns:a="http://schemas.openxmlformats.org/drawingml/2006/main">
            <a:pPr marL="0" lvl="0" indent="0" algn="l">
              <a:lnSpc>
                <a:spcPct val="100000"/>
              </a:lnSpc>
              <a:spcBef>
                <a:spcPts val="0"/>
              </a:spcBef>
              <a:spcAft>
                <a:spcPts val="0"/>
              </a:spcAft>
              <a:buSzPts val="1100"/>
              <a:buNone/>
            </a:pPr>
            <a:r>
              <a:t>- kodigo-ui/src/lib/offline-sync.ts</a:t>
            </a:r>
          </a:p>
          <a:p xmlns:a="http://schemas.openxmlformats.org/drawingml/2006/main">
            <a:pPr marL="0" lvl="0" indent="0" algn="l">
              <a:lnSpc>
                <a:spcPct val="100000"/>
              </a:lnSpc>
              <a:spcBef>
                <a:spcPts val="0"/>
              </a:spcBef>
              <a:spcAft>
                <a:spcPts val="0"/>
              </a:spcAft>
              <a:buSzPts val="1100"/>
              <a:buNone/>
            </a:pPr>
            <a:r>
              <a:t>- kodigo-ui/src/pages/ReportsPage.tsx</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d689cb99d544f01" /><Relationship Type="http://schemas.openxmlformats.org/officeDocument/2006/relationships/image" Target="/ppt/media/image2.png" Id="Rba93dd5f771c402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26c029c77e142ed" /><Relationship Type="http://schemas.openxmlformats.org/officeDocument/2006/relationships/image" Target="/ppt/media/image3.png" Id="Rb4a3a327948b41f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55ce8e43c29412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c7aed1e94a14576" /><Relationship Type="http://schemas.openxmlformats.org/officeDocument/2006/relationships/image" Target="/ppt/media/image4.png" Id="Rad6f00cabddd40f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31836af8ab04e2c" /><Relationship Type="http://schemas.openxmlformats.org/officeDocument/2006/relationships/image" Target="/ppt/media/image5.png" Id="Rd2c118faeae64a8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2ec32211df04023" /><Relationship Type="http://schemas.openxmlformats.org/officeDocument/2006/relationships/image" Target="/ppt/media/image6.png" Id="Ref766dfbe589440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29a233db01c455f" /><Relationship Type="http://schemas.openxmlformats.org/officeDocument/2006/relationships/image" Target="/ppt/media/image7.png" Id="R0e3ad9cd01b54f7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e9d7f530b2a4f2e" /><Relationship Type="http://schemas.openxmlformats.org/officeDocument/2006/relationships/image" Target="/ppt/media/image8.png" Id="R353b65b050e949f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9243b8fd30b4af9" /><Relationship Type="http://schemas.openxmlformats.org/officeDocument/2006/relationships/image" Target="/ppt/media/image9.png" Id="R23782fd2f644443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c328b6f5082494d" /><Relationship Type="http://schemas.openxmlformats.org/officeDocument/2006/relationships/image" Target="/ppt/media/image10.png" Id="R5ae84b85034a467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f26189cd0654cae" /><Relationship Type="http://schemas.openxmlformats.org/officeDocument/2006/relationships/image" Target="/ppt/media/image11.png" Id="Raa66cbd014d54045"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0752be618d6a43ba" /><Relationship Type="http://schemas.openxmlformats.org/officeDocument/2006/relationships/image" Target="/ppt/media/image12.png" Id="Rb1368878bc7e4151"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b1fc71fb2086488e" /><Relationship Type="http://schemas.openxmlformats.org/officeDocument/2006/relationships/image" Target="/ppt/media/image13.png" Id="R815b4a08f6d64539"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1c0f5ac15c7e4faf" /></Relationships>
</file>

<file path=ppt/slideLayouts/slideLayout1.xml><?xml version="1.0" encoding="utf-8"?>
<p:sldLayout xmlns:p="http://schemas.openxmlformats.org/presentationml/2006/main" matchingName="Title slide" type="title">
  <p:cSld name="TITLE">
    <p:bg>
      <p:bgPr>
        <a:solidFill xmlns:a="http://schemas.openxmlformats.org/drawingml/2006/main">
          <a:schemeClr val="lt2"/>
        </a:solidFill>
      </p:bgPr>
    </p:bg>
    <p:spTree>
      <p:nvGrpSpPr>
        <p:cNvPr id="1" name=""/>
        <p:cNvGrpSpPr/>
        <p:nvPr/>
      </p:nvGrpSpPr>
      <p:grpSpPr>
        <a:xfrm xmlns:a="http://schemas.openxmlformats.org/drawingml/2006/main"/>
      </p:grpSpPr>
      <p:pic>
        <p:nvPicPr>
          <p:cNvPr id="11" name="Google Shape;11;p34">
            <a:extLst xmlns:a="http://schemas.openxmlformats.org/drawingml/2006/main">
              <a:ext uri="{FF2B5EF4-FFF2-40B4-BE49-F238E27FC236}">
                <a16:creationId xmlns:a16="http://schemas.microsoft.com/office/drawing/2014/main" id="{E49329A2-E1F8-434D-8CEC-A3E73E8B8DF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a93dd5f771c4023">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2" name="Google Shape;12;p34">
            <a:extLst xmlns:a="http://schemas.openxmlformats.org/drawingml/2006/main">
              <a:ext uri="{FF2B5EF4-FFF2-40B4-BE49-F238E27FC236}">
                <a16:creationId xmlns:a16="http://schemas.microsoft.com/office/drawing/2014/main" id="{E3FD2819-6E29-49B3-9595-84DCEE4F3861}"/>
              </a:ext>
            </a:extLst>
          </p:cNvPr>
          <p:cNvSpPr>
            <a:spLocks xmlns:a="http://schemas.openxmlformats.org/drawingml/2006/main" noGrp="1"/>
          </p:cNvSpPr>
          <p:nvPr>
            <p:ph type="ctrTitle" idx="0"/>
          </p:nvPr>
        </p:nvSpPr>
        <p:spPr>
          <a:xfrm xmlns:a="http://schemas.openxmlformats.org/drawingml/2006/main">
            <a:off x="727950" y="1739400"/>
            <a:ext cx="4786200" cy="1664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4200"/>
              <a:buFont typeface="Open Sans"/>
              <a:buNone/>
              <a:defRPr sz="4200">
                <a:latin typeface="Open Sans"/>
                <a:ea typeface="Open Sans"/>
                <a:cs typeface="Open Sans"/>
              </a:defRPr>
            </a:lvl1pPr>
            <a:lvl2pPr algn="l">
              <a:lnSpc>
                <a:spcPct val="100000"/>
              </a:lnSpc>
              <a:spcBef>
                <a:spcPts val="0"/>
              </a:spcBef>
              <a:spcAft>
                <a:spcPts val="0"/>
              </a:spcAft>
              <a:buSzPts val="4200"/>
              <a:buNone/>
              <a:defRPr sz="4200"/>
            </a:lvl2pPr>
            <a:lvl3pPr algn="l">
              <a:lnSpc>
                <a:spcPct val="100000"/>
              </a:lnSpc>
              <a:spcBef>
                <a:spcPts val="0"/>
              </a:spcBef>
              <a:spcAft>
                <a:spcPts val="0"/>
              </a:spcAft>
              <a:buSzPts val="4200"/>
              <a:buNone/>
              <a:defRPr sz="4200"/>
            </a:lvl3pPr>
            <a:lvl4pPr algn="l">
              <a:lnSpc>
                <a:spcPct val="100000"/>
              </a:lnSpc>
              <a:spcBef>
                <a:spcPts val="0"/>
              </a:spcBef>
              <a:spcAft>
                <a:spcPts val="0"/>
              </a:spcAft>
              <a:buSzPts val="4200"/>
              <a:buNone/>
              <a:defRPr sz="4200"/>
            </a:lvl4pPr>
            <a:lvl5pPr algn="l">
              <a:lnSpc>
                <a:spcPct val="100000"/>
              </a:lnSpc>
              <a:spcBef>
                <a:spcPts val="0"/>
              </a:spcBef>
              <a:spcAft>
                <a:spcPts val="0"/>
              </a:spcAft>
              <a:buSzPts val="4200"/>
              <a:buNone/>
              <a:defRPr sz="4200"/>
            </a:lvl5pPr>
            <a:lvl6pPr algn="l">
              <a:lnSpc>
                <a:spcPct val="100000"/>
              </a:lnSpc>
              <a:spcBef>
                <a:spcPts val="0"/>
              </a:spcBef>
              <a:spcAft>
                <a:spcPts val="0"/>
              </a:spcAft>
              <a:buSzPts val="4200"/>
              <a:buNone/>
              <a:defRPr sz="4200"/>
            </a:lvl6pPr>
            <a:lvl7pPr algn="l">
              <a:lnSpc>
                <a:spcPct val="100000"/>
              </a:lnSpc>
              <a:spcBef>
                <a:spcPts val="0"/>
              </a:spcBef>
              <a:spcAft>
                <a:spcPts val="0"/>
              </a:spcAft>
              <a:buSzPts val="4200"/>
              <a:buNone/>
              <a:defRPr sz="4200"/>
            </a:lvl7pPr>
            <a:lvl8pPr algn="l">
              <a:lnSpc>
                <a:spcPct val="100000"/>
              </a:lnSpc>
              <a:spcBef>
                <a:spcPts val="0"/>
              </a:spcBef>
              <a:spcAft>
                <a:spcPts val="0"/>
              </a:spcAft>
              <a:buSzPts val="4200"/>
              <a:buNone/>
              <a:defRPr sz="4200"/>
            </a:lvl8pPr>
            <a:lvl9pPr algn="l">
              <a:lnSpc>
                <a:spcPct val="100000"/>
              </a:lnSpc>
              <a:spcBef>
                <a:spcPts val="0"/>
              </a:spcBef>
              <a:spcAft>
                <a:spcPts val="0"/>
              </a:spcAft>
              <a:buSzPts val="4200"/>
              <a:buNone/>
              <a:defRPr sz="4200"/>
            </a:lvl9pPr>
          </a:lstStyle>
          <a:p xmlns:a="http://schemas.openxmlformats.org/drawingml/2006/main">
            <a:endParaRPr/>
          </a:p>
        </p:txBody>
      </p:sp>
      <p:sp>
        <p:nvSpPr>
          <p:cNvPr id="13" name="Google Shape;13;p34">
            <a:extLst xmlns:a="http://schemas.openxmlformats.org/drawingml/2006/main">
              <a:ext uri="{FF2B5EF4-FFF2-40B4-BE49-F238E27FC236}">
                <a16:creationId xmlns:a16="http://schemas.microsoft.com/office/drawing/2014/main" id="{60F19785-834C-46AA-BC20-D1C265A95D93}"/>
              </a:ext>
            </a:extLst>
          </p:cNvPr>
          <p:cNvSpPr>
            <a:spLocks xmlns:a="http://schemas.openxmlformats.org/drawingml/2006/main" noGrp="1"/>
          </p:cNvSpPr>
          <p:nvPr>
            <p:ph type="subTitle" idx="1"/>
          </p:nvPr>
        </p:nvSpPr>
        <p:spPr>
          <a:xfrm xmlns:a="http://schemas.openxmlformats.org/drawingml/2006/main">
            <a:off x="727951" y="3512900"/>
            <a:ext cx="4786200" cy="54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1600"/>
              <a:buFont typeface="Open Sans"/>
              <a:buNone/>
              <a:defRPr sz="1600">
                <a:latin typeface="Open Sans"/>
                <a:ea typeface="Open Sans"/>
                <a:cs typeface="Open Sans"/>
              </a:defRPr>
            </a:lvl1pPr>
            <a:lvl2pPr algn="l">
              <a:lnSpc>
                <a:spcPct val="100000"/>
              </a:lnSpc>
              <a:spcBef>
                <a:spcPts val="0"/>
              </a:spcBef>
              <a:spcAft>
                <a:spcPts val="0"/>
              </a:spcAft>
              <a:buSzPts val="1600"/>
              <a:buNone/>
              <a:defRPr sz="1600"/>
            </a:lvl2pPr>
            <a:lvl3pPr algn="l">
              <a:lnSpc>
                <a:spcPct val="100000"/>
              </a:lnSpc>
              <a:spcBef>
                <a:spcPts val="0"/>
              </a:spcBef>
              <a:spcAft>
                <a:spcPts val="0"/>
              </a:spcAft>
              <a:buSzPts val="1600"/>
              <a:buNone/>
              <a:defRPr sz="1600"/>
            </a:lvl3pPr>
            <a:lvl4pPr algn="l">
              <a:lnSpc>
                <a:spcPct val="100000"/>
              </a:lnSpc>
              <a:spcBef>
                <a:spcPts val="0"/>
              </a:spcBef>
              <a:spcAft>
                <a:spcPts val="0"/>
              </a:spcAft>
              <a:buSzPts val="1600"/>
              <a:buNone/>
              <a:defRPr sz="1600"/>
            </a:lvl4pPr>
            <a:lvl5pPr algn="l">
              <a:lnSpc>
                <a:spcPct val="100000"/>
              </a:lnSpc>
              <a:spcBef>
                <a:spcPts val="0"/>
              </a:spcBef>
              <a:spcAft>
                <a:spcPts val="0"/>
              </a:spcAft>
              <a:buSzPts val="1600"/>
              <a:buNone/>
              <a:defRPr sz="1600"/>
            </a:lvl5pPr>
            <a:lvl6pPr algn="l">
              <a:lnSpc>
                <a:spcPct val="100000"/>
              </a:lnSpc>
              <a:spcBef>
                <a:spcPts val="0"/>
              </a:spcBef>
              <a:spcAft>
                <a:spcPts val="0"/>
              </a:spcAft>
              <a:buSzPts val="1600"/>
              <a:buNone/>
              <a:defRPr sz="1600"/>
            </a:lvl6pPr>
            <a:lvl7pPr algn="l">
              <a:lnSpc>
                <a:spcPct val="100000"/>
              </a:lnSpc>
              <a:spcBef>
                <a:spcPts val="0"/>
              </a:spcBef>
              <a:spcAft>
                <a:spcPts val="0"/>
              </a:spcAft>
              <a:buSzPts val="1600"/>
              <a:buNone/>
              <a:defRPr sz="1600"/>
            </a:lvl7pPr>
            <a:lvl8pPr algn="l">
              <a:lnSpc>
                <a:spcPct val="100000"/>
              </a:lnSpc>
              <a:spcBef>
                <a:spcPts val="0"/>
              </a:spcBef>
              <a:spcAft>
                <a:spcPts val="0"/>
              </a:spcAft>
              <a:buSzPts val="1600"/>
              <a:buNone/>
              <a:defRPr sz="1600"/>
            </a:lvl8pPr>
            <a:lvl9pPr algn="l">
              <a:lnSpc>
                <a:spcPct val="100000"/>
              </a:lnSpc>
              <a:spcBef>
                <a:spcPts val="0"/>
              </a:spcBef>
              <a:spcAft>
                <a:spcPts val="0"/>
              </a:spcAft>
              <a:buSzPts val="1600"/>
              <a:buNone/>
              <a:defRPr sz="1600"/>
            </a:lvl9pPr>
          </a:lstStyle>
          <a:p xmlns:a="http://schemas.openxmlformats.org/drawingml/2006/main">
            <a:endParaRPr/>
          </a:p>
        </p:txBody>
      </p:sp>
      <p:sp>
        <p:nvSpPr>
          <p:cNvPr id="14" name="Google Shape;14;p34">
            <a:extLst xmlns:a="http://schemas.openxmlformats.org/drawingml/2006/main">
              <a:ext uri="{FF2B5EF4-FFF2-40B4-BE49-F238E27FC236}">
                <a16:creationId xmlns:a16="http://schemas.microsoft.com/office/drawing/2014/main" id="{6F7A5E02-7FA1-454D-AA9B-672DE7F572B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WU - Title and body">
  <p:cSld name="TITLE_AND_BODY_1_1">
    <p:spTree>
      <p:nvGrpSpPr>
        <p:cNvPr id="1" name=""/>
        <p:cNvGrpSpPr/>
        <p:nvPr/>
      </p:nvGrpSpPr>
      <p:grpSpPr>
        <a:xfrm xmlns:a="http://schemas.openxmlformats.org/drawingml/2006/main"/>
      </p:grpSpPr>
      <p:pic>
        <p:nvPicPr>
          <p:cNvPr id="16" name="Google Shape;16;p35">
            <a:extLst xmlns:a="http://schemas.openxmlformats.org/drawingml/2006/main">
              <a:ext uri="{FF2B5EF4-FFF2-40B4-BE49-F238E27FC236}">
                <a16:creationId xmlns:a16="http://schemas.microsoft.com/office/drawing/2014/main" id="{E6221249-EEA8-465D-91BD-B24B46D28C1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4a3a327948b41f7">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7" name="Google Shape;17;p35">
            <a:extLst xmlns:a="http://schemas.openxmlformats.org/drawingml/2006/main">
              <a:ext uri="{FF2B5EF4-FFF2-40B4-BE49-F238E27FC236}">
                <a16:creationId xmlns:a16="http://schemas.microsoft.com/office/drawing/2014/main" id="{DBA792E3-5E4B-4AD1-AC9E-65DEC5F5032F}"/>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18" name="Google Shape;18;p35">
            <a:extLst xmlns:a="http://schemas.openxmlformats.org/drawingml/2006/main">
              <a:ext uri="{FF2B5EF4-FFF2-40B4-BE49-F238E27FC236}">
                <a16:creationId xmlns:a16="http://schemas.microsoft.com/office/drawing/2014/main" id="{BC2A1484-BD50-48A6-AC7B-C061535F896D}"/>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19" name="Google Shape;19;p35">
            <a:extLst xmlns:a="http://schemas.openxmlformats.org/drawingml/2006/main">
              <a:ext uri="{FF2B5EF4-FFF2-40B4-BE49-F238E27FC236}">
                <a16:creationId xmlns:a16="http://schemas.microsoft.com/office/drawing/2014/main" id="{1875332A-FD83-484D-90D5-EDDC90FFCF1F}"/>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1" name="Google Shape;21;p36">
            <a:extLst xmlns:a="http://schemas.openxmlformats.org/drawingml/2006/main">
              <a:ext uri="{FF2B5EF4-FFF2-40B4-BE49-F238E27FC236}">
                <a16:creationId xmlns:a16="http://schemas.microsoft.com/office/drawing/2014/main" id="{E5273508-7422-49DB-A356-20A5D239C73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22" name="Google Shape;22;p36">
            <a:extLst xmlns:a="http://schemas.openxmlformats.org/drawingml/2006/main">
              <a:ext uri="{FF2B5EF4-FFF2-40B4-BE49-F238E27FC236}">
                <a16:creationId xmlns:a16="http://schemas.microsoft.com/office/drawing/2014/main" id="{5F84BFF2-E7A9-4E50-BE40-7E4772897579}"/>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1150" algn="l">
              <a:lnSpc>
                <a:spcPct val="115000"/>
              </a:lnSpc>
              <a:spcBef>
                <a:spcPts val="0"/>
              </a:spcBef>
              <a:spcAft>
                <a:spcPts val="0"/>
              </a:spcAft>
              <a:buSzPts val="1300"/>
              <a:buChar char="●"/>
              <a:defRPr/>
            </a:lvl1pPr>
            <a:lvl2pPr marL="914400" indent="-298450" algn="l">
              <a:lnSpc>
                <a:spcPct val="115000"/>
              </a:lnSpc>
              <a:spcBef>
                <a:spcPts val="0"/>
              </a:spcBef>
              <a:spcAft>
                <a:spcPts val="0"/>
              </a:spcAft>
              <a:buSzPts val="1100"/>
              <a:buChar char="○"/>
              <a:defRPr/>
            </a:lvl2pPr>
            <a:lvl3pPr marL="1371600" indent="-298450" algn="l">
              <a:lnSpc>
                <a:spcPct val="115000"/>
              </a:lnSpc>
              <a:spcBef>
                <a:spcPts val="0"/>
              </a:spcBef>
              <a:spcAft>
                <a:spcPts val="0"/>
              </a:spcAft>
              <a:buSzPts val="1100"/>
              <a:buChar char="■"/>
              <a:defRPr/>
            </a:lvl3pPr>
            <a:lvl4pPr marL="1828800" indent="-298450" algn="l">
              <a:lnSpc>
                <a:spcPct val="115000"/>
              </a:lnSpc>
              <a:spcBef>
                <a:spcPts val="0"/>
              </a:spcBef>
              <a:spcAft>
                <a:spcPts val="0"/>
              </a:spcAft>
              <a:buSzPts val="1100"/>
              <a:buChar char="●"/>
              <a:defRPr/>
            </a:lvl4pPr>
            <a:lvl5pPr marL="2286000" indent="-298450" algn="l">
              <a:lnSpc>
                <a:spcPct val="115000"/>
              </a:lnSpc>
              <a:spcBef>
                <a:spcPts val="0"/>
              </a:spcBef>
              <a:spcAft>
                <a:spcPts val="0"/>
              </a:spcAft>
              <a:buSzPts val="1100"/>
              <a:buChar char="○"/>
              <a:defRPr/>
            </a:lvl5pPr>
            <a:lvl6pPr marL="2743200" indent="-298450" algn="l">
              <a:lnSpc>
                <a:spcPct val="115000"/>
              </a:lnSpc>
              <a:spcBef>
                <a:spcPts val="0"/>
              </a:spcBef>
              <a:spcAft>
                <a:spcPts val="0"/>
              </a:spcAft>
              <a:buSzPts val="1100"/>
              <a:buChar char="■"/>
              <a:defRPr/>
            </a:lvl6pPr>
            <a:lvl7pPr marL="3200400" indent="-298450" algn="l">
              <a:lnSpc>
                <a:spcPct val="115000"/>
              </a:lnSpc>
              <a:spcBef>
                <a:spcPts val="0"/>
              </a:spcBef>
              <a:spcAft>
                <a:spcPts val="0"/>
              </a:spcAft>
              <a:buSzPts val="1100"/>
              <a:buChar char="●"/>
              <a:defRPr/>
            </a:lvl7pPr>
            <a:lvl8pPr marL="3657600" indent="-298450" algn="l">
              <a:lnSpc>
                <a:spcPct val="115000"/>
              </a:lnSpc>
              <a:spcBef>
                <a:spcPts val="0"/>
              </a:spcBef>
              <a:spcAft>
                <a:spcPts val="0"/>
              </a:spcAft>
              <a:buSzPts val="1100"/>
              <a:buChar char="○"/>
              <a:defRPr/>
            </a:lvl8pPr>
            <a:lvl9pPr marL="4114800" indent="-298450" algn="l">
              <a:lnSpc>
                <a:spcPct val="115000"/>
              </a:lnSpc>
              <a:spcBef>
                <a:spcPts val="0"/>
              </a:spcBef>
              <a:spcAft>
                <a:spcPts val="0"/>
              </a:spcAft>
              <a:buSzPts val="1100"/>
              <a:buChar char="■"/>
              <a:defRPr/>
            </a:lvl9pPr>
          </a:lstStyle>
          <a:p xmlns:a="http://schemas.openxmlformats.org/drawingml/2006/main">
            <a:endParaRPr/>
          </a:p>
        </p:txBody>
      </p:sp>
      <p:sp>
        <p:nvSpPr>
          <p:cNvPr id="23" name="Google Shape;23;p36">
            <a:extLst xmlns:a="http://schemas.openxmlformats.org/drawingml/2006/main">
              <a:ext uri="{FF2B5EF4-FFF2-40B4-BE49-F238E27FC236}">
                <a16:creationId xmlns:a16="http://schemas.microsoft.com/office/drawing/2014/main" id="{0372792D-FACF-480B-8D1D-2290C73CE446}"/>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endParaRPr/>
          </a:p>
        </p:txBody>
      </p:sp>
      <p:sp>
        <p:nvSpPr>
          <p:cNvPr id="24" name="Google Shape;24;p36">
            <a:extLst xmlns:a="http://schemas.openxmlformats.org/drawingml/2006/main">
              <a:ext uri="{FF2B5EF4-FFF2-40B4-BE49-F238E27FC236}">
                <a16:creationId xmlns:a16="http://schemas.microsoft.com/office/drawing/2014/main" id="{4C017251-D745-42E7-853E-A5DC9EEE13F6}"/>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endParaRPr/>
          </a:p>
        </p:txBody>
      </p:sp>
      <p:sp>
        <p:nvSpPr>
          <p:cNvPr id="25" name="Google Shape;25;p36">
            <a:extLst xmlns:a="http://schemas.openxmlformats.org/drawingml/2006/main">
              <a:ext uri="{FF2B5EF4-FFF2-40B4-BE49-F238E27FC236}">
                <a16:creationId xmlns:a16="http://schemas.microsoft.com/office/drawing/2014/main" id="{18C55257-2444-497E-A5C3-00B8C223C27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Closing Slide">
  <p:cSld name="Closing Slide">
    <p:spTree>
      <p:nvGrpSpPr>
        <p:cNvPr id="1" name=""/>
        <p:cNvGrpSpPr/>
        <p:nvPr/>
      </p:nvGrpSpPr>
      <p:grpSpPr>
        <a:xfrm xmlns:a="http://schemas.openxmlformats.org/drawingml/2006/main"/>
      </p:grpSpPr>
      <p:pic>
        <p:nvPicPr>
          <p:cNvPr id="27" name="Google Shape;27;p37">
            <a:extLst xmlns:a="http://schemas.openxmlformats.org/drawingml/2006/main">
              <a:ext uri="{FF2B5EF4-FFF2-40B4-BE49-F238E27FC236}">
                <a16:creationId xmlns:a16="http://schemas.microsoft.com/office/drawing/2014/main" id="{770C5962-2FD1-445E-8741-CF9CF69E3F3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d6f00cabddd40fd">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sldLayout>
</file>

<file path=ppt/slideLayouts/slideLayout5.xml><?xml version="1.0" encoding="utf-8"?>
<p:sldLayout xmlns:p="http://schemas.openxmlformats.org/presentationml/2006/main" matchingName="COC - Title and body">
  <p:cSld name="TITLE_AND_BODY_1_2_2">
    <p:spTree>
      <p:nvGrpSpPr>
        <p:cNvPr id="1" name=""/>
        <p:cNvGrpSpPr/>
        <p:nvPr/>
      </p:nvGrpSpPr>
      <p:grpSpPr>
        <a:xfrm xmlns:a="http://schemas.openxmlformats.org/drawingml/2006/main"/>
      </p:grpSpPr>
      <p:pic>
        <p:nvPicPr>
          <p:cNvPr id="29" name="Google Shape;29;p38">
            <a:extLst xmlns:a="http://schemas.openxmlformats.org/drawingml/2006/main">
              <a:ext uri="{FF2B5EF4-FFF2-40B4-BE49-F238E27FC236}">
                <a16:creationId xmlns:a16="http://schemas.microsoft.com/office/drawing/2014/main" id="{F9BA04BF-C38C-48EC-8F23-A4E37A547C7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2c118faeae64a8f">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0" name="Google Shape;30;p38">
            <a:extLst xmlns:a="http://schemas.openxmlformats.org/drawingml/2006/main">
              <a:ext uri="{FF2B5EF4-FFF2-40B4-BE49-F238E27FC236}">
                <a16:creationId xmlns:a16="http://schemas.microsoft.com/office/drawing/2014/main" id="{94DDBA12-0EBD-42A8-AD46-83D293BF16A1}"/>
              </a:ext>
            </a:extLst>
          </p:cNvPr>
          <p:cNvSpPr>
            <a:spLocks xmlns:a="http://schemas.openxmlformats.org/drawingml/2006/main" noGrp="1"/>
          </p:cNvSpPr>
          <p:nvPr>
            <p:ph type="title" idx="0"/>
          </p:nvPr>
        </p:nvSpPr>
        <p:spPr>
          <a:xfrm xmlns:a="http://schemas.openxmlformats.org/drawingml/2006/main">
            <a:off x="536600" y="382925"/>
            <a:ext cx="54516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31" name="Google Shape;31;p38">
            <a:extLst xmlns:a="http://schemas.openxmlformats.org/drawingml/2006/main">
              <a:ext uri="{FF2B5EF4-FFF2-40B4-BE49-F238E27FC236}">
                <a16:creationId xmlns:a16="http://schemas.microsoft.com/office/drawing/2014/main" id="{66A91650-B904-404B-8A8B-66512C5E0182}"/>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32" name="Google Shape;32;p38">
            <a:extLst xmlns:a="http://schemas.openxmlformats.org/drawingml/2006/main">
              <a:ext uri="{FF2B5EF4-FFF2-40B4-BE49-F238E27FC236}">
                <a16:creationId xmlns:a16="http://schemas.microsoft.com/office/drawing/2014/main" id="{265D410B-1BA1-4224-9510-5CCF6254F91D}"/>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UI - Title and body">
  <p:cSld name="TITLE_AND_BODY_1_2_1">
    <p:spTree>
      <p:nvGrpSpPr>
        <p:cNvPr id="1" name=""/>
        <p:cNvGrpSpPr/>
        <p:nvPr/>
      </p:nvGrpSpPr>
      <p:grpSpPr>
        <a:xfrm xmlns:a="http://schemas.openxmlformats.org/drawingml/2006/main"/>
      </p:grpSpPr>
      <p:pic>
        <p:nvPicPr>
          <p:cNvPr id="34" name="Google Shape;34;p39">
            <a:extLst xmlns:a="http://schemas.openxmlformats.org/drawingml/2006/main">
              <a:ext uri="{FF2B5EF4-FFF2-40B4-BE49-F238E27FC236}">
                <a16:creationId xmlns:a16="http://schemas.microsoft.com/office/drawing/2014/main" id="{0AB7E2C5-830F-4A35-8232-85FDE76AE94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f766dfbe5894400">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5" name="Google Shape;35;p39">
            <a:extLst xmlns:a="http://schemas.openxmlformats.org/drawingml/2006/main">
              <a:ext uri="{FF2B5EF4-FFF2-40B4-BE49-F238E27FC236}">
                <a16:creationId xmlns:a16="http://schemas.microsoft.com/office/drawing/2014/main" id="{BD87B0F8-3F3A-419A-B26D-8D7FF16AEDCF}"/>
              </a:ext>
            </a:extLst>
          </p:cNvPr>
          <p:cNvSpPr>
            <a:spLocks xmlns:a="http://schemas.openxmlformats.org/drawingml/2006/main" noGrp="1"/>
          </p:cNvSpPr>
          <p:nvPr>
            <p:ph type="title" idx="0"/>
          </p:nvPr>
        </p:nvSpPr>
        <p:spPr>
          <a:xfrm xmlns:a="http://schemas.openxmlformats.org/drawingml/2006/main">
            <a:off x="536600" y="382925"/>
            <a:ext cx="59208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36" name="Google Shape;36;p39">
            <a:extLst xmlns:a="http://schemas.openxmlformats.org/drawingml/2006/main">
              <a:ext uri="{FF2B5EF4-FFF2-40B4-BE49-F238E27FC236}">
                <a16:creationId xmlns:a16="http://schemas.microsoft.com/office/drawing/2014/main" id="{1F96ABC9-3348-4F13-9DB9-DBBA04456E75}"/>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37" name="Google Shape;37;p39">
            <a:extLst xmlns:a="http://schemas.openxmlformats.org/drawingml/2006/main">
              <a:ext uri="{FF2B5EF4-FFF2-40B4-BE49-F238E27FC236}">
                <a16:creationId xmlns:a16="http://schemas.microsoft.com/office/drawing/2014/main" id="{5DA02C5B-EB35-4746-B2F8-8AF0A625CC8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SJC - Title and body">
  <p:cSld name="TITLE_AND_BODY_1_1_1">
    <p:spTree>
      <p:nvGrpSpPr>
        <p:cNvPr id="1" name=""/>
        <p:cNvGrpSpPr/>
        <p:nvPr/>
      </p:nvGrpSpPr>
      <p:grpSpPr>
        <a:xfrm xmlns:a="http://schemas.openxmlformats.org/drawingml/2006/main"/>
      </p:grpSpPr>
      <p:pic>
        <p:nvPicPr>
          <p:cNvPr id="39" name="Google Shape;39;p40">
            <a:extLst xmlns:a="http://schemas.openxmlformats.org/drawingml/2006/main">
              <a:ext uri="{FF2B5EF4-FFF2-40B4-BE49-F238E27FC236}">
                <a16:creationId xmlns:a16="http://schemas.microsoft.com/office/drawing/2014/main" id="{A5DA7873-5961-4553-A79E-008D31606E8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e3ad9cd01b54f73">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0" name="Google Shape;40;p40">
            <a:extLst xmlns:a="http://schemas.openxmlformats.org/drawingml/2006/main">
              <a:ext uri="{FF2B5EF4-FFF2-40B4-BE49-F238E27FC236}">
                <a16:creationId xmlns:a16="http://schemas.microsoft.com/office/drawing/2014/main" id="{98BAA711-AF12-4B72-B1B7-AB02BEA254BA}"/>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41" name="Google Shape;41;p40">
            <a:extLst xmlns:a="http://schemas.openxmlformats.org/drawingml/2006/main">
              <a:ext uri="{FF2B5EF4-FFF2-40B4-BE49-F238E27FC236}">
                <a16:creationId xmlns:a16="http://schemas.microsoft.com/office/drawing/2014/main" id="{545BD462-F1CD-49FD-9E1F-224AC8557BB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42" name="Google Shape;42;p40">
            <a:extLst xmlns:a="http://schemas.openxmlformats.org/drawingml/2006/main">
              <a:ext uri="{FF2B5EF4-FFF2-40B4-BE49-F238E27FC236}">
                <a16:creationId xmlns:a16="http://schemas.microsoft.com/office/drawing/2014/main" id="{56A8D3B0-3CF7-4921-8480-76AFEA39987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RC - Title and body">
  <p:cSld name="TITLE_AND_BODY_1_1_1_1">
    <p:spTree>
      <p:nvGrpSpPr>
        <p:cNvPr id="1" name=""/>
        <p:cNvGrpSpPr/>
        <p:nvPr/>
      </p:nvGrpSpPr>
      <p:grpSpPr>
        <a:xfrm xmlns:a="http://schemas.openxmlformats.org/drawingml/2006/main"/>
      </p:grpSpPr>
      <p:pic>
        <p:nvPicPr>
          <p:cNvPr id="44" name="Google Shape;44;p41">
            <a:extLst xmlns:a="http://schemas.openxmlformats.org/drawingml/2006/main">
              <a:ext uri="{FF2B5EF4-FFF2-40B4-BE49-F238E27FC236}">
                <a16:creationId xmlns:a16="http://schemas.microsoft.com/office/drawing/2014/main" id="{AC0DF706-BAC0-476F-937A-A6AA7D12455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53b65b050e949f6">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5" name="Google Shape;45;p41">
            <a:extLst xmlns:a="http://schemas.openxmlformats.org/drawingml/2006/main">
              <a:ext uri="{FF2B5EF4-FFF2-40B4-BE49-F238E27FC236}">
                <a16:creationId xmlns:a16="http://schemas.microsoft.com/office/drawing/2014/main" id="{FEA27301-9EF5-4E3F-8D35-272D6C7DD7B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46" name="Google Shape;46;p41">
            <a:extLst xmlns:a="http://schemas.openxmlformats.org/drawingml/2006/main">
              <a:ext uri="{FF2B5EF4-FFF2-40B4-BE49-F238E27FC236}">
                <a16:creationId xmlns:a16="http://schemas.microsoft.com/office/drawing/2014/main" id="{C3FAF10B-2B6B-4BBE-9B94-544167D1C2F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47" name="Google Shape;47;p41">
            <a:extLst xmlns:a="http://schemas.openxmlformats.org/drawingml/2006/main">
              <a:ext uri="{FF2B5EF4-FFF2-40B4-BE49-F238E27FC236}">
                <a16:creationId xmlns:a16="http://schemas.microsoft.com/office/drawing/2014/main" id="{15A41B10-675E-4F96-86E9-3B5FB85CD45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RCL - Title and body">
  <p:cSld name="TITLE_AND_BODY_1_1_1_1_1">
    <p:spTree>
      <p:nvGrpSpPr>
        <p:cNvPr id="1" name=""/>
        <p:cNvGrpSpPr/>
        <p:nvPr/>
      </p:nvGrpSpPr>
      <p:grpSpPr>
        <a:xfrm xmlns:a="http://schemas.openxmlformats.org/drawingml/2006/main"/>
      </p:grpSpPr>
      <p:pic>
        <p:nvPicPr>
          <p:cNvPr id="49" name="Google Shape;49;p42">
            <a:extLst xmlns:a="http://schemas.openxmlformats.org/drawingml/2006/main">
              <a:ext uri="{FF2B5EF4-FFF2-40B4-BE49-F238E27FC236}">
                <a16:creationId xmlns:a16="http://schemas.microsoft.com/office/drawing/2014/main" id="{274DF089-4C56-490F-B92D-B2579435F98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3782fd2f6444437">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0" name="Google Shape;50;p42">
            <a:extLst xmlns:a="http://schemas.openxmlformats.org/drawingml/2006/main">
              <a:ext uri="{FF2B5EF4-FFF2-40B4-BE49-F238E27FC236}">
                <a16:creationId xmlns:a16="http://schemas.microsoft.com/office/drawing/2014/main" id="{3937242C-E99A-4993-BB4A-57A4D786B127}"/>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51" name="Google Shape;51;p42">
            <a:extLst xmlns:a="http://schemas.openxmlformats.org/drawingml/2006/main">
              <a:ext uri="{FF2B5EF4-FFF2-40B4-BE49-F238E27FC236}">
                <a16:creationId xmlns:a16="http://schemas.microsoft.com/office/drawing/2014/main" id="{1656244C-BBB5-4E26-8247-7B10CB1D19FF}"/>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52" name="Google Shape;52;p42">
            <a:extLst xmlns:a="http://schemas.openxmlformats.org/drawingml/2006/main">
              <a:ext uri="{FF2B5EF4-FFF2-40B4-BE49-F238E27FC236}">
                <a16:creationId xmlns:a16="http://schemas.microsoft.com/office/drawing/2014/main" id="{2354BB82-E288-4D8C-81B4-62102BAC104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UCL - Title and body">
  <p:cSld name="TITLE_AND_BODY_1_1_1_1_1_1">
    <p:spTree>
      <p:nvGrpSpPr>
        <p:cNvPr id="1" name=""/>
        <p:cNvGrpSpPr/>
        <p:nvPr/>
      </p:nvGrpSpPr>
      <p:grpSpPr>
        <a:xfrm xmlns:a="http://schemas.openxmlformats.org/drawingml/2006/main"/>
      </p:grpSpPr>
      <p:pic>
        <p:nvPicPr>
          <p:cNvPr id="54" name="Google Shape;54;p43">
            <a:extLst xmlns:a="http://schemas.openxmlformats.org/drawingml/2006/main">
              <a:ext uri="{FF2B5EF4-FFF2-40B4-BE49-F238E27FC236}">
                <a16:creationId xmlns:a16="http://schemas.microsoft.com/office/drawing/2014/main" id="{688B8199-65C9-4188-8E39-C9DAB8C5304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ae84b85034a4673">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5" name="Google Shape;55;p43">
            <a:extLst xmlns:a="http://schemas.openxmlformats.org/drawingml/2006/main">
              <a:ext uri="{FF2B5EF4-FFF2-40B4-BE49-F238E27FC236}">
                <a16:creationId xmlns:a16="http://schemas.microsoft.com/office/drawing/2014/main" id="{E003984E-E977-4049-B476-A5081884395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56" name="Google Shape;56;p43">
            <a:extLst xmlns:a="http://schemas.openxmlformats.org/drawingml/2006/main">
              <a:ext uri="{FF2B5EF4-FFF2-40B4-BE49-F238E27FC236}">
                <a16:creationId xmlns:a16="http://schemas.microsoft.com/office/drawing/2014/main" id="{12C9C8B1-1839-4082-B018-059AEEB530A4}"/>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57" name="Google Shape;57;p43">
            <a:extLst xmlns:a="http://schemas.openxmlformats.org/drawingml/2006/main">
              <a:ext uri="{FF2B5EF4-FFF2-40B4-BE49-F238E27FC236}">
                <a16:creationId xmlns:a16="http://schemas.microsoft.com/office/drawing/2014/main" id="{B8C53D3C-0EE7-492E-B48F-6E513A79C97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IPM Indonesia - Title and body">
  <p:cSld name="TITLE_AND_BODY_1_1_1_1_1_1_1">
    <p:spTree>
      <p:nvGrpSpPr>
        <p:cNvPr id="1" name=""/>
        <p:cNvGrpSpPr/>
        <p:nvPr/>
      </p:nvGrpSpPr>
      <p:grpSpPr>
        <a:xfrm xmlns:a="http://schemas.openxmlformats.org/drawingml/2006/main"/>
      </p:grpSpPr>
      <p:pic>
        <p:nvPicPr>
          <p:cNvPr id="59" name="Google Shape;59;p44">
            <a:extLst xmlns:a="http://schemas.openxmlformats.org/drawingml/2006/main">
              <a:ext uri="{FF2B5EF4-FFF2-40B4-BE49-F238E27FC236}">
                <a16:creationId xmlns:a16="http://schemas.microsoft.com/office/drawing/2014/main" id="{14ECD5EF-C5A8-4EFC-8D29-DD648719F9F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a66cbd014d54045">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0" name="Google Shape;60;p44">
            <a:extLst xmlns:a="http://schemas.openxmlformats.org/drawingml/2006/main">
              <a:ext uri="{FF2B5EF4-FFF2-40B4-BE49-F238E27FC236}">
                <a16:creationId xmlns:a16="http://schemas.microsoft.com/office/drawing/2014/main" id="{9A3AA0B3-1B0F-4C86-AC4D-B542AD426F41}"/>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61" name="Google Shape;61;p44">
            <a:extLst xmlns:a="http://schemas.openxmlformats.org/drawingml/2006/main">
              <a:ext uri="{FF2B5EF4-FFF2-40B4-BE49-F238E27FC236}">
                <a16:creationId xmlns:a16="http://schemas.microsoft.com/office/drawing/2014/main" id="{4BF8D23D-4151-4ADC-BB5B-613061B40579}"/>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62" name="Google Shape;62;p44">
            <a:extLst xmlns:a="http://schemas.openxmlformats.org/drawingml/2006/main">
              <a:ext uri="{FF2B5EF4-FFF2-40B4-BE49-F238E27FC236}">
                <a16:creationId xmlns:a16="http://schemas.microsoft.com/office/drawing/2014/main" id="{58648794-5749-4A33-A203-4744CD5FCF0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NCR - Title and body">
  <p:cSld name="TITLE_AND_BODY_1_1_1_1_1_1_1_1_1">
    <p:spTree>
      <p:nvGrpSpPr>
        <p:cNvPr id="1" name=""/>
        <p:cNvGrpSpPr/>
        <p:nvPr/>
      </p:nvGrpSpPr>
      <p:grpSpPr>
        <a:xfrm xmlns:a="http://schemas.openxmlformats.org/drawingml/2006/main"/>
      </p:grpSpPr>
      <p:pic>
        <p:nvPicPr>
          <p:cNvPr id="64" name="Google Shape;64;p45">
            <a:extLst xmlns:a="http://schemas.openxmlformats.org/drawingml/2006/main">
              <a:ext uri="{FF2B5EF4-FFF2-40B4-BE49-F238E27FC236}">
                <a16:creationId xmlns:a16="http://schemas.microsoft.com/office/drawing/2014/main" id="{EB58D6E0-BEDE-4BC8-B2CC-2BED93EA7AC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1368878bc7e4151">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5" name="Google Shape;65;p45">
            <a:extLst xmlns:a="http://schemas.openxmlformats.org/drawingml/2006/main">
              <a:ext uri="{FF2B5EF4-FFF2-40B4-BE49-F238E27FC236}">
                <a16:creationId xmlns:a16="http://schemas.microsoft.com/office/drawing/2014/main" id="{33EE5B29-10C2-474B-A90F-19A61F81D783}"/>
              </a:ext>
            </a:extLst>
          </p:cNvPr>
          <p:cNvSpPr>
            <a:spLocks xmlns:a="http://schemas.openxmlformats.org/drawingml/2006/main" noGrp="1"/>
          </p:cNvSpPr>
          <p:nvPr>
            <p:ph type="title" idx="0"/>
          </p:nvPr>
        </p:nvSpPr>
        <p:spPr>
          <a:xfrm xmlns:a="http://schemas.openxmlformats.org/drawingml/2006/main">
            <a:off x="517825" y="11713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66" name="Google Shape;66;p45">
            <a:extLst xmlns:a="http://schemas.openxmlformats.org/drawingml/2006/main">
              <a:ext uri="{FF2B5EF4-FFF2-40B4-BE49-F238E27FC236}">
                <a16:creationId xmlns:a16="http://schemas.microsoft.com/office/drawing/2014/main" id="{96DD6A37-EEDD-43B7-AD9B-DB14E5C6529C}"/>
              </a:ext>
            </a:extLst>
          </p:cNvPr>
          <p:cNvSpPr>
            <a:spLocks xmlns:a="http://schemas.openxmlformats.org/drawingml/2006/main" noGrp="1"/>
          </p:cNvSpPr>
          <p:nvPr>
            <p:ph type="body" idx="1"/>
          </p:nvPr>
        </p:nvSpPr>
        <p:spPr>
          <a:xfrm xmlns:a="http://schemas.openxmlformats.org/drawingml/2006/main">
            <a:off x="656775" y="20631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67" name="Google Shape;67;p45">
            <a:extLst xmlns:a="http://schemas.openxmlformats.org/drawingml/2006/main">
              <a:ext uri="{FF2B5EF4-FFF2-40B4-BE49-F238E27FC236}">
                <a16:creationId xmlns:a16="http://schemas.microsoft.com/office/drawing/2014/main" id="{1D1D05B2-BAEC-4409-A074-CE58EACE461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RADLearning - Title and body">
  <p:cSld name="TITLE_AND_BODY_1_1_1_1_1_1_1_1_1_1_1">
    <p:spTree>
      <p:nvGrpSpPr>
        <p:cNvPr id="1" name=""/>
        <p:cNvGrpSpPr/>
        <p:nvPr/>
      </p:nvGrpSpPr>
      <p:grpSpPr>
        <a:xfrm xmlns:a="http://schemas.openxmlformats.org/drawingml/2006/main"/>
      </p:grpSpPr>
      <p:pic>
        <p:nvPicPr>
          <p:cNvPr id="69" name="Google Shape;69;p46">
            <a:extLst xmlns:a="http://schemas.openxmlformats.org/drawingml/2006/main">
              <a:ext uri="{FF2B5EF4-FFF2-40B4-BE49-F238E27FC236}">
                <a16:creationId xmlns:a16="http://schemas.microsoft.com/office/drawing/2014/main" id="{C27D2A36-D7EB-4840-B540-08C8368866E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15b4a08f6d64539">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70" name="Google Shape;70;p46">
            <a:extLst xmlns:a="http://schemas.openxmlformats.org/drawingml/2006/main">
              <a:ext uri="{FF2B5EF4-FFF2-40B4-BE49-F238E27FC236}">
                <a16:creationId xmlns:a16="http://schemas.microsoft.com/office/drawing/2014/main" id="{55BC15AC-6C6E-4A60-AD4E-780F6A0B1E05}"/>
              </a:ext>
            </a:extLst>
          </p:cNvPr>
          <p:cNvSpPr>
            <a:spLocks xmlns:a="http://schemas.openxmlformats.org/drawingml/2006/main" noGrp="1"/>
          </p:cNvSpPr>
          <p:nvPr>
            <p:ph type="title" idx="0"/>
          </p:nvPr>
        </p:nvSpPr>
        <p:spPr>
          <a:xfrm xmlns:a="http://schemas.openxmlformats.org/drawingml/2006/main">
            <a:off x="517825" y="12276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71" name="Google Shape;71;p46">
            <a:extLst xmlns:a="http://schemas.openxmlformats.org/drawingml/2006/main">
              <a:ext uri="{FF2B5EF4-FFF2-40B4-BE49-F238E27FC236}">
                <a16:creationId xmlns:a16="http://schemas.microsoft.com/office/drawing/2014/main" id="{4EC4BB52-41F4-4B3E-BF3A-91AD3D9B256B}"/>
              </a:ext>
            </a:extLst>
          </p:cNvPr>
          <p:cNvSpPr>
            <a:spLocks xmlns:a="http://schemas.openxmlformats.org/drawingml/2006/main" noGrp="1"/>
          </p:cNvSpPr>
          <p:nvPr>
            <p:ph type="body" idx="1"/>
          </p:nvPr>
        </p:nvSpPr>
        <p:spPr>
          <a:xfrm xmlns:a="http://schemas.openxmlformats.org/drawingml/2006/main">
            <a:off x="656775" y="21194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72" name="Google Shape;72;p46">
            <a:extLst xmlns:a="http://schemas.openxmlformats.org/drawingml/2006/main">
              <a:ext uri="{FF2B5EF4-FFF2-40B4-BE49-F238E27FC236}">
                <a16:creationId xmlns:a16="http://schemas.microsoft.com/office/drawing/2014/main" id="{DE1C184F-30AE-4460-A31D-6537412B6775}"/>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Blank Slide" type="blank">
  <p:cSld name="BLANK">
    <p:spTree>
      <p:nvGrpSpPr>
        <p:cNvPr id="1" name=""/>
        <p:cNvGrpSpPr/>
        <p:nvPr/>
      </p:nvGrpSpPr>
      <p:grpSpPr>
        <a:xfrm xmlns:a="http://schemas.openxmlformats.org/drawingml/2006/main"/>
      </p:grpSpPr>
      <p:sp>
        <p:nvSpPr>
          <p:cNvPr id="74" name="Google Shape;74;p47">
            <a:extLst xmlns:a="http://schemas.openxmlformats.org/drawingml/2006/main">
              <a:ext uri="{FF2B5EF4-FFF2-40B4-BE49-F238E27FC236}">
                <a16:creationId xmlns:a16="http://schemas.microsoft.com/office/drawing/2014/main" id="{0EFFD2C9-FAF4-46FE-B1A1-776FF44E6E2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75" name="Google Shape;75;p47">
            <a:extLst xmlns:a="http://schemas.openxmlformats.org/drawingml/2006/main">
              <a:ext uri="{FF2B5EF4-FFF2-40B4-BE49-F238E27FC236}">
                <a16:creationId xmlns:a16="http://schemas.microsoft.com/office/drawing/2014/main" id="{A3E84D06-0172-44F0-979C-DEE41B182C84}"/>
              </a:ext>
            </a:extLst>
          </p:cNvPr>
          <p:cNvSpPr>
            <a:spLocks xmlns:a="http://schemas.openxmlformats.org/drawingml/2006/main" noGrp="1"/>
          </p:cNvSpPr>
          <p:nvPr/>
        </p:nvSpPr>
        <p:spPr>
          <a:xfrm xmlns:a="http://schemas.openxmlformats.org/drawingml/2006/main">
            <a:off x="78150" y="95525"/>
            <a:ext cx="8961600" cy="4923600"/>
          </a:xfrm>
          <a:prstGeom xmlns:a="http://schemas.openxmlformats.org/drawingml/2006/main" prst="rect">
            <a:avLst/>
          </a:prstGeom>
          <a:solidFill xmlns:a="http://schemas.openxmlformats.org/drawingml/2006/main">
            <a:schemeClr val="lt1"/>
          </a:solidFill>
          <a:ln xmlns:a="http://schemas.openxmlformats.org/drawingml/2006/main" w="9525" cap="flat" cmpd="sng">
            <a:solidFill>
              <a:schemeClr val="lt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d6f61e266e8748a8" /><Relationship Type="http://schemas.openxmlformats.org/officeDocument/2006/relationships/theme" Target="/ppt/slideMasters/theme/theme2.xml" Id="R83797fc06b554616" /><Relationship Type="http://schemas.openxmlformats.org/officeDocument/2006/relationships/slideLayout" Target="/ppt/slideLayouts/slideLayout1.xml" Id="R2c6aa2ec48ec4e02" /><Relationship Type="http://schemas.openxmlformats.org/officeDocument/2006/relationships/slideLayout" Target="/ppt/slideLayouts/slideLayout2.xml" Id="Rcc688326eb3c429f" /><Relationship Type="http://schemas.openxmlformats.org/officeDocument/2006/relationships/slideLayout" Target="/ppt/slideLayouts/slideLayout3.xml" Id="Ra0319e0ce8514ab5" /><Relationship Type="http://schemas.openxmlformats.org/officeDocument/2006/relationships/slideLayout" Target="/ppt/slideLayouts/slideLayout4.xml" Id="R7c804019c4814ecb" /><Relationship Type="http://schemas.openxmlformats.org/officeDocument/2006/relationships/slideLayout" Target="/ppt/slideLayouts/slideLayout5.xml" Id="R20393d16f04a4a43" /><Relationship Type="http://schemas.openxmlformats.org/officeDocument/2006/relationships/slideLayout" Target="/ppt/slideLayouts/slideLayout6.xml" Id="R45683437db4b4b91" /><Relationship Type="http://schemas.openxmlformats.org/officeDocument/2006/relationships/slideLayout" Target="/ppt/slideLayouts/slideLayout7.xml" Id="R3bfa403856ca41e7" /><Relationship Type="http://schemas.openxmlformats.org/officeDocument/2006/relationships/slideLayout" Target="/ppt/slideLayouts/slideLayout8.xml" Id="R2f3090de21824b3f" /><Relationship Type="http://schemas.openxmlformats.org/officeDocument/2006/relationships/slideLayout" Target="/ppt/slideLayouts/slideLayout9.xml" Id="R008c1dd421c046d8" /><Relationship Type="http://schemas.openxmlformats.org/officeDocument/2006/relationships/slideLayout" Target="/ppt/slideLayouts/slideLayout10.xml" Id="R0149c5d6dc244f29" /><Relationship Type="http://schemas.openxmlformats.org/officeDocument/2006/relationships/slideLayout" Target="/ppt/slideLayouts/slideLayout11.xml" Id="Rab281636606b4080" /><Relationship Type="http://schemas.openxmlformats.org/officeDocument/2006/relationships/slideLayout" Target="/ppt/slideLayouts/slideLayout12.xml" Id="R012f5d16b6464608" /><Relationship Type="http://schemas.openxmlformats.org/officeDocument/2006/relationships/slideLayout" Target="/ppt/slideLayouts/slideLayout13.xml" Id="R962410f1d578406a" /><Relationship Type="http://schemas.openxmlformats.org/officeDocument/2006/relationships/slideLayout" Target="/ppt/slideLayouts/slideLayout14.xml" Id="Rd9eeced11b2e40db"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33">
            <a:extLst xmlns:a="http://schemas.openxmlformats.org/drawingml/2006/main">
              <a:ext uri="{FF2B5EF4-FFF2-40B4-BE49-F238E27FC236}">
                <a16:creationId xmlns:a16="http://schemas.microsoft.com/office/drawing/2014/main" id="{43730E29-2141-47CE-9791-82BE7C3068C2}"/>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1pPr>
            <a:lvl2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2pPr>
            <a:lvl3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3pPr>
            <a:lvl4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4pPr>
            <a:lvl5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5pPr>
            <a:lvl6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6pPr>
            <a:lvl7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7pPr>
            <a:lvl8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8pPr>
            <a:lvl9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9pPr>
          </a:lstStyle>
          <a:p xmlns:a="http://schemas.openxmlformats.org/drawingml/2006/main">
            <a:endParaRPr/>
          </a:p>
        </p:txBody>
      </p:sp>
      <p:sp>
        <p:nvSpPr>
          <p:cNvPr id="7" name="Google Shape;7;p33">
            <a:extLst xmlns:a="http://schemas.openxmlformats.org/drawingml/2006/main">
              <a:ext uri="{FF2B5EF4-FFF2-40B4-BE49-F238E27FC236}">
                <a16:creationId xmlns:a16="http://schemas.microsoft.com/office/drawing/2014/main" id="{6E36A32F-7FBD-4A1B-8C28-6F5E9EAC2F2C}"/>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11150" algn="l">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defRPr>
            </a:lvl1pPr>
            <a:lvl2pPr marL="914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2pPr>
            <a:lvl3pPr marL="1371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3pPr>
            <a:lvl4pPr marL="1828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4pPr>
            <a:lvl5pPr marL="22860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5pPr>
            <a:lvl6pPr marL="27432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6pPr>
            <a:lvl7pPr marL="3200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7pPr>
            <a:lvl8pPr marL="3657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8pPr>
            <a:lvl9pPr marL="4114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9pPr>
          </a:lstStyle>
          <a:p xmlns:a="http://schemas.openxmlformats.org/drawingml/2006/main">
            <a:endParaRPr/>
          </a:p>
        </p:txBody>
      </p:sp>
      <p:sp>
        <p:nvSpPr>
          <p:cNvPr id="8" name="Google Shape;8;p33">
            <a:extLst xmlns:a="http://schemas.openxmlformats.org/drawingml/2006/main">
              <a:ext uri="{FF2B5EF4-FFF2-40B4-BE49-F238E27FC236}">
                <a16:creationId xmlns:a16="http://schemas.microsoft.com/office/drawing/2014/main" id="{1A52CF9F-3E3A-405D-83A8-813D71CD58E6}"/>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pic>
        <p:nvPicPr>
          <p:cNvPr id="9" name="Google Shape;9;p33">
            <a:extLst xmlns:a="http://schemas.openxmlformats.org/drawingml/2006/main">
              <a:ext uri="{FF2B5EF4-FFF2-40B4-BE49-F238E27FC236}">
                <a16:creationId xmlns:a16="http://schemas.microsoft.com/office/drawing/2014/main" id="{4726EF2D-3C95-42CC-8058-51719B70AFD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6f61e266e8748a8">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2c6aa2ec48ec4e02"/>
    <p:sldLayoutId xmlns:r="http://schemas.openxmlformats.org/officeDocument/2006/relationships" id="2147483650" r:id="Rcc688326eb3c429f"/>
    <p:sldLayoutId xmlns:r="http://schemas.openxmlformats.org/officeDocument/2006/relationships" id="2147483651" r:id="Ra0319e0ce8514ab5"/>
    <p:sldLayoutId xmlns:r="http://schemas.openxmlformats.org/officeDocument/2006/relationships" id="2147483652" r:id="R7c804019c4814ecb"/>
    <p:sldLayoutId xmlns:r="http://schemas.openxmlformats.org/officeDocument/2006/relationships" id="2147483653" r:id="R20393d16f04a4a43"/>
    <p:sldLayoutId xmlns:r="http://schemas.openxmlformats.org/officeDocument/2006/relationships" id="2147483654" r:id="R45683437db4b4b91"/>
    <p:sldLayoutId xmlns:r="http://schemas.openxmlformats.org/officeDocument/2006/relationships" id="2147483655" r:id="R3bfa403856ca41e7"/>
    <p:sldLayoutId xmlns:r="http://schemas.openxmlformats.org/officeDocument/2006/relationships" id="2147483656" r:id="R2f3090de21824b3f"/>
    <p:sldLayoutId xmlns:r="http://schemas.openxmlformats.org/officeDocument/2006/relationships" id="2147483657" r:id="R008c1dd421c046d8"/>
    <p:sldLayoutId xmlns:r="http://schemas.openxmlformats.org/officeDocument/2006/relationships" id="2147483658" r:id="R0149c5d6dc244f29"/>
    <p:sldLayoutId xmlns:r="http://schemas.openxmlformats.org/officeDocument/2006/relationships" id="2147483659" r:id="Rab281636606b4080"/>
    <p:sldLayoutId xmlns:r="http://schemas.openxmlformats.org/officeDocument/2006/relationships" id="2147483660" r:id="R012f5d16b6464608"/>
    <p:sldLayoutId xmlns:r="http://schemas.openxmlformats.org/officeDocument/2006/relationships" id="2147483661" r:id="R962410f1d578406a"/>
    <p:sldLayoutId xmlns:r="http://schemas.openxmlformats.org/officeDocument/2006/relationships" id="2147483662" r:id="Rd9eeced11b2e40db"/>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3e6dc851184599" /><Relationship Type="http://schemas.openxmlformats.org/officeDocument/2006/relationships/image" Target="/ppt/media/image14.png" Id="Rf88a5e693d1548c2" /><Relationship Type="http://schemas.openxmlformats.org/officeDocument/2006/relationships/notesSlide" Target="/ppt/notesSlides/notesSlide1.xml" Id="Rd4c69a95e3114c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622c7ec3d89a4422" /><Relationship Type="http://schemas.openxmlformats.org/officeDocument/2006/relationships/image" Target="/ppt/media/image15.png" Id="R618ae78eff154240" /><Relationship Type="http://schemas.openxmlformats.org/officeDocument/2006/relationships/notesSlide" Target="/ppt/notesSlides/notesSlide2.xml" Id="Ra475d1ee8f3844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e17a3a23565a43e0" /><Relationship Type="http://schemas.openxmlformats.org/officeDocument/2006/relationships/image" Target="/ppt/media/image15.png" Id="R8eb7d08ab02c4f93" /><Relationship Type="http://schemas.openxmlformats.org/officeDocument/2006/relationships/image" Target="/ppt/media/image16.png" Id="R95a637a805034c42" /><Relationship Type="http://schemas.openxmlformats.org/officeDocument/2006/relationships/notesSlide" Target="/ppt/notesSlides/notesSlide3.xml" Id="Rc1113d93af0b43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c8067cb406444ff5" /><Relationship Type="http://schemas.openxmlformats.org/officeDocument/2006/relationships/image" Target="/ppt/media/image15.png" Id="R4f88300a58eb4d92" /><Relationship Type="http://schemas.openxmlformats.org/officeDocument/2006/relationships/notesSlide" Target="/ppt/notesSlides/notesSlide4.xml" Id="Rc2053808e6564c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cc2fc5adffea4cd6" /><Relationship Type="http://schemas.openxmlformats.org/officeDocument/2006/relationships/image" Target="/ppt/media/image15.png" Id="Rf66574d1e0614ad7" /><Relationship Type="http://schemas.openxmlformats.org/officeDocument/2006/relationships/notesSlide" Target="/ppt/notesSlides/notesSlide5.xml" Id="Ra70b8d37143440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5edec3462c1d4c7d" /><Relationship Type="http://schemas.openxmlformats.org/officeDocument/2006/relationships/image" Target="/ppt/media/image15.png" Id="Reb9de54f41364288" /><Relationship Type="http://schemas.openxmlformats.org/officeDocument/2006/relationships/notesSlide" Target="/ppt/notesSlides/notesSlide6.xml" Id="Rf9fe23bfe2a04b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66cacb8d5c1e47ee" /><Relationship Type="http://schemas.openxmlformats.org/officeDocument/2006/relationships/image" Target="/ppt/media/image15.png" Id="Rebe5233c1db9431a" /><Relationship Type="http://schemas.openxmlformats.org/officeDocument/2006/relationships/notesSlide" Target="/ppt/notesSlides/notesSlide7.xml" Id="R38f2a127532d4444"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c209b823224e4840" /><Relationship Type="http://schemas.openxmlformats.org/officeDocument/2006/relationships/image" Target="/ppt/media/image17.png" Id="R85cadb1f729e447c" /><Relationship Type="http://schemas.openxmlformats.org/officeDocument/2006/relationships/chart" Target="/ppt/slides/charts/chart1.xml" Id="R184b431b75c342e2" /><Relationship Type="http://schemas.openxmlformats.org/officeDocument/2006/relationships/chart" Target="/ppt/slides/charts/chart2.xml" Id="Rd522dd55e0254f9d" /><Relationship Type="http://schemas.openxmlformats.org/officeDocument/2006/relationships/notesSlide" Target="/ppt/notesSlides/notesSlide8.xml" Id="R0eccb507a34c4b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9a7fc52a46b54a68" /><Relationship Type="http://schemas.openxmlformats.org/officeDocument/2006/relationships/image" Target="/ppt/media/image18.png" Id="Ra6f3ad4ac1b94a5f" /><Relationship Type="http://schemas.openxmlformats.org/officeDocument/2006/relationships/chart" Target="/ppt/slides/charts/chart3.xml" Id="R8d3cad0c0acd40b3" /><Relationship Type="http://schemas.openxmlformats.org/officeDocument/2006/relationships/notesSlide" Target="/ppt/notesSlides/notesSlide9.xml" Id="Rfee5630e4c404d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02c1609585984e1c" /><Relationship Type="http://schemas.openxmlformats.org/officeDocument/2006/relationships/image" Target="/ppt/media/image15.png" Id="Rbb9eb4b372974432" /><Relationship Type="http://schemas.openxmlformats.org/officeDocument/2006/relationships/notesSlide" Target="/ppt/notesSlides/notesSlide10.xml" Id="Re1e103351dba416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7e21f84aa81243f8" /><Relationship Type="http://schemas.openxmlformats.org/officeDocument/2006/relationships/image" Target="/ppt/media/image19.png" Id="R512362249d7a49cc" /><Relationship Type="http://schemas.openxmlformats.org/officeDocument/2006/relationships/notesSlide" Target="/ppt/notesSlides/notesSlide11.xml" Id="R062b2eeeeb0f4fb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46c8502bfc5c44a3" /><Relationship Type="http://schemas.openxmlformats.org/officeDocument/2006/relationships/image" Target="/ppt/media/image20.png" Id="R1a17760d6fdc4535" /><Relationship Type="http://schemas.openxmlformats.org/officeDocument/2006/relationships/notesSlide" Target="/ppt/notesSlides/notesSlide12.xml" Id="Rd9a0f0d711ca4a7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b0a82fd179f84dc1" /><Relationship Type="http://schemas.openxmlformats.org/officeDocument/2006/relationships/image" Target="/ppt/media/image21.png" Id="R53cacd058b224667" /><Relationship Type="http://schemas.openxmlformats.org/officeDocument/2006/relationships/notesSlide" Target="/ppt/notesSlides/notesSlide13.xml" Id="Rcbefacd722e745c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494b33d46b5145ab" /><Relationship Type="http://schemas.openxmlformats.org/officeDocument/2006/relationships/image" Target="/ppt/media/image15.png" Id="R3538a0075d864dd5" /><Relationship Type="http://schemas.openxmlformats.org/officeDocument/2006/relationships/image" Target="/ppt/media/image22.png" Id="R2e719c05696d452c" /><Relationship Type="http://schemas.openxmlformats.org/officeDocument/2006/relationships/notesSlide" Target="/ppt/notesSlides/notesSlide14.xml" Id="R2ea2a2543c84407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46d0d28f1f0e4267" /><Relationship Type="http://schemas.openxmlformats.org/officeDocument/2006/relationships/image" Target="/ppt/media/image15.png" Id="Rf4af62cb7b32458c" /><Relationship Type="http://schemas.openxmlformats.org/officeDocument/2006/relationships/notesSlide" Target="/ppt/notesSlides/notesSlide15.xml" Id="Rb9c5c68b9644418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eb5264b0e0a74234" /><Relationship Type="http://schemas.openxmlformats.org/officeDocument/2006/relationships/image" Target="/ppt/media/image15.png" Id="R6e0b6d93cc6540fe" /><Relationship Type="http://schemas.openxmlformats.org/officeDocument/2006/relationships/notesSlide" Target="/ppt/notesSlides/notesSlide16.xml" Id="R4b0332f7b8f84c7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80b4ff67468e476e" /><Relationship Type="http://schemas.openxmlformats.org/officeDocument/2006/relationships/image" Target="/ppt/media/image15.png" Id="Reca8507c13384f50" /><Relationship Type="http://schemas.openxmlformats.org/officeDocument/2006/relationships/notesSlide" Target="/ppt/notesSlides/notesSlide17.xml" Id="R0cfe73c954e94ea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902934c5f2944fb5" /><Relationship Type="http://schemas.openxmlformats.org/officeDocument/2006/relationships/image" Target="/ppt/media/image15.png" Id="R961b0af416004b79" /><Relationship Type="http://schemas.openxmlformats.org/officeDocument/2006/relationships/notesSlide" Target="/ppt/notesSlides/notesSlide18.xml" Id="R59e929873fb8411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3.xml" Id="Rd9dc6ab3d7cf4bee" /><Relationship Type="http://schemas.openxmlformats.org/officeDocument/2006/relationships/image" Target="/ppt/media/image15.png" Id="R5685ff9b34cc4fe6" /><Relationship Type="http://schemas.openxmlformats.org/officeDocument/2006/relationships/notesSlide" Target="/ppt/notesSlides/notesSlide19.xml" Id="R044f68ac2ea54c8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3.xml" Id="R69d9419441cd48da" /><Relationship Type="http://schemas.openxmlformats.org/officeDocument/2006/relationships/image" Target="/ppt/media/image15.png" Id="R847a8a3f6a2843aa" /><Relationship Type="http://schemas.openxmlformats.org/officeDocument/2006/relationships/notesSlide" Target="/ppt/notesSlides/notesSlide20.xml" Id="R4c014e1fcc6548d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3.xml" Id="Re2e3df3583f1473b" /><Relationship Type="http://schemas.openxmlformats.org/officeDocument/2006/relationships/image" Target="/ppt/media/image23.png" Id="R11c89d71c2a04aaf" /><Relationship Type="http://schemas.openxmlformats.org/officeDocument/2006/relationships/notesSlide" Target="/ppt/notesSlides/notesSlide21.xml" Id="R616fdc22f26a4fd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7da0bc529c404522" /><Relationship Type="http://schemas.openxmlformats.org/officeDocument/2006/relationships/image" Target="/ppt/media/image24.png" Id="Rabf7f71a13844bfc" /><Relationship Type="http://schemas.openxmlformats.org/officeDocument/2006/relationships/notesSlide" Target="/ppt/notesSlides/notesSlide22.xml" Id="Rb8b8735f6c4d461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eba060998c554dda" /><Relationship Type="http://schemas.openxmlformats.org/officeDocument/2006/relationships/image" Target="/ppt/media/image15.png" Id="R4065216994a84c45" /><Relationship Type="http://schemas.openxmlformats.org/officeDocument/2006/relationships/notesSlide" Target="/ppt/notesSlides/notesSlide23.xml" Id="R92392b4505a34c58"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425">
                <a:solidFill>
                  <a:srgbClr val="171717"/>
                </a:solidFill>
                <a:latin typeface="Arial"/>
                <a:ea typeface="Arial"/>
                <a:cs typeface="Arial"/>
              </a:rPr>
              <a:t>Role in the organization</a:t>
            </a:r>
          </a:p>
        </c:rich>
      </c:tx>
      <c:overlay val="0"/>
      <c:txPr>
        <a:bodyPr xmlns:a="http://schemas.openxmlformats.org/drawingml/2006/main" anchorCtr="1"/>
        <a:lstStyle xmlns:a="http://schemas.openxmlformats.org/drawingml/2006/main"/>
        <a:p xmlns:a="http://schemas.openxmlformats.org/drawingml/2006/main">
          <a:pPr>
            <a:defRPr sz="1425">
              <a:solidFill>
                <a:srgbClr val="171717"/>
              </a:solidFill>
              <a:latin typeface="Arial"/>
              <a:ea typeface="Arial"/>
              <a:cs typeface="Arial"/>
            </a:defRPr>
          </a:pPr>
        </a:p>
      </c:txPr>
    </c:title>
    <c:plotArea>
      <c:pieChart>
        <c:ser>
          <c:idx val="0"/>
          <c:order val="0"/>
          <c:tx>
            <c:v>Respondents</c:v>
          </c:tx>
          <c:dPt>
            <c:idx val="0"/>
            <c:spPr>
              <a:solidFill xmlns:a="http://schemas.openxmlformats.org/drawingml/2006/main">
                <a:srgbClr val="3366CC"/>
              </a:solidFill>
              <a:ln xmlns:a="http://schemas.openxmlformats.org/drawingml/2006/main" w="9525">
                <a:solidFill>
                  <a:srgbClr val="FFFFFF"/>
                </a:solidFill>
                <a:prstDash val="solid"/>
              </a:ln>
            </c:spPr>
          </c:dPt>
          <c:dPt>
            <c:idx val="1"/>
            <c:spPr>
              <a:solidFill xmlns:a="http://schemas.openxmlformats.org/drawingml/2006/main">
                <a:srgbClr val="DC3912"/>
              </a:solidFill>
              <a:ln xmlns:a="http://schemas.openxmlformats.org/drawingml/2006/main" w="9525">
                <a:solidFill>
                  <a:srgbClr val="FFFFFF"/>
                </a:solidFill>
                <a:prstDash val="solid"/>
              </a:ln>
            </c:spPr>
          </c:dPt>
          <c:dPt>
            <c:idx val="2"/>
            <c:spPr>
              <a:solidFill xmlns:a="http://schemas.openxmlformats.org/drawingml/2006/main">
                <a:srgbClr val="FF9900"/>
              </a:solidFill>
              <a:ln xmlns:a="http://schemas.openxmlformats.org/drawingml/2006/main" w="9525">
                <a:solidFill>
                  <a:srgbClr val="FFFFFF"/>
                </a:solidFill>
                <a:prstDash val="solid"/>
              </a:ln>
            </c:spPr>
          </c:dPt>
          <c:dPt>
            <c:idx val="3"/>
            <c:spPr>
              <a:solidFill xmlns:a="http://schemas.openxmlformats.org/drawingml/2006/main">
                <a:srgbClr val="109618"/>
              </a:solidFill>
              <a:ln xmlns:a="http://schemas.openxmlformats.org/drawingml/2006/main" w="9525">
                <a:solidFill>
                  <a:srgbClr val="FFFFFF"/>
                </a:solidFill>
                <a:prstDash val="solid"/>
              </a:ln>
            </c:spPr>
          </c:dPt>
          <c:cat>
            <c:strRef>
              <c:f>'Chart Data'!$A$2:$A$5</c:f>
              <c:strCache>
                <c:ptCount val="4"/>
                <c:pt idx="0">
                  <c:v>Owner /
Manager</c:v>
                </c:pt>
                <c:pt idx="1">
                  <c:v>Stock
Custodian</c:v>
                </c:pt>
                <c:pt idx="2">
                  <c:v>Cashier / Sales
Encoder</c:v>
                </c:pt>
                <c:pt idx="3">
                  <c:v>Operations
Staff</c:v>
                </c:pt>
              </c:strCache>
            </c:strRef>
          </c:cat>
          <c:val>
            <c:numRef>
              <c:f>'Chart Data'!$B$2:$B$5</c:f>
              <c:numCache>
                <c:formatCode>0</c:formatCode>
                <c:ptCount val="4"/>
                <c:pt idx="0">
                  <c:v>6</c:v>
                </c:pt>
                <c:pt idx="1">
                  <c:v>2</c:v>
                </c:pt>
                <c:pt idx="2">
                  <c:v>3</c:v>
                </c:pt>
                <c:pt idx="3">
                  <c:v>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900">
                  <a:solidFill>
                    <a:srgbClr val="FFFFFF"/>
                  </a:solidFill>
                  <a:latin typeface="Arial"/>
                  <a:ea typeface="Arial"/>
                  <a:cs typeface="Arial"/>
                </a:defRPr>
              </a:pPr>
            </a:p>
          </c:txPr>
          <c:dLblPos val="ctr"/>
          <c:showLegendKey val="0"/>
          <c:showVal val="0"/>
          <c:showCatName val="0"/>
          <c:showSerName val="0"/>
          <c:showPercent val="1"/>
          <c:showBubbleSize val="0"/>
          <c:showLeaderLines val="0"/>
        </c:dLbls>
        <c:firstSliceAng val="90"/>
      </c:pieChart>
      <c:spPr>
        <a:solidFill xmlns:a="http://schemas.openxmlformats.org/drawingml/2006/main">
          <a:srgbClr val="FFFFFF"/>
        </a:solidFill>
        <a:ln xmlns:a="http://schemas.openxmlformats.org/drawingml/2006/main" w="0">
          <a:noFill/>
          <a:prstDash val="solid"/>
        </a:ln>
      </c:spPr>
    </c:plotArea>
    <c:legend>
      <c:legendPos val="r"/>
      <c:overlay val="0"/>
      <c:txPr>
        <a:bodyPr xmlns:a="http://schemas.openxmlformats.org/drawingml/2006/main" anchorCtr="1"/>
        <a:lstStyle xmlns:a="http://schemas.openxmlformats.org/drawingml/2006/main"/>
        <a:p xmlns:a="http://schemas.openxmlformats.org/drawingml/2006/main">
          <a:pPr>
            <a:defRPr sz="975">
              <a:solidFill>
                <a:srgbClr val="17171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425">
                <a:solidFill>
                  <a:srgbClr val="171717"/>
                </a:solidFill>
                <a:latin typeface="Arial"/>
                <a:ea typeface="Arial"/>
                <a:cs typeface="Arial"/>
              </a:rPr>
              <a:t>Years in current role</a:t>
            </a:r>
          </a:p>
        </c:rich>
      </c:tx>
      <c:overlay val="0"/>
      <c:txPr>
        <a:bodyPr xmlns:a="http://schemas.openxmlformats.org/drawingml/2006/main" anchorCtr="1"/>
        <a:lstStyle xmlns:a="http://schemas.openxmlformats.org/drawingml/2006/main"/>
        <a:p xmlns:a="http://schemas.openxmlformats.org/drawingml/2006/main">
          <a:pPr>
            <a:defRPr sz="1425">
              <a:solidFill>
                <a:srgbClr val="171717"/>
              </a:solidFill>
              <a:latin typeface="Arial"/>
              <a:ea typeface="Arial"/>
              <a:cs typeface="Arial"/>
            </a:defRPr>
          </a:pPr>
        </a:p>
      </c:txPr>
    </c:title>
    <c:plotArea>
      <c:pieChart>
        <c:ser>
          <c:idx val="0"/>
          <c:order val="0"/>
          <c:tx>
            <c:v>Respondents</c:v>
          </c:tx>
          <c:dPt>
            <c:idx val="0"/>
            <c:spPr>
              <a:solidFill xmlns:a="http://schemas.openxmlformats.org/drawingml/2006/main">
                <a:srgbClr val="3366CC"/>
              </a:solidFill>
              <a:ln xmlns:a="http://schemas.openxmlformats.org/drawingml/2006/main" w="9525">
                <a:solidFill>
                  <a:srgbClr val="FFFFFF"/>
                </a:solidFill>
                <a:prstDash val="solid"/>
              </a:ln>
            </c:spPr>
          </c:dPt>
          <c:dPt>
            <c:idx val="1"/>
            <c:spPr>
              <a:solidFill xmlns:a="http://schemas.openxmlformats.org/drawingml/2006/main">
                <a:srgbClr val="DC3912"/>
              </a:solidFill>
              <a:ln xmlns:a="http://schemas.openxmlformats.org/drawingml/2006/main" w="9525">
                <a:solidFill>
                  <a:srgbClr val="FFFFFF"/>
                </a:solidFill>
                <a:prstDash val="solid"/>
              </a:ln>
            </c:spPr>
          </c:dPt>
          <c:dPt>
            <c:idx val="2"/>
            <c:spPr>
              <a:solidFill xmlns:a="http://schemas.openxmlformats.org/drawingml/2006/main">
                <a:srgbClr val="FF9900"/>
              </a:solidFill>
              <a:ln xmlns:a="http://schemas.openxmlformats.org/drawingml/2006/main" w="9525">
                <a:solidFill>
                  <a:srgbClr val="FFFFFF"/>
                </a:solidFill>
                <a:prstDash val="solid"/>
              </a:ln>
            </c:spPr>
          </c:dPt>
          <c:dPt>
            <c:idx val="3"/>
            <c:spPr>
              <a:solidFill xmlns:a="http://schemas.openxmlformats.org/drawingml/2006/main">
                <a:srgbClr val="109618"/>
              </a:solidFill>
              <a:ln xmlns:a="http://schemas.openxmlformats.org/drawingml/2006/main" w="9525">
                <a:solidFill>
                  <a:srgbClr val="FFFFFF"/>
                </a:solidFill>
                <a:prstDash val="solid"/>
              </a:ln>
            </c:spPr>
          </c:dPt>
          <c:cat>
            <c:strRef>
              <c:f>'Chart Data'!$A$2:$A$5</c:f>
              <c:strCache>
                <c:ptCount val="4"/>
                <c:pt idx="0">
                  <c:v>Less than
1 year</c:v>
                </c:pt>
                <c:pt idx="1">
                  <c:v>1–2 years</c:v>
                </c:pt>
                <c:pt idx="2">
                  <c:v>3–5 years</c:v>
                </c:pt>
                <c:pt idx="3">
                  <c:v>More than
5 years</c:v>
                </c:pt>
              </c:strCache>
            </c:strRef>
          </c:cat>
          <c:val>
            <c:numRef>
              <c:f>'Chart Data'!$B$2:$B$5</c:f>
              <c:numCache>
                <c:formatCode>0</c:formatCode>
                <c:ptCount val="4"/>
                <c:pt idx="0">
                  <c:v>5</c:v>
                </c:pt>
                <c:pt idx="1">
                  <c:v>2</c:v>
                </c:pt>
                <c:pt idx="2">
                  <c:v>6</c:v>
                </c:pt>
                <c:pt idx="3">
                  <c:v>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900">
                  <a:solidFill>
                    <a:srgbClr val="FFFFFF"/>
                  </a:solidFill>
                  <a:latin typeface="Arial"/>
                  <a:ea typeface="Arial"/>
                  <a:cs typeface="Arial"/>
                </a:defRPr>
              </a:pPr>
            </a:p>
          </c:txPr>
          <c:dLblPos val="ctr"/>
          <c:showLegendKey val="0"/>
          <c:showVal val="0"/>
          <c:showCatName val="0"/>
          <c:showSerName val="0"/>
          <c:showPercent val="1"/>
          <c:showBubbleSize val="0"/>
          <c:showLeaderLines val="0"/>
        </c:dLbls>
        <c:firstSliceAng val="90"/>
      </c:pieChart>
      <c:spPr>
        <a:solidFill xmlns:a="http://schemas.openxmlformats.org/drawingml/2006/main">
          <a:srgbClr val="FFFFFF"/>
        </a:solidFill>
        <a:ln xmlns:a="http://schemas.openxmlformats.org/drawingml/2006/main" w="0">
          <a:noFill/>
          <a:prstDash val="solid"/>
        </a:ln>
      </c:spPr>
    </c:plotArea>
    <c:legend>
      <c:legendPos val="r"/>
      <c:overlay val="0"/>
      <c:txPr>
        <a:bodyPr xmlns:a="http://schemas.openxmlformats.org/drawingml/2006/main" anchorCtr="1"/>
        <a:lstStyle xmlns:a="http://schemas.openxmlformats.org/drawingml/2006/main"/>
        <a:p xmlns:a="http://schemas.openxmlformats.org/drawingml/2006/main">
          <a:pPr>
            <a:defRPr sz="975">
              <a:solidFill>
                <a:srgbClr val="17171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202C61"/>
                </a:solidFill>
                <a:latin typeface="Arial"/>
                <a:ea typeface="Arial"/>
                <a:cs typeface="Arial"/>
              </a:rPr>
              <a:t>Primary tasks related to inventory and finance</a:t>
            </a:r>
          </a:p>
        </c:rich>
      </c:tx>
      <c:overlay val="0"/>
      <c:txPr>
        <a:bodyPr xmlns:a="http://schemas.openxmlformats.org/drawingml/2006/main" anchorCtr="1"/>
        <a:lstStyle xmlns:a="http://schemas.openxmlformats.org/drawingml/2006/main"/>
        <a:p xmlns:a="http://schemas.openxmlformats.org/drawingml/2006/main">
          <a:pPr>
            <a:defRPr sz="1725" b="1">
              <a:solidFill>
                <a:srgbClr val="202C61"/>
              </a:solidFill>
              <a:latin typeface="Arial"/>
              <a:ea typeface="Arial"/>
              <a:cs typeface="Arial"/>
            </a:defRPr>
          </a:pPr>
        </a:p>
      </c:txPr>
    </c:title>
    <c:plotArea>
      <c:barChart>
        <c:barDir val="bar"/>
        <c:grouping val="clustered"/>
        <c:varyColors val="0"/>
        <c:ser>
          <c:idx val="0"/>
          <c:order val="0"/>
          <c:tx>
            <c:v>Respondents</c:v>
          </c:tx>
          <c:spPr>
            <a:solidFill xmlns:a="http://schemas.openxmlformats.org/drawingml/2006/main">
              <a:srgbClr val="4CAF50"/>
            </a:solidFill>
          </c:spPr>
          <c:invertIfNegative val="0"/>
          <c:dLbls>
            <c:dLbl>
              <c:idx val="0"/>
              <c:tx>
                <c:rich>
                  <a:bodyPr xmlns:a="http://schemas.openxmlformats.org/drawingml/2006/main"/>
                  <a:lstStyle xmlns:a="http://schemas.openxmlformats.org/drawingml/2006/main"/>
                  <a:p xmlns:a="http://schemas.openxmlformats.org/drawingml/2006/main">
                    <a:r>
                      <a:rPr sz="1275">
                        <a:solidFill>
                          <a:srgbClr val="171717"/>
                        </a:solidFill>
                      </a:rPr>
                      <a:t>2 (11.1%)</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1"/>
              <c:tx>
                <c:rich>
                  <a:bodyPr xmlns:a="http://schemas.openxmlformats.org/drawingml/2006/main"/>
                  <a:lstStyle xmlns:a="http://schemas.openxmlformats.org/drawingml/2006/main"/>
                  <a:p xmlns:a="http://schemas.openxmlformats.org/drawingml/2006/main">
                    <a:r>
                      <a:rPr sz="1275">
                        <a:solidFill>
                          <a:srgbClr val="171717"/>
                        </a:solidFill>
                      </a:rPr>
                      <a:t>13 (72.2%)</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2"/>
              <c:tx>
                <c:rich>
                  <a:bodyPr xmlns:a="http://schemas.openxmlformats.org/drawingml/2006/main"/>
                  <a:lstStyle xmlns:a="http://schemas.openxmlformats.org/drawingml/2006/main"/>
                  <a:p xmlns:a="http://schemas.openxmlformats.org/drawingml/2006/main">
                    <a:r>
                      <a:rPr sz="1275">
                        <a:solidFill>
                          <a:srgbClr val="171717"/>
                        </a:solidFill>
                      </a:rPr>
                      <a:t>4 (22.2%)</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3"/>
              <c:tx>
                <c:rich>
                  <a:bodyPr xmlns:a="http://schemas.openxmlformats.org/drawingml/2006/main"/>
                  <a:lstStyle xmlns:a="http://schemas.openxmlformats.org/drawingml/2006/main"/>
                  <a:p xmlns:a="http://schemas.openxmlformats.org/drawingml/2006/main">
                    <a:r>
                      <a:rPr sz="1275">
                        <a:solidFill>
                          <a:srgbClr val="171717"/>
                        </a:solidFill>
                      </a:rPr>
                      <a:t>12 (66.7%)</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4"/>
              <c:tx>
                <c:rich>
                  <a:bodyPr xmlns:a="http://schemas.openxmlformats.org/drawingml/2006/main"/>
                  <a:lstStyle xmlns:a="http://schemas.openxmlformats.org/drawingml/2006/main"/>
                  <a:p xmlns:a="http://schemas.openxmlformats.org/drawingml/2006/main">
                    <a:r>
                      <a:rPr sz="1275">
                        <a:solidFill>
                          <a:srgbClr val="171717"/>
                        </a:solidFill>
                      </a:rPr>
                      <a:t>10 (55.6%)</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5"/>
              <c:tx>
                <c:rich>
                  <a:bodyPr xmlns:a="http://schemas.openxmlformats.org/drawingml/2006/main"/>
                  <a:lstStyle xmlns:a="http://schemas.openxmlformats.org/drawingml/2006/main"/>
                  <a:p xmlns:a="http://schemas.openxmlformats.org/drawingml/2006/main">
                    <a:r>
                      <a:rPr sz="1275">
                        <a:solidFill>
                          <a:srgbClr val="171717"/>
                        </a:solidFill>
                      </a:rPr>
                      <a:t>10 (55.6%)</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showLegendKey val="0"/>
            <c:showVal val="0"/>
            <c:showCatName val="0"/>
            <c:showSerName val="0"/>
            <c:showPercent val="0"/>
            <c:showBubbleSize val="0"/>
            <c:showLeaderLines val="0"/>
          </c:dLbls>
          <c:cat>
            <c:strRef>
              <c:f>'Chart Data'!$A$2:$A$7</c:f>
              <c:strCache>
                <c:ptCount val="6"/>
                <c:pt idx="0">
                  <c:v>Approvals</c:v>
                </c:pt>
                <c:pt idx="1">
                  <c:v>Reporting</c:v>
                </c:pt>
                <c:pt idx="2">
                  <c:v>Reconciliation</c:v>
                </c:pt>
                <c:pt idx="3">
                  <c:v>Stock counts</c:v>
                </c:pt>
                <c:pt idx="4">
                  <c:v>Stock issuance / sales logging</c:v>
                </c:pt>
                <c:pt idx="5">
                  <c:v>Stock receiving</c:v>
                </c:pt>
              </c:strCache>
            </c:strRef>
          </c:cat>
          <c:val>
            <c:numRef>
              <c:f>'Chart Data'!$B$2:$B$7</c:f>
              <c:numCache>
                <c:formatCode>0</c:formatCode>
                <c:ptCount val="6"/>
                <c:pt idx="0">
                  <c:v>2</c:v>
                </c:pt>
                <c:pt idx="1">
                  <c:v>13</c:v>
                </c:pt>
                <c:pt idx="2">
                  <c:v>4</c:v>
                </c:pt>
                <c:pt idx="3">
                  <c:v>12</c:v>
                </c:pt>
                <c:pt idx="4">
                  <c:v>10</c:v>
                </c:pt>
                <c:pt idx="5">
                  <c:v>10</c:v>
                </c:pt>
              </c:numCache>
            </c:numRef>
          </c:val>
        </c:ser>
        <c:dLbls>
          <c:txPr>
            <a:bodyPr xmlns:a="http://schemas.openxmlformats.org/drawingml/2006/main" anchorCtr="1"/>
            <a:lstStyle xmlns:a="http://schemas.openxmlformats.org/drawingml/2006/main"/>
            <a:p xmlns:a="http://schemas.openxmlformats.org/drawingml/2006/main">
              <a:pPr>
                <a:defRPr sz="1275">
                  <a:solidFill>
                    <a:srgbClr val="171717"/>
                  </a:solidFill>
                  <a:latin typeface="Arial"/>
                  <a:ea typeface="Arial"/>
                  <a:cs typeface="Arial"/>
                </a:defRPr>
              </a:pPr>
            </a:p>
          </c:txPr>
          <c:dLblPos val="outEnd"/>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7620">
            <a:solidFill>
              <a:srgbClr val="777777"/>
            </a:solidFill>
            <a:prstDash val="solid"/>
          </a:ln>
        </c:spPr>
        <c:txPr>
          <a:bodyPr xmlns:a="http://schemas.openxmlformats.org/drawingml/2006/main" anchorCtr="1"/>
          <a:lstStyle xmlns:a="http://schemas.openxmlformats.org/drawingml/2006/main"/>
          <a:p xmlns:a="http://schemas.openxmlformats.org/drawingml/2006/main">
            <a:pPr>
              <a:defRPr sz="1350">
                <a:solidFill>
                  <a:srgbClr val="171717"/>
                </a:solidFill>
                <a:latin typeface="Arial"/>
                <a:ea typeface="Arial"/>
                <a:cs typeface="Arial"/>
              </a:defRPr>
            </a:pPr>
          </a:p>
        </c:txPr>
        <c:crossAx val="48672768"/>
      </c:catAx>
      <c:valAx>
        <c:axId val="48672768"/>
        <c:scaling>
          <c:orientation val="minMax"/>
          <c:max val="15"/>
          <c:min val="0"/>
        </c:scaling>
        <c:delete val="0"/>
        <c:axPos val="b"/>
        <c:majorGridlines>
          <c:spPr>
            <a:ln xmlns:a="http://schemas.openxmlformats.org/drawingml/2006/main" w="7620">
              <a:solidFill>
                <a:srgbClr val="E5E7EB"/>
              </a:solidFill>
              <a:prstDash val="solid"/>
            </a:ln>
          </c:spPr>
        </c:majorGridlines>
        <c:numFmt formatCode="General"/>
        <c:majorTickMark val="none"/>
        <c:minorTickMark val="none"/>
        <c:spPr>
          <a:ln xmlns:a="http://schemas.openxmlformats.org/drawingml/2006/main" w="7620">
            <a:solidFill>
              <a:srgbClr val="777777"/>
            </a:solidFill>
            <a:prstDash val="solid"/>
          </a:ln>
        </c:spPr>
        <c:txPr>
          <a:bodyPr xmlns:a="http://schemas.openxmlformats.org/drawingml/2006/main" anchorCtr="1"/>
          <a:lstStyle xmlns:a="http://schemas.openxmlformats.org/drawingml/2006/main"/>
          <a:p xmlns:a="http://schemas.openxmlformats.org/drawingml/2006/main">
            <a:pPr>
              <a:defRPr sz="1200">
                <a:solidFill>
                  <a:srgbClr val="595959"/>
                </a:solidFill>
                <a:latin typeface="Arial"/>
                <a:ea typeface="Arial"/>
                <a:cs typeface="Arial"/>
              </a:defRPr>
            </a:pPr>
          </a:p>
        </c:txPr>
        <c:crossAx val="48650112"/>
        <c:crossBetween val="between"/>
        <c:majorUnit val="5"/>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9F0D11F0-E82E-474B-B1E6-590EFF2295E7}"/>
              </a:ext>
            </a:extLst>
          </p:cNvPr>
          <p:cNvPicPr>
            <a:picLocks xmlns:a="http://schemas.openxmlformats.org/drawingml/2006/main" noChangeAspect="1"/>
          </p:cNvPicPr>
          <p:nvPr/>
        </p:nvPicPr>
        <p:blipFill>
          <a:blip xmlns:r="http://schemas.openxmlformats.org/officeDocument/2006/relationships" xmlns:a="http://schemas.openxmlformats.org/drawingml/2006/main" r:embed="Rf88a5e693d1548c2"/>
          <a:stretch xmlns:a="http://schemas.openxmlformats.org/drawingml/2006/main"/>
        </p:blipFill>
        <p:spPr>
          <a:xfrm xmlns:a="http://schemas.openxmlformats.org/drawingml/2006/main">
            <a:off x="533400" y="853066"/>
            <a:ext cx="4429125" cy="703693"/>
          </a:xfrm>
          <a:prstGeom xmlns:a="http://schemas.openxmlformats.org/drawingml/2006/main" prst="rect">
            <a:avLst/>
          </a:prstGeom>
        </p:spPr>
      </p:pic>
      <p:sp>
        <p:nvSpPr>
          <p:cNvPr id="2" name="current-content-1">
            <a:extLst xmlns:a="http://schemas.openxmlformats.org/drawingml/2006/main">
              <a:ext uri="{FF2B5EF4-FFF2-40B4-BE49-F238E27FC236}">
                <a16:creationId xmlns:a16="http://schemas.microsoft.com/office/drawing/2014/main" id="{9A8B55B4-EE3D-4D37-84B3-56BF4D5DF899}"/>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buNone/>
              <a:defRPr sz="1050" b="0">
                <a:solidFill>
                  <a:srgbClr val="595959"/>
                </a:solidFill>
                <a:latin typeface="Arial"/>
                <a:ea typeface="Arial"/>
                <a:cs typeface="Arial"/>
              </a:defRPr>
            </a:lvl1pPr>
            <a:lvl2pPr algn="r">
              <a:buNone/>
              <a:defRPr sz="1050" b="0">
                <a:solidFill>
                  <a:srgbClr val="595959"/>
                </a:solidFill>
                <a:latin typeface="Arial"/>
                <a:ea typeface="Arial"/>
                <a:cs typeface="Arial"/>
              </a:defRPr>
            </a:lvl2pPr>
            <a:lvl3pPr algn="r">
              <a:buNone/>
              <a:defRPr sz="1050" b="0">
                <a:solidFill>
                  <a:srgbClr val="595959"/>
                </a:solidFill>
                <a:latin typeface="Arial"/>
                <a:ea typeface="Arial"/>
                <a:cs typeface="Arial"/>
              </a:defRPr>
            </a:lvl3pPr>
            <a:lvl4pPr algn="r">
              <a:buNone/>
              <a:defRPr sz="1050" b="0">
                <a:solidFill>
                  <a:srgbClr val="595959"/>
                </a:solidFill>
                <a:latin typeface="Arial"/>
                <a:ea typeface="Arial"/>
                <a:cs typeface="Arial"/>
              </a:defRPr>
            </a:lvl4pPr>
            <a:lvl5pPr algn="r">
              <a:buNone/>
              <a:defRPr sz="1050" b="0">
                <a:solidFill>
                  <a:srgbClr val="595959"/>
                </a:solidFill>
                <a:latin typeface="Arial"/>
                <a:ea typeface="Arial"/>
                <a:cs typeface="Arial"/>
              </a:defRPr>
            </a:lvl5pPr>
            <a:lvl6pPr algn="r">
              <a:buNone/>
              <a:defRPr sz="1050" b="0">
                <a:solidFill>
                  <a:srgbClr val="595959"/>
                </a:solidFill>
                <a:latin typeface="Arial"/>
                <a:ea typeface="Arial"/>
                <a:cs typeface="Arial"/>
              </a:defRPr>
            </a:lvl6pPr>
            <a:lvl7pPr algn="r">
              <a:buNone/>
              <a:defRPr sz="1050" b="0">
                <a:solidFill>
                  <a:srgbClr val="595959"/>
                </a:solidFill>
                <a:latin typeface="Arial"/>
                <a:ea typeface="Arial"/>
                <a:cs typeface="Arial"/>
              </a:defRPr>
            </a:lvl7pPr>
            <a:lvl8pPr algn="r">
              <a:buNone/>
              <a:defRPr sz="1050" b="0">
                <a:solidFill>
                  <a:srgbClr val="595959"/>
                </a:solidFill>
                <a:latin typeface="Arial"/>
                <a:ea typeface="Arial"/>
                <a:cs typeface="Arial"/>
              </a:defRPr>
            </a:lvl8pPr>
            <a:lvl9pPr algn="r">
              <a:buNone/>
              <a:defRPr sz="1050" b="0">
                <a:solidFill>
                  <a:srgbClr val="595959"/>
                </a:solidFill>
                <a:latin typeface="Arial"/>
                <a:ea typeface="Arial"/>
                <a:cs typeface="Arial"/>
              </a:defRPr>
            </a:lvl9pPr>
          </a:lstStyle>
          <a:p xmlns:a="http://schemas.openxmlformats.org/drawingml/2006/main">
            <a:pPr algn="r">
              <a:buNone/>
              <a:defRPr sz="1050" b="0">
                <a:solidFill>
                  <a:srgbClr val="595959"/>
                </a:solidFill>
                <a:latin typeface="Arial"/>
                <a:ea typeface="Arial"/>
                <a:cs typeface="Arial"/>
              </a:defRPr>
            </a:pPr>
            <a:r>
              <a:rPr sz="1050" b="0">
                <a:solidFill>
                  <a:srgbClr val="595959"/>
                </a:solidFill>
                <a:latin typeface="Arial"/>
                <a:ea typeface="Arial"/>
                <a:cs typeface="Arial"/>
              </a:rPr>
              <a:t>01 / 23</a:t>
            </a:r>
          </a:p>
        </p:txBody>
      </p:sp>
      <p:sp>
        <p:nvSpPr>
          <p:cNvPr id="3" name="current-content-34">
            <a:extLst xmlns:a="http://schemas.openxmlformats.org/drawingml/2006/main">
              <a:ext uri="{FF2B5EF4-FFF2-40B4-BE49-F238E27FC236}">
                <a16:creationId xmlns:a16="http://schemas.microsoft.com/office/drawing/2014/main" id="{A85BBD2A-BBF3-4C94-BE87-64CAE2EE6201}"/>
              </a:ext>
            </a:extLst>
          </p:cNvPr>
          <p:cNvSpPr>
            <a:spLocks xmlns:a="http://schemas.openxmlformats.org/drawingml/2006/main" noGrp="1"/>
          </p:cNvSpPr>
          <p:nvPr/>
        </p:nvSpPr>
        <p:spPr>
          <a:xfrm xmlns:a="http://schemas.openxmlformats.org/drawingml/2006/main">
            <a:off x="533400" y="1571625"/>
            <a:ext cx="4810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0C0"/>
                </a:solidFill>
                <a:latin typeface="Raleway"/>
                <a:ea typeface="Raleway"/>
                <a:cs typeface="Raleway"/>
              </a:defRPr>
            </a:defPPr>
            <a:lvl1pPr algn="l">
              <a:buNone/>
              <a:defRPr sz="1950" b="1">
                <a:solidFill>
                  <a:srgbClr val="0070C0"/>
                </a:solidFill>
                <a:latin typeface="Raleway"/>
                <a:ea typeface="Raleway"/>
                <a:cs typeface="Raleway"/>
              </a:defRPr>
            </a:lvl1pPr>
            <a:lvl2pPr algn="l">
              <a:buNone/>
              <a:defRPr sz="1950" b="1">
                <a:solidFill>
                  <a:srgbClr val="0070C0"/>
                </a:solidFill>
                <a:latin typeface="Raleway"/>
                <a:ea typeface="Raleway"/>
                <a:cs typeface="Raleway"/>
              </a:defRPr>
            </a:lvl2pPr>
            <a:lvl3pPr algn="l">
              <a:buNone/>
              <a:defRPr sz="1950" b="1">
                <a:solidFill>
                  <a:srgbClr val="0070C0"/>
                </a:solidFill>
                <a:latin typeface="Raleway"/>
                <a:ea typeface="Raleway"/>
                <a:cs typeface="Raleway"/>
              </a:defRPr>
            </a:lvl3pPr>
            <a:lvl4pPr algn="l">
              <a:buNone/>
              <a:defRPr sz="1950" b="1">
                <a:solidFill>
                  <a:srgbClr val="0070C0"/>
                </a:solidFill>
                <a:latin typeface="Raleway"/>
                <a:ea typeface="Raleway"/>
                <a:cs typeface="Raleway"/>
              </a:defRPr>
            </a:lvl4pPr>
            <a:lvl5pPr algn="l">
              <a:buNone/>
              <a:defRPr sz="1950" b="1">
                <a:solidFill>
                  <a:srgbClr val="0070C0"/>
                </a:solidFill>
                <a:latin typeface="Raleway"/>
                <a:ea typeface="Raleway"/>
                <a:cs typeface="Raleway"/>
              </a:defRPr>
            </a:lvl5pPr>
            <a:lvl6pPr algn="l">
              <a:buNone/>
              <a:defRPr sz="1950" b="1">
                <a:solidFill>
                  <a:srgbClr val="0070C0"/>
                </a:solidFill>
                <a:latin typeface="Raleway"/>
                <a:ea typeface="Raleway"/>
                <a:cs typeface="Raleway"/>
              </a:defRPr>
            </a:lvl6pPr>
            <a:lvl7pPr algn="l">
              <a:buNone/>
              <a:defRPr sz="1950" b="1">
                <a:solidFill>
                  <a:srgbClr val="0070C0"/>
                </a:solidFill>
                <a:latin typeface="Raleway"/>
                <a:ea typeface="Raleway"/>
                <a:cs typeface="Raleway"/>
              </a:defRPr>
            </a:lvl7pPr>
            <a:lvl8pPr algn="l">
              <a:buNone/>
              <a:defRPr sz="1950" b="1">
                <a:solidFill>
                  <a:srgbClr val="0070C0"/>
                </a:solidFill>
                <a:latin typeface="Raleway"/>
                <a:ea typeface="Raleway"/>
                <a:cs typeface="Raleway"/>
              </a:defRPr>
            </a:lvl8pPr>
            <a:lvl9pPr algn="l">
              <a:buNone/>
              <a:defRPr sz="1950" b="1">
                <a:solidFill>
                  <a:srgbClr val="0070C0"/>
                </a:solidFill>
                <a:latin typeface="Raleway"/>
                <a:ea typeface="Raleway"/>
                <a:cs typeface="Raleway"/>
              </a:defRPr>
            </a:lvl9pPr>
          </a:lstStyle>
          <a:p xmlns:a="http://schemas.openxmlformats.org/drawingml/2006/main">
            <a:pPr algn="l">
              <a:buNone/>
              <a:defRPr sz="1950" b="1">
                <a:solidFill>
                  <a:srgbClr val="0070C0"/>
                </a:solidFill>
                <a:latin typeface="Raleway"/>
                <a:ea typeface="Raleway"/>
                <a:cs typeface="Raleway"/>
              </a:defRPr>
            </a:pPr>
            <a:r>
              <a:rPr sz="1950" b="1">
                <a:solidFill>
                  <a:srgbClr val="0070C0"/>
                </a:solidFill>
                <a:latin typeface="Raleway"/>
                <a:ea typeface="Raleway"/>
                <a:cs typeface="Raleway"/>
              </a:rPr>
              <a:t>Kodigo  •  Capstone Pre-Defense</a:t>
            </a:r>
          </a:p>
        </p:txBody>
      </p:sp>
      <p:sp>
        <p:nvSpPr>
          <p:cNvPr id="4" name="current-content-35">
            <a:extLst xmlns:a="http://schemas.openxmlformats.org/drawingml/2006/main">
              <a:ext uri="{FF2B5EF4-FFF2-40B4-BE49-F238E27FC236}">
                <a16:creationId xmlns:a16="http://schemas.microsoft.com/office/drawing/2014/main" id="{517BCBE7-82AC-464A-8C54-6EEEABBA7A6B}"/>
              </a:ext>
            </a:extLst>
          </p:cNvPr>
          <p:cNvSpPr>
            <a:spLocks xmlns:a="http://schemas.openxmlformats.org/drawingml/2006/main" noGrp="1"/>
          </p:cNvSpPr>
          <p:nvPr/>
        </p:nvSpPr>
        <p:spPr>
          <a:xfrm xmlns:a="http://schemas.openxmlformats.org/drawingml/2006/main">
            <a:off x="447675" y="2000250"/>
            <a:ext cx="4905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71717"/>
                </a:solidFill>
                <a:latin typeface="Cambria"/>
                <a:ea typeface="Cambria"/>
                <a:cs typeface="Cambria"/>
              </a:defRPr>
            </a:defPPr>
            <a:lvl1pPr algn="ctr">
              <a:buNone/>
              <a:defRPr sz="1875" b="1">
                <a:solidFill>
                  <a:srgbClr val="171717"/>
                </a:solidFill>
                <a:latin typeface="Cambria"/>
                <a:ea typeface="Cambria"/>
                <a:cs typeface="Cambria"/>
              </a:defRPr>
            </a:lvl1pPr>
            <a:lvl2pPr algn="ctr">
              <a:buNone/>
              <a:defRPr sz="1875" b="1">
                <a:solidFill>
                  <a:srgbClr val="171717"/>
                </a:solidFill>
                <a:latin typeface="Cambria"/>
                <a:ea typeface="Cambria"/>
                <a:cs typeface="Cambria"/>
              </a:defRPr>
            </a:lvl2pPr>
            <a:lvl3pPr algn="ctr">
              <a:buNone/>
              <a:defRPr sz="1875" b="1">
                <a:solidFill>
                  <a:srgbClr val="171717"/>
                </a:solidFill>
                <a:latin typeface="Cambria"/>
                <a:ea typeface="Cambria"/>
                <a:cs typeface="Cambria"/>
              </a:defRPr>
            </a:lvl3pPr>
            <a:lvl4pPr algn="ctr">
              <a:buNone/>
              <a:defRPr sz="1875" b="1">
                <a:solidFill>
                  <a:srgbClr val="171717"/>
                </a:solidFill>
                <a:latin typeface="Cambria"/>
                <a:ea typeface="Cambria"/>
                <a:cs typeface="Cambria"/>
              </a:defRPr>
            </a:lvl4pPr>
            <a:lvl5pPr algn="ctr">
              <a:buNone/>
              <a:defRPr sz="1875" b="1">
                <a:solidFill>
                  <a:srgbClr val="171717"/>
                </a:solidFill>
                <a:latin typeface="Cambria"/>
                <a:ea typeface="Cambria"/>
                <a:cs typeface="Cambria"/>
              </a:defRPr>
            </a:lvl5pPr>
            <a:lvl6pPr algn="ctr">
              <a:buNone/>
              <a:defRPr sz="1875" b="1">
                <a:solidFill>
                  <a:srgbClr val="171717"/>
                </a:solidFill>
                <a:latin typeface="Cambria"/>
                <a:ea typeface="Cambria"/>
                <a:cs typeface="Cambria"/>
              </a:defRPr>
            </a:lvl6pPr>
            <a:lvl7pPr algn="ctr">
              <a:buNone/>
              <a:defRPr sz="1875" b="1">
                <a:solidFill>
                  <a:srgbClr val="171717"/>
                </a:solidFill>
                <a:latin typeface="Cambria"/>
                <a:ea typeface="Cambria"/>
                <a:cs typeface="Cambria"/>
              </a:defRPr>
            </a:lvl7pPr>
            <a:lvl8pPr algn="ctr">
              <a:buNone/>
              <a:defRPr sz="1875" b="1">
                <a:solidFill>
                  <a:srgbClr val="171717"/>
                </a:solidFill>
                <a:latin typeface="Cambria"/>
                <a:ea typeface="Cambria"/>
                <a:cs typeface="Cambria"/>
              </a:defRPr>
            </a:lvl8pPr>
            <a:lvl9pPr algn="ctr">
              <a:buNone/>
              <a:defRPr sz="1875" b="1">
                <a:solidFill>
                  <a:srgbClr val="171717"/>
                </a:solidFill>
                <a:latin typeface="Cambria"/>
                <a:ea typeface="Cambria"/>
                <a:cs typeface="Cambria"/>
              </a:defRPr>
            </a:lvl9pPr>
          </a:lstStyle>
          <a:p xmlns:a="http://schemas.openxmlformats.org/drawingml/2006/main">
            <a:pPr algn="ctr">
              <a:buNone/>
              <a:defRPr sz="1875" b="1">
                <a:solidFill>
                  <a:srgbClr val="171717"/>
                </a:solidFill>
                <a:latin typeface="Cambria"/>
                <a:ea typeface="Cambria"/>
                <a:cs typeface="Cambria"/>
              </a:defRPr>
            </a:pPr>
            <a:r>
              <a:rPr sz="1875" b="1">
                <a:solidFill>
                  <a:srgbClr val="171717"/>
                </a:solidFill>
                <a:latin typeface="Cambria"/>
                <a:ea typeface="Cambria"/>
                <a:cs typeface="Cambria"/>
              </a:rPr>
              <a:t>Architecting a Lightweight Cloud-Based Inventory and Financial Management System: A Mixed-Methods Evaluation of Decision-Making Efficiency in Philippine SMEs</a:t>
            </a:r>
          </a:p>
        </p:txBody>
      </p:sp>
      <p:sp>
        <p:nvSpPr>
          <p:cNvPr id="5" name="current-content-36">
            <a:extLst xmlns:a="http://schemas.openxmlformats.org/drawingml/2006/main">
              <a:ext uri="{FF2B5EF4-FFF2-40B4-BE49-F238E27FC236}">
                <a16:creationId xmlns:a16="http://schemas.microsoft.com/office/drawing/2014/main" id="{CCAB4FF6-7412-4DAC-AD1A-1DDC96E79BE6}"/>
              </a:ext>
            </a:extLst>
          </p:cNvPr>
          <p:cNvSpPr>
            <a:spLocks xmlns:a="http://schemas.openxmlformats.org/drawingml/2006/main" noGrp="1"/>
          </p:cNvSpPr>
          <p:nvPr/>
        </p:nvSpPr>
        <p:spPr>
          <a:xfrm xmlns:a="http://schemas.openxmlformats.org/drawingml/2006/main">
            <a:off x="533400" y="3457575"/>
            <a:ext cx="4714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71717"/>
                </a:solidFill>
                <a:latin typeface="Arial"/>
                <a:ea typeface="Arial"/>
                <a:cs typeface="Arial"/>
              </a:defRPr>
            </a:defPPr>
            <a:lvl1pPr algn="ctr">
              <a:buNone/>
              <a:defRPr sz="1350" b="1">
                <a:solidFill>
                  <a:srgbClr val="171717"/>
                </a:solidFill>
                <a:latin typeface="Arial"/>
                <a:ea typeface="Arial"/>
                <a:cs typeface="Arial"/>
              </a:defRPr>
            </a:lvl1pPr>
            <a:lvl2pPr algn="ctr">
              <a:buNone/>
              <a:defRPr sz="1350" b="1">
                <a:solidFill>
                  <a:srgbClr val="171717"/>
                </a:solidFill>
                <a:latin typeface="Arial"/>
                <a:ea typeface="Arial"/>
                <a:cs typeface="Arial"/>
              </a:defRPr>
            </a:lvl2pPr>
            <a:lvl3pPr algn="ctr">
              <a:buNone/>
              <a:defRPr sz="1350" b="1">
                <a:solidFill>
                  <a:srgbClr val="171717"/>
                </a:solidFill>
                <a:latin typeface="Arial"/>
                <a:ea typeface="Arial"/>
                <a:cs typeface="Arial"/>
              </a:defRPr>
            </a:lvl3pPr>
            <a:lvl4pPr algn="ctr">
              <a:buNone/>
              <a:defRPr sz="1350" b="1">
                <a:solidFill>
                  <a:srgbClr val="171717"/>
                </a:solidFill>
                <a:latin typeface="Arial"/>
                <a:ea typeface="Arial"/>
                <a:cs typeface="Arial"/>
              </a:defRPr>
            </a:lvl4pPr>
            <a:lvl5pPr algn="ctr">
              <a:buNone/>
              <a:defRPr sz="1350" b="1">
                <a:solidFill>
                  <a:srgbClr val="171717"/>
                </a:solidFill>
                <a:latin typeface="Arial"/>
                <a:ea typeface="Arial"/>
                <a:cs typeface="Arial"/>
              </a:defRPr>
            </a:lvl5pPr>
            <a:lvl6pPr algn="ctr">
              <a:buNone/>
              <a:defRPr sz="1350" b="1">
                <a:solidFill>
                  <a:srgbClr val="171717"/>
                </a:solidFill>
                <a:latin typeface="Arial"/>
                <a:ea typeface="Arial"/>
                <a:cs typeface="Arial"/>
              </a:defRPr>
            </a:lvl6pPr>
            <a:lvl7pPr algn="ctr">
              <a:buNone/>
              <a:defRPr sz="1350" b="1">
                <a:solidFill>
                  <a:srgbClr val="171717"/>
                </a:solidFill>
                <a:latin typeface="Arial"/>
                <a:ea typeface="Arial"/>
                <a:cs typeface="Arial"/>
              </a:defRPr>
            </a:lvl7pPr>
            <a:lvl8pPr algn="ctr">
              <a:buNone/>
              <a:defRPr sz="1350" b="1">
                <a:solidFill>
                  <a:srgbClr val="171717"/>
                </a:solidFill>
                <a:latin typeface="Arial"/>
                <a:ea typeface="Arial"/>
                <a:cs typeface="Arial"/>
              </a:defRPr>
            </a:lvl8pPr>
            <a:lvl9pPr algn="ctr">
              <a:buNone/>
              <a:defRPr sz="1350" b="1">
                <a:solidFill>
                  <a:srgbClr val="171717"/>
                </a:solidFill>
                <a:latin typeface="Arial"/>
                <a:ea typeface="Arial"/>
                <a:cs typeface="Arial"/>
              </a:defRPr>
            </a:lvl9pPr>
          </a:lstStyle>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Evon Christian Pahugot Vergara</a:t>
            </a:r>
          </a:p>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Justin Comendador</a:t>
            </a:r>
          </a:p>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Xymmer James Nadera</a:t>
            </a:r>
          </a:p>
        </p:txBody>
      </p:sp>
      <p:sp>
        <p:nvSpPr>
          <p:cNvPr id="6" name="current-content-37">
            <a:extLst xmlns:a="http://schemas.openxmlformats.org/drawingml/2006/main">
              <a:ext uri="{FF2B5EF4-FFF2-40B4-BE49-F238E27FC236}">
                <a16:creationId xmlns:a16="http://schemas.microsoft.com/office/drawing/2014/main" id="{83BBA259-3D6F-4B74-9D05-2CD7DF889BFE}"/>
              </a:ext>
            </a:extLst>
          </p:cNvPr>
          <p:cNvSpPr>
            <a:spLocks xmlns:a="http://schemas.openxmlformats.org/drawingml/2006/main" noGrp="1"/>
          </p:cNvSpPr>
          <p:nvPr/>
        </p:nvSpPr>
        <p:spPr>
          <a:xfrm xmlns:a="http://schemas.openxmlformats.org/drawingml/2006/main">
            <a:off x="533400" y="4162425"/>
            <a:ext cx="4714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95959"/>
                </a:solidFill>
                <a:latin typeface="Arial"/>
                <a:ea typeface="Arial"/>
                <a:cs typeface="Arial"/>
              </a:defRPr>
            </a:defPPr>
            <a:lvl1pPr algn="ctr">
              <a:buNone/>
              <a:defRPr sz="1050" b="0">
                <a:solidFill>
                  <a:srgbClr val="595959"/>
                </a:solidFill>
                <a:latin typeface="Arial"/>
                <a:ea typeface="Arial"/>
                <a:cs typeface="Arial"/>
              </a:defRPr>
            </a:lvl1pPr>
            <a:lvl2pPr algn="ctr">
              <a:buNone/>
              <a:defRPr sz="1050" b="0">
                <a:solidFill>
                  <a:srgbClr val="595959"/>
                </a:solidFill>
                <a:latin typeface="Arial"/>
                <a:ea typeface="Arial"/>
                <a:cs typeface="Arial"/>
              </a:defRPr>
            </a:lvl2pPr>
            <a:lvl3pPr algn="ctr">
              <a:buNone/>
              <a:defRPr sz="1050" b="0">
                <a:solidFill>
                  <a:srgbClr val="595959"/>
                </a:solidFill>
                <a:latin typeface="Arial"/>
                <a:ea typeface="Arial"/>
                <a:cs typeface="Arial"/>
              </a:defRPr>
            </a:lvl3pPr>
            <a:lvl4pPr algn="ctr">
              <a:buNone/>
              <a:defRPr sz="1050" b="0">
                <a:solidFill>
                  <a:srgbClr val="595959"/>
                </a:solidFill>
                <a:latin typeface="Arial"/>
                <a:ea typeface="Arial"/>
                <a:cs typeface="Arial"/>
              </a:defRPr>
            </a:lvl4pPr>
            <a:lvl5pPr algn="ctr">
              <a:buNone/>
              <a:defRPr sz="1050" b="0">
                <a:solidFill>
                  <a:srgbClr val="595959"/>
                </a:solidFill>
                <a:latin typeface="Arial"/>
                <a:ea typeface="Arial"/>
                <a:cs typeface="Arial"/>
              </a:defRPr>
            </a:lvl5pPr>
            <a:lvl6pPr algn="ctr">
              <a:buNone/>
              <a:defRPr sz="1050" b="0">
                <a:solidFill>
                  <a:srgbClr val="595959"/>
                </a:solidFill>
                <a:latin typeface="Arial"/>
                <a:ea typeface="Arial"/>
                <a:cs typeface="Arial"/>
              </a:defRPr>
            </a:lvl6pPr>
            <a:lvl7pPr algn="ctr">
              <a:buNone/>
              <a:defRPr sz="1050" b="0">
                <a:solidFill>
                  <a:srgbClr val="595959"/>
                </a:solidFill>
                <a:latin typeface="Arial"/>
                <a:ea typeface="Arial"/>
                <a:cs typeface="Arial"/>
              </a:defRPr>
            </a:lvl7pPr>
            <a:lvl8pPr algn="ctr">
              <a:buNone/>
              <a:defRPr sz="1050" b="0">
                <a:solidFill>
                  <a:srgbClr val="595959"/>
                </a:solidFill>
                <a:latin typeface="Arial"/>
                <a:ea typeface="Arial"/>
                <a:cs typeface="Arial"/>
              </a:defRPr>
            </a:lvl8pPr>
            <a:lvl9pPr algn="ctr">
              <a:buNone/>
              <a:defRPr sz="1050" b="0">
                <a:solidFill>
                  <a:srgbClr val="595959"/>
                </a:solidFill>
                <a:latin typeface="Arial"/>
                <a:ea typeface="Arial"/>
                <a:cs typeface="Arial"/>
              </a:defRPr>
            </a:lvl9pPr>
          </a:lstStyle>
          <a:p xmlns:a="http://schemas.openxmlformats.org/drawingml/2006/main">
            <a:pPr algn="ctr">
              <a:buNone/>
              <a:defRPr sz="1050" b="0">
                <a:solidFill>
                  <a:srgbClr val="595959"/>
                </a:solidFill>
                <a:latin typeface="Arial"/>
                <a:ea typeface="Arial"/>
                <a:cs typeface="Arial"/>
              </a:defRPr>
            </a:pPr>
            <a:r>
              <a:rPr sz="1050" b="0">
                <a:solidFill>
                  <a:srgbClr val="595959"/>
                </a:solidFill>
                <a:latin typeface="Arial"/>
                <a:ea typeface="Arial"/>
                <a:cs typeface="Arial"/>
              </a:rPr>
              <a:t>College of Information Technology and Engineering</a:t>
            </a:r>
          </a:p>
          <a:p xmlns:a="http://schemas.openxmlformats.org/drawingml/2006/main">
            <a:pPr algn="ctr">
              <a:buNone/>
              <a:defRPr sz="1050" b="0">
                <a:solidFill>
                  <a:srgbClr val="595959"/>
                </a:solidFill>
                <a:latin typeface="Arial"/>
                <a:ea typeface="Arial"/>
                <a:cs typeface="Arial"/>
              </a:defRPr>
            </a:pPr>
            <a:r>
              <a:rPr sz="1050" b="0">
                <a:solidFill>
                  <a:srgbClr val="595959"/>
                </a:solidFill>
                <a:latin typeface="Arial"/>
                <a:ea typeface="Arial"/>
                <a:cs typeface="Arial"/>
              </a:rPr>
              <a:t>Southwestern University – PHINMA</a:t>
            </a:r>
          </a:p>
        </p:txBody>
      </p:sp>
      <p:sp>
        <p:nvSpPr>
          <p:cNvPr id="7" name="current-content-38">
            <a:extLst xmlns:a="http://schemas.openxmlformats.org/drawingml/2006/main">
              <a:ext uri="{FF2B5EF4-FFF2-40B4-BE49-F238E27FC236}">
                <a16:creationId xmlns:a16="http://schemas.microsoft.com/office/drawing/2014/main" id="{1B47997C-1B73-4A7C-8BC3-B2D9480F2EBD}"/>
              </a:ext>
            </a:extLst>
          </p:cNvPr>
          <p:cNvSpPr>
            <a:spLocks xmlns:a="http://schemas.openxmlformats.org/drawingml/2006/main" noGrp="1"/>
          </p:cNvSpPr>
          <p:nvPr/>
        </p:nvSpPr>
        <p:spPr>
          <a:xfrm xmlns:a="http://schemas.openxmlformats.org/drawingml/2006/main">
            <a:off x="533400" y="44767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95959"/>
                </a:solidFill>
                <a:latin typeface="Arial"/>
                <a:ea typeface="Arial"/>
                <a:cs typeface="Arial"/>
              </a:defRPr>
            </a:defPPr>
            <a:lvl1pPr algn="l">
              <a:buNone/>
              <a:defRPr sz="975" b="0">
                <a:solidFill>
                  <a:srgbClr val="595959"/>
                </a:solidFill>
                <a:latin typeface="Arial"/>
                <a:ea typeface="Arial"/>
                <a:cs typeface="Arial"/>
              </a:defRPr>
            </a:lvl1pPr>
            <a:lvl2pPr algn="l">
              <a:buNone/>
              <a:defRPr sz="975" b="0">
                <a:solidFill>
                  <a:srgbClr val="595959"/>
                </a:solidFill>
                <a:latin typeface="Arial"/>
                <a:ea typeface="Arial"/>
                <a:cs typeface="Arial"/>
              </a:defRPr>
            </a:lvl2pPr>
            <a:lvl3pPr algn="l">
              <a:buNone/>
              <a:defRPr sz="975" b="0">
                <a:solidFill>
                  <a:srgbClr val="595959"/>
                </a:solidFill>
                <a:latin typeface="Arial"/>
                <a:ea typeface="Arial"/>
                <a:cs typeface="Arial"/>
              </a:defRPr>
            </a:lvl3pPr>
            <a:lvl4pPr algn="l">
              <a:buNone/>
              <a:defRPr sz="975" b="0">
                <a:solidFill>
                  <a:srgbClr val="595959"/>
                </a:solidFill>
                <a:latin typeface="Arial"/>
                <a:ea typeface="Arial"/>
                <a:cs typeface="Arial"/>
              </a:defRPr>
            </a:lvl4pPr>
            <a:lvl5pPr algn="l">
              <a:buNone/>
              <a:defRPr sz="975" b="0">
                <a:solidFill>
                  <a:srgbClr val="595959"/>
                </a:solidFill>
                <a:latin typeface="Arial"/>
                <a:ea typeface="Arial"/>
                <a:cs typeface="Arial"/>
              </a:defRPr>
            </a:lvl5pPr>
            <a:lvl6pPr algn="l">
              <a:buNone/>
              <a:defRPr sz="975" b="0">
                <a:solidFill>
                  <a:srgbClr val="595959"/>
                </a:solidFill>
                <a:latin typeface="Arial"/>
                <a:ea typeface="Arial"/>
                <a:cs typeface="Arial"/>
              </a:defRPr>
            </a:lvl6pPr>
            <a:lvl7pPr algn="l">
              <a:buNone/>
              <a:defRPr sz="975" b="0">
                <a:solidFill>
                  <a:srgbClr val="595959"/>
                </a:solidFill>
                <a:latin typeface="Arial"/>
                <a:ea typeface="Arial"/>
                <a:cs typeface="Arial"/>
              </a:defRPr>
            </a:lvl7pPr>
            <a:lvl8pPr algn="l">
              <a:buNone/>
              <a:defRPr sz="975" b="0">
                <a:solidFill>
                  <a:srgbClr val="595959"/>
                </a:solidFill>
                <a:latin typeface="Arial"/>
                <a:ea typeface="Arial"/>
                <a:cs typeface="Arial"/>
              </a:defRPr>
            </a:lvl8pPr>
            <a:lvl9pPr algn="l">
              <a:buNone/>
              <a:defRPr sz="975" b="0">
                <a:solidFill>
                  <a:srgbClr val="595959"/>
                </a:solidFill>
                <a:latin typeface="Arial"/>
                <a:ea typeface="Arial"/>
                <a:cs typeface="Arial"/>
              </a:defRPr>
            </a:lvl9pPr>
          </a:lstStyle>
          <a:p xmlns:a="http://schemas.openxmlformats.org/drawingml/2006/main">
            <a:pPr algn="l">
              <a:buNone/>
              <a:defRPr sz="975" b="0">
                <a:solidFill>
                  <a:srgbClr val="595959"/>
                </a:solidFill>
                <a:latin typeface="Arial"/>
                <a:ea typeface="Arial"/>
                <a:cs typeface="Arial"/>
              </a:defRPr>
            </a:pPr>
            <a:r>
              <a:rPr sz="975" b="0">
                <a:solidFill>
                  <a:srgbClr val="595959"/>
                </a:solidFill>
                <a:latin typeface="Arial"/>
                <a:ea typeface="Arial"/>
                <a:cs typeface="Arial"/>
              </a:rPr>
              <a:t>Adviser:</a:t>
            </a:r>
            <a:r>
              <a:rPr sz="975" b="0">
                <a:solidFill>
                  <a:srgbClr val="595959"/>
                </a:solidFill>
                <a:latin typeface="Arial"/>
                <a:ea typeface="Arial"/>
                <a:cs typeface="Arial"/>
              </a:rPr>
              <a:t>Almie</a:t>
            </a:r>
            <a:r>
              <a:rPr sz="975" b="0">
                <a:solidFill>
                  <a:srgbClr val="595959"/>
                </a:solidFill>
                <a:latin typeface="Arial"/>
                <a:ea typeface="Arial"/>
                <a:cs typeface="Arial"/>
              </a:rPr>
              <a:t> Joy </a:t>
            </a:r>
            <a:r>
              <a:rPr sz="975" b="0">
                <a:solidFill>
                  <a:srgbClr val="595959"/>
                </a:solidFill>
                <a:latin typeface="Arial"/>
                <a:ea typeface="Arial"/>
                <a:cs typeface="Arial"/>
              </a:rPr>
              <a:t>Illustrisimo</a:t>
            </a:r>
            <a:r>
              <a:rPr sz="975" b="0">
                <a:solidFill>
                  <a:srgbClr val="595959"/>
                </a:solidFill>
                <a:latin typeface="Arial"/>
                <a:ea typeface="Arial"/>
                <a:cs typeface="Arial"/>
              </a:rPr>
              <a:t>     Academic year:</a:t>
            </a:r>
            <a:r>
              <a:rPr sz="975" b="0">
                <a:solidFill>
                  <a:srgbClr val="595959"/>
                </a:solidFill>
                <a:latin typeface="Arial"/>
                <a:ea typeface="Arial"/>
                <a:cs typeface="Arial"/>
              </a:rPr>
              <a:t> 2026-2027</a:t>
            </a:r>
            <a:endParaRPr sz="975" b="0">
              <a:solidFill>
                <a:srgbClr val="595959"/>
              </a:solidFill>
              <a:latin typeface="Arial"/>
              <a:ea typeface="Arial"/>
              <a:cs typeface="Arial"/>
            </a:endParaRPr>
          </a:p>
        </p:txBody>
      </p:sp>
    </p:spTree>
    <p:extLst>
      <p:ext uri="{BB962C8B-B14F-4D97-AF65-F5344CB8AC3E}">
        <p14:creationId xmlns:p14="http://schemas.microsoft.com/office/powerpoint/2010/main" val="158834319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8C7B03CB-CFB8-40F1-A317-93293F1CCEA4}"/>
              </a:ext>
            </a:extLst>
          </p:cNvPr>
          <p:cNvPicPr>
            <a:picLocks xmlns:a="http://schemas.openxmlformats.org/drawingml/2006/main" noChangeAspect="1"/>
          </p:cNvPicPr>
          <p:nvPr/>
        </p:nvPicPr>
        <p:blipFill>
          <a:blip xmlns:r="http://schemas.openxmlformats.org/officeDocument/2006/relationships" xmlns:a="http://schemas.openxmlformats.org/drawingml/2006/main" r:embed="R618ae78eff15424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
            <a:extLst xmlns:a="http://schemas.openxmlformats.org/drawingml/2006/main">
              <a:ext uri="{FF2B5EF4-FFF2-40B4-BE49-F238E27FC236}">
                <a16:creationId xmlns:a16="http://schemas.microsoft.com/office/drawing/2014/main" id="{977EAFB0-1622-4611-A0FD-0BD4F76DCE8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Agenda</a:t>
            </a:r>
          </a:p>
        </p:txBody>
      </p:sp>
      <p:sp>
        <p:nvSpPr>
          <p:cNvPr id="4" name="current-content-39">
            <a:extLst xmlns:a="http://schemas.openxmlformats.org/drawingml/2006/main">
              <a:ext uri="{FF2B5EF4-FFF2-40B4-BE49-F238E27FC236}">
                <a16:creationId xmlns:a16="http://schemas.microsoft.com/office/drawing/2014/main" id="{4F52C8E1-A014-435B-AF81-EF2AA0BAC18A}"/>
              </a:ext>
            </a:extLst>
          </p:cNvPr>
          <p:cNvSpPr>
            <a:spLocks xmlns:a="http://schemas.openxmlformats.org/drawingml/2006/main" noGrp="1"/>
          </p:cNvSpPr>
          <p:nvPr/>
        </p:nvSpPr>
        <p:spPr>
          <a:xfrm xmlns:a="http://schemas.openxmlformats.org/drawingml/2006/main">
            <a:off x="533400" y="12477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Research context</a:t>
            </a:r>
          </a:p>
        </p:txBody>
      </p:sp>
      <p:sp>
        <p:nvSpPr>
          <p:cNvPr id="5" name="current-content-40">
            <a:extLst xmlns:a="http://schemas.openxmlformats.org/drawingml/2006/main">
              <a:ext uri="{FF2B5EF4-FFF2-40B4-BE49-F238E27FC236}">
                <a16:creationId xmlns:a16="http://schemas.microsoft.com/office/drawing/2014/main" id="{CF6BFD9A-987F-4C58-AE49-6E51C0FD419A}"/>
              </a:ext>
            </a:extLst>
          </p:cNvPr>
          <p:cNvSpPr>
            <a:spLocks xmlns:a="http://schemas.openxmlformats.org/drawingml/2006/main" noGrp="1"/>
          </p:cNvSpPr>
          <p:nvPr/>
        </p:nvSpPr>
        <p:spPr>
          <a:xfrm xmlns:a="http://schemas.openxmlformats.org/drawingml/2006/main">
            <a:off x="3381375" y="12477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Background and case scenario</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Problem statement and goals</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Related literature</a:t>
            </a:r>
          </a:p>
        </p:txBody>
      </p:sp>
      <p:sp>
        <p:nvSpPr>
          <p:cNvPr id="6" name="current-content-41">
            <a:extLst xmlns:a="http://schemas.openxmlformats.org/drawingml/2006/main">
              <a:ext uri="{FF2B5EF4-FFF2-40B4-BE49-F238E27FC236}">
                <a16:creationId xmlns:a16="http://schemas.microsoft.com/office/drawing/2014/main" id="{383FE3F4-D43B-42FC-B907-DC3D5B58BE6B}"/>
              </a:ext>
            </a:extLst>
          </p:cNvPr>
          <p:cNvSpPr>
            <a:spLocks xmlns:a="http://schemas.openxmlformats.org/drawingml/2006/main" noGrp="1"/>
          </p:cNvSpPr>
          <p:nvPr/>
        </p:nvSpPr>
        <p:spPr>
          <a:xfrm xmlns:a="http://schemas.openxmlformats.org/drawingml/2006/main">
            <a:off x="533400" y="20859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Research evidence</a:t>
            </a:r>
          </a:p>
        </p:txBody>
      </p:sp>
      <p:sp>
        <p:nvSpPr>
          <p:cNvPr id="7" name="current-content-42">
            <a:extLst xmlns:a="http://schemas.openxmlformats.org/drawingml/2006/main">
              <a:ext uri="{FF2B5EF4-FFF2-40B4-BE49-F238E27FC236}">
                <a16:creationId xmlns:a16="http://schemas.microsoft.com/office/drawing/2014/main" id="{6286F181-7833-4C9F-87F9-82F31901161E}"/>
              </a:ext>
            </a:extLst>
          </p:cNvPr>
          <p:cNvSpPr>
            <a:spLocks xmlns:a="http://schemas.openxmlformats.org/drawingml/2006/main" noGrp="1"/>
          </p:cNvSpPr>
          <p:nvPr/>
        </p:nvSpPr>
        <p:spPr>
          <a:xfrm xmlns:a="http://schemas.openxmlformats.org/drawingml/2006/main">
            <a:off x="3381375" y="20859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Methodology</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RQ1 survey and interview findings</a:t>
            </a:r>
          </a:p>
        </p:txBody>
      </p:sp>
      <p:sp>
        <p:nvSpPr>
          <p:cNvPr id="8" name="current-content-43">
            <a:extLst xmlns:a="http://schemas.openxmlformats.org/drawingml/2006/main">
              <a:ext uri="{FF2B5EF4-FFF2-40B4-BE49-F238E27FC236}">
                <a16:creationId xmlns:a16="http://schemas.microsoft.com/office/drawing/2014/main" id="{E1241F91-0DB9-46B1-9C90-265457B63875}"/>
              </a:ext>
            </a:extLst>
          </p:cNvPr>
          <p:cNvSpPr>
            <a:spLocks xmlns:a="http://schemas.openxmlformats.org/drawingml/2006/main" noGrp="1"/>
          </p:cNvSpPr>
          <p:nvPr/>
        </p:nvSpPr>
        <p:spPr>
          <a:xfrm xmlns:a="http://schemas.openxmlformats.org/drawingml/2006/main">
            <a:off x="533400" y="29241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Developed system</a:t>
            </a:r>
          </a:p>
        </p:txBody>
      </p:sp>
      <p:sp>
        <p:nvSpPr>
          <p:cNvPr id="9" name="current-content-44">
            <a:extLst xmlns:a="http://schemas.openxmlformats.org/drawingml/2006/main">
              <a:ext uri="{FF2B5EF4-FFF2-40B4-BE49-F238E27FC236}">
                <a16:creationId xmlns:a16="http://schemas.microsoft.com/office/drawing/2014/main" id="{A5B0EB82-5E30-40B1-9972-2C1C6D3A6523}"/>
              </a:ext>
            </a:extLst>
          </p:cNvPr>
          <p:cNvSpPr>
            <a:spLocks xmlns:a="http://schemas.openxmlformats.org/drawingml/2006/main" noGrp="1"/>
          </p:cNvSpPr>
          <p:nvPr/>
        </p:nvSpPr>
        <p:spPr>
          <a:xfrm xmlns:a="http://schemas.openxmlformats.org/drawingml/2006/main">
            <a:off x="3381375" y="29241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Solution and conceptual framework</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Use cases, architecture and database</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Core logic and development platform</a:t>
            </a:r>
          </a:p>
        </p:txBody>
      </p:sp>
      <p:sp>
        <p:nvSpPr>
          <p:cNvPr id="10" name="current-content-45">
            <a:extLst xmlns:a="http://schemas.openxmlformats.org/drawingml/2006/main">
              <a:ext uri="{FF2B5EF4-FFF2-40B4-BE49-F238E27FC236}">
                <a16:creationId xmlns:a16="http://schemas.microsoft.com/office/drawing/2014/main" id="{DD785F2D-CD2F-44B2-B99B-DAF59DDC1302}"/>
              </a:ext>
            </a:extLst>
          </p:cNvPr>
          <p:cNvSpPr>
            <a:spLocks xmlns:a="http://schemas.openxmlformats.org/drawingml/2006/main" noGrp="1"/>
          </p:cNvSpPr>
          <p:nvPr/>
        </p:nvSpPr>
        <p:spPr>
          <a:xfrm xmlns:a="http://schemas.openxmlformats.org/drawingml/2006/main">
            <a:off x="533400" y="37623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Evaluation and walkthrough</a:t>
            </a:r>
          </a:p>
        </p:txBody>
      </p:sp>
      <p:sp>
        <p:nvSpPr>
          <p:cNvPr id="11" name="current-content-46">
            <a:extLst xmlns:a="http://schemas.openxmlformats.org/drawingml/2006/main">
              <a:ext uri="{FF2B5EF4-FFF2-40B4-BE49-F238E27FC236}">
                <a16:creationId xmlns:a16="http://schemas.microsoft.com/office/drawing/2014/main" id="{AFE86C62-56C7-4328-8A4E-0CABB643D1D0}"/>
              </a:ext>
            </a:extLst>
          </p:cNvPr>
          <p:cNvSpPr>
            <a:spLocks xmlns:a="http://schemas.openxmlformats.org/drawingml/2006/main" noGrp="1"/>
          </p:cNvSpPr>
          <p:nvPr/>
        </p:nvSpPr>
        <p:spPr>
          <a:xfrm xmlns:a="http://schemas.openxmlformats.org/drawingml/2006/main">
            <a:off x="3381375" y="37623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RQ2 technical assessment and limitations</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Demonstration sequence</a:t>
            </a:r>
          </a:p>
        </p:txBody>
      </p:sp>
    </p:spTree>
    <p:extLst>
      <p:ext uri="{BB962C8B-B14F-4D97-AF65-F5344CB8AC3E}">
        <p14:creationId xmlns:p14="http://schemas.microsoft.com/office/powerpoint/2010/main" val="15236314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9988506E-EDB2-4BB6-9FD2-21856CE958AE}"/>
              </a:ext>
            </a:extLst>
          </p:cNvPr>
          <p:cNvPicPr>
            <a:picLocks xmlns:a="http://schemas.openxmlformats.org/drawingml/2006/main" noChangeAspect="1"/>
          </p:cNvPicPr>
          <p:nvPr/>
        </p:nvPicPr>
        <p:blipFill>
          <a:blip xmlns:r="http://schemas.openxmlformats.org/officeDocument/2006/relationships" xmlns:a="http://schemas.openxmlformats.org/drawingml/2006/main" r:embed="R8eb7d08ab02c4f93"/>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4">
            <a:extLst xmlns:a="http://schemas.openxmlformats.org/drawingml/2006/main">
              <a:ext uri="{FF2B5EF4-FFF2-40B4-BE49-F238E27FC236}">
                <a16:creationId xmlns:a16="http://schemas.microsoft.com/office/drawing/2014/main" id="{CA9FDC82-657E-483B-B646-82F81E25CFB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Background and case scenario</a:t>
            </a:r>
          </a:p>
        </p:txBody>
      </p:sp>
      <p:sp>
        <p:nvSpPr>
          <p:cNvPr id="13" name="">
            <a:extLst xmlns:a="http://schemas.openxmlformats.org/drawingml/2006/main">
              <a:ext uri="{FF2B5EF4-FFF2-40B4-BE49-F238E27FC236}">
                <a16:creationId xmlns:a16="http://schemas.microsoft.com/office/drawing/2014/main" id="{5AFB0669-C95F-4A7B-96D7-8F77D7950844}"/>
              </a:ext>
            </a:extLst>
          </p:cNvPr>
          <p:cNvSpPr>
            <a:spLocks xmlns:a="http://schemas.openxmlformats.org/drawingml/2006/main" noGrp="1"/>
          </p:cNvSpPr>
          <p:nvPr/>
        </p:nvSpPr>
        <p:spPr>
          <a:xfrm xmlns:a="http://schemas.openxmlformats.org/drawingml/2006/main">
            <a:off x="533400" y="1171575"/>
            <a:ext cx="8058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02C61"/>
                </a:solidFill>
                <a:latin typeface="Raleway"/>
                <a:ea typeface="Raleway"/>
                <a:cs typeface="Raleway"/>
              </a:defRPr>
            </a:defPPr>
            <a:lvl1pPr algn="l">
              <a:buNone/>
              <a:defRPr sz="2025" b="1">
                <a:solidFill>
                  <a:srgbClr val="202C61"/>
                </a:solidFill>
                <a:latin typeface="Raleway"/>
                <a:ea typeface="Raleway"/>
                <a:cs typeface="Raleway"/>
              </a:defRPr>
            </a:lvl1pPr>
            <a:lvl2pPr algn="l">
              <a:buNone/>
              <a:defRPr sz="2025" b="1">
                <a:solidFill>
                  <a:srgbClr val="202C61"/>
                </a:solidFill>
                <a:latin typeface="Raleway"/>
                <a:ea typeface="Raleway"/>
                <a:cs typeface="Raleway"/>
              </a:defRPr>
            </a:lvl2pPr>
            <a:lvl3pPr algn="l">
              <a:buNone/>
              <a:defRPr sz="2025" b="1">
                <a:solidFill>
                  <a:srgbClr val="202C61"/>
                </a:solidFill>
                <a:latin typeface="Raleway"/>
                <a:ea typeface="Raleway"/>
                <a:cs typeface="Raleway"/>
              </a:defRPr>
            </a:lvl3pPr>
            <a:lvl4pPr algn="l">
              <a:buNone/>
              <a:defRPr sz="2025" b="1">
                <a:solidFill>
                  <a:srgbClr val="202C61"/>
                </a:solidFill>
                <a:latin typeface="Raleway"/>
                <a:ea typeface="Raleway"/>
                <a:cs typeface="Raleway"/>
              </a:defRPr>
            </a:lvl4pPr>
            <a:lvl5pPr algn="l">
              <a:buNone/>
              <a:defRPr sz="2025" b="1">
                <a:solidFill>
                  <a:srgbClr val="202C61"/>
                </a:solidFill>
                <a:latin typeface="Raleway"/>
                <a:ea typeface="Raleway"/>
                <a:cs typeface="Raleway"/>
              </a:defRPr>
            </a:lvl5pPr>
            <a:lvl6pPr algn="l">
              <a:buNone/>
              <a:defRPr sz="2025" b="1">
                <a:solidFill>
                  <a:srgbClr val="202C61"/>
                </a:solidFill>
                <a:latin typeface="Raleway"/>
                <a:ea typeface="Raleway"/>
                <a:cs typeface="Raleway"/>
              </a:defRPr>
            </a:lvl6pPr>
            <a:lvl7pPr algn="l">
              <a:buNone/>
              <a:defRPr sz="2025" b="1">
                <a:solidFill>
                  <a:srgbClr val="202C61"/>
                </a:solidFill>
                <a:latin typeface="Raleway"/>
                <a:ea typeface="Raleway"/>
                <a:cs typeface="Raleway"/>
              </a:defRPr>
            </a:lvl7pPr>
            <a:lvl8pPr algn="l">
              <a:buNone/>
              <a:defRPr sz="2025" b="1">
                <a:solidFill>
                  <a:srgbClr val="202C61"/>
                </a:solidFill>
                <a:latin typeface="Raleway"/>
                <a:ea typeface="Raleway"/>
                <a:cs typeface="Raleway"/>
              </a:defRPr>
            </a:lvl8pPr>
            <a:lvl9pPr algn="l">
              <a:buNone/>
              <a:defRPr sz="2025" b="1">
                <a:solidFill>
                  <a:srgbClr val="202C61"/>
                </a:solidFill>
                <a:latin typeface="Raleway"/>
                <a:ea typeface="Raleway"/>
                <a:cs typeface="Raleway"/>
              </a:defRPr>
            </a:lvl9pPr>
          </a:lstStyle>
          <a:p xmlns:a="http://schemas.openxmlformats.org/drawingml/2006/main">
            <a:pPr algn="l">
              <a:buNone/>
              <a:defRPr sz="2025" b="1">
                <a:solidFill>
                  <a:srgbClr val="202C61"/>
                </a:solidFill>
                <a:latin typeface="Raleway"/>
                <a:ea typeface="Raleway"/>
                <a:cs typeface="Raleway"/>
              </a:defRPr>
            </a:pPr>
            <a:r>
              <a:rPr sz="2025" b="1">
                <a:solidFill>
                  <a:srgbClr val="202C61"/>
                </a:solidFill>
                <a:latin typeface="Raleway"/>
                <a:ea typeface="Raleway"/>
                <a:cs typeface="Raleway"/>
              </a:rPr>
              <a:t>One sale, three separate records</a:t>
            </a:r>
          </a:p>
        </p:txBody>
      </p:sp>
      <p:pic>
        <p:nvPicPr>
          <p:cNvPr id="14" name="">
            <a:extLst xmlns:a="http://schemas.openxmlformats.org/drawingml/2006/main">
              <a:ext uri="{FF2B5EF4-FFF2-40B4-BE49-F238E27FC236}">
                <a16:creationId xmlns:a16="http://schemas.microsoft.com/office/drawing/2014/main" id="{DA2BB194-FDED-4C49-BD93-093A2FB60EF3}"/>
              </a:ext>
            </a:extLst>
          </p:cNvPr>
          <p:cNvPicPr>
            <a:picLocks xmlns:a="http://schemas.openxmlformats.org/drawingml/2006/main" noChangeAspect="1"/>
          </p:cNvPicPr>
          <p:nvPr/>
        </p:nvPicPr>
        <p:blipFill>
          <a:blip xmlns:r="http://schemas.openxmlformats.org/officeDocument/2006/relationships" xmlns:a="http://schemas.openxmlformats.org/drawingml/2006/main" r:embed="R95a637a805034c42"/>
          <a:stretch xmlns:a="http://schemas.openxmlformats.org/drawingml/2006/main"/>
        </p:blipFill>
        <p:spPr>
          <a:xfrm xmlns:a="http://schemas.openxmlformats.org/drawingml/2006/main">
            <a:off x="414338" y="1600200"/>
            <a:ext cx="8315325" cy="277177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AE5D73C-FC69-428D-BDC4-7E81AC579FE7}"/>
              </a:ext>
            </a:extLst>
          </p:cNvPr>
          <p:cNvSpPr>
            <a:spLocks xmlns:a="http://schemas.openxmlformats.org/drawingml/2006/main" noGrp="1"/>
          </p:cNvSpPr>
          <p:nvPr/>
        </p:nvSpPr>
        <p:spPr>
          <a:xfrm xmlns:a="http://schemas.openxmlformats.org/drawingml/2006/main">
            <a:off x="533400"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1  A sale is written down</a:t>
            </a:r>
          </a:p>
        </p:txBody>
      </p:sp>
      <p:sp>
        <p:nvSpPr>
          <p:cNvPr id="16" name="">
            <a:extLst xmlns:a="http://schemas.openxmlformats.org/drawingml/2006/main">
              <a:ext uri="{FF2B5EF4-FFF2-40B4-BE49-F238E27FC236}">
                <a16:creationId xmlns:a16="http://schemas.microsoft.com/office/drawing/2014/main" id="{53A2A11A-C027-45F1-BAB4-8D6587A5EEF8}"/>
              </a:ext>
            </a:extLst>
          </p:cNvPr>
          <p:cNvSpPr>
            <a:spLocks xmlns:a="http://schemas.openxmlformats.org/drawingml/2006/main" noGrp="1"/>
          </p:cNvSpPr>
          <p:nvPr/>
        </p:nvSpPr>
        <p:spPr>
          <a:xfrm xmlns:a="http://schemas.openxmlformats.org/drawingml/2006/main">
            <a:off x="533400"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The cashier records it in a notebook.</a:t>
            </a:r>
          </a:p>
        </p:txBody>
      </p:sp>
      <p:sp>
        <p:nvSpPr>
          <p:cNvPr id="17" name="">
            <a:extLst xmlns:a="http://schemas.openxmlformats.org/drawingml/2006/main">
              <a:ext uri="{FF2B5EF4-FFF2-40B4-BE49-F238E27FC236}">
                <a16:creationId xmlns:a16="http://schemas.microsoft.com/office/drawing/2014/main" id="{D877639A-8292-4C3B-B708-E6735FF3CD43}"/>
              </a:ext>
            </a:extLst>
          </p:cNvPr>
          <p:cNvSpPr>
            <a:spLocks xmlns:a="http://schemas.openxmlformats.org/drawingml/2006/main" noGrp="1"/>
          </p:cNvSpPr>
          <p:nvPr/>
        </p:nvSpPr>
        <p:spPr>
          <a:xfrm xmlns:a="http://schemas.openxmlformats.org/drawingml/2006/main">
            <a:off x="3286125"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2  Stock waits for an update</a:t>
            </a:r>
          </a:p>
        </p:txBody>
      </p:sp>
      <p:sp>
        <p:nvSpPr>
          <p:cNvPr id="18" name="">
            <a:extLst xmlns:a="http://schemas.openxmlformats.org/drawingml/2006/main">
              <a:ext uri="{FF2B5EF4-FFF2-40B4-BE49-F238E27FC236}">
                <a16:creationId xmlns:a16="http://schemas.microsoft.com/office/drawing/2014/main" id="{D331255B-F90B-48B5-BC88-A6A2A1FDD5FD}"/>
              </a:ext>
            </a:extLst>
          </p:cNvPr>
          <p:cNvSpPr>
            <a:spLocks xmlns:a="http://schemas.openxmlformats.org/drawingml/2006/main" noGrp="1"/>
          </p:cNvSpPr>
          <p:nvPr/>
        </p:nvSpPr>
        <p:spPr>
          <a:xfrm xmlns:a="http://schemas.openxmlformats.org/drawingml/2006/main">
            <a:off x="3286125"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 separate count is encoded later.</a:t>
            </a:r>
          </a:p>
        </p:txBody>
      </p:sp>
      <p:sp>
        <p:nvSpPr>
          <p:cNvPr id="19" name="">
            <a:extLst xmlns:a="http://schemas.openxmlformats.org/drawingml/2006/main">
              <a:ext uri="{FF2B5EF4-FFF2-40B4-BE49-F238E27FC236}">
                <a16:creationId xmlns:a16="http://schemas.microsoft.com/office/drawing/2014/main" id="{A3EF7756-8F01-43C9-A55D-821C5FC791DA}"/>
              </a:ext>
            </a:extLst>
          </p:cNvPr>
          <p:cNvSpPr>
            <a:spLocks xmlns:a="http://schemas.openxmlformats.org/drawingml/2006/main" noGrp="1"/>
          </p:cNvSpPr>
          <p:nvPr/>
        </p:nvSpPr>
        <p:spPr>
          <a:xfrm xmlns:a="http://schemas.openxmlformats.org/drawingml/2006/main">
            <a:off x="6038850"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3  The owner checks again</a:t>
            </a:r>
          </a:p>
        </p:txBody>
      </p:sp>
      <p:sp>
        <p:nvSpPr>
          <p:cNvPr id="20" name="">
            <a:extLst xmlns:a="http://schemas.openxmlformats.org/drawingml/2006/main">
              <a:ext uri="{FF2B5EF4-FFF2-40B4-BE49-F238E27FC236}">
                <a16:creationId xmlns:a16="http://schemas.microsoft.com/office/drawing/2014/main" id="{C7FA0BA2-6656-44F1-B68E-9E85C2236E86}"/>
              </a:ext>
            </a:extLst>
          </p:cNvPr>
          <p:cNvSpPr>
            <a:spLocks xmlns:a="http://schemas.openxmlformats.org/drawingml/2006/main" noGrp="1"/>
          </p:cNvSpPr>
          <p:nvPr/>
        </p:nvSpPr>
        <p:spPr>
          <a:xfrm xmlns:a="http://schemas.openxmlformats.org/drawingml/2006/main">
            <a:off x="6038850"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Ordering waits for reconciliation.</a:t>
            </a:r>
          </a:p>
        </p:txBody>
      </p:sp>
    </p:spTree>
    <p:extLst>
      <p:ext uri="{BB962C8B-B14F-4D97-AF65-F5344CB8AC3E}">
        <p14:creationId xmlns:p14="http://schemas.microsoft.com/office/powerpoint/2010/main" val="151153554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3" name="Picture 12">
            <a:extLst xmlns:a="http://schemas.openxmlformats.org/drawingml/2006/main">
              <a:ext uri="{FF2B5EF4-FFF2-40B4-BE49-F238E27FC236}">
                <a16:creationId xmlns:a16="http://schemas.microsoft.com/office/drawing/2014/main" id="{5E5A169A-A665-4B7E-81FF-D09C414A719D}"/>
              </a:ext>
            </a:extLst>
          </p:cNvPr>
          <p:cNvPicPr>
            <a:picLocks xmlns:a="http://schemas.openxmlformats.org/drawingml/2006/main" noChangeAspect="1"/>
          </p:cNvPicPr>
          <p:nvPr/>
        </p:nvPicPr>
        <p:blipFill>
          <a:blip xmlns:r="http://schemas.openxmlformats.org/officeDocument/2006/relationships" xmlns:a="http://schemas.openxmlformats.org/drawingml/2006/main" r:embed="R4f88300a58eb4d9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6">
            <a:extLst xmlns:a="http://schemas.openxmlformats.org/drawingml/2006/main">
              <a:ext uri="{FF2B5EF4-FFF2-40B4-BE49-F238E27FC236}">
                <a16:creationId xmlns:a16="http://schemas.microsoft.com/office/drawing/2014/main" id="{C96036E6-7D73-4454-BAE9-81E0A1EFCEC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Statement of the problem</a:t>
            </a:r>
          </a:p>
        </p:txBody>
      </p:sp>
      <p:sp>
        <p:nvSpPr>
          <p:cNvPr id="4" name="current-content-50">
            <a:extLst xmlns:a="http://schemas.openxmlformats.org/drawingml/2006/main">
              <a:ext uri="{FF2B5EF4-FFF2-40B4-BE49-F238E27FC236}">
                <a16:creationId xmlns:a16="http://schemas.microsoft.com/office/drawing/2014/main" id="{F7E30109-24A4-45F5-8A94-3CD20A1CB65B}"/>
              </a:ext>
            </a:extLst>
          </p:cNvPr>
          <p:cNvSpPr>
            <a:spLocks xmlns:a="http://schemas.openxmlformats.org/drawingml/2006/main" noGrp="1"/>
          </p:cNvSpPr>
          <p:nvPr/>
        </p:nvSpPr>
        <p:spPr>
          <a:xfrm xmlns:a="http://schemas.openxmlformats.org/drawingml/2006/main">
            <a:off x="533400" y="13430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RQ1</a:t>
            </a:r>
          </a:p>
        </p:txBody>
      </p:sp>
      <p:sp>
        <p:nvSpPr>
          <p:cNvPr id="5" name="current-content-51">
            <a:extLst xmlns:a="http://schemas.openxmlformats.org/drawingml/2006/main">
              <a:ext uri="{FF2B5EF4-FFF2-40B4-BE49-F238E27FC236}">
                <a16:creationId xmlns:a16="http://schemas.microsoft.com/office/drawing/2014/main" id="{C78A0394-38EF-4A07-B1BB-D0ED68FE1E05}"/>
              </a:ext>
            </a:extLst>
          </p:cNvPr>
          <p:cNvSpPr>
            <a:spLocks xmlns:a="http://schemas.openxmlformats.org/drawingml/2006/main" noGrp="1"/>
          </p:cNvSpPr>
          <p:nvPr/>
        </p:nvSpPr>
        <p:spPr>
          <a:xfrm xmlns:a="http://schemas.openxmlformats.org/drawingml/2006/main">
            <a:off x="1762125" y="13430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Which tracking and reconciliation bottlenecks affect SME operations?</a:t>
            </a:r>
          </a:p>
        </p:txBody>
      </p:sp>
      <p:sp>
        <p:nvSpPr>
          <p:cNvPr id="6" name="Straight Connector 5">
            <a:extLst xmlns:a="http://schemas.openxmlformats.org/drawingml/2006/main">
              <a:ext uri="{FF2B5EF4-FFF2-40B4-BE49-F238E27FC236}">
                <a16:creationId xmlns:a16="http://schemas.microsoft.com/office/drawing/2014/main" id="{CAE87423-3430-4C2F-B546-0E04F06C32B2}"/>
              </a:ext>
            </a:extLst>
          </p:cNvPr>
          <p:cNvSpPr>
            <a:spLocks xmlns:a="http://schemas.openxmlformats.org/drawingml/2006/main" noGrp="1"/>
          </p:cNvSpPr>
          <p:nvPr/>
        </p:nvSpPr>
        <p:spPr>
          <a:xfrm xmlns:a="http://schemas.openxmlformats.org/drawingml/2006/main">
            <a:off x="1762125" y="2085975"/>
            <a:ext cx="68103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7" name="current-content-52">
            <a:extLst xmlns:a="http://schemas.openxmlformats.org/drawingml/2006/main">
              <a:ext uri="{FF2B5EF4-FFF2-40B4-BE49-F238E27FC236}">
                <a16:creationId xmlns:a16="http://schemas.microsoft.com/office/drawing/2014/main" id="{512178D7-EEA9-446B-9F30-B22A030B4A72}"/>
              </a:ext>
            </a:extLst>
          </p:cNvPr>
          <p:cNvSpPr>
            <a:spLocks xmlns:a="http://schemas.openxmlformats.org/drawingml/2006/main" noGrp="1"/>
          </p:cNvSpPr>
          <p:nvPr/>
        </p:nvSpPr>
        <p:spPr>
          <a:xfrm xmlns:a="http://schemas.openxmlformats.org/drawingml/2006/main">
            <a:off x="533400" y="231457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RQ2</a:t>
            </a:r>
          </a:p>
        </p:txBody>
      </p:sp>
      <p:sp>
        <p:nvSpPr>
          <p:cNvPr id="8" name="current-content-53">
            <a:extLst xmlns:a="http://schemas.openxmlformats.org/drawingml/2006/main">
              <a:ext uri="{FF2B5EF4-FFF2-40B4-BE49-F238E27FC236}">
                <a16:creationId xmlns:a16="http://schemas.microsoft.com/office/drawing/2014/main" id="{6E55514F-87AB-4838-8748-D2A318661832}"/>
              </a:ext>
            </a:extLst>
          </p:cNvPr>
          <p:cNvSpPr>
            <a:spLocks xmlns:a="http://schemas.openxmlformats.org/drawingml/2006/main" noGrp="1"/>
          </p:cNvSpPr>
          <p:nvPr/>
        </p:nvSpPr>
        <p:spPr>
          <a:xfrm xmlns:a="http://schemas.openxmlformats.org/drawingml/2006/main">
            <a:off x="1762125" y="231457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Which system framework and security measures are appropriate?</a:t>
            </a:r>
          </a:p>
        </p:txBody>
      </p:sp>
      <p:sp>
        <p:nvSpPr>
          <p:cNvPr id="9" name="Straight Connector 8">
            <a:extLst xmlns:a="http://schemas.openxmlformats.org/drawingml/2006/main">
              <a:ext uri="{FF2B5EF4-FFF2-40B4-BE49-F238E27FC236}">
                <a16:creationId xmlns:a16="http://schemas.microsoft.com/office/drawing/2014/main" id="{83515362-FE55-4C45-B033-17901D26AFA6}"/>
              </a:ext>
            </a:extLst>
          </p:cNvPr>
          <p:cNvSpPr>
            <a:spLocks xmlns:a="http://schemas.openxmlformats.org/drawingml/2006/main" noGrp="1"/>
          </p:cNvSpPr>
          <p:nvPr/>
        </p:nvSpPr>
        <p:spPr>
          <a:xfrm xmlns:a="http://schemas.openxmlformats.org/drawingml/2006/main">
            <a:off x="1762125" y="3057525"/>
            <a:ext cx="68103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0" name="current-content-54">
            <a:extLst xmlns:a="http://schemas.openxmlformats.org/drawingml/2006/main">
              <a:ext uri="{FF2B5EF4-FFF2-40B4-BE49-F238E27FC236}">
                <a16:creationId xmlns:a16="http://schemas.microsoft.com/office/drawing/2014/main" id="{D83ED1C3-FC67-46B7-8709-342EB5CA2E69}"/>
              </a:ext>
            </a:extLst>
          </p:cNvPr>
          <p:cNvSpPr>
            <a:spLocks xmlns:a="http://schemas.openxmlformats.org/drawingml/2006/main" noGrp="1"/>
          </p:cNvSpPr>
          <p:nvPr/>
        </p:nvSpPr>
        <p:spPr>
          <a:xfrm xmlns:a="http://schemas.openxmlformats.org/drawingml/2006/main">
            <a:off x="533400" y="32861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RQ3</a:t>
            </a:r>
          </a:p>
        </p:txBody>
      </p:sp>
      <p:sp>
        <p:nvSpPr>
          <p:cNvPr id="11" name="current-content-55">
            <a:extLst xmlns:a="http://schemas.openxmlformats.org/drawingml/2006/main">
              <a:ext uri="{FF2B5EF4-FFF2-40B4-BE49-F238E27FC236}">
                <a16:creationId xmlns:a16="http://schemas.microsoft.com/office/drawing/2014/main" id="{134AC473-7AEE-4568-99AF-60F1FCC40442}"/>
              </a:ext>
            </a:extLst>
          </p:cNvPr>
          <p:cNvSpPr>
            <a:spLocks xmlns:a="http://schemas.openxmlformats.org/drawingml/2006/main" noGrp="1"/>
          </p:cNvSpPr>
          <p:nvPr/>
        </p:nvSpPr>
        <p:spPr>
          <a:xfrm xmlns:a="http://schemas.openxmlformats.org/drawingml/2006/main">
            <a:off x="1762125" y="32861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How acceptable is the developed system to intended users?</a:t>
            </a:r>
          </a:p>
        </p:txBody>
      </p:sp>
    </p:spTree>
    <p:extLst>
      <p:ext uri="{BB962C8B-B14F-4D97-AF65-F5344CB8AC3E}">
        <p14:creationId xmlns:p14="http://schemas.microsoft.com/office/powerpoint/2010/main" val="110669687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289512FC-1BB2-426D-B5CA-12D03A6119AF}"/>
              </a:ext>
            </a:extLst>
          </p:cNvPr>
          <p:cNvPicPr>
            <a:picLocks xmlns:a="http://schemas.openxmlformats.org/drawingml/2006/main" noChangeAspect="1"/>
          </p:cNvPicPr>
          <p:nvPr/>
        </p:nvPicPr>
        <p:blipFill>
          <a:blip xmlns:r="http://schemas.openxmlformats.org/officeDocument/2006/relationships" xmlns:a="http://schemas.openxmlformats.org/drawingml/2006/main" r:embed="Rf66574d1e0614ad7"/>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8">
            <a:extLst xmlns:a="http://schemas.openxmlformats.org/drawingml/2006/main">
              <a:ext uri="{FF2B5EF4-FFF2-40B4-BE49-F238E27FC236}">
                <a16:creationId xmlns:a16="http://schemas.microsoft.com/office/drawing/2014/main" id="{96122154-EF9E-4592-ABC9-87F9DC97E9D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Research goals</a:t>
            </a:r>
          </a:p>
        </p:txBody>
      </p:sp>
      <p:sp>
        <p:nvSpPr>
          <p:cNvPr id="4" name="current-content-57">
            <a:extLst xmlns:a="http://schemas.openxmlformats.org/drawingml/2006/main">
              <a:ext uri="{FF2B5EF4-FFF2-40B4-BE49-F238E27FC236}">
                <a16:creationId xmlns:a16="http://schemas.microsoft.com/office/drawing/2014/main" id="{A9675C94-0128-42B6-81B5-741353777660}"/>
              </a:ext>
            </a:extLst>
          </p:cNvPr>
          <p:cNvSpPr>
            <a:spLocks xmlns:a="http://schemas.openxmlformats.org/drawingml/2006/main" noGrp="1"/>
          </p:cNvSpPr>
          <p:nvPr/>
        </p:nvSpPr>
        <p:spPr>
          <a:xfrm xmlns:a="http://schemas.openxmlformats.org/drawingml/2006/main">
            <a:off x="533400" y="1266825"/>
            <a:ext cx="8058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1717"/>
                </a:solidFill>
                <a:latin typeface="Arial"/>
                <a:ea typeface="Arial"/>
                <a:cs typeface="Arial"/>
              </a:defRPr>
            </a:defPPr>
            <a:lvl1pPr algn="l">
              <a:buNone/>
              <a:defRPr sz="2100" b="1">
                <a:solidFill>
                  <a:srgbClr val="171717"/>
                </a:solidFill>
                <a:latin typeface="Arial"/>
                <a:ea typeface="Arial"/>
                <a:cs typeface="Arial"/>
              </a:defRPr>
            </a:lvl1pPr>
            <a:lvl2pPr algn="l">
              <a:buNone/>
              <a:defRPr sz="2100" b="1">
                <a:solidFill>
                  <a:srgbClr val="171717"/>
                </a:solidFill>
                <a:latin typeface="Arial"/>
                <a:ea typeface="Arial"/>
                <a:cs typeface="Arial"/>
              </a:defRPr>
            </a:lvl2pPr>
            <a:lvl3pPr algn="l">
              <a:buNone/>
              <a:defRPr sz="2100" b="1">
                <a:solidFill>
                  <a:srgbClr val="171717"/>
                </a:solidFill>
                <a:latin typeface="Arial"/>
                <a:ea typeface="Arial"/>
                <a:cs typeface="Arial"/>
              </a:defRPr>
            </a:lvl3pPr>
            <a:lvl4pPr algn="l">
              <a:buNone/>
              <a:defRPr sz="2100" b="1">
                <a:solidFill>
                  <a:srgbClr val="171717"/>
                </a:solidFill>
                <a:latin typeface="Arial"/>
                <a:ea typeface="Arial"/>
                <a:cs typeface="Arial"/>
              </a:defRPr>
            </a:lvl4pPr>
            <a:lvl5pPr algn="l">
              <a:buNone/>
              <a:defRPr sz="2100" b="1">
                <a:solidFill>
                  <a:srgbClr val="171717"/>
                </a:solidFill>
                <a:latin typeface="Arial"/>
                <a:ea typeface="Arial"/>
                <a:cs typeface="Arial"/>
              </a:defRPr>
            </a:lvl5pPr>
            <a:lvl6pPr algn="l">
              <a:buNone/>
              <a:defRPr sz="2100" b="1">
                <a:solidFill>
                  <a:srgbClr val="171717"/>
                </a:solidFill>
                <a:latin typeface="Arial"/>
                <a:ea typeface="Arial"/>
                <a:cs typeface="Arial"/>
              </a:defRPr>
            </a:lvl6pPr>
            <a:lvl7pPr algn="l">
              <a:buNone/>
              <a:defRPr sz="2100" b="1">
                <a:solidFill>
                  <a:srgbClr val="171717"/>
                </a:solidFill>
                <a:latin typeface="Arial"/>
                <a:ea typeface="Arial"/>
                <a:cs typeface="Arial"/>
              </a:defRPr>
            </a:lvl7pPr>
            <a:lvl8pPr algn="l">
              <a:buNone/>
              <a:defRPr sz="2100" b="1">
                <a:solidFill>
                  <a:srgbClr val="171717"/>
                </a:solidFill>
                <a:latin typeface="Arial"/>
                <a:ea typeface="Arial"/>
                <a:cs typeface="Arial"/>
              </a:defRPr>
            </a:lvl8pPr>
            <a:lvl9pPr algn="l">
              <a:buNone/>
              <a:defRPr sz="2100" b="1">
                <a:solidFill>
                  <a:srgbClr val="171717"/>
                </a:solidFill>
                <a:latin typeface="Arial"/>
                <a:ea typeface="Arial"/>
                <a:cs typeface="Arial"/>
              </a:defRPr>
            </a:lvl9pPr>
          </a:lstStyle>
          <a:p xmlns:a="http://schemas.openxmlformats.org/drawingml/2006/main">
            <a:pPr algn="l">
              <a:buNone/>
              <a:defRPr sz="2100" b="1">
                <a:solidFill>
                  <a:srgbClr val="171717"/>
                </a:solidFill>
                <a:latin typeface="Arial"/>
                <a:ea typeface="Arial"/>
                <a:cs typeface="Arial"/>
              </a:defRPr>
            </a:pPr>
            <a:r>
              <a:rPr sz="2100" b="1">
                <a:solidFill>
                  <a:srgbClr val="171717"/>
                </a:solidFill>
                <a:latin typeface="Arial"/>
                <a:ea typeface="Arial"/>
                <a:cs typeface="Arial"/>
              </a:rPr>
              <a:t>Design, develop, and evaluate a cloud-based inventory</a:t>
            </a:r>
          </a:p>
          <a:p xmlns:a="http://schemas.openxmlformats.org/drawingml/2006/main">
            <a:pPr algn="l">
              <a:buNone/>
              <a:defRPr sz="2100" b="1">
                <a:solidFill>
                  <a:srgbClr val="171717"/>
                </a:solidFill>
                <a:latin typeface="Arial"/>
                <a:ea typeface="Arial"/>
                <a:cs typeface="Arial"/>
              </a:defRPr>
            </a:pPr>
            <a:r>
              <a:rPr sz="2100" b="1">
                <a:solidFill>
                  <a:srgbClr val="171717"/>
                </a:solidFill>
                <a:latin typeface="Arial"/>
                <a:ea typeface="Arial"/>
                <a:cs typeface="Arial"/>
              </a:rPr>
              <a:t>and financial management framework tailored for SMEs</a:t>
            </a:r>
          </a:p>
        </p:txBody>
      </p:sp>
      <p:sp>
        <p:nvSpPr>
          <p:cNvPr id="5" name="current-content-58">
            <a:extLst xmlns:a="http://schemas.openxmlformats.org/drawingml/2006/main">
              <a:ext uri="{FF2B5EF4-FFF2-40B4-BE49-F238E27FC236}">
                <a16:creationId xmlns:a16="http://schemas.microsoft.com/office/drawing/2014/main" id="{86194BBD-BBFC-44B7-A620-6F8FE7C00C04}"/>
              </a:ext>
            </a:extLst>
          </p:cNvPr>
          <p:cNvSpPr>
            <a:spLocks xmlns:a="http://schemas.openxmlformats.org/drawingml/2006/main" noGrp="1"/>
          </p:cNvSpPr>
          <p:nvPr/>
        </p:nvSpPr>
        <p:spPr>
          <a:xfrm xmlns:a="http://schemas.openxmlformats.org/drawingml/2006/main">
            <a:off x="533400" y="24574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01</a:t>
            </a:r>
          </a:p>
        </p:txBody>
      </p:sp>
      <p:sp>
        <p:nvSpPr>
          <p:cNvPr id="6" name="current-content-59">
            <a:extLst xmlns:a="http://schemas.openxmlformats.org/drawingml/2006/main">
              <a:ext uri="{FF2B5EF4-FFF2-40B4-BE49-F238E27FC236}">
                <a16:creationId xmlns:a16="http://schemas.microsoft.com/office/drawing/2014/main" id="{62B21C64-E506-4D4C-AC29-DF37E9C981A9}"/>
              </a:ext>
            </a:extLst>
          </p:cNvPr>
          <p:cNvSpPr>
            <a:spLocks xmlns:a="http://schemas.openxmlformats.org/drawingml/2006/main" noGrp="1"/>
          </p:cNvSpPr>
          <p:nvPr/>
        </p:nvSpPr>
        <p:spPr>
          <a:xfrm xmlns:a="http://schemas.openxmlformats.org/drawingml/2006/main">
            <a:off x="1428750" y="245745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Identify manual tracking and reconciliation bottlenecks</a:t>
            </a:r>
          </a:p>
        </p:txBody>
      </p:sp>
      <p:sp>
        <p:nvSpPr>
          <p:cNvPr id="7" name="current-content-60">
            <a:extLst xmlns:a="http://schemas.openxmlformats.org/drawingml/2006/main">
              <a:ext uri="{FF2B5EF4-FFF2-40B4-BE49-F238E27FC236}">
                <a16:creationId xmlns:a16="http://schemas.microsoft.com/office/drawing/2014/main" id="{ED3DC73A-B7B7-428A-81D7-9673971B9C0C}"/>
              </a:ext>
            </a:extLst>
          </p:cNvPr>
          <p:cNvSpPr>
            <a:spLocks xmlns:a="http://schemas.openxmlformats.org/drawingml/2006/main" noGrp="1"/>
          </p:cNvSpPr>
          <p:nvPr/>
        </p:nvSpPr>
        <p:spPr>
          <a:xfrm xmlns:a="http://schemas.openxmlformats.org/drawingml/2006/main">
            <a:off x="533400" y="30765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02</a:t>
            </a:r>
          </a:p>
        </p:txBody>
      </p:sp>
      <p:sp>
        <p:nvSpPr>
          <p:cNvPr id="8" name="current-content-61">
            <a:extLst xmlns:a="http://schemas.openxmlformats.org/drawingml/2006/main">
              <a:ext uri="{FF2B5EF4-FFF2-40B4-BE49-F238E27FC236}">
                <a16:creationId xmlns:a16="http://schemas.microsoft.com/office/drawing/2014/main" id="{F217CEA4-760C-4EAE-9CB0-AFC62BB16D51}"/>
              </a:ext>
            </a:extLst>
          </p:cNvPr>
          <p:cNvSpPr>
            <a:spLocks xmlns:a="http://schemas.openxmlformats.org/drawingml/2006/main" noGrp="1"/>
          </p:cNvSpPr>
          <p:nvPr/>
        </p:nvSpPr>
        <p:spPr>
          <a:xfrm xmlns:a="http://schemas.openxmlformats.org/drawingml/2006/main">
            <a:off x="1428750" y="3076575"/>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Determine the framework and information security measures</a:t>
            </a:r>
          </a:p>
        </p:txBody>
      </p:sp>
      <p:sp>
        <p:nvSpPr>
          <p:cNvPr id="9" name="current-content-62">
            <a:extLst xmlns:a="http://schemas.openxmlformats.org/drawingml/2006/main">
              <a:ext uri="{FF2B5EF4-FFF2-40B4-BE49-F238E27FC236}">
                <a16:creationId xmlns:a16="http://schemas.microsoft.com/office/drawing/2014/main" id="{4848B60D-F6F5-4901-B503-B4C454F7934C}"/>
              </a:ext>
            </a:extLst>
          </p:cNvPr>
          <p:cNvSpPr>
            <a:spLocks xmlns:a="http://schemas.openxmlformats.org/drawingml/2006/main" noGrp="1"/>
          </p:cNvSpPr>
          <p:nvPr/>
        </p:nvSpPr>
        <p:spPr>
          <a:xfrm xmlns:a="http://schemas.openxmlformats.org/drawingml/2006/main">
            <a:off x="533400" y="36957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03</a:t>
            </a:r>
          </a:p>
        </p:txBody>
      </p:sp>
      <p:sp>
        <p:nvSpPr>
          <p:cNvPr id="10" name="current-content-63">
            <a:extLst xmlns:a="http://schemas.openxmlformats.org/drawingml/2006/main">
              <a:ext uri="{FF2B5EF4-FFF2-40B4-BE49-F238E27FC236}">
                <a16:creationId xmlns:a16="http://schemas.microsoft.com/office/drawing/2014/main" id="{1D23B83F-CFBD-4809-AF0B-2FCB09755119}"/>
              </a:ext>
            </a:extLst>
          </p:cNvPr>
          <p:cNvSpPr>
            <a:spLocks xmlns:a="http://schemas.openxmlformats.org/drawingml/2006/main" noGrp="1"/>
          </p:cNvSpPr>
          <p:nvPr/>
        </p:nvSpPr>
        <p:spPr>
          <a:xfrm xmlns:a="http://schemas.openxmlformats.org/drawingml/2006/main">
            <a:off x="1428750" y="369570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Evaluate acceptability after prototype interaction</a:t>
            </a:r>
          </a:p>
        </p:txBody>
      </p:sp>
    </p:spTree>
    <p:extLst>
      <p:ext uri="{BB962C8B-B14F-4D97-AF65-F5344CB8AC3E}">
        <p14:creationId xmlns:p14="http://schemas.microsoft.com/office/powerpoint/2010/main" val="23202611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6" name="Picture 15">
            <a:extLst xmlns:a="http://schemas.openxmlformats.org/drawingml/2006/main">
              <a:ext uri="{FF2B5EF4-FFF2-40B4-BE49-F238E27FC236}">
                <a16:creationId xmlns:a16="http://schemas.microsoft.com/office/drawing/2014/main" id="{D6800884-928A-42F6-8D63-F96EBE3085EA}"/>
              </a:ext>
            </a:extLst>
          </p:cNvPr>
          <p:cNvPicPr>
            <a:picLocks xmlns:a="http://schemas.openxmlformats.org/drawingml/2006/main" noChangeAspect="1"/>
          </p:cNvPicPr>
          <p:nvPr/>
        </p:nvPicPr>
        <p:blipFill>
          <a:blip xmlns:r="http://schemas.openxmlformats.org/officeDocument/2006/relationships" xmlns:a="http://schemas.openxmlformats.org/drawingml/2006/main" r:embed="Reb9de54f41364288"/>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0">
            <a:extLst xmlns:a="http://schemas.openxmlformats.org/drawingml/2006/main">
              <a:ext uri="{FF2B5EF4-FFF2-40B4-BE49-F238E27FC236}">
                <a16:creationId xmlns:a16="http://schemas.microsoft.com/office/drawing/2014/main" id="{D0459ECB-6C5A-4E2D-A301-3F3AF375A89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Review of related literature</a:t>
            </a:r>
          </a:p>
        </p:txBody>
      </p:sp>
      <p:sp>
        <p:nvSpPr>
          <p:cNvPr id="4" name="current-content-65">
            <a:extLst xmlns:a="http://schemas.openxmlformats.org/drawingml/2006/main">
              <a:ext uri="{FF2B5EF4-FFF2-40B4-BE49-F238E27FC236}">
                <a16:creationId xmlns:a16="http://schemas.microsoft.com/office/drawing/2014/main" id="{952807F5-772C-43AF-B2C8-9A243CDF5C23}"/>
              </a:ext>
            </a:extLst>
          </p:cNvPr>
          <p:cNvSpPr>
            <a:spLocks xmlns:a="http://schemas.openxmlformats.org/drawingml/2006/main" noGrp="1"/>
          </p:cNvSpPr>
          <p:nvPr/>
        </p:nvSpPr>
        <p:spPr>
          <a:xfrm xmlns:a="http://schemas.openxmlformats.org/drawingml/2006/main">
            <a:off x="533400" y="13335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Record accuracy</a:t>
            </a:r>
          </a:p>
        </p:txBody>
      </p:sp>
      <p:sp>
        <p:nvSpPr>
          <p:cNvPr id="5" name="current-content-66">
            <a:extLst xmlns:a="http://schemas.openxmlformats.org/drawingml/2006/main">
              <a:ext uri="{FF2B5EF4-FFF2-40B4-BE49-F238E27FC236}">
                <a16:creationId xmlns:a16="http://schemas.microsoft.com/office/drawing/2014/main" id="{975E424D-A118-410E-9684-BDCBA379FB4F}"/>
              </a:ext>
            </a:extLst>
          </p:cNvPr>
          <p:cNvSpPr>
            <a:spLocks xmlns:a="http://schemas.openxmlformats.org/drawingml/2006/main" noGrp="1"/>
          </p:cNvSpPr>
          <p:nvPr/>
        </p:nvSpPr>
        <p:spPr>
          <a:xfrm xmlns:a="http://schemas.openxmlformats.org/drawingml/2006/main">
            <a:off x="3381375" y="13335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Inventory mismatch and manual consolidation</a:t>
            </a:r>
          </a:p>
        </p:txBody>
      </p:sp>
      <p:sp>
        <p:nvSpPr>
          <p:cNvPr id="6" name="current-content-67">
            <a:extLst xmlns:a="http://schemas.openxmlformats.org/drawingml/2006/main">
              <a:ext uri="{FF2B5EF4-FFF2-40B4-BE49-F238E27FC236}">
                <a16:creationId xmlns:a16="http://schemas.microsoft.com/office/drawing/2014/main" id="{85B646E1-578A-44E8-84E9-0BEC92E5DABD}"/>
              </a:ext>
            </a:extLst>
          </p:cNvPr>
          <p:cNvSpPr>
            <a:spLocks xmlns:a="http://schemas.openxmlformats.org/drawingml/2006/main" noGrp="1"/>
          </p:cNvSpPr>
          <p:nvPr/>
        </p:nvSpPr>
        <p:spPr>
          <a:xfrm xmlns:a="http://schemas.openxmlformats.org/drawingml/2006/main">
            <a:off x="3381375" y="17430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Shabani et al. (2021); Kosadi et al. (2021)</a:t>
            </a:r>
          </a:p>
        </p:txBody>
      </p:sp>
      <p:sp>
        <p:nvSpPr>
          <p:cNvPr id="7" name="Straight Connector 6">
            <a:extLst xmlns:a="http://schemas.openxmlformats.org/drawingml/2006/main">
              <a:ext uri="{FF2B5EF4-FFF2-40B4-BE49-F238E27FC236}">
                <a16:creationId xmlns:a16="http://schemas.microsoft.com/office/drawing/2014/main" id="{648F71B1-4994-4E33-AB6D-D50E2B8E37BE}"/>
              </a:ext>
            </a:extLst>
          </p:cNvPr>
          <p:cNvSpPr>
            <a:spLocks xmlns:a="http://schemas.openxmlformats.org/drawingml/2006/main" noGrp="1"/>
          </p:cNvSpPr>
          <p:nvPr/>
        </p:nvSpPr>
        <p:spPr>
          <a:xfrm xmlns:a="http://schemas.openxmlformats.org/drawingml/2006/main">
            <a:off x="533400" y="2181225"/>
            <a:ext cx="80676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8" name="current-content-68">
            <a:extLst xmlns:a="http://schemas.openxmlformats.org/drawingml/2006/main">
              <a:ext uri="{FF2B5EF4-FFF2-40B4-BE49-F238E27FC236}">
                <a16:creationId xmlns:a16="http://schemas.microsoft.com/office/drawing/2014/main" id="{949B4E23-969D-42A9-8078-F8E29FA9F97C}"/>
              </a:ext>
            </a:extLst>
          </p:cNvPr>
          <p:cNvSpPr>
            <a:spLocks xmlns:a="http://schemas.openxmlformats.org/drawingml/2006/main" noGrp="1"/>
          </p:cNvSpPr>
          <p:nvPr/>
        </p:nvSpPr>
        <p:spPr>
          <a:xfrm xmlns:a="http://schemas.openxmlformats.org/drawingml/2006/main">
            <a:off x="533400" y="23622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Cloud framework</a:t>
            </a:r>
          </a:p>
        </p:txBody>
      </p:sp>
      <p:sp>
        <p:nvSpPr>
          <p:cNvPr id="9" name="current-content-69">
            <a:extLst xmlns:a="http://schemas.openxmlformats.org/drawingml/2006/main">
              <a:ext uri="{FF2B5EF4-FFF2-40B4-BE49-F238E27FC236}">
                <a16:creationId xmlns:a16="http://schemas.microsoft.com/office/drawing/2014/main" id="{57D89509-B5E2-4D38-A4D6-1E4210C7813F}"/>
              </a:ext>
            </a:extLst>
          </p:cNvPr>
          <p:cNvSpPr>
            <a:spLocks xmlns:a="http://schemas.openxmlformats.org/drawingml/2006/main" noGrp="1"/>
          </p:cNvSpPr>
          <p:nvPr/>
        </p:nvSpPr>
        <p:spPr>
          <a:xfrm xmlns:a="http://schemas.openxmlformats.org/drawingml/2006/main">
            <a:off x="3381375" y="23622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Integrated records, cost, safety and flexibility</a:t>
            </a:r>
          </a:p>
        </p:txBody>
      </p:sp>
      <p:sp>
        <p:nvSpPr>
          <p:cNvPr id="10" name="current-content-70">
            <a:extLst xmlns:a="http://schemas.openxmlformats.org/drawingml/2006/main">
              <a:ext uri="{FF2B5EF4-FFF2-40B4-BE49-F238E27FC236}">
                <a16:creationId xmlns:a16="http://schemas.microsoft.com/office/drawing/2014/main" id="{DB6EE8FB-9BC2-4487-B627-F39368FBAD73}"/>
              </a:ext>
            </a:extLst>
          </p:cNvPr>
          <p:cNvSpPr>
            <a:spLocks xmlns:a="http://schemas.openxmlformats.org/drawingml/2006/main" noGrp="1"/>
          </p:cNvSpPr>
          <p:nvPr/>
        </p:nvSpPr>
        <p:spPr>
          <a:xfrm xmlns:a="http://schemas.openxmlformats.org/drawingml/2006/main">
            <a:off x="3381375" y="27717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Luo (2024)</a:t>
            </a:r>
          </a:p>
        </p:txBody>
      </p:sp>
      <p:sp>
        <p:nvSpPr>
          <p:cNvPr id="11" name="Straight Connector 10">
            <a:extLst xmlns:a="http://schemas.openxmlformats.org/drawingml/2006/main">
              <a:ext uri="{FF2B5EF4-FFF2-40B4-BE49-F238E27FC236}">
                <a16:creationId xmlns:a16="http://schemas.microsoft.com/office/drawing/2014/main" id="{5761F31C-D93A-40AB-90C1-0E0B034E275A}"/>
              </a:ext>
            </a:extLst>
          </p:cNvPr>
          <p:cNvSpPr>
            <a:spLocks xmlns:a="http://schemas.openxmlformats.org/drawingml/2006/main" noGrp="1"/>
          </p:cNvSpPr>
          <p:nvPr/>
        </p:nvSpPr>
        <p:spPr>
          <a:xfrm xmlns:a="http://schemas.openxmlformats.org/drawingml/2006/main">
            <a:off x="533400" y="3209925"/>
            <a:ext cx="80676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2" name="current-content-71">
            <a:extLst xmlns:a="http://schemas.openxmlformats.org/drawingml/2006/main">
              <a:ext uri="{FF2B5EF4-FFF2-40B4-BE49-F238E27FC236}">
                <a16:creationId xmlns:a16="http://schemas.microsoft.com/office/drawing/2014/main" id="{80E92504-DF02-47F3-8ABD-C0AED989344F}"/>
              </a:ext>
            </a:extLst>
          </p:cNvPr>
          <p:cNvSpPr>
            <a:spLocks xmlns:a="http://schemas.openxmlformats.org/drawingml/2006/main" noGrp="1"/>
          </p:cNvSpPr>
          <p:nvPr/>
        </p:nvSpPr>
        <p:spPr>
          <a:xfrm xmlns:a="http://schemas.openxmlformats.org/drawingml/2006/main">
            <a:off x="533400" y="33909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Security and acceptance</a:t>
            </a:r>
          </a:p>
        </p:txBody>
      </p:sp>
      <p:sp>
        <p:nvSpPr>
          <p:cNvPr id="13" name="current-content-72">
            <a:extLst xmlns:a="http://schemas.openxmlformats.org/drawingml/2006/main">
              <a:ext uri="{FF2B5EF4-FFF2-40B4-BE49-F238E27FC236}">
                <a16:creationId xmlns:a16="http://schemas.microsoft.com/office/drawing/2014/main" id="{09EE5884-491F-41AF-B44B-84178924E8D4}"/>
              </a:ext>
            </a:extLst>
          </p:cNvPr>
          <p:cNvSpPr>
            <a:spLocks xmlns:a="http://schemas.openxmlformats.org/drawingml/2006/main" noGrp="1"/>
          </p:cNvSpPr>
          <p:nvPr/>
        </p:nvSpPr>
        <p:spPr>
          <a:xfrm xmlns:a="http://schemas.openxmlformats.org/drawingml/2006/main">
            <a:off x="3381375" y="33909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Controlled access and organizational readiness</a:t>
            </a:r>
          </a:p>
        </p:txBody>
      </p:sp>
      <p:sp>
        <p:nvSpPr>
          <p:cNvPr id="14" name="current-content-73">
            <a:extLst xmlns:a="http://schemas.openxmlformats.org/drawingml/2006/main">
              <a:ext uri="{FF2B5EF4-FFF2-40B4-BE49-F238E27FC236}">
                <a16:creationId xmlns:a16="http://schemas.microsoft.com/office/drawing/2014/main" id="{D28F4FF1-39F0-43D3-B19D-972C214E5524}"/>
              </a:ext>
            </a:extLst>
          </p:cNvPr>
          <p:cNvSpPr>
            <a:spLocks xmlns:a="http://schemas.openxmlformats.org/drawingml/2006/main" noGrp="1"/>
          </p:cNvSpPr>
          <p:nvPr/>
        </p:nvSpPr>
        <p:spPr>
          <a:xfrm xmlns:a="http://schemas.openxmlformats.org/drawingml/2006/main">
            <a:off x="3381375" y="38004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Mohammad (2022); Nagahawatta et al. (2024); Rashid et al. (2024)</a:t>
            </a:r>
          </a:p>
        </p:txBody>
      </p:sp>
    </p:spTree>
    <p:extLst>
      <p:ext uri="{BB962C8B-B14F-4D97-AF65-F5344CB8AC3E}">
        <p14:creationId xmlns:p14="http://schemas.microsoft.com/office/powerpoint/2010/main" val="4840745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5" name="Picture 14">
            <a:extLst xmlns:a="http://schemas.openxmlformats.org/drawingml/2006/main">
              <a:ext uri="{FF2B5EF4-FFF2-40B4-BE49-F238E27FC236}">
                <a16:creationId xmlns:a16="http://schemas.microsoft.com/office/drawing/2014/main" id="{DC39BCC4-B4CE-4E4B-86FA-F8C40FBCA2FD}"/>
              </a:ext>
            </a:extLst>
          </p:cNvPr>
          <p:cNvPicPr>
            <a:picLocks xmlns:a="http://schemas.openxmlformats.org/drawingml/2006/main" noChangeAspect="1"/>
          </p:cNvPicPr>
          <p:nvPr/>
        </p:nvPicPr>
        <p:blipFill>
          <a:blip xmlns:r="http://schemas.openxmlformats.org/officeDocument/2006/relationships" xmlns:a="http://schemas.openxmlformats.org/drawingml/2006/main" r:embed="Rebe5233c1db9431a"/>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2">
            <a:extLst xmlns:a="http://schemas.openxmlformats.org/drawingml/2006/main">
              <a:ext uri="{FF2B5EF4-FFF2-40B4-BE49-F238E27FC236}">
                <a16:creationId xmlns:a16="http://schemas.microsoft.com/office/drawing/2014/main" id="{712932B3-7839-4831-93A3-9EFE638548F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Research methodology</a:t>
            </a:r>
          </a:p>
        </p:txBody>
      </p:sp>
      <p:sp>
        <p:nvSpPr>
          <p:cNvPr id="4" name="current-content-75">
            <a:extLst xmlns:a="http://schemas.openxmlformats.org/drawingml/2006/main">
              <a:ext uri="{FF2B5EF4-FFF2-40B4-BE49-F238E27FC236}">
                <a16:creationId xmlns:a16="http://schemas.microsoft.com/office/drawing/2014/main" id="{40ECE8E1-D718-41AB-B7DD-200B77673798}"/>
              </a:ext>
            </a:extLst>
          </p:cNvPr>
          <p:cNvSpPr>
            <a:spLocks xmlns:a="http://schemas.openxmlformats.org/drawingml/2006/main" noGrp="1"/>
          </p:cNvSpPr>
          <p:nvPr/>
        </p:nvSpPr>
        <p:spPr>
          <a:xfrm xmlns:a="http://schemas.openxmlformats.org/drawingml/2006/main">
            <a:off x="533400" y="12573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02C61"/>
                </a:solidFill>
                <a:latin typeface="Raleway"/>
                <a:ea typeface="Raleway"/>
                <a:cs typeface="Raleway"/>
              </a:defRPr>
            </a:defPPr>
            <a:lvl1pPr algn="l">
              <a:buNone/>
              <a:defRPr sz="2175" b="1">
                <a:solidFill>
                  <a:srgbClr val="202C61"/>
                </a:solidFill>
                <a:latin typeface="Raleway"/>
                <a:ea typeface="Raleway"/>
                <a:cs typeface="Raleway"/>
              </a:defRPr>
            </a:lvl1pPr>
            <a:lvl2pPr algn="l">
              <a:buNone/>
              <a:defRPr sz="2175" b="1">
                <a:solidFill>
                  <a:srgbClr val="202C61"/>
                </a:solidFill>
                <a:latin typeface="Raleway"/>
                <a:ea typeface="Raleway"/>
                <a:cs typeface="Raleway"/>
              </a:defRPr>
            </a:lvl2pPr>
            <a:lvl3pPr algn="l">
              <a:buNone/>
              <a:defRPr sz="2175" b="1">
                <a:solidFill>
                  <a:srgbClr val="202C61"/>
                </a:solidFill>
                <a:latin typeface="Raleway"/>
                <a:ea typeface="Raleway"/>
                <a:cs typeface="Raleway"/>
              </a:defRPr>
            </a:lvl3pPr>
            <a:lvl4pPr algn="l">
              <a:buNone/>
              <a:defRPr sz="2175" b="1">
                <a:solidFill>
                  <a:srgbClr val="202C61"/>
                </a:solidFill>
                <a:latin typeface="Raleway"/>
                <a:ea typeface="Raleway"/>
                <a:cs typeface="Raleway"/>
              </a:defRPr>
            </a:lvl4pPr>
            <a:lvl5pPr algn="l">
              <a:buNone/>
              <a:defRPr sz="2175" b="1">
                <a:solidFill>
                  <a:srgbClr val="202C61"/>
                </a:solidFill>
                <a:latin typeface="Raleway"/>
                <a:ea typeface="Raleway"/>
                <a:cs typeface="Raleway"/>
              </a:defRPr>
            </a:lvl5pPr>
            <a:lvl6pPr algn="l">
              <a:buNone/>
              <a:defRPr sz="2175" b="1">
                <a:solidFill>
                  <a:srgbClr val="202C61"/>
                </a:solidFill>
                <a:latin typeface="Raleway"/>
                <a:ea typeface="Raleway"/>
                <a:cs typeface="Raleway"/>
              </a:defRPr>
            </a:lvl6pPr>
            <a:lvl7pPr algn="l">
              <a:buNone/>
              <a:defRPr sz="2175" b="1">
                <a:solidFill>
                  <a:srgbClr val="202C61"/>
                </a:solidFill>
                <a:latin typeface="Raleway"/>
                <a:ea typeface="Raleway"/>
                <a:cs typeface="Raleway"/>
              </a:defRPr>
            </a:lvl7pPr>
            <a:lvl8pPr algn="l">
              <a:buNone/>
              <a:defRPr sz="2175" b="1">
                <a:solidFill>
                  <a:srgbClr val="202C61"/>
                </a:solidFill>
                <a:latin typeface="Raleway"/>
                <a:ea typeface="Raleway"/>
                <a:cs typeface="Raleway"/>
              </a:defRPr>
            </a:lvl8pPr>
            <a:lvl9pPr algn="l">
              <a:buNone/>
              <a:defRPr sz="2175" b="1">
                <a:solidFill>
                  <a:srgbClr val="202C61"/>
                </a:solidFill>
                <a:latin typeface="Raleway"/>
                <a:ea typeface="Raleway"/>
                <a:cs typeface="Raleway"/>
              </a:defRPr>
            </a:lvl9pPr>
          </a:lstStyle>
          <a:p xmlns:a="http://schemas.openxmlformats.org/drawingml/2006/main">
            <a:pPr algn="l">
              <a:buNone/>
              <a:defRPr sz="2175" b="1">
                <a:solidFill>
                  <a:srgbClr val="202C61"/>
                </a:solidFill>
                <a:latin typeface="Raleway"/>
                <a:ea typeface="Raleway"/>
                <a:cs typeface="Raleway"/>
              </a:defRPr>
            </a:pPr>
            <a:r>
              <a:rPr sz="2175" b="1">
                <a:solidFill>
                  <a:srgbClr val="202C61"/>
                </a:solidFill>
                <a:latin typeface="Raleway"/>
                <a:ea typeface="Raleway"/>
                <a:cs typeface="Raleway"/>
              </a:rPr>
              <a:t>Exploratory sequential mixed methods</a:t>
            </a:r>
          </a:p>
        </p:txBody>
      </p:sp>
      <p:sp>
        <p:nvSpPr>
          <p:cNvPr id="5" name="current-content-76">
            <a:extLst xmlns:a="http://schemas.openxmlformats.org/drawingml/2006/main">
              <a:ext uri="{FF2B5EF4-FFF2-40B4-BE49-F238E27FC236}">
                <a16:creationId xmlns:a16="http://schemas.microsoft.com/office/drawing/2014/main" id="{2C0EAEF8-F915-4963-B8EC-733025631FDD}"/>
              </a:ext>
            </a:extLst>
          </p:cNvPr>
          <p:cNvSpPr>
            <a:spLocks xmlns:a="http://schemas.openxmlformats.org/drawingml/2006/main" noGrp="1"/>
          </p:cNvSpPr>
          <p:nvPr/>
        </p:nvSpPr>
        <p:spPr>
          <a:xfrm xmlns:a="http://schemas.openxmlformats.org/drawingml/2006/main">
            <a:off x="533400" y="194310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RQ1</a:t>
            </a:r>
          </a:p>
        </p:txBody>
      </p:sp>
      <p:sp>
        <p:nvSpPr>
          <p:cNvPr id="6" name="current-content-77">
            <a:extLst xmlns:a="http://schemas.openxmlformats.org/drawingml/2006/main">
              <a:ext uri="{FF2B5EF4-FFF2-40B4-BE49-F238E27FC236}">
                <a16:creationId xmlns:a16="http://schemas.microsoft.com/office/drawing/2014/main" id="{8853BA7B-6969-4FEE-B33A-D189FD749060}"/>
              </a:ext>
            </a:extLst>
          </p:cNvPr>
          <p:cNvSpPr>
            <a:spLocks xmlns:a="http://schemas.openxmlformats.org/drawingml/2006/main" noGrp="1"/>
          </p:cNvSpPr>
          <p:nvPr/>
        </p:nvSpPr>
        <p:spPr>
          <a:xfrm xmlns:a="http://schemas.openxmlformats.org/drawingml/2006/main">
            <a:off x="1714500" y="19431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Interviews + baseline questionnaire</a:t>
            </a:r>
          </a:p>
        </p:txBody>
      </p:sp>
      <p:sp>
        <p:nvSpPr>
          <p:cNvPr id="7" name="current-content-78">
            <a:extLst xmlns:a="http://schemas.openxmlformats.org/drawingml/2006/main">
              <a:ext uri="{FF2B5EF4-FFF2-40B4-BE49-F238E27FC236}">
                <a16:creationId xmlns:a16="http://schemas.microsoft.com/office/drawing/2014/main" id="{1B961E9B-1CAE-4178-BF4C-B3ED1B81BE22}"/>
              </a:ext>
            </a:extLst>
          </p:cNvPr>
          <p:cNvSpPr>
            <a:spLocks xmlns:a="http://schemas.openxmlformats.org/drawingml/2006/main" noGrp="1"/>
          </p:cNvSpPr>
          <p:nvPr/>
        </p:nvSpPr>
        <p:spPr>
          <a:xfrm xmlns:a="http://schemas.openxmlformats.org/drawingml/2006/main">
            <a:off x="1714500" y="227647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Operational bottlenecks</a:t>
            </a:r>
          </a:p>
        </p:txBody>
      </p:sp>
      <p:sp>
        <p:nvSpPr>
          <p:cNvPr id="8" name="current-content-79">
            <a:extLst xmlns:a="http://schemas.openxmlformats.org/drawingml/2006/main">
              <a:ext uri="{FF2B5EF4-FFF2-40B4-BE49-F238E27FC236}">
                <a16:creationId xmlns:a16="http://schemas.microsoft.com/office/drawing/2014/main" id="{BE147152-70D2-4FDA-80EA-816680E06295}"/>
              </a:ext>
            </a:extLst>
          </p:cNvPr>
          <p:cNvSpPr>
            <a:spLocks xmlns:a="http://schemas.openxmlformats.org/drawingml/2006/main" noGrp="1"/>
          </p:cNvSpPr>
          <p:nvPr/>
        </p:nvSpPr>
        <p:spPr>
          <a:xfrm xmlns:a="http://schemas.openxmlformats.org/drawingml/2006/main">
            <a:off x="533400" y="2676525"/>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RQ2</a:t>
            </a:r>
          </a:p>
        </p:txBody>
      </p:sp>
      <p:sp>
        <p:nvSpPr>
          <p:cNvPr id="9" name="current-content-80">
            <a:extLst xmlns:a="http://schemas.openxmlformats.org/drawingml/2006/main">
              <a:ext uri="{FF2B5EF4-FFF2-40B4-BE49-F238E27FC236}">
                <a16:creationId xmlns:a16="http://schemas.microsoft.com/office/drawing/2014/main" id="{A8328037-BBEA-4CCF-B6E7-6CDB70995102}"/>
              </a:ext>
            </a:extLst>
          </p:cNvPr>
          <p:cNvSpPr>
            <a:spLocks xmlns:a="http://schemas.openxmlformats.org/drawingml/2006/main" noGrp="1"/>
          </p:cNvSpPr>
          <p:nvPr/>
        </p:nvSpPr>
        <p:spPr>
          <a:xfrm xmlns:a="http://schemas.openxmlformats.org/drawingml/2006/main">
            <a:off x="1714500" y="2676525"/>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Quantitative technical validation</a:t>
            </a:r>
          </a:p>
        </p:txBody>
      </p:sp>
      <p:sp>
        <p:nvSpPr>
          <p:cNvPr id="10" name="current-content-81">
            <a:extLst xmlns:a="http://schemas.openxmlformats.org/drawingml/2006/main">
              <a:ext uri="{FF2B5EF4-FFF2-40B4-BE49-F238E27FC236}">
                <a16:creationId xmlns:a16="http://schemas.microsoft.com/office/drawing/2014/main" id="{B24E9405-3735-4322-868A-410846AFF132}"/>
              </a:ext>
            </a:extLst>
          </p:cNvPr>
          <p:cNvSpPr>
            <a:spLocks xmlns:a="http://schemas.openxmlformats.org/drawingml/2006/main" noGrp="1"/>
          </p:cNvSpPr>
          <p:nvPr/>
        </p:nvSpPr>
        <p:spPr>
          <a:xfrm xmlns:a="http://schemas.openxmlformats.org/drawingml/2006/main">
            <a:off x="1714500" y="3009900"/>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Framework and security</a:t>
            </a:r>
          </a:p>
        </p:txBody>
      </p:sp>
      <p:sp>
        <p:nvSpPr>
          <p:cNvPr id="11" name="current-content-82">
            <a:extLst xmlns:a="http://schemas.openxmlformats.org/drawingml/2006/main">
              <a:ext uri="{FF2B5EF4-FFF2-40B4-BE49-F238E27FC236}">
                <a16:creationId xmlns:a16="http://schemas.microsoft.com/office/drawing/2014/main" id="{A381FB6E-D5FA-41B6-9C93-91FC219C5376}"/>
              </a:ext>
            </a:extLst>
          </p:cNvPr>
          <p:cNvSpPr>
            <a:spLocks xmlns:a="http://schemas.openxmlformats.org/drawingml/2006/main" noGrp="1"/>
          </p:cNvSpPr>
          <p:nvPr/>
        </p:nvSpPr>
        <p:spPr>
          <a:xfrm xmlns:a="http://schemas.openxmlformats.org/drawingml/2006/main">
            <a:off x="533400" y="340995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RQ3</a:t>
            </a:r>
          </a:p>
        </p:txBody>
      </p:sp>
      <p:sp>
        <p:nvSpPr>
          <p:cNvPr id="12" name="current-content-83">
            <a:extLst xmlns:a="http://schemas.openxmlformats.org/drawingml/2006/main">
              <a:ext uri="{FF2B5EF4-FFF2-40B4-BE49-F238E27FC236}">
                <a16:creationId xmlns:a16="http://schemas.microsoft.com/office/drawing/2014/main" id="{3325EB68-FDFB-4D77-9BD6-6B3F9761EA6B}"/>
              </a:ext>
            </a:extLst>
          </p:cNvPr>
          <p:cNvSpPr>
            <a:spLocks xmlns:a="http://schemas.openxmlformats.org/drawingml/2006/main" noGrp="1"/>
          </p:cNvSpPr>
          <p:nvPr/>
        </p:nvSpPr>
        <p:spPr>
          <a:xfrm xmlns:a="http://schemas.openxmlformats.org/drawingml/2006/main">
            <a:off x="1714500" y="340995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Quantitative acceptability survey</a:t>
            </a:r>
          </a:p>
        </p:txBody>
      </p:sp>
      <p:sp>
        <p:nvSpPr>
          <p:cNvPr id="13" name="current-content-84">
            <a:extLst xmlns:a="http://schemas.openxmlformats.org/drawingml/2006/main">
              <a:ext uri="{FF2B5EF4-FFF2-40B4-BE49-F238E27FC236}">
                <a16:creationId xmlns:a16="http://schemas.microsoft.com/office/drawing/2014/main" id="{43FBED74-FF57-4D54-8F92-5F603233104A}"/>
              </a:ext>
            </a:extLst>
          </p:cNvPr>
          <p:cNvSpPr>
            <a:spLocks xmlns:a="http://schemas.openxmlformats.org/drawingml/2006/main" noGrp="1"/>
          </p:cNvSpPr>
          <p:nvPr/>
        </p:nvSpPr>
        <p:spPr>
          <a:xfrm xmlns:a="http://schemas.openxmlformats.org/drawingml/2006/main">
            <a:off x="1714500" y="374332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After prototype interaction</a:t>
            </a:r>
          </a:p>
        </p:txBody>
      </p:sp>
      <p:sp>
        <p:nvSpPr>
          <p:cNvPr id="14" name="current-content-85">
            <a:extLst xmlns:a="http://schemas.openxmlformats.org/drawingml/2006/main">
              <a:ext uri="{FF2B5EF4-FFF2-40B4-BE49-F238E27FC236}">
                <a16:creationId xmlns:a16="http://schemas.microsoft.com/office/drawing/2014/main" id="{A63CC66C-5DC1-4ED8-A43A-8AE9C649792D}"/>
              </a:ext>
            </a:extLst>
          </p:cNvPr>
          <p:cNvSpPr>
            <a:spLocks xmlns:a="http://schemas.openxmlformats.org/drawingml/2006/main" noGrp="1"/>
          </p:cNvSpPr>
          <p:nvPr/>
        </p:nvSpPr>
        <p:spPr>
          <a:xfrm xmlns:a="http://schemas.openxmlformats.org/drawingml/2006/main">
            <a:off x="533400" y="4162425"/>
            <a:ext cx="805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Sampling: criterion-based purposive, with maximum variation</a:t>
            </a:r>
          </a:p>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Development methodology: Agile Scrum</a:t>
            </a:r>
          </a:p>
        </p:txBody>
      </p:sp>
    </p:spTree>
    <p:extLst>
      <p:ext uri="{BB962C8B-B14F-4D97-AF65-F5344CB8AC3E}">
        <p14:creationId xmlns:p14="http://schemas.microsoft.com/office/powerpoint/2010/main" val="118260188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65AA22FA-00C6-4834-A2C8-60510B10140D}"/>
              </a:ext>
            </a:extLst>
          </p:cNvPr>
          <p:cNvPicPr>
            <a:picLocks xmlns:a="http://schemas.openxmlformats.org/drawingml/2006/main" noChangeAspect="1"/>
          </p:cNvPicPr>
          <p:nvPr/>
        </p:nvPicPr>
        <p:blipFill>
          <a:blip xmlns:r="http://schemas.openxmlformats.org/officeDocument/2006/relationships" xmlns:a="http://schemas.openxmlformats.org/drawingml/2006/main" r:embed="R85cadb1f729e447c"/>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5AA54BD-4634-4192-A466-6C211E2A4CDB}"/>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C5BC0CE3-5434-4191-8046-B6BEFB2FB090}"/>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202C61"/>
                </a:solidFill>
                <a:latin typeface="Arial"/>
                <a:ea typeface="Arial"/>
                <a:cs typeface="Arial"/>
              </a:defRPr>
            </a:defPPr>
            <a:lvl1pPr algn="l">
              <a:buNone/>
              <a:defRPr sz="1725" b="1">
                <a:solidFill>
                  <a:srgbClr val="202C61"/>
                </a:solidFill>
                <a:latin typeface="Arial"/>
                <a:ea typeface="Arial"/>
                <a:cs typeface="Arial"/>
              </a:defRPr>
            </a:lvl1pPr>
            <a:lvl2pPr algn="l">
              <a:buNone/>
              <a:defRPr sz="1725" b="1">
                <a:solidFill>
                  <a:srgbClr val="202C61"/>
                </a:solidFill>
                <a:latin typeface="Arial"/>
                <a:ea typeface="Arial"/>
                <a:cs typeface="Arial"/>
              </a:defRPr>
            </a:lvl2pPr>
            <a:lvl3pPr algn="l">
              <a:buNone/>
              <a:defRPr sz="1725" b="1">
                <a:solidFill>
                  <a:srgbClr val="202C61"/>
                </a:solidFill>
                <a:latin typeface="Arial"/>
                <a:ea typeface="Arial"/>
                <a:cs typeface="Arial"/>
              </a:defRPr>
            </a:lvl3pPr>
            <a:lvl4pPr algn="l">
              <a:buNone/>
              <a:defRPr sz="1725" b="1">
                <a:solidFill>
                  <a:srgbClr val="202C61"/>
                </a:solidFill>
                <a:latin typeface="Arial"/>
                <a:ea typeface="Arial"/>
                <a:cs typeface="Arial"/>
              </a:defRPr>
            </a:lvl4pPr>
            <a:lvl5pPr algn="l">
              <a:buNone/>
              <a:defRPr sz="1725" b="1">
                <a:solidFill>
                  <a:srgbClr val="202C61"/>
                </a:solidFill>
                <a:latin typeface="Arial"/>
                <a:ea typeface="Arial"/>
                <a:cs typeface="Arial"/>
              </a:defRPr>
            </a:lvl5pPr>
            <a:lvl6pPr algn="l">
              <a:buNone/>
              <a:defRPr sz="1725" b="1">
                <a:solidFill>
                  <a:srgbClr val="202C61"/>
                </a:solidFill>
                <a:latin typeface="Arial"/>
                <a:ea typeface="Arial"/>
                <a:cs typeface="Arial"/>
              </a:defRPr>
            </a:lvl6pPr>
            <a:lvl7pPr algn="l">
              <a:buNone/>
              <a:defRPr sz="1725" b="1">
                <a:solidFill>
                  <a:srgbClr val="202C61"/>
                </a:solidFill>
                <a:latin typeface="Arial"/>
                <a:ea typeface="Arial"/>
                <a:cs typeface="Arial"/>
              </a:defRPr>
            </a:lvl7pPr>
            <a:lvl8pPr algn="l">
              <a:buNone/>
              <a:defRPr sz="1725" b="1">
                <a:solidFill>
                  <a:srgbClr val="202C61"/>
                </a:solidFill>
                <a:latin typeface="Arial"/>
                <a:ea typeface="Arial"/>
                <a:cs typeface="Arial"/>
              </a:defRPr>
            </a:lvl8pPr>
            <a:lvl9pPr algn="l">
              <a:buNone/>
              <a:defRPr sz="1725" b="1">
                <a:solidFill>
                  <a:srgbClr val="202C61"/>
                </a:solidFill>
                <a:latin typeface="Arial"/>
                <a:ea typeface="Arial"/>
                <a:cs typeface="Arial"/>
              </a:defRPr>
            </a:lvl9pPr>
          </a:lstStyle>
          <a:p xmlns:a="http://schemas.openxmlformats.org/drawingml/2006/main">
            <a:pPr algn="l">
              <a:buNone/>
              <a:defRPr sz="1725" b="1">
                <a:solidFill>
                  <a:srgbClr val="202C61"/>
                </a:solidFill>
                <a:latin typeface="Arial"/>
                <a:ea typeface="Arial"/>
                <a:cs typeface="Arial"/>
              </a:defRPr>
            </a:pPr>
            <a:r>
              <a:rPr sz="1725" b="1">
                <a:solidFill>
                  <a:srgbClr val="202C61"/>
                </a:solidFill>
                <a:latin typeface="Arial"/>
                <a:ea typeface="Arial"/>
                <a:cs typeface="Arial"/>
              </a:rPr>
              <a:t>Participation and respondent profile</a:t>
            </a:r>
          </a:p>
        </p:txBody>
      </p:sp>
      <p:graphicFrame>
        <p:nvGraphicFramePr>
          <p:cNvPr id="4" name="">
            <a:extLst xmlns:a="http://schemas.openxmlformats.org/drawingml/2006/main">
              <a:ext uri="{FF2B5EF4-FFF2-40B4-BE49-F238E27FC236}">
                <a16:creationId xmlns:a16="http://schemas.microsoft.com/office/drawing/2014/main" id="{3C5A6CC7-70E8-4B1A-A697-1188144047B9}"/>
              </a:ext>
            </a:extLst>
          </p:cNvPr>
          <p:cNvGraphicFramePr/>
          <p:nvPr/>
        </p:nvGraphicFramePr>
        <p:xfrm>
          <a:off xmlns:a="http://schemas.openxmlformats.org/drawingml/2006/main" x="533400" y="1476375"/>
          <a:ext xmlns:a="http://schemas.openxmlformats.org/drawingml/2006/main" cx="8058150" cy="1104900"/>
        </p:xfrm>
        <a:graphic xmlns:a="http://schemas.openxmlformats.org/drawingml/2006/main">
          <a:graphicData uri="http://schemas.openxmlformats.org/drawingml/2006/table">
            <a:tbl>
              <a:tblPr/>
              <a:tblGrid>
                <a:gridCol w="3619500"/>
                <a:gridCol w="1428750"/>
                <a:gridCol w="1428750"/>
                <a:gridCol w="1581150"/>
              </a:tblGrid>
              <a:tr h="419100">
                <a:tc>
                  <a:txBody>
                    <a:bodyPr wrap="square" lIns="38100" tIns="38100" rIns="38100" bIns="38100"/>
                    <a:lstStyle/>
                    <a:p>
                      <a:pPr algn="ctr">
                        <a:buNone/>
                      </a:pPr>
                      <a:r>
                        <a:rPr sz="1500" b="1">
                          <a:solidFill>
                            <a:srgbClr val="171717"/>
                          </a:solidFill>
                          <a:latin typeface="Cambria"/>
                          <a:ea typeface="Cambria"/>
                          <a:cs typeface="Cambria"/>
                        </a:rPr>
                        <a:t>Data source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buNone/>
                      </a:pPr>
                      <a:r>
                        <a:rPr sz="1500" b="1">
                          <a:solidFill>
                            <a:srgbClr val="171717"/>
                          </a:solidFill>
                          <a:latin typeface="Cambria"/>
                          <a:ea typeface="Cambria"/>
                          <a:cs typeface="Cambria"/>
                        </a:rPr>
                        <a:t>Target</a:t>
                      </a:r>
                    </a:p>
                    <a:p>
                      <a:pPr algn="ctr">
                        <a:buNone/>
                      </a:pPr>
                      <a:r>
                        <a:rPr sz="1500" b="1">
                          <a:solidFill>
                            <a:srgbClr val="171717"/>
                          </a:solidFill>
                          <a:latin typeface="Cambria"/>
                          <a:ea typeface="Cambria"/>
                          <a:cs typeface="Cambria"/>
                        </a:rPr>
                        <a:t>participants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buNone/>
                      </a:pPr>
                      <a:r>
                        <a:rPr sz="1500" b="1">
                          <a:solidFill>
                            <a:srgbClr val="171717"/>
                          </a:solidFill>
                          <a:latin typeface="Cambria"/>
                          <a:ea typeface="Cambria"/>
                          <a:cs typeface="Cambria"/>
                        </a:rPr>
                        <a:t>Completed</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buNone/>
                      </a:pPr>
                      <a:r>
                        <a:rPr sz="1500" b="1">
                          <a:solidFill>
                            <a:srgbClr val="171717"/>
                          </a:solidFill>
                          <a:latin typeface="Cambria"/>
                          <a:ea typeface="Cambria"/>
                          <a:cs typeface="Cambria"/>
                        </a:rPr>
                        <a:t>Response rate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342900">
                <a:tc>
                  <a:txBody>
                    <a:bodyPr wrap="square" lIns="38100" tIns="38100" rIns="38100" bIns="38100"/>
                    <a:lstStyle/>
                    <a:p>
                      <a:pPr algn="l">
                        <a:buNone/>
                      </a:pPr>
                      <a:r>
                        <a:rPr sz="1500" b="0">
                          <a:solidFill>
                            <a:srgbClr val="171717"/>
                          </a:solidFill>
                          <a:latin typeface="Cambria"/>
                          <a:ea typeface="Cambria"/>
                          <a:cs typeface="Cambria"/>
                        </a:rPr>
                        <a:t>Pre-survey respondents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buNone/>
                      </a:pPr>
                      <a:r>
                        <a:rPr sz="1500" b="0">
                          <a:solidFill>
                            <a:srgbClr val="171717"/>
                          </a:solidFill>
                          <a:latin typeface="Cambria"/>
                          <a:ea typeface="Cambria"/>
                          <a:cs typeface="Cambria"/>
                        </a:rPr>
                        <a:t>18</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buNone/>
                      </a:pPr>
                      <a:r>
                        <a:rPr sz="1500" b="0">
                          <a:solidFill>
                            <a:srgbClr val="171717"/>
                          </a:solidFill>
                          <a:latin typeface="Cambria"/>
                          <a:ea typeface="Cambria"/>
                          <a:cs typeface="Cambria"/>
                        </a:rPr>
                        <a:t>18</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buNone/>
                      </a:pPr>
                      <a:r>
                        <a:rPr sz="1500" b="0">
                          <a:solidFill>
                            <a:srgbClr val="171717"/>
                          </a:solidFill>
                          <a:latin typeface="Cambria"/>
                          <a:ea typeface="Cambria"/>
                          <a:cs typeface="Cambria"/>
                        </a:rPr>
                        <a:t>100.0%</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42900">
                <a:tc>
                  <a:txBody>
                    <a:bodyPr wrap="square" lIns="38100" tIns="38100" rIns="38100" bIns="38100"/>
                    <a:lstStyle/>
                    <a:p>
                      <a:pPr algn="l">
                        <a:buNone/>
                      </a:pPr>
                      <a:r>
                        <a:rPr sz="1500" b="0">
                          <a:solidFill>
                            <a:srgbClr val="171717"/>
                          </a:solidFill>
                          <a:latin typeface="Cambria"/>
                          <a:ea typeface="Cambria"/>
                          <a:cs typeface="Cambria"/>
                        </a:rPr>
                        <a:t>Interview transcripts analyzed</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buNone/>
                      </a:pPr>
                      <a:r>
                        <a:rPr sz="1500" b="0">
                          <a:solidFill>
                            <a:srgbClr val="171717"/>
                          </a:solidFill>
                          <a:latin typeface="Cambria"/>
                          <a:ea typeface="Cambria"/>
                          <a:cs typeface="Cambria"/>
                        </a:rPr>
                        <a:t>5</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buNone/>
                      </a:pPr>
                      <a:r>
                        <a:rPr sz="1500" b="0">
                          <a:solidFill>
                            <a:srgbClr val="171717"/>
                          </a:solidFill>
                          <a:latin typeface="Cambria"/>
                          <a:ea typeface="Cambria"/>
                          <a:cs typeface="Cambria"/>
                        </a:rPr>
                        <a:t>5</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buNone/>
                      </a:pPr>
                      <a:r>
                        <a:rPr sz="1500" b="0">
                          <a:solidFill>
                            <a:srgbClr val="171717"/>
                          </a:solidFill>
                          <a:latin typeface="Cambria"/>
                          <a:ea typeface="Cambria"/>
                          <a:cs typeface="Cambria"/>
                        </a:rPr>
                        <a:t>100.0%</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7137C12E-5CD9-445B-8C22-3EEB0439AE43}"/>
              </a:ext>
            </a:extLst>
          </p:cNvPr>
          <p:cNvGraphicFramePr/>
          <p:nvPr/>
        </p:nvGraphicFramePr>
        <p:xfrm>
          <a:off xmlns:a="http://schemas.openxmlformats.org/drawingml/2006/main" x="438150" y="2714625"/>
          <a:ext xmlns:a="http://schemas.openxmlformats.org/drawingml/2006/main" cx="4000500" cy="1971675"/>
        </p:xfrm>
        <a:graphic xmlns:a="http://schemas.openxmlformats.org/drawingml/2006/main">
          <a:graphicData uri="http://schemas.openxmlformats.org/drawingml/2006/chart">
            <c:chart xmlns:r="http://schemas.openxmlformats.org/officeDocument/2006/relationships" xmlns:c="http://schemas.openxmlformats.org/drawingml/2006/chart" r:id="R184b431b75c342e2"/>
          </a:graphicData>
        </a:graphic>
      </p:graphicFrame>
      <p:graphicFrame>
        <p:nvGraphicFramePr>
          <p:cNvPr id="6" name="Chart">
            <a:extLst xmlns:a="http://schemas.openxmlformats.org/drawingml/2006/main">
              <a:ext uri="{FF2B5EF4-FFF2-40B4-BE49-F238E27FC236}">
                <a16:creationId xmlns:a16="http://schemas.microsoft.com/office/drawing/2014/main" id="{9F9AF430-A2C1-45CB-82F7-A5254EBF7264}"/>
              </a:ext>
            </a:extLst>
          </p:cNvPr>
          <p:cNvGraphicFramePr/>
          <p:nvPr/>
        </p:nvGraphicFramePr>
        <p:xfrm>
          <a:off xmlns:a="http://schemas.openxmlformats.org/drawingml/2006/main" x="4705350" y="2714625"/>
          <a:ext xmlns:a="http://schemas.openxmlformats.org/drawingml/2006/main" cx="4000500" cy="1971675"/>
        </p:xfrm>
        <a:graphic xmlns:a="http://schemas.openxmlformats.org/drawingml/2006/main">
          <a:graphicData uri="http://schemas.openxmlformats.org/drawingml/2006/chart">
            <c:chart xmlns:r="http://schemas.openxmlformats.org/officeDocument/2006/relationships" xmlns:c="http://schemas.openxmlformats.org/drawingml/2006/chart" r:id="Rd522dd55e0254f9d"/>
          </a:graphicData>
        </a:graphic>
      </p:graphicFrame>
    </p:spTree>
    <p:extLst>
      <p:ext uri="{BB962C8B-B14F-4D97-AF65-F5344CB8AC3E}">
        <p14:creationId xmlns:p14="http://schemas.microsoft.com/office/powerpoint/2010/main" val="63711643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BF7B063A-490D-418A-BEC5-D899406B1CB5}"/>
              </a:ext>
            </a:extLst>
          </p:cNvPr>
          <p:cNvPicPr>
            <a:picLocks xmlns:a="http://schemas.openxmlformats.org/drawingml/2006/main" noChangeAspect="1"/>
          </p:cNvPicPr>
          <p:nvPr/>
        </p:nvPicPr>
        <p:blipFill>
          <a:blip xmlns:r="http://schemas.openxmlformats.org/officeDocument/2006/relationships" xmlns:a="http://schemas.openxmlformats.org/drawingml/2006/main" r:embed="Ra6f3ad4ac1b94a5f"/>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CF5CFA0-4D03-4439-8A58-E1BD4F7711FF}"/>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graphicFrame>
        <p:nvGraphicFramePr>
          <p:cNvPr id="3" name="Chart">
            <a:extLst xmlns:a="http://schemas.openxmlformats.org/drawingml/2006/main">
              <a:ext uri="{FF2B5EF4-FFF2-40B4-BE49-F238E27FC236}">
                <a16:creationId xmlns:a16="http://schemas.microsoft.com/office/drawing/2014/main" id="{27705DC6-DA96-4683-B788-DC93A1DCE627}"/>
              </a:ext>
            </a:extLst>
          </p:cNvPr>
          <p:cNvGraphicFramePr/>
          <p:nvPr/>
        </p:nvGraphicFramePr>
        <p:xfrm>
          <a:off xmlns:a="http://schemas.openxmlformats.org/drawingml/2006/main" x="533400" y="1200150"/>
          <a:ext xmlns:a="http://schemas.openxmlformats.org/drawingml/2006/main" cx="8058150" cy="3190875"/>
        </p:xfrm>
        <a:graphic xmlns:a="http://schemas.openxmlformats.org/drawingml/2006/main">
          <a:graphicData uri="http://schemas.openxmlformats.org/drawingml/2006/chart">
            <c:chart xmlns:r="http://schemas.openxmlformats.org/officeDocument/2006/relationships" xmlns:c="http://schemas.openxmlformats.org/drawingml/2006/chart" r:id="R8d3cad0c0acd40b3"/>
          </a:graphicData>
        </a:graphic>
      </p:graphicFrame>
      <p:sp>
        <p:nvSpPr>
          <p:cNvPr id="4" name="">
            <a:extLst xmlns:a="http://schemas.openxmlformats.org/drawingml/2006/main">
              <a:ext uri="{FF2B5EF4-FFF2-40B4-BE49-F238E27FC236}">
                <a16:creationId xmlns:a16="http://schemas.microsoft.com/office/drawing/2014/main" id="{F2072755-39C9-4D33-A2A1-7A1DE2A81445}"/>
              </a:ext>
            </a:extLst>
          </p:cNvPr>
          <p:cNvSpPr>
            <a:spLocks xmlns:a="http://schemas.openxmlformats.org/drawingml/2006/main" noGrp="1"/>
          </p:cNvSpPr>
          <p:nvPr/>
        </p:nvSpPr>
        <p:spPr>
          <a:xfrm xmlns:a="http://schemas.openxmlformats.org/drawingml/2006/main">
            <a:off x="533400" y="4457700"/>
            <a:ext cx="805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18 respondents. Multiple answers allowed, so percentages do not total 100%.</a:t>
            </a:r>
          </a:p>
        </p:txBody>
      </p:sp>
    </p:spTree>
    <p:extLst>
      <p:ext uri="{BB962C8B-B14F-4D97-AF65-F5344CB8AC3E}">
        <p14:creationId xmlns:p14="http://schemas.microsoft.com/office/powerpoint/2010/main" val="145893979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EAC33D3B-D4F5-4A2E-80B1-AE02F4EE17F3}"/>
              </a:ext>
            </a:extLst>
          </p:cNvPr>
          <p:cNvPicPr>
            <a:picLocks xmlns:a="http://schemas.openxmlformats.org/drawingml/2006/main" noChangeAspect="1"/>
          </p:cNvPicPr>
          <p:nvPr/>
        </p:nvPicPr>
        <p:blipFill>
          <a:blip xmlns:r="http://schemas.openxmlformats.org/officeDocument/2006/relationships" xmlns:a="http://schemas.openxmlformats.org/drawingml/2006/main" r:embed="Rbb9eb4b37297443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4">
            <a:extLst xmlns:a="http://schemas.openxmlformats.org/drawingml/2006/main">
              <a:ext uri="{FF2B5EF4-FFF2-40B4-BE49-F238E27FC236}">
                <a16:creationId xmlns:a16="http://schemas.microsoft.com/office/drawing/2014/main" id="{441ECE80-56F7-4D66-99BC-5F9DE394A56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4" name="current-content-86">
            <a:extLst xmlns:a="http://schemas.openxmlformats.org/drawingml/2006/main">
              <a:ext uri="{FF2B5EF4-FFF2-40B4-BE49-F238E27FC236}">
                <a16:creationId xmlns:a16="http://schemas.microsoft.com/office/drawing/2014/main" id="{529A79C7-CD04-4570-93B5-67202D9F0911}"/>
              </a:ext>
            </a:extLst>
          </p:cNvPr>
          <p:cNvSpPr>
            <a:spLocks xmlns:a="http://schemas.openxmlformats.org/drawingml/2006/main" noGrp="1"/>
          </p:cNvSpPr>
          <p:nvPr/>
        </p:nvSpPr>
        <p:spPr>
          <a:xfrm xmlns:a="http://schemas.openxmlformats.org/drawingml/2006/main">
            <a:off x="533400" y="1238250"/>
            <a:ext cx="8058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C61"/>
                </a:solidFill>
                <a:latin typeface="Arial"/>
                <a:ea typeface="Arial"/>
                <a:cs typeface="Arial"/>
              </a:defRPr>
            </a:defPPr>
            <a:lvl1pPr algn="l">
              <a:buNone/>
              <a:defRPr sz="1650" b="1">
                <a:solidFill>
                  <a:srgbClr val="202C61"/>
                </a:solidFill>
                <a:latin typeface="Arial"/>
                <a:ea typeface="Arial"/>
                <a:cs typeface="Arial"/>
              </a:defRPr>
            </a:lvl1pPr>
            <a:lvl2pPr algn="l">
              <a:buNone/>
              <a:defRPr sz="1650" b="1">
                <a:solidFill>
                  <a:srgbClr val="202C61"/>
                </a:solidFill>
                <a:latin typeface="Arial"/>
                <a:ea typeface="Arial"/>
                <a:cs typeface="Arial"/>
              </a:defRPr>
            </a:lvl2pPr>
            <a:lvl3pPr algn="l">
              <a:buNone/>
              <a:defRPr sz="1650" b="1">
                <a:solidFill>
                  <a:srgbClr val="202C61"/>
                </a:solidFill>
                <a:latin typeface="Arial"/>
                <a:ea typeface="Arial"/>
                <a:cs typeface="Arial"/>
              </a:defRPr>
            </a:lvl3pPr>
            <a:lvl4pPr algn="l">
              <a:buNone/>
              <a:defRPr sz="1650" b="1">
                <a:solidFill>
                  <a:srgbClr val="202C61"/>
                </a:solidFill>
                <a:latin typeface="Arial"/>
                <a:ea typeface="Arial"/>
                <a:cs typeface="Arial"/>
              </a:defRPr>
            </a:lvl4pPr>
            <a:lvl5pPr algn="l">
              <a:buNone/>
              <a:defRPr sz="1650" b="1">
                <a:solidFill>
                  <a:srgbClr val="202C61"/>
                </a:solidFill>
                <a:latin typeface="Arial"/>
                <a:ea typeface="Arial"/>
                <a:cs typeface="Arial"/>
              </a:defRPr>
            </a:lvl5pPr>
            <a:lvl6pPr algn="l">
              <a:buNone/>
              <a:defRPr sz="1650" b="1">
                <a:solidFill>
                  <a:srgbClr val="202C61"/>
                </a:solidFill>
                <a:latin typeface="Arial"/>
                <a:ea typeface="Arial"/>
                <a:cs typeface="Arial"/>
              </a:defRPr>
            </a:lvl6pPr>
            <a:lvl7pPr algn="l">
              <a:buNone/>
              <a:defRPr sz="1650" b="1">
                <a:solidFill>
                  <a:srgbClr val="202C61"/>
                </a:solidFill>
                <a:latin typeface="Arial"/>
                <a:ea typeface="Arial"/>
                <a:cs typeface="Arial"/>
              </a:defRPr>
            </a:lvl7pPr>
            <a:lvl8pPr algn="l">
              <a:buNone/>
              <a:defRPr sz="1650" b="1">
                <a:solidFill>
                  <a:srgbClr val="202C61"/>
                </a:solidFill>
                <a:latin typeface="Arial"/>
                <a:ea typeface="Arial"/>
                <a:cs typeface="Arial"/>
              </a:defRPr>
            </a:lvl8pPr>
            <a:lvl9pPr algn="l">
              <a:buNone/>
              <a:defRPr sz="1650" b="1">
                <a:solidFill>
                  <a:srgbClr val="202C61"/>
                </a:solidFill>
                <a:latin typeface="Arial"/>
                <a:ea typeface="Arial"/>
                <a:cs typeface="Arial"/>
              </a:defRPr>
            </a:lvl9pPr>
          </a:lstStyle>
          <a:p xmlns:a="http://schemas.openxmlformats.org/drawingml/2006/main">
            <a:pPr algn="l">
              <a:buNone/>
              <a:defRPr sz="1650" b="1">
                <a:solidFill>
                  <a:srgbClr val="202C61"/>
                </a:solidFill>
                <a:latin typeface="Arial"/>
                <a:ea typeface="Arial"/>
                <a:cs typeface="Arial"/>
              </a:defRPr>
            </a:pPr>
            <a:r>
              <a:rPr sz="1650" b="1">
                <a:solidFill>
                  <a:srgbClr val="202C61"/>
                </a:solidFill>
                <a:latin typeface="Arial"/>
                <a:ea typeface="Arial"/>
                <a:cs typeface="Arial"/>
              </a:rPr>
              <a:t>Manuscript-reported baseline   •   18 pre-survey respondents</a:t>
            </a:r>
          </a:p>
        </p:txBody>
      </p:sp>
      <p:graphicFrame>
        <p:nvGraphicFramePr>
          <p:cNvPr id="5" name="Table 4">
            <a:extLst xmlns:a="http://schemas.openxmlformats.org/drawingml/2006/main">
              <a:ext uri="{FF2B5EF4-FFF2-40B4-BE49-F238E27FC236}">
                <a16:creationId xmlns:a16="http://schemas.microsoft.com/office/drawing/2014/main" id="{364FD0CD-3CBE-40BB-B00D-94C20D3B8A1F}"/>
              </a:ext>
            </a:extLst>
          </p:cNvPr>
          <p:cNvGraphicFramePr/>
          <p:nvPr/>
        </p:nvGraphicFramePr>
        <p:xfrm>
          <a:off xmlns:a="http://schemas.openxmlformats.org/drawingml/2006/main" x="533400" y="1714500"/>
          <a:ext xmlns:a="http://schemas.openxmlformats.org/drawingml/2006/main" cx="8058150" cy="2190750"/>
        </p:xfrm>
        <a:graphic xmlns:a="http://schemas.openxmlformats.org/drawingml/2006/main">
          <a:graphicData uri="http://schemas.openxmlformats.org/drawingml/2006/table">
            <a:tbl>
              <a:tblPr/>
              <a:tblGrid>
                <a:gridCol w="5391150"/>
                <a:gridCol w="1238250"/>
                <a:gridCol w="1428750"/>
              </a:tblGrid>
              <a:tr h="438150">
                <a:tc>
                  <a:txBody>
                    <a:bodyPr/>
                    <a:lstStyle/>
                    <a:p>
                      <a:r>
                        <a:rPr sz="1500" b="1">
                          <a:solidFill>
                            <a:srgbClr val="171717"/>
                          </a:solidFill>
                          <a:latin typeface="Arial"/>
                          <a:ea typeface="Arial"/>
                          <a:cs typeface="Arial"/>
                        </a:rPr>
                        <a:t>Baseline indicator</a:t>
                      </a:r>
                    </a:p>
                  </a:txBody>
                  <a:tcPr marL="91440" marR="91440" marT="45720" marB="45720" anchor="ctr">
                    <a:solidFill>
                      <a:srgbClr val="D9E2F3"/>
                    </a:solidFill>
                  </a:tcPr>
                </a:tc>
                <a:tc>
                  <a:txBody>
                    <a:bodyPr/>
                    <a:lstStyle/>
                    <a:p>
                      <a:r>
                        <a:rPr sz="1500" b="1">
                          <a:solidFill>
                            <a:srgbClr val="171717"/>
                          </a:solidFill>
                          <a:latin typeface="Arial"/>
                          <a:ea typeface="Arial"/>
                          <a:cs typeface="Arial"/>
                        </a:rPr>
                        <a:t>Count</a:t>
                      </a:r>
                    </a:p>
                  </a:txBody>
                  <a:tcPr marL="91440" marR="91440" marT="45720" marB="45720" anchor="ctr">
                    <a:solidFill>
                      <a:srgbClr val="D9E2F3"/>
                    </a:solidFill>
                  </a:tcPr>
                </a:tc>
                <a:tc>
                  <a:txBody>
                    <a:bodyPr/>
                    <a:lstStyle/>
                    <a:p>
                      <a:r>
                        <a:rPr sz="1500" b="1">
                          <a:solidFill>
                            <a:srgbClr val="171717"/>
                          </a:solidFill>
                          <a:latin typeface="Arial"/>
                          <a:ea typeface="Arial"/>
                          <a:cs typeface="Arial"/>
                        </a:rPr>
                        <a:t>Percent</a:t>
                      </a:r>
                    </a:p>
                  </a:txBody>
                  <a:tcPr marL="91440" marR="91440" marT="45720" marB="45720" anchor="ctr">
                    <a:solidFill>
                      <a:srgbClr val="D9E2F3"/>
                    </a:solidFill>
                  </a:tcPr>
                </a:tc>
              </a:tr>
              <a:tr h="438150">
                <a:tc>
                  <a:txBody>
                    <a:bodyPr/>
                    <a:lstStyle/>
                    <a:p>
                      <a:r>
                        <a:rPr sz="1500" b="0">
                          <a:solidFill>
                            <a:srgbClr val="171717"/>
                          </a:solidFill>
                          <a:latin typeface="Arial"/>
                          <a:ea typeface="Arial"/>
                          <a:cs typeface="Arial"/>
                        </a:rPr>
                        <a:t>Stock update takes 16+ minutes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13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72.2%</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3+ discrepancies in the past 30 days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12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66.7%</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Uncertain information delays decisions*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16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88.9%</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Records from different sources mismatch*</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18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100.0%</a:t>
                      </a:r>
                    </a:p>
                  </a:txBody>
                  <a:tcPr marL="91440" marR="91440" marT="45720" marB="45720" anchor="ctr">
                    <a:solidFill>
                      <a:srgbClr val="FFFFFF"/>
                    </a:solidFill>
                  </a:tcPr>
                </a:tc>
              </a:tr>
            </a:tbl>
          </a:graphicData>
        </a:graphic>
      </p:graphicFrame>
      <p:sp>
        <p:nvSpPr>
          <p:cNvPr id="6" name="current-content-87">
            <a:extLst xmlns:a="http://schemas.openxmlformats.org/drawingml/2006/main">
              <a:ext uri="{FF2B5EF4-FFF2-40B4-BE49-F238E27FC236}">
                <a16:creationId xmlns:a16="http://schemas.microsoft.com/office/drawing/2014/main" id="{65DD4DBA-8487-469C-AFA3-7003AE668AF5}"/>
              </a:ext>
            </a:extLst>
          </p:cNvPr>
          <p:cNvSpPr>
            <a:spLocks xmlns:a="http://schemas.openxmlformats.org/drawingml/2006/main" noGrp="1"/>
          </p:cNvSpPr>
          <p:nvPr/>
        </p:nvSpPr>
        <p:spPr>
          <a:xfrm xmlns:a="http://schemas.openxmlformats.org/drawingml/2006/main">
            <a:off x="533400" y="4019550"/>
            <a:ext cx="8058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 At least sometimes. Table 4.1. Baseline results, not Kodigo improvement rates.</a:t>
            </a:r>
          </a:p>
        </p:txBody>
      </p:sp>
      <p:sp>
        <p:nvSpPr>
          <p:cNvPr id="7" name="current-content-88">
            <a:extLst xmlns:a="http://schemas.openxmlformats.org/drawingml/2006/main">
              <a:ext uri="{FF2B5EF4-FFF2-40B4-BE49-F238E27FC236}">
                <a16:creationId xmlns:a16="http://schemas.microsoft.com/office/drawing/2014/main" id="{A81D34BB-C7A4-42C5-9099-F31C8DED9BD2}"/>
              </a:ext>
            </a:extLst>
          </p:cNvPr>
          <p:cNvSpPr>
            <a:spLocks xmlns:a="http://schemas.openxmlformats.org/drawingml/2006/main" noGrp="1"/>
          </p:cNvSpPr>
          <p:nvPr/>
        </p:nvSpPr>
        <p:spPr>
          <a:xfrm xmlns:a="http://schemas.openxmlformats.org/drawingml/2006/main">
            <a:off x="533400" y="437197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02C61"/>
                </a:solidFill>
                <a:latin typeface="Arial"/>
                <a:ea typeface="Arial"/>
                <a:cs typeface="Arial"/>
              </a:defRPr>
            </a:defPPr>
            <a:lvl1pPr algn="l">
              <a:buNone/>
              <a:defRPr sz="1500" b="0">
                <a:solidFill>
                  <a:srgbClr val="202C61"/>
                </a:solidFill>
                <a:latin typeface="Arial"/>
                <a:ea typeface="Arial"/>
                <a:cs typeface="Arial"/>
              </a:defRPr>
            </a:lvl1pPr>
            <a:lvl2pPr algn="l">
              <a:buNone/>
              <a:defRPr sz="1500" b="0">
                <a:solidFill>
                  <a:srgbClr val="202C61"/>
                </a:solidFill>
                <a:latin typeface="Arial"/>
                <a:ea typeface="Arial"/>
                <a:cs typeface="Arial"/>
              </a:defRPr>
            </a:lvl2pPr>
            <a:lvl3pPr algn="l">
              <a:buNone/>
              <a:defRPr sz="1500" b="0">
                <a:solidFill>
                  <a:srgbClr val="202C61"/>
                </a:solidFill>
                <a:latin typeface="Arial"/>
                <a:ea typeface="Arial"/>
                <a:cs typeface="Arial"/>
              </a:defRPr>
            </a:lvl3pPr>
            <a:lvl4pPr algn="l">
              <a:buNone/>
              <a:defRPr sz="1500" b="0">
                <a:solidFill>
                  <a:srgbClr val="202C61"/>
                </a:solidFill>
                <a:latin typeface="Arial"/>
                <a:ea typeface="Arial"/>
                <a:cs typeface="Arial"/>
              </a:defRPr>
            </a:lvl4pPr>
            <a:lvl5pPr algn="l">
              <a:buNone/>
              <a:defRPr sz="1500" b="0">
                <a:solidFill>
                  <a:srgbClr val="202C61"/>
                </a:solidFill>
                <a:latin typeface="Arial"/>
                <a:ea typeface="Arial"/>
                <a:cs typeface="Arial"/>
              </a:defRPr>
            </a:lvl5pPr>
            <a:lvl6pPr algn="l">
              <a:buNone/>
              <a:defRPr sz="1500" b="0">
                <a:solidFill>
                  <a:srgbClr val="202C61"/>
                </a:solidFill>
                <a:latin typeface="Arial"/>
                <a:ea typeface="Arial"/>
                <a:cs typeface="Arial"/>
              </a:defRPr>
            </a:lvl6pPr>
            <a:lvl7pPr algn="l">
              <a:buNone/>
              <a:defRPr sz="1500" b="0">
                <a:solidFill>
                  <a:srgbClr val="202C61"/>
                </a:solidFill>
                <a:latin typeface="Arial"/>
                <a:ea typeface="Arial"/>
                <a:cs typeface="Arial"/>
              </a:defRPr>
            </a:lvl7pPr>
            <a:lvl8pPr algn="l">
              <a:buNone/>
              <a:defRPr sz="1500" b="0">
                <a:solidFill>
                  <a:srgbClr val="202C61"/>
                </a:solidFill>
                <a:latin typeface="Arial"/>
                <a:ea typeface="Arial"/>
                <a:cs typeface="Arial"/>
              </a:defRPr>
            </a:lvl8pPr>
            <a:lvl9pPr algn="l">
              <a:buNone/>
              <a:defRPr sz="1500" b="0">
                <a:solidFill>
                  <a:srgbClr val="202C61"/>
                </a:solidFill>
                <a:latin typeface="Arial"/>
                <a:ea typeface="Arial"/>
                <a:cs typeface="Arial"/>
              </a:defRPr>
            </a:lvl9pPr>
          </a:lstStyle>
          <a:p xmlns:a="http://schemas.openxmlformats.org/drawingml/2006/main">
            <a:pPr algn="l">
              <a:buNone/>
              <a:defRPr sz="1500" b="0">
                <a:solidFill>
                  <a:srgbClr val="202C61"/>
                </a:solidFill>
                <a:latin typeface="Arial"/>
                <a:ea typeface="Arial"/>
                <a:cs typeface="Arial"/>
              </a:defRPr>
            </a:pPr>
            <a:r>
              <a:rPr sz="1500" b="0">
                <a:solidFill>
                  <a:srgbClr val="202C61"/>
                </a:solidFill>
                <a:latin typeface="Arial"/>
                <a:ea typeface="Arial"/>
                <a:cs typeface="Arial"/>
              </a:rPr>
              <a:t>Interview themes: fragmented records, delayed visibility, repeated correction</a:t>
            </a:r>
          </a:p>
        </p:txBody>
      </p:sp>
    </p:spTree>
    <p:extLst>
      <p:ext uri="{BB962C8B-B14F-4D97-AF65-F5344CB8AC3E}">
        <p14:creationId xmlns:p14="http://schemas.microsoft.com/office/powerpoint/2010/main" val="89822799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E4D555-4F70-4DA5-AFEE-B43B1C1B0494}"/>
              </a:ext>
            </a:extLst>
          </p:cNvPr>
          <p:cNvPicPr>
            <a:picLocks xmlns:a="http://schemas.openxmlformats.org/drawingml/2006/main" noChangeAspect="1"/>
          </p:cNvPicPr>
          <p:nvPr/>
        </p:nvPicPr>
        <p:blipFill>
          <a:blip xmlns:r="http://schemas.openxmlformats.org/officeDocument/2006/relationships" xmlns:a="http://schemas.openxmlformats.org/drawingml/2006/main" r:embed="R512362249d7a49cc"/>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C65AE82-6E9C-4496-B058-9ADA5B2C769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47EF0F42-D3DC-4010-BC19-F23026741D34}"/>
              </a:ext>
            </a:extLst>
          </p:cNvPr>
          <p:cNvSpPr>
            <a:spLocks xmlns:a="http://schemas.openxmlformats.org/drawingml/2006/main" noGrp="1"/>
          </p:cNvSpPr>
          <p:nvPr/>
        </p:nvSpPr>
        <p:spPr>
          <a:xfrm xmlns:a="http://schemas.openxmlformats.org/drawingml/2006/main">
            <a:off x="2838450" y="4724400"/>
            <a:ext cx="575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buNone/>
              <a:defRPr sz="1125" b="0">
                <a:solidFill>
                  <a:srgbClr val="595959"/>
                </a:solidFill>
                <a:latin typeface="Arial"/>
                <a:ea typeface="Arial"/>
                <a:cs typeface="Arial"/>
              </a:defRPr>
            </a:lvl1pPr>
            <a:lvl2pPr algn="l">
              <a:buNone/>
              <a:defRPr sz="1125" b="0">
                <a:solidFill>
                  <a:srgbClr val="595959"/>
                </a:solidFill>
                <a:latin typeface="Arial"/>
                <a:ea typeface="Arial"/>
                <a:cs typeface="Arial"/>
              </a:defRPr>
            </a:lvl2pPr>
            <a:lvl3pPr algn="l">
              <a:buNone/>
              <a:defRPr sz="1125" b="0">
                <a:solidFill>
                  <a:srgbClr val="595959"/>
                </a:solidFill>
                <a:latin typeface="Arial"/>
                <a:ea typeface="Arial"/>
                <a:cs typeface="Arial"/>
              </a:defRPr>
            </a:lvl3pPr>
            <a:lvl4pPr algn="l">
              <a:buNone/>
              <a:defRPr sz="1125" b="0">
                <a:solidFill>
                  <a:srgbClr val="595959"/>
                </a:solidFill>
                <a:latin typeface="Arial"/>
                <a:ea typeface="Arial"/>
                <a:cs typeface="Arial"/>
              </a:defRPr>
            </a:lvl4pPr>
            <a:lvl5pPr algn="l">
              <a:buNone/>
              <a:defRPr sz="1125" b="0">
                <a:solidFill>
                  <a:srgbClr val="595959"/>
                </a:solidFill>
                <a:latin typeface="Arial"/>
                <a:ea typeface="Arial"/>
                <a:cs typeface="Arial"/>
              </a:defRPr>
            </a:lvl5pPr>
            <a:lvl6pPr algn="l">
              <a:buNone/>
              <a:defRPr sz="1125" b="0">
                <a:solidFill>
                  <a:srgbClr val="595959"/>
                </a:solidFill>
                <a:latin typeface="Arial"/>
                <a:ea typeface="Arial"/>
                <a:cs typeface="Arial"/>
              </a:defRPr>
            </a:lvl6pPr>
            <a:lvl7pPr algn="l">
              <a:buNone/>
              <a:defRPr sz="1125" b="0">
                <a:solidFill>
                  <a:srgbClr val="595959"/>
                </a:solidFill>
                <a:latin typeface="Arial"/>
                <a:ea typeface="Arial"/>
                <a:cs typeface="Arial"/>
              </a:defRPr>
            </a:lvl7pPr>
            <a:lvl8pPr algn="l">
              <a:buNone/>
              <a:defRPr sz="1125" b="0">
                <a:solidFill>
                  <a:srgbClr val="595959"/>
                </a:solidFill>
                <a:latin typeface="Arial"/>
                <a:ea typeface="Arial"/>
                <a:cs typeface="Arial"/>
              </a:defRPr>
            </a:lvl8pPr>
            <a:lvl9pPr algn="l">
              <a:buNone/>
              <a:defRPr sz="1125" b="0">
                <a:solidFill>
                  <a:srgbClr val="595959"/>
                </a:solidFill>
                <a:latin typeface="Arial"/>
                <a:ea typeface="Arial"/>
                <a:cs typeface="Arial"/>
              </a:defRPr>
            </a:lvl9pPr>
          </a:lstStyle>
          <a:p xmlns:a="http://schemas.openxmlformats.org/drawingml/2006/main">
            <a:pPr algn="l">
              <a:buNone/>
              <a:defRPr sz="1125" b="0">
                <a:solidFill>
                  <a:srgbClr val="595959"/>
                </a:solidFill>
                <a:latin typeface="Arial"/>
                <a:ea typeface="Arial"/>
                <a:cs typeface="Arial"/>
              </a:defRPr>
            </a:pPr>
            <a:r>
              <a:rPr sz="1125" b="0">
                <a:solidFill>
                  <a:srgbClr val="595959"/>
                </a:solidFill>
                <a:latin typeface="Arial"/>
                <a:ea typeface="Arial"/>
                <a:cs typeface="Arial"/>
              </a:rPr>
              <a:t>Interview themes  1 / 2</a:t>
            </a:r>
          </a:p>
        </p:txBody>
      </p:sp>
      <p:graphicFrame>
        <p:nvGraphicFramePr>
          <p:cNvPr id="4" name="">
            <a:extLst xmlns:a="http://schemas.openxmlformats.org/drawingml/2006/main">
              <a:ext uri="{FF2B5EF4-FFF2-40B4-BE49-F238E27FC236}">
                <a16:creationId xmlns:a16="http://schemas.microsoft.com/office/drawing/2014/main" id="{65A8C7D3-2BB3-43BB-AD4F-6A8B9AE46472}"/>
              </a:ext>
            </a:extLst>
          </p:cNvPr>
          <p:cNvGraphicFramePr/>
          <p:nvPr/>
        </p:nvGraphicFramePr>
        <p:xfrm>
          <a:off xmlns:a="http://schemas.openxmlformats.org/drawingml/2006/main" x="533400" y="1238250"/>
          <a:ext xmlns:a="http://schemas.openxmlformats.org/drawingml/2006/main" cx="8058150" cy="3352800"/>
        </p:xfrm>
        <a:graphic xmlns:a="http://schemas.openxmlformats.org/drawingml/2006/main">
          <a:graphicData uri="http://schemas.openxmlformats.org/drawingml/2006/table">
            <a:tbl>
              <a:tblPr/>
              <a:tblGrid>
                <a:gridCol w="1857375"/>
                <a:gridCol w="1905000"/>
                <a:gridCol w="2381250"/>
                <a:gridCol w="1914525"/>
              </a:tblGrid>
              <a:tr h="495300">
                <a:tc>
                  <a:txBody>
                    <a:bodyPr wrap="square" lIns="38100" tIns="38100" rIns="38100" bIns="38100"/>
                    <a:lstStyle/>
                    <a:p>
                      <a:pPr algn="ctr">
                        <a:buNone/>
                      </a:pPr>
                      <a:r>
                        <a:rPr sz="1200" b="1">
                          <a:solidFill>
                            <a:srgbClr val="171717"/>
                          </a:solidFill>
                          <a:latin typeface="Cambria"/>
                          <a:ea typeface="Cambria"/>
                          <a:cs typeface="Cambria"/>
                        </a:rPr>
                        <a:t>Theme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buNone/>
                      </a:pPr>
                      <a:r>
                        <a:rPr sz="1200" b="1">
                          <a:solidFill>
                            <a:srgbClr val="171717"/>
                          </a:solidFill>
                          <a:latin typeface="Cambria"/>
                          <a:ea typeface="Cambria"/>
                          <a:cs typeface="Cambria"/>
                        </a:rPr>
                        <a:t>Core sub-themes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buNone/>
                      </a:pPr>
                      <a:r>
                        <a:rPr sz="1200" b="1">
                          <a:solidFill>
                            <a:srgbClr val="171717"/>
                          </a:solidFill>
                          <a:latin typeface="Cambria"/>
                          <a:ea typeface="Cambria"/>
                          <a:cs typeface="Cambria"/>
                        </a:rPr>
                        <a:t>Illustrative quote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buNone/>
                      </a:pPr>
                      <a:r>
                        <a:rPr sz="1200" b="1">
                          <a:solidFill>
                            <a:srgbClr val="171717"/>
                          </a:solidFill>
                          <a:latin typeface="Cambria"/>
                          <a:ea typeface="Cambria"/>
                          <a:cs typeface="Cambria"/>
                        </a:rPr>
                        <a:t>Meaning for operations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952500">
                <a:tc>
                  <a:txBody>
                    <a:bodyPr wrap="square" lIns="38100" tIns="38100" rIns="38100" bIns="38100"/>
                    <a:lstStyle/>
                    <a:p>
                      <a:pPr algn="l">
                        <a:buNone/>
                      </a:pPr>
                      <a:r>
                        <a:rPr sz="1200" b="0">
                          <a:solidFill>
                            <a:srgbClr val="171717"/>
                          </a:solidFill>
                          <a:latin typeface="Cambria"/>
                          <a:ea typeface="Cambria"/>
                          <a:cs typeface="Cambria"/>
                        </a:rPr>
                        <a:t>Fragmented recordkeeping creates no single source of truth</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buNone/>
                      </a:pPr>
                      <a:r>
                        <a:rPr sz="1200" b="0">
                          <a:solidFill>
                            <a:srgbClr val="171717"/>
                          </a:solidFill>
                          <a:latin typeface="Cambria"/>
                          <a:ea typeface="Cambria"/>
                          <a:cs typeface="Cambria"/>
                        </a:rPr>
                        <a:t>Manual and hybrid recording; person-dependent updates; informal workarounds.</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buNone/>
                      </a:pPr>
                      <a:r>
                        <a:rPr sz="1200" b="0">
                          <a:solidFill>
                            <a:srgbClr val="171717"/>
                          </a:solidFill>
                          <a:latin typeface="Cambria"/>
                          <a:ea typeface="Cambria"/>
                          <a:cs typeface="Cambria"/>
                        </a:rPr>
                        <a:t>"So far, we do not have a system for tracking our sales and inventory..." (Interviewee 1)</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buNone/>
                      </a:pPr>
                      <a:r>
                        <a:rPr sz="1200" b="0">
                          <a:solidFill>
                            <a:srgbClr val="171717"/>
                          </a:solidFill>
                          <a:latin typeface="Cambria"/>
                          <a:ea typeface="Cambria"/>
                          <a:cs typeface="Cambria"/>
                        </a:rPr>
                        <a:t>Operations depend on scattered records rather than a unified live record.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52500">
                <a:tc>
                  <a:txBody>
                    <a:bodyPr wrap="square" lIns="38100" tIns="38100" rIns="38100" bIns="38100"/>
                    <a:lstStyle/>
                    <a:p>
                      <a:pPr algn="l">
                        <a:buNone/>
                      </a:pPr>
                      <a:r>
                        <a:rPr sz="1200" b="0">
                          <a:solidFill>
                            <a:srgbClr val="171717"/>
                          </a:solidFill>
                          <a:latin typeface="Cambria"/>
                          <a:ea typeface="Cambria"/>
                          <a:cs typeface="Cambria"/>
                        </a:rPr>
                        <a:t>Delayed updates make the accurate picture arrive too late</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buNone/>
                      </a:pPr>
                      <a:r>
                        <a:rPr sz="1200" b="0">
                          <a:solidFill>
                            <a:srgbClr val="171717"/>
                          </a:solidFill>
                          <a:latin typeface="Cambria"/>
                          <a:ea typeface="Cambria"/>
                          <a:cs typeface="Cambria"/>
                        </a:rPr>
                        <a:t>Unposted movement; next-day correction; decisions made under uncertainty.</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buNone/>
                      </a:pPr>
                      <a:r>
                        <a:rPr sz="1200" b="0">
                          <a:solidFill>
                            <a:srgbClr val="171717"/>
                          </a:solidFill>
                          <a:latin typeface="Cambria"/>
                          <a:ea typeface="Cambria"/>
                          <a:cs typeface="Cambria"/>
                        </a:rPr>
                        <a:t>"The deeper issue is that the real situation becomes visible too late." (Interviewee 3)</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buNone/>
                      </a:pPr>
                      <a:r>
                        <a:rPr sz="1200" b="0">
                          <a:solidFill>
                            <a:srgbClr val="171717"/>
                          </a:solidFill>
                          <a:latin typeface="Cambria"/>
                          <a:ea typeface="Cambria"/>
                          <a:cs typeface="Cambria"/>
                        </a:rPr>
                        <a:t>Even when the truth is eventually reconstructed, it often arrives after the decision window.</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52500">
                <a:tc>
                  <a:txBody>
                    <a:bodyPr wrap="square" lIns="38100" tIns="38100" rIns="38100" bIns="38100"/>
                    <a:lstStyle/>
                    <a:p>
                      <a:pPr algn="l">
                        <a:buNone/>
                      </a:pPr>
                      <a:r>
                        <a:rPr sz="1200" b="0">
                          <a:solidFill>
                            <a:srgbClr val="171717"/>
                          </a:solidFill>
                          <a:latin typeface="Cambria"/>
                          <a:ea typeface="Cambria"/>
                          <a:cs typeface="Cambria"/>
                        </a:rPr>
                        <a:t>Inaccurate records disrupt service, fulfillment, and restocking</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buNone/>
                      </a:pPr>
                      <a:r>
                        <a:rPr sz="1200" b="0">
                          <a:solidFill>
                            <a:srgbClr val="171717"/>
                          </a:solidFill>
                          <a:latin typeface="Cambria"/>
                          <a:ea typeface="Cambria"/>
                          <a:cs typeface="Cambria"/>
                        </a:rPr>
                        <a:t>Customer promise failure; partial release; conservative or delayed restocking.</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buNone/>
                      </a:pPr>
                      <a:r>
                        <a:rPr sz="1200" b="0">
                          <a:solidFill>
                            <a:srgbClr val="171717"/>
                          </a:solidFill>
                          <a:latin typeface="Cambria"/>
                          <a:ea typeface="Cambria"/>
                          <a:cs typeface="Cambria"/>
                        </a:rPr>
                        <a:t>"This can disappoint customers and reduce sales." (Interviewee 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buNone/>
                      </a:pPr>
                      <a:r>
                        <a:rPr sz="1200" b="0">
                          <a:solidFill>
                            <a:srgbClr val="171717"/>
                          </a:solidFill>
                          <a:latin typeface="Cambria"/>
                          <a:ea typeface="Cambria"/>
                          <a:cs typeface="Cambria"/>
                        </a:rPr>
                        <a:t>Weak records quickly become visible as stockouts, delays, and missed sales.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Tree>
    <p:extLst>
      <p:ext uri="{BB962C8B-B14F-4D97-AF65-F5344CB8AC3E}">
        <p14:creationId xmlns:p14="http://schemas.microsoft.com/office/powerpoint/2010/main" val="77198072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E7D05457-D92A-4EEB-A33E-D92056F61EDC}"/>
              </a:ext>
            </a:extLst>
          </p:cNvPr>
          <p:cNvPicPr>
            <a:picLocks xmlns:a="http://schemas.openxmlformats.org/drawingml/2006/main" noChangeAspect="1"/>
          </p:cNvPicPr>
          <p:nvPr/>
        </p:nvPicPr>
        <p:blipFill>
          <a:blip xmlns:r="http://schemas.openxmlformats.org/officeDocument/2006/relationships" xmlns:a="http://schemas.openxmlformats.org/drawingml/2006/main" r:embed="R1a17760d6fdc4535"/>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5F66A1B-9E86-4D68-8810-71AF12A173D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C9F22055-949E-4FE7-86D3-D463A4714585}"/>
              </a:ext>
            </a:extLst>
          </p:cNvPr>
          <p:cNvSpPr>
            <a:spLocks xmlns:a="http://schemas.openxmlformats.org/drawingml/2006/main" noGrp="1"/>
          </p:cNvSpPr>
          <p:nvPr/>
        </p:nvSpPr>
        <p:spPr>
          <a:xfrm xmlns:a="http://schemas.openxmlformats.org/drawingml/2006/main">
            <a:off x="2838450" y="4724400"/>
            <a:ext cx="575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buNone/>
              <a:defRPr sz="1125" b="0">
                <a:solidFill>
                  <a:srgbClr val="595959"/>
                </a:solidFill>
                <a:latin typeface="Arial"/>
                <a:ea typeface="Arial"/>
                <a:cs typeface="Arial"/>
              </a:defRPr>
            </a:lvl1pPr>
            <a:lvl2pPr algn="l">
              <a:buNone/>
              <a:defRPr sz="1125" b="0">
                <a:solidFill>
                  <a:srgbClr val="595959"/>
                </a:solidFill>
                <a:latin typeface="Arial"/>
                <a:ea typeface="Arial"/>
                <a:cs typeface="Arial"/>
              </a:defRPr>
            </a:lvl2pPr>
            <a:lvl3pPr algn="l">
              <a:buNone/>
              <a:defRPr sz="1125" b="0">
                <a:solidFill>
                  <a:srgbClr val="595959"/>
                </a:solidFill>
                <a:latin typeface="Arial"/>
                <a:ea typeface="Arial"/>
                <a:cs typeface="Arial"/>
              </a:defRPr>
            </a:lvl3pPr>
            <a:lvl4pPr algn="l">
              <a:buNone/>
              <a:defRPr sz="1125" b="0">
                <a:solidFill>
                  <a:srgbClr val="595959"/>
                </a:solidFill>
                <a:latin typeface="Arial"/>
                <a:ea typeface="Arial"/>
                <a:cs typeface="Arial"/>
              </a:defRPr>
            </a:lvl4pPr>
            <a:lvl5pPr algn="l">
              <a:buNone/>
              <a:defRPr sz="1125" b="0">
                <a:solidFill>
                  <a:srgbClr val="595959"/>
                </a:solidFill>
                <a:latin typeface="Arial"/>
                <a:ea typeface="Arial"/>
                <a:cs typeface="Arial"/>
              </a:defRPr>
            </a:lvl5pPr>
            <a:lvl6pPr algn="l">
              <a:buNone/>
              <a:defRPr sz="1125" b="0">
                <a:solidFill>
                  <a:srgbClr val="595959"/>
                </a:solidFill>
                <a:latin typeface="Arial"/>
                <a:ea typeface="Arial"/>
                <a:cs typeface="Arial"/>
              </a:defRPr>
            </a:lvl6pPr>
            <a:lvl7pPr algn="l">
              <a:buNone/>
              <a:defRPr sz="1125" b="0">
                <a:solidFill>
                  <a:srgbClr val="595959"/>
                </a:solidFill>
                <a:latin typeface="Arial"/>
                <a:ea typeface="Arial"/>
                <a:cs typeface="Arial"/>
              </a:defRPr>
            </a:lvl7pPr>
            <a:lvl8pPr algn="l">
              <a:buNone/>
              <a:defRPr sz="1125" b="0">
                <a:solidFill>
                  <a:srgbClr val="595959"/>
                </a:solidFill>
                <a:latin typeface="Arial"/>
                <a:ea typeface="Arial"/>
                <a:cs typeface="Arial"/>
              </a:defRPr>
            </a:lvl8pPr>
            <a:lvl9pPr algn="l">
              <a:buNone/>
              <a:defRPr sz="1125" b="0">
                <a:solidFill>
                  <a:srgbClr val="595959"/>
                </a:solidFill>
                <a:latin typeface="Arial"/>
                <a:ea typeface="Arial"/>
                <a:cs typeface="Arial"/>
              </a:defRPr>
            </a:lvl9pPr>
          </a:lstStyle>
          <a:p xmlns:a="http://schemas.openxmlformats.org/drawingml/2006/main">
            <a:pPr algn="l">
              <a:buNone/>
              <a:defRPr sz="1125" b="0">
                <a:solidFill>
                  <a:srgbClr val="595959"/>
                </a:solidFill>
                <a:latin typeface="Arial"/>
                <a:ea typeface="Arial"/>
                <a:cs typeface="Arial"/>
              </a:defRPr>
            </a:pPr>
            <a:r>
              <a:rPr sz="1125" b="0">
                <a:solidFill>
                  <a:srgbClr val="595959"/>
                </a:solidFill>
                <a:latin typeface="Arial"/>
                <a:ea typeface="Arial"/>
                <a:cs typeface="Arial"/>
              </a:rPr>
              <a:t>Interview themes  2 / 2</a:t>
            </a:r>
          </a:p>
        </p:txBody>
      </p:sp>
      <p:graphicFrame>
        <p:nvGraphicFramePr>
          <p:cNvPr id="4" name="">
            <a:extLst xmlns:a="http://schemas.openxmlformats.org/drawingml/2006/main">
              <a:ext uri="{FF2B5EF4-FFF2-40B4-BE49-F238E27FC236}">
                <a16:creationId xmlns:a16="http://schemas.microsoft.com/office/drawing/2014/main" id="{FDDF0A04-C80A-4A63-A1A6-322B620EA488}"/>
              </a:ext>
            </a:extLst>
          </p:cNvPr>
          <p:cNvGraphicFramePr/>
          <p:nvPr/>
        </p:nvGraphicFramePr>
        <p:xfrm>
          <a:off xmlns:a="http://schemas.openxmlformats.org/drawingml/2006/main" x="533400" y="1238250"/>
          <a:ext xmlns:a="http://schemas.openxmlformats.org/drawingml/2006/main" cx="8058150" cy="3352800"/>
        </p:xfrm>
        <a:graphic xmlns:a="http://schemas.openxmlformats.org/drawingml/2006/main">
          <a:graphicData uri="http://schemas.openxmlformats.org/drawingml/2006/table">
            <a:tbl>
              <a:tblPr/>
              <a:tblGrid>
                <a:gridCol w="1857375"/>
                <a:gridCol w="1905000"/>
                <a:gridCol w="2381250"/>
                <a:gridCol w="1914525"/>
              </a:tblGrid>
              <a:tr h="495300">
                <a:tc>
                  <a:txBody>
                    <a:bodyPr wrap="square" lIns="38100" tIns="38100" rIns="38100" bIns="38100"/>
                    <a:lstStyle/>
                    <a:p>
                      <a:pPr algn="ctr">
                        <a:buNone/>
                      </a:pPr>
                      <a:r>
                        <a:rPr sz="1350" b="1">
                          <a:solidFill>
                            <a:srgbClr val="171717"/>
                          </a:solidFill>
                          <a:latin typeface="Cambria"/>
                          <a:ea typeface="Cambria"/>
                          <a:cs typeface="Cambria"/>
                        </a:rPr>
                        <a:t>Theme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buNone/>
                      </a:pPr>
                      <a:r>
                        <a:rPr sz="1350" b="1">
                          <a:solidFill>
                            <a:srgbClr val="171717"/>
                          </a:solidFill>
                          <a:latin typeface="Cambria"/>
                          <a:ea typeface="Cambria"/>
                          <a:cs typeface="Cambria"/>
                        </a:rPr>
                        <a:t>Core sub-themes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buNone/>
                      </a:pPr>
                      <a:r>
                        <a:rPr sz="1350" b="1">
                          <a:solidFill>
                            <a:srgbClr val="171717"/>
                          </a:solidFill>
                          <a:latin typeface="Cambria"/>
                          <a:ea typeface="Cambria"/>
                          <a:cs typeface="Cambria"/>
                        </a:rPr>
                        <a:t>Illustrative quote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buNone/>
                      </a:pPr>
                      <a:r>
                        <a:rPr sz="1350" b="1">
                          <a:solidFill>
                            <a:srgbClr val="171717"/>
                          </a:solidFill>
                          <a:latin typeface="Cambria"/>
                          <a:ea typeface="Cambria"/>
                          <a:cs typeface="Cambria"/>
                        </a:rPr>
                        <a:t>Meaning for operations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1428750">
                <a:tc>
                  <a:txBody>
                    <a:bodyPr wrap="square" lIns="38100" tIns="38100" rIns="38100" bIns="38100"/>
                    <a:lstStyle/>
                    <a:p>
                      <a:pPr algn="l">
                        <a:buNone/>
                      </a:pPr>
                      <a:r>
                        <a:rPr sz="1350" b="0">
                          <a:solidFill>
                            <a:srgbClr val="171717"/>
                          </a:solidFill>
                          <a:latin typeface="Cambria"/>
                          <a:ea typeface="Cambria"/>
                          <a:cs typeface="Cambria"/>
                        </a:rPr>
                        <a:t>Manual reconciliation shifts effort from operations to error correction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buNone/>
                      </a:pPr>
                      <a:r>
                        <a:rPr sz="1350" b="0">
                          <a:solidFill>
                            <a:srgbClr val="171717"/>
                          </a:solidFill>
                          <a:latin typeface="Cambria"/>
                          <a:ea typeface="Cambria"/>
                          <a:cs typeface="Cambria"/>
                        </a:rPr>
                        <a:t>Repeated recounting; after-hours verification; coordination strain.</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buNone/>
                      </a:pPr>
                      <a:r>
                        <a:rPr sz="1350" b="0">
                          <a:solidFill>
                            <a:srgbClr val="171717"/>
                          </a:solidFill>
                          <a:latin typeface="Cambria"/>
                          <a:ea typeface="Cambria"/>
                          <a:cs typeface="Cambria"/>
                        </a:rPr>
                        <a:t>"Sometimes it ends up in an argument because I am already loaded with work." (Interviewee 1)</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buNone/>
                      </a:pPr>
                      <a:r>
                        <a:rPr sz="1350" b="0">
                          <a:solidFill>
                            <a:srgbClr val="171717"/>
                          </a:solidFill>
                          <a:latin typeface="Cambria"/>
                          <a:ea typeface="Cambria"/>
                          <a:cs typeface="Cambria"/>
                        </a:rPr>
                        <a:t>Labor is redirected from serving customers and planning toward repetitive correction.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1428750">
                <a:tc>
                  <a:txBody>
                    <a:bodyPr wrap="square" lIns="38100" tIns="38100" rIns="38100" bIns="38100"/>
                    <a:lstStyle/>
                    <a:p>
                      <a:pPr algn="l">
                        <a:buNone/>
                      </a:pPr>
                      <a:r>
                        <a:rPr sz="1350" b="0">
                          <a:solidFill>
                            <a:srgbClr val="171717"/>
                          </a:solidFill>
                          <a:latin typeface="Cambria"/>
                          <a:ea typeface="Cambria"/>
                          <a:cs typeface="Cambria"/>
                        </a:rPr>
                        <a:t>When records conflict, trust shifts to physical proof</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buNone/>
                      </a:pPr>
                      <a:r>
                        <a:rPr sz="1350" b="0">
                          <a:solidFill>
                            <a:srgbClr val="171717"/>
                          </a:solidFill>
                          <a:latin typeface="Cambria"/>
                          <a:ea typeface="Cambria"/>
                          <a:cs typeface="Cambria"/>
                        </a:rPr>
                        <a:t>Physical count as truth; signed slips and receipts preferred; slow confirmation.</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buNone/>
                      </a:pPr>
                      <a:r>
                        <a:rPr sz="1350" b="0">
                          <a:solidFill>
                            <a:srgbClr val="171717"/>
                          </a:solidFill>
                          <a:latin typeface="Cambria"/>
                          <a:ea typeface="Cambria"/>
                          <a:cs typeface="Cambria"/>
                        </a:rPr>
                        <a:t>"We usually check the actual physical stock first because that is the most reliable basis." (Interviewee 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buNone/>
                      </a:pPr>
                      <a:r>
                        <a:rPr sz="1350" b="0">
                          <a:solidFill>
                            <a:srgbClr val="171717"/>
                          </a:solidFill>
                          <a:latin typeface="Cambria"/>
                          <a:ea typeface="Cambria"/>
                          <a:cs typeface="Cambria"/>
                        </a:rPr>
                        <a:t>Record systems have not earned enough trust to support fast decisions on their own.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Tree>
    <p:extLst>
      <p:ext uri="{BB962C8B-B14F-4D97-AF65-F5344CB8AC3E}">
        <p14:creationId xmlns:p14="http://schemas.microsoft.com/office/powerpoint/2010/main" val="194261122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DF9900DD-BE89-4C4C-84BF-9ADAAEA59025}"/>
              </a:ext>
            </a:extLst>
          </p:cNvPr>
          <p:cNvPicPr>
            <a:picLocks xmlns:a="http://schemas.openxmlformats.org/drawingml/2006/main" noChangeAspect="1"/>
          </p:cNvPicPr>
          <p:nvPr/>
        </p:nvPicPr>
        <p:blipFill>
          <a:blip xmlns:r="http://schemas.openxmlformats.org/officeDocument/2006/relationships" xmlns:a="http://schemas.openxmlformats.org/drawingml/2006/main" r:embed="R53cacd058b224667"/>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006ED6D-B1BF-49D7-A194-155A5664C7D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8C88E2C8-7CB6-4412-A9F6-CF126D68ADBF}"/>
              </a:ext>
            </a:extLst>
          </p:cNvPr>
          <p:cNvSpPr>
            <a:spLocks xmlns:a="http://schemas.openxmlformats.org/drawingml/2006/main" noGrp="1"/>
          </p:cNvSpPr>
          <p:nvPr/>
        </p:nvSpPr>
        <p:spPr>
          <a:xfrm xmlns:a="http://schemas.openxmlformats.org/drawingml/2006/main">
            <a:off x="533400" y="1362075"/>
            <a:ext cx="8058150" cy="3171825"/>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E3521A2-2987-4EB0-B6F6-2D5667A47DFF}"/>
              </a:ext>
            </a:extLst>
          </p:cNvPr>
          <p:cNvSpPr>
            <a:spLocks xmlns:a="http://schemas.openxmlformats.org/drawingml/2006/main" noGrp="1"/>
          </p:cNvSpPr>
          <p:nvPr/>
        </p:nvSpPr>
        <p:spPr>
          <a:xfrm xmlns:a="http://schemas.openxmlformats.org/drawingml/2006/main">
            <a:off x="714375" y="1466850"/>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buNone/>
              <a:defRPr sz="1650" b="1">
                <a:solidFill>
                  <a:srgbClr val="FFFFFF"/>
                </a:solidFill>
                <a:latin typeface="Arial"/>
                <a:ea typeface="Arial"/>
                <a:cs typeface="Arial"/>
              </a:defRPr>
            </a:lvl1pPr>
            <a:lvl2pPr algn="l">
              <a:buNone/>
              <a:defRPr sz="1650" b="1">
                <a:solidFill>
                  <a:srgbClr val="FFFFFF"/>
                </a:solidFill>
                <a:latin typeface="Arial"/>
                <a:ea typeface="Arial"/>
                <a:cs typeface="Arial"/>
              </a:defRPr>
            </a:lvl2pPr>
            <a:lvl3pPr algn="l">
              <a:buNone/>
              <a:defRPr sz="1650" b="1">
                <a:solidFill>
                  <a:srgbClr val="FFFFFF"/>
                </a:solidFill>
                <a:latin typeface="Arial"/>
                <a:ea typeface="Arial"/>
                <a:cs typeface="Arial"/>
              </a:defRPr>
            </a:lvl3pPr>
            <a:lvl4pPr algn="l">
              <a:buNone/>
              <a:defRPr sz="1650" b="1">
                <a:solidFill>
                  <a:srgbClr val="FFFFFF"/>
                </a:solidFill>
                <a:latin typeface="Arial"/>
                <a:ea typeface="Arial"/>
                <a:cs typeface="Arial"/>
              </a:defRPr>
            </a:lvl4pPr>
            <a:lvl5pPr algn="l">
              <a:buNone/>
              <a:defRPr sz="1650" b="1">
                <a:solidFill>
                  <a:srgbClr val="FFFFFF"/>
                </a:solidFill>
                <a:latin typeface="Arial"/>
                <a:ea typeface="Arial"/>
                <a:cs typeface="Arial"/>
              </a:defRPr>
            </a:lvl5pPr>
            <a:lvl6pPr algn="l">
              <a:buNone/>
              <a:defRPr sz="1650" b="1">
                <a:solidFill>
                  <a:srgbClr val="FFFFFF"/>
                </a:solidFill>
                <a:latin typeface="Arial"/>
                <a:ea typeface="Arial"/>
                <a:cs typeface="Arial"/>
              </a:defRPr>
            </a:lvl6pPr>
            <a:lvl7pPr algn="l">
              <a:buNone/>
              <a:defRPr sz="1650" b="1">
                <a:solidFill>
                  <a:srgbClr val="FFFFFF"/>
                </a:solidFill>
                <a:latin typeface="Arial"/>
                <a:ea typeface="Arial"/>
                <a:cs typeface="Arial"/>
              </a:defRPr>
            </a:lvl7pPr>
            <a:lvl8pPr algn="l">
              <a:buNone/>
              <a:defRPr sz="1650" b="1">
                <a:solidFill>
                  <a:srgbClr val="FFFFFF"/>
                </a:solidFill>
                <a:latin typeface="Arial"/>
                <a:ea typeface="Arial"/>
                <a:cs typeface="Arial"/>
              </a:defRPr>
            </a:lvl8pPr>
            <a:lvl9pPr algn="l">
              <a:buNone/>
              <a:defRPr sz="1650" b="1">
                <a:solidFill>
                  <a:srgbClr val="FFFFFF"/>
                </a:solidFill>
                <a:latin typeface="Arial"/>
                <a:ea typeface="Arial"/>
                <a:cs typeface="Arial"/>
              </a:defRPr>
            </a:lvl9pPr>
          </a:lstStyle>
          <a:p xmlns:a="http://schemas.openxmlformats.org/drawingml/2006/main">
            <a:pPr algn="l">
              <a:buNone/>
              <a:defRPr sz="1650" b="1">
                <a:solidFill>
                  <a:srgbClr val="FFFFFF"/>
                </a:solidFill>
                <a:latin typeface="Arial"/>
                <a:ea typeface="Arial"/>
                <a:cs typeface="Arial"/>
              </a:defRPr>
            </a:pPr>
            <a:r>
              <a:rPr sz="1650" b="1">
                <a:solidFill>
                  <a:srgbClr val="FFFFFF"/>
                </a:solidFill>
                <a:latin typeface="Arial"/>
                <a:ea typeface="Arial"/>
                <a:cs typeface="Arial"/>
              </a:rPr>
              <a:t>Operational bottlenecks</a:t>
            </a:r>
          </a:p>
        </p:txBody>
      </p:sp>
      <p:sp>
        <p:nvSpPr>
          <p:cNvPr id="5" name="">
            <a:extLst xmlns:a="http://schemas.openxmlformats.org/drawingml/2006/main">
              <a:ext uri="{FF2B5EF4-FFF2-40B4-BE49-F238E27FC236}">
                <a16:creationId xmlns:a16="http://schemas.microsoft.com/office/drawing/2014/main" id="{E978EBD1-37E5-4D6D-852B-6A576AD90C0B}"/>
              </a:ext>
            </a:extLst>
          </p:cNvPr>
          <p:cNvSpPr>
            <a:spLocks xmlns:a="http://schemas.openxmlformats.org/drawingml/2006/main" noGrp="1"/>
          </p:cNvSpPr>
          <p:nvPr/>
        </p:nvSpPr>
        <p:spPr>
          <a:xfrm xmlns:a="http://schemas.openxmlformats.org/drawingml/2006/main">
            <a:off x="714375" y="1733550"/>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buNone/>
              <a:defRPr sz="1650" b="0">
                <a:solidFill>
                  <a:srgbClr val="FFFFFF"/>
                </a:solidFill>
                <a:latin typeface="Arial"/>
                <a:ea typeface="Arial"/>
                <a:cs typeface="Arial"/>
              </a:defRPr>
            </a:lvl1pPr>
            <a:lvl2pPr algn="l">
              <a:buNone/>
              <a:defRPr sz="1650" b="0">
                <a:solidFill>
                  <a:srgbClr val="FFFFFF"/>
                </a:solidFill>
                <a:latin typeface="Arial"/>
                <a:ea typeface="Arial"/>
                <a:cs typeface="Arial"/>
              </a:defRPr>
            </a:lvl2pPr>
            <a:lvl3pPr algn="l">
              <a:buNone/>
              <a:defRPr sz="1650" b="0">
                <a:solidFill>
                  <a:srgbClr val="FFFFFF"/>
                </a:solidFill>
                <a:latin typeface="Arial"/>
                <a:ea typeface="Arial"/>
                <a:cs typeface="Arial"/>
              </a:defRPr>
            </a:lvl3pPr>
            <a:lvl4pPr algn="l">
              <a:buNone/>
              <a:defRPr sz="1650" b="0">
                <a:solidFill>
                  <a:srgbClr val="FFFFFF"/>
                </a:solidFill>
                <a:latin typeface="Arial"/>
                <a:ea typeface="Arial"/>
                <a:cs typeface="Arial"/>
              </a:defRPr>
            </a:lvl4pPr>
            <a:lvl5pPr algn="l">
              <a:buNone/>
              <a:defRPr sz="1650" b="0">
                <a:solidFill>
                  <a:srgbClr val="FFFFFF"/>
                </a:solidFill>
                <a:latin typeface="Arial"/>
                <a:ea typeface="Arial"/>
                <a:cs typeface="Arial"/>
              </a:defRPr>
            </a:lvl5pPr>
            <a:lvl6pPr algn="l">
              <a:buNone/>
              <a:defRPr sz="1650" b="0">
                <a:solidFill>
                  <a:srgbClr val="FFFFFF"/>
                </a:solidFill>
                <a:latin typeface="Arial"/>
                <a:ea typeface="Arial"/>
                <a:cs typeface="Arial"/>
              </a:defRPr>
            </a:lvl6pPr>
            <a:lvl7pPr algn="l">
              <a:buNone/>
              <a:defRPr sz="1650" b="0">
                <a:solidFill>
                  <a:srgbClr val="FFFFFF"/>
                </a:solidFill>
                <a:latin typeface="Arial"/>
                <a:ea typeface="Arial"/>
                <a:cs typeface="Arial"/>
              </a:defRPr>
            </a:lvl7pPr>
            <a:lvl8pPr algn="l">
              <a:buNone/>
              <a:defRPr sz="1650" b="0">
                <a:solidFill>
                  <a:srgbClr val="FFFFFF"/>
                </a:solidFill>
                <a:latin typeface="Arial"/>
                <a:ea typeface="Arial"/>
                <a:cs typeface="Arial"/>
              </a:defRPr>
            </a:lvl8pPr>
            <a:lvl9pPr algn="l">
              <a:buNone/>
              <a:defRPr sz="1650" b="0">
                <a:solidFill>
                  <a:srgbClr val="FFFFFF"/>
                </a:solidFill>
                <a:latin typeface="Arial"/>
                <a:ea typeface="Arial"/>
                <a:cs typeface="Arial"/>
              </a:defRPr>
            </a:lvl9pPr>
          </a:lstStyle>
          <a:p xmlns:a="http://schemas.openxmlformats.org/drawingml/2006/main">
            <a:pPr algn="l">
              <a:buNone/>
              <a:defRPr sz="1650" b="0">
                <a:solidFill>
                  <a:srgbClr val="FFFFFF"/>
                </a:solidFill>
                <a:latin typeface="Arial"/>
                <a:ea typeface="Arial"/>
                <a:cs typeface="Arial"/>
              </a:defRPr>
            </a:pPr>
            <a:r>
              <a:rPr sz="1650" b="0">
                <a:solidFill>
                  <a:srgbClr val="FFFFFF"/>
                </a:solidFill>
                <a:latin typeface="Arial"/>
                <a:ea typeface="Arial"/>
                <a:cs typeface="Arial"/>
              </a:rPr>
              <a:t>Delayed updates and discrepancies slow restocking and disrupt customer service.</a:t>
            </a:r>
          </a:p>
        </p:txBody>
      </p:sp>
      <p:sp>
        <p:nvSpPr>
          <p:cNvPr id="6" name="">
            <a:extLst xmlns:a="http://schemas.openxmlformats.org/drawingml/2006/main">
              <a:ext uri="{FF2B5EF4-FFF2-40B4-BE49-F238E27FC236}">
                <a16:creationId xmlns:a16="http://schemas.microsoft.com/office/drawing/2014/main" id="{2741A758-F93E-488E-BA01-5D4D75ACC0AF}"/>
              </a:ext>
            </a:extLst>
          </p:cNvPr>
          <p:cNvSpPr>
            <a:spLocks xmlns:a="http://schemas.openxmlformats.org/drawingml/2006/main" noGrp="1"/>
          </p:cNvSpPr>
          <p:nvPr/>
        </p:nvSpPr>
        <p:spPr>
          <a:xfrm xmlns:a="http://schemas.openxmlformats.org/drawingml/2006/main">
            <a:off x="714375" y="2219325"/>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buNone/>
              <a:defRPr sz="1650" b="1">
                <a:solidFill>
                  <a:srgbClr val="FFFFFF"/>
                </a:solidFill>
                <a:latin typeface="Arial"/>
                <a:ea typeface="Arial"/>
                <a:cs typeface="Arial"/>
              </a:defRPr>
            </a:lvl1pPr>
            <a:lvl2pPr algn="l">
              <a:buNone/>
              <a:defRPr sz="1650" b="1">
                <a:solidFill>
                  <a:srgbClr val="FFFFFF"/>
                </a:solidFill>
                <a:latin typeface="Arial"/>
                <a:ea typeface="Arial"/>
                <a:cs typeface="Arial"/>
              </a:defRPr>
            </a:lvl2pPr>
            <a:lvl3pPr algn="l">
              <a:buNone/>
              <a:defRPr sz="1650" b="1">
                <a:solidFill>
                  <a:srgbClr val="FFFFFF"/>
                </a:solidFill>
                <a:latin typeface="Arial"/>
                <a:ea typeface="Arial"/>
                <a:cs typeface="Arial"/>
              </a:defRPr>
            </a:lvl3pPr>
            <a:lvl4pPr algn="l">
              <a:buNone/>
              <a:defRPr sz="1650" b="1">
                <a:solidFill>
                  <a:srgbClr val="FFFFFF"/>
                </a:solidFill>
                <a:latin typeface="Arial"/>
                <a:ea typeface="Arial"/>
                <a:cs typeface="Arial"/>
              </a:defRPr>
            </a:lvl4pPr>
            <a:lvl5pPr algn="l">
              <a:buNone/>
              <a:defRPr sz="1650" b="1">
                <a:solidFill>
                  <a:srgbClr val="FFFFFF"/>
                </a:solidFill>
                <a:latin typeface="Arial"/>
                <a:ea typeface="Arial"/>
                <a:cs typeface="Arial"/>
              </a:defRPr>
            </a:lvl5pPr>
            <a:lvl6pPr algn="l">
              <a:buNone/>
              <a:defRPr sz="1650" b="1">
                <a:solidFill>
                  <a:srgbClr val="FFFFFF"/>
                </a:solidFill>
                <a:latin typeface="Arial"/>
                <a:ea typeface="Arial"/>
                <a:cs typeface="Arial"/>
              </a:defRPr>
            </a:lvl6pPr>
            <a:lvl7pPr algn="l">
              <a:buNone/>
              <a:defRPr sz="1650" b="1">
                <a:solidFill>
                  <a:srgbClr val="FFFFFF"/>
                </a:solidFill>
                <a:latin typeface="Arial"/>
                <a:ea typeface="Arial"/>
                <a:cs typeface="Arial"/>
              </a:defRPr>
            </a:lvl7pPr>
            <a:lvl8pPr algn="l">
              <a:buNone/>
              <a:defRPr sz="1650" b="1">
                <a:solidFill>
                  <a:srgbClr val="FFFFFF"/>
                </a:solidFill>
                <a:latin typeface="Arial"/>
                <a:ea typeface="Arial"/>
                <a:cs typeface="Arial"/>
              </a:defRPr>
            </a:lvl8pPr>
            <a:lvl9pPr algn="l">
              <a:buNone/>
              <a:defRPr sz="1650" b="1">
                <a:solidFill>
                  <a:srgbClr val="FFFFFF"/>
                </a:solidFill>
                <a:latin typeface="Arial"/>
                <a:ea typeface="Arial"/>
                <a:cs typeface="Arial"/>
              </a:defRPr>
            </a:lvl9pPr>
          </a:lstStyle>
          <a:p xmlns:a="http://schemas.openxmlformats.org/drawingml/2006/main">
            <a:pPr algn="l">
              <a:buNone/>
              <a:defRPr sz="1650" b="1">
                <a:solidFill>
                  <a:srgbClr val="FFFFFF"/>
                </a:solidFill>
                <a:latin typeface="Arial"/>
                <a:ea typeface="Arial"/>
                <a:cs typeface="Arial"/>
              </a:defRPr>
            </a:pPr>
            <a:r>
              <a:rPr sz="1650" b="1">
                <a:solidFill>
                  <a:srgbClr val="FFFFFF"/>
                </a:solidFill>
                <a:latin typeface="Arial"/>
                <a:ea typeface="Arial"/>
                <a:cs typeface="Arial"/>
              </a:rPr>
              <a:t>Data inconsistency</a:t>
            </a:r>
          </a:p>
        </p:txBody>
      </p:sp>
      <p:sp>
        <p:nvSpPr>
          <p:cNvPr id="7" name="">
            <a:extLst xmlns:a="http://schemas.openxmlformats.org/drawingml/2006/main">
              <a:ext uri="{FF2B5EF4-FFF2-40B4-BE49-F238E27FC236}">
                <a16:creationId xmlns:a16="http://schemas.microsoft.com/office/drawing/2014/main" id="{FE130430-0E82-4CCC-A826-70152BE80969}"/>
              </a:ext>
            </a:extLst>
          </p:cNvPr>
          <p:cNvSpPr>
            <a:spLocks xmlns:a="http://schemas.openxmlformats.org/drawingml/2006/main" noGrp="1"/>
          </p:cNvSpPr>
          <p:nvPr/>
        </p:nvSpPr>
        <p:spPr>
          <a:xfrm xmlns:a="http://schemas.openxmlformats.org/drawingml/2006/main">
            <a:off x="714375" y="2486025"/>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buNone/>
              <a:defRPr sz="1650" b="0">
                <a:solidFill>
                  <a:srgbClr val="FFFFFF"/>
                </a:solidFill>
                <a:latin typeface="Arial"/>
                <a:ea typeface="Arial"/>
                <a:cs typeface="Arial"/>
              </a:defRPr>
            </a:lvl1pPr>
            <a:lvl2pPr algn="l">
              <a:buNone/>
              <a:defRPr sz="1650" b="0">
                <a:solidFill>
                  <a:srgbClr val="FFFFFF"/>
                </a:solidFill>
                <a:latin typeface="Arial"/>
                <a:ea typeface="Arial"/>
                <a:cs typeface="Arial"/>
              </a:defRPr>
            </a:lvl2pPr>
            <a:lvl3pPr algn="l">
              <a:buNone/>
              <a:defRPr sz="1650" b="0">
                <a:solidFill>
                  <a:srgbClr val="FFFFFF"/>
                </a:solidFill>
                <a:latin typeface="Arial"/>
                <a:ea typeface="Arial"/>
                <a:cs typeface="Arial"/>
              </a:defRPr>
            </a:lvl3pPr>
            <a:lvl4pPr algn="l">
              <a:buNone/>
              <a:defRPr sz="1650" b="0">
                <a:solidFill>
                  <a:srgbClr val="FFFFFF"/>
                </a:solidFill>
                <a:latin typeface="Arial"/>
                <a:ea typeface="Arial"/>
                <a:cs typeface="Arial"/>
              </a:defRPr>
            </a:lvl4pPr>
            <a:lvl5pPr algn="l">
              <a:buNone/>
              <a:defRPr sz="1650" b="0">
                <a:solidFill>
                  <a:srgbClr val="FFFFFF"/>
                </a:solidFill>
                <a:latin typeface="Arial"/>
                <a:ea typeface="Arial"/>
                <a:cs typeface="Arial"/>
              </a:defRPr>
            </a:lvl5pPr>
            <a:lvl6pPr algn="l">
              <a:buNone/>
              <a:defRPr sz="1650" b="0">
                <a:solidFill>
                  <a:srgbClr val="FFFFFF"/>
                </a:solidFill>
                <a:latin typeface="Arial"/>
                <a:ea typeface="Arial"/>
                <a:cs typeface="Arial"/>
              </a:defRPr>
            </a:lvl6pPr>
            <a:lvl7pPr algn="l">
              <a:buNone/>
              <a:defRPr sz="1650" b="0">
                <a:solidFill>
                  <a:srgbClr val="FFFFFF"/>
                </a:solidFill>
                <a:latin typeface="Arial"/>
                <a:ea typeface="Arial"/>
                <a:cs typeface="Arial"/>
              </a:defRPr>
            </a:lvl7pPr>
            <a:lvl8pPr algn="l">
              <a:buNone/>
              <a:defRPr sz="1650" b="0">
                <a:solidFill>
                  <a:srgbClr val="FFFFFF"/>
                </a:solidFill>
                <a:latin typeface="Arial"/>
                <a:ea typeface="Arial"/>
                <a:cs typeface="Arial"/>
              </a:defRPr>
            </a:lvl8pPr>
            <a:lvl9pPr algn="l">
              <a:buNone/>
              <a:defRPr sz="1650" b="0">
                <a:solidFill>
                  <a:srgbClr val="FFFFFF"/>
                </a:solidFill>
                <a:latin typeface="Arial"/>
                <a:ea typeface="Arial"/>
                <a:cs typeface="Arial"/>
              </a:defRPr>
            </a:lvl9pPr>
          </a:lstStyle>
          <a:p xmlns:a="http://schemas.openxmlformats.org/drawingml/2006/main">
            <a:pPr algn="l">
              <a:buNone/>
              <a:defRPr sz="1650" b="0">
                <a:solidFill>
                  <a:srgbClr val="FFFFFF"/>
                </a:solidFill>
                <a:latin typeface="Arial"/>
                <a:ea typeface="Arial"/>
                <a:cs typeface="Arial"/>
              </a:defRPr>
            </a:pPr>
            <a:r>
              <a:rPr sz="1650" b="0">
                <a:solidFill>
                  <a:srgbClr val="FFFFFF"/>
                </a:solidFill>
                <a:latin typeface="Arial"/>
                <a:ea typeface="Arial"/>
                <a:cs typeface="Arial"/>
              </a:rPr>
              <a:t>Staff compare several records before deciding which figures to trust.</a:t>
            </a:r>
          </a:p>
        </p:txBody>
      </p:sp>
      <p:sp>
        <p:nvSpPr>
          <p:cNvPr id="8" name="">
            <a:extLst xmlns:a="http://schemas.openxmlformats.org/drawingml/2006/main">
              <a:ext uri="{FF2B5EF4-FFF2-40B4-BE49-F238E27FC236}">
                <a16:creationId xmlns:a16="http://schemas.microsoft.com/office/drawing/2014/main" id="{C4FB8FCE-48AC-4C5F-AC88-8CDEC3BB5952}"/>
              </a:ext>
            </a:extLst>
          </p:cNvPr>
          <p:cNvSpPr>
            <a:spLocks xmlns:a="http://schemas.openxmlformats.org/drawingml/2006/main" noGrp="1"/>
          </p:cNvSpPr>
          <p:nvPr/>
        </p:nvSpPr>
        <p:spPr>
          <a:xfrm xmlns:a="http://schemas.openxmlformats.org/drawingml/2006/main">
            <a:off x="714375" y="2971800"/>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buNone/>
              <a:defRPr sz="1650" b="1">
                <a:solidFill>
                  <a:srgbClr val="FFFFFF"/>
                </a:solidFill>
                <a:latin typeface="Arial"/>
                <a:ea typeface="Arial"/>
                <a:cs typeface="Arial"/>
              </a:defRPr>
            </a:lvl1pPr>
            <a:lvl2pPr algn="l">
              <a:buNone/>
              <a:defRPr sz="1650" b="1">
                <a:solidFill>
                  <a:srgbClr val="FFFFFF"/>
                </a:solidFill>
                <a:latin typeface="Arial"/>
                <a:ea typeface="Arial"/>
                <a:cs typeface="Arial"/>
              </a:defRPr>
            </a:lvl2pPr>
            <a:lvl3pPr algn="l">
              <a:buNone/>
              <a:defRPr sz="1650" b="1">
                <a:solidFill>
                  <a:srgbClr val="FFFFFF"/>
                </a:solidFill>
                <a:latin typeface="Arial"/>
                <a:ea typeface="Arial"/>
                <a:cs typeface="Arial"/>
              </a:defRPr>
            </a:lvl3pPr>
            <a:lvl4pPr algn="l">
              <a:buNone/>
              <a:defRPr sz="1650" b="1">
                <a:solidFill>
                  <a:srgbClr val="FFFFFF"/>
                </a:solidFill>
                <a:latin typeface="Arial"/>
                <a:ea typeface="Arial"/>
                <a:cs typeface="Arial"/>
              </a:defRPr>
            </a:lvl4pPr>
            <a:lvl5pPr algn="l">
              <a:buNone/>
              <a:defRPr sz="1650" b="1">
                <a:solidFill>
                  <a:srgbClr val="FFFFFF"/>
                </a:solidFill>
                <a:latin typeface="Arial"/>
                <a:ea typeface="Arial"/>
                <a:cs typeface="Arial"/>
              </a:defRPr>
            </a:lvl5pPr>
            <a:lvl6pPr algn="l">
              <a:buNone/>
              <a:defRPr sz="1650" b="1">
                <a:solidFill>
                  <a:srgbClr val="FFFFFF"/>
                </a:solidFill>
                <a:latin typeface="Arial"/>
                <a:ea typeface="Arial"/>
                <a:cs typeface="Arial"/>
              </a:defRPr>
            </a:lvl6pPr>
            <a:lvl7pPr algn="l">
              <a:buNone/>
              <a:defRPr sz="1650" b="1">
                <a:solidFill>
                  <a:srgbClr val="FFFFFF"/>
                </a:solidFill>
                <a:latin typeface="Arial"/>
                <a:ea typeface="Arial"/>
                <a:cs typeface="Arial"/>
              </a:defRPr>
            </a:lvl7pPr>
            <a:lvl8pPr algn="l">
              <a:buNone/>
              <a:defRPr sz="1650" b="1">
                <a:solidFill>
                  <a:srgbClr val="FFFFFF"/>
                </a:solidFill>
                <a:latin typeface="Arial"/>
                <a:ea typeface="Arial"/>
                <a:cs typeface="Arial"/>
              </a:defRPr>
            </a:lvl8pPr>
            <a:lvl9pPr algn="l">
              <a:buNone/>
              <a:defRPr sz="1650" b="1">
                <a:solidFill>
                  <a:srgbClr val="FFFFFF"/>
                </a:solidFill>
                <a:latin typeface="Arial"/>
                <a:ea typeface="Arial"/>
                <a:cs typeface="Arial"/>
              </a:defRPr>
            </a:lvl9pPr>
          </a:lstStyle>
          <a:p xmlns:a="http://schemas.openxmlformats.org/drawingml/2006/main">
            <a:pPr algn="l">
              <a:buNone/>
              <a:defRPr sz="1650" b="1">
                <a:solidFill>
                  <a:srgbClr val="FFFFFF"/>
                </a:solidFill>
                <a:latin typeface="Arial"/>
                <a:ea typeface="Arial"/>
                <a:cs typeface="Arial"/>
              </a:defRPr>
            </a:pPr>
            <a:r>
              <a:rPr sz="1650" b="1">
                <a:solidFill>
                  <a:srgbClr val="FFFFFF"/>
                </a:solidFill>
                <a:latin typeface="Arial"/>
                <a:ea typeface="Arial"/>
                <a:cs typeface="Arial"/>
              </a:rPr>
              <a:t>Financial impact</a:t>
            </a:r>
          </a:p>
        </p:txBody>
      </p:sp>
      <p:sp>
        <p:nvSpPr>
          <p:cNvPr id="9" name="">
            <a:extLst xmlns:a="http://schemas.openxmlformats.org/drawingml/2006/main">
              <a:ext uri="{FF2B5EF4-FFF2-40B4-BE49-F238E27FC236}">
                <a16:creationId xmlns:a16="http://schemas.microsoft.com/office/drawing/2014/main" id="{3C4EA26F-E20A-4E5B-A86B-2F12B6B1A2F0}"/>
              </a:ext>
            </a:extLst>
          </p:cNvPr>
          <p:cNvSpPr>
            <a:spLocks xmlns:a="http://schemas.openxmlformats.org/drawingml/2006/main" noGrp="1"/>
          </p:cNvSpPr>
          <p:nvPr/>
        </p:nvSpPr>
        <p:spPr>
          <a:xfrm xmlns:a="http://schemas.openxmlformats.org/drawingml/2006/main">
            <a:off x="714375" y="3238500"/>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buNone/>
              <a:defRPr sz="1650" b="0">
                <a:solidFill>
                  <a:srgbClr val="FFFFFF"/>
                </a:solidFill>
                <a:latin typeface="Arial"/>
                <a:ea typeface="Arial"/>
                <a:cs typeface="Arial"/>
              </a:defRPr>
            </a:lvl1pPr>
            <a:lvl2pPr algn="l">
              <a:buNone/>
              <a:defRPr sz="1650" b="0">
                <a:solidFill>
                  <a:srgbClr val="FFFFFF"/>
                </a:solidFill>
                <a:latin typeface="Arial"/>
                <a:ea typeface="Arial"/>
                <a:cs typeface="Arial"/>
              </a:defRPr>
            </a:lvl2pPr>
            <a:lvl3pPr algn="l">
              <a:buNone/>
              <a:defRPr sz="1650" b="0">
                <a:solidFill>
                  <a:srgbClr val="FFFFFF"/>
                </a:solidFill>
                <a:latin typeface="Arial"/>
                <a:ea typeface="Arial"/>
                <a:cs typeface="Arial"/>
              </a:defRPr>
            </a:lvl3pPr>
            <a:lvl4pPr algn="l">
              <a:buNone/>
              <a:defRPr sz="1650" b="0">
                <a:solidFill>
                  <a:srgbClr val="FFFFFF"/>
                </a:solidFill>
                <a:latin typeface="Arial"/>
                <a:ea typeface="Arial"/>
                <a:cs typeface="Arial"/>
              </a:defRPr>
            </a:lvl4pPr>
            <a:lvl5pPr algn="l">
              <a:buNone/>
              <a:defRPr sz="1650" b="0">
                <a:solidFill>
                  <a:srgbClr val="FFFFFF"/>
                </a:solidFill>
                <a:latin typeface="Arial"/>
                <a:ea typeface="Arial"/>
                <a:cs typeface="Arial"/>
              </a:defRPr>
            </a:lvl5pPr>
            <a:lvl6pPr algn="l">
              <a:buNone/>
              <a:defRPr sz="1650" b="0">
                <a:solidFill>
                  <a:srgbClr val="FFFFFF"/>
                </a:solidFill>
                <a:latin typeface="Arial"/>
                <a:ea typeface="Arial"/>
                <a:cs typeface="Arial"/>
              </a:defRPr>
            </a:lvl6pPr>
            <a:lvl7pPr algn="l">
              <a:buNone/>
              <a:defRPr sz="1650" b="0">
                <a:solidFill>
                  <a:srgbClr val="FFFFFF"/>
                </a:solidFill>
                <a:latin typeface="Arial"/>
                <a:ea typeface="Arial"/>
                <a:cs typeface="Arial"/>
              </a:defRPr>
            </a:lvl7pPr>
            <a:lvl8pPr algn="l">
              <a:buNone/>
              <a:defRPr sz="1650" b="0">
                <a:solidFill>
                  <a:srgbClr val="FFFFFF"/>
                </a:solidFill>
                <a:latin typeface="Arial"/>
                <a:ea typeface="Arial"/>
                <a:cs typeface="Arial"/>
              </a:defRPr>
            </a:lvl8pPr>
            <a:lvl9pPr algn="l">
              <a:buNone/>
              <a:defRPr sz="1650" b="0">
                <a:solidFill>
                  <a:srgbClr val="FFFFFF"/>
                </a:solidFill>
                <a:latin typeface="Arial"/>
                <a:ea typeface="Arial"/>
                <a:cs typeface="Arial"/>
              </a:defRPr>
            </a:lvl9pPr>
          </a:lstStyle>
          <a:p xmlns:a="http://schemas.openxmlformats.org/drawingml/2006/main">
            <a:pPr algn="l">
              <a:buNone/>
              <a:defRPr sz="1650" b="0">
                <a:solidFill>
                  <a:srgbClr val="FFFFFF"/>
                </a:solidFill>
                <a:latin typeface="Arial"/>
                <a:ea typeface="Arial"/>
                <a:cs typeface="Arial"/>
              </a:defRPr>
            </a:pPr>
            <a:r>
              <a:rPr sz="1650" b="0">
                <a:solidFill>
                  <a:srgbClr val="FFFFFF"/>
                </a:solidFill>
                <a:latin typeface="Arial"/>
                <a:ea typeface="Arial"/>
                <a:cs typeface="Arial"/>
              </a:rPr>
              <a:t>Recounting, overtime and emergency purchases add work and avoidable costs.</a:t>
            </a:r>
          </a:p>
        </p:txBody>
      </p:sp>
      <p:sp>
        <p:nvSpPr>
          <p:cNvPr id="10" name="">
            <a:extLst xmlns:a="http://schemas.openxmlformats.org/drawingml/2006/main">
              <a:ext uri="{FF2B5EF4-FFF2-40B4-BE49-F238E27FC236}">
                <a16:creationId xmlns:a16="http://schemas.microsoft.com/office/drawing/2014/main" id="{840B0970-65A8-4323-B346-486B6CA50AF2}"/>
              </a:ext>
            </a:extLst>
          </p:cNvPr>
          <p:cNvSpPr>
            <a:spLocks xmlns:a="http://schemas.openxmlformats.org/drawingml/2006/main" noGrp="1"/>
          </p:cNvSpPr>
          <p:nvPr/>
        </p:nvSpPr>
        <p:spPr>
          <a:xfrm xmlns:a="http://schemas.openxmlformats.org/drawingml/2006/main">
            <a:off x="714375" y="3724275"/>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buNone/>
              <a:defRPr sz="1650" b="1">
                <a:solidFill>
                  <a:srgbClr val="FFFFFF"/>
                </a:solidFill>
                <a:latin typeface="Arial"/>
                <a:ea typeface="Arial"/>
                <a:cs typeface="Arial"/>
              </a:defRPr>
            </a:lvl1pPr>
            <a:lvl2pPr algn="l">
              <a:buNone/>
              <a:defRPr sz="1650" b="1">
                <a:solidFill>
                  <a:srgbClr val="FFFFFF"/>
                </a:solidFill>
                <a:latin typeface="Arial"/>
                <a:ea typeface="Arial"/>
                <a:cs typeface="Arial"/>
              </a:defRPr>
            </a:lvl2pPr>
            <a:lvl3pPr algn="l">
              <a:buNone/>
              <a:defRPr sz="1650" b="1">
                <a:solidFill>
                  <a:srgbClr val="FFFFFF"/>
                </a:solidFill>
                <a:latin typeface="Arial"/>
                <a:ea typeface="Arial"/>
                <a:cs typeface="Arial"/>
              </a:defRPr>
            </a:lvl3pPr>
            <a:lvl4pPr algn="l">
              <a:buNone/>
              <a:defRPr sz="1650" b="1">
                <a:solidFill>
                  <a:srgbClr val="FFFFFF"/>
                </a:solidFill>
                <a:latin typeface="Arial"/>
                <a:ea typeface="Arial"/>
                <a:cs typeface="Arial"/>
              </a:defRPr>
            </a:lvl4pPr>
            <a:lvl5pPr algn="l">
              <a:buNone/>
              <a:defRPr sz="1650" b="1">
                <a:solidFill>
                  <a:srgbClr val="FFFFFF"/>
                </a:solidFill>
                <a:latin typeface="Arial"/>
                <a:ea typeface="Arial"/>
                <a:cs typeface="Arial"/>
              </a:defRPr>
            </a:lvl5pPr>
            <a:lvl6pPr algn="l">
              <a:buNone/>
              <a:defRPr sz="1650" b="1">
                <a:solidFill>
                  <a:srgbClr val="FFFFFF"/>
                </a:solidFill>
                <a:latin typeface="Arial"/>
                <a:ea typeface="Arial"/>
                <a:cs typeface="Arial"/>
              </a:defRPr>
            </a:lvl6pPr>
            <a:lvl7pPr algn="l">
              <a:buNone/>
              <a:defRPr sz="1650" b="1">
                <a:solidFill>
                  <a:srgbClr val="FFFFFF"/>
                </a:solidFill>
                <a:latin typeface="Arial"/>
                <a:ea typeface="Arial"/>
                <a:cs typeface="Arial"/>
              </a:defRPr>
            </a:lvl7pPr>
            <a:lvl8pPr algn="l">
              <a:buNone/>
              <a:defRPr sz="1650" b="1">
                <a:solidFill>
                  <a:srgbClr val="FFFFFF"/>
                </a:solidFill>
                <a:latin typeface="Arial"/>
                <a:ea typeface="Arial"/>
                <a:cs typeface="Arial"/>
              </a:defRPr>
            </a:lvl8pPr>
            <a:lvl9pPr algn="l">
              <a:buNone/>
              <a:defRPr sz="1650" b="1">
                <a:solidFill>
                  <a:srgbClr val="FFFFFF"/>
                </a:solidFill>
                <a:latin typeface="Arial"/>
                <a:ea typeface="Arial"/>
                <a:cs typeface="Arial"/>
              </a:defRPr>
            </a:lvl9pPr>
          </a:lstStyle>
          <a:p xmlns:a="http://schemas.openxmlformats.org/drawingml/2006/main">
            <a:pPr algn="l">
              <a:buNone/>
              <a:defRPr sz="1650" b="1">
                <a:solidFill>
                  <a:srgbClr val="FFFFFF"/>
                </a:solidFill>
                <a:latin typeface="Arial"/>
                <a:ea typeface="Arial"/>
                <a:cs typeface="Arial"/>
              </a:defRPr>
            </a:pPr>
            <a:r>
              <a:rPr sz="1650" b="1">
                <a:solidFill>
                  <a:srgbClr val="FFFFFF"/>
                </a:solidFill>
                <a:latin typeface="Arial"/>
                <a:ea typeface="Arial"/>
                <a:cs typeface="Arial"/>
              </a:rPr>
              <a:t>Overall finding</a:t>
            </a:r>
          </a:p>
        </p:txBody>
      </p:sp>
      <p:sp>
        <p:nvSpPr>
          <p:cNvPr id="11" name="">
            <a:extLst xmlns:a="http://schemas.openxmlformats.org/drawingml/2006/main">
              <a:ext uri="{FF2B5EF4-FFF2-40B4-BE49-F238E27FC236}">
                <a16:creationId xmlns:a16="http://schemas.microsoft.com/office/drawing/2014/main" id="{6B7DF299-784A-4610-A1E2-001B64AA215F}"/>
              </a:ext>
            </a:extLst>
          </p:cNvPr>
          <p:cNvSpPr>
            <a:spLocks xmlns:a="http://schemas.openxmlformats.org/drawingml/2006/main" noGrp="1"/>
          </p:cNvSpPr>
          <p:nvPr/>
        </p:nvSpPr>
        <p:spPr>
          <a:xfrm xmlns:a="http://schemas.openxmlformats.org/drawingml/2006/main">
            <a:off x="714375" y="3990975"/>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buNone/>
              <a:defRPr sz="1650" b="0">
                <a:solidFill>
                  <a:srgbClr val="FFFFFF"/>
                </a:solidFill>
                <a:latin typeface="Arial"/>
                <a:ea typeface="Arial"/>
                <a:cs typeface="Arial"/>
              </a:defRPr>
            </a:lvl1pPr>
            <a:lvl2pPr algn="l">
              <a:buNone/>
              <a:defRPr sz="1650" b="0">
                <a:solidFill>
                  <a:srgbClr val="FFFFFF"/>
                </a:solidFill>
                <a:latin typeface="Arial"/>
                <a:ea typeface="Arial"/>
                <a:cs typeface="Arial"/>
              </a:defRPr>
            </a:lvl2pPr>
            <a:lvl3pPr algn="l">
              <a:buNone/>
              <a:defRPr sz="1650" b="0">
                <a:solidFill>
                  <a:srgbClr val="FFFFFF"/>
                </a:solidFill>
                <a:latin typeface="Arial"/>
                <a:ea typeface="Arial"/>
                <a:cs typeface="Arial"/>
              </a:defRPr>
            </a:lvl3pPr>
            <a:lvl4pPr algn="l">
              <a:buNone/>
              <a:defRPr sz="1650" b="0">
                <a:solidFill>
                  <a:srgbClr val="FFFFFF"/>
                </a:solidFill>
                <a:latin typeface="Arial"/>
                <a:ea typeface="Arial"/>
                <a:cs typeface="Arial"/>
              </a:defRPr>
            </a:lvl4pPr>
            <a:lvl5pPr algn="l">
              <a:buNone/>
              <a:defRPr sz="1650" b="0">
                <a:solidFill>
                  <a:srgbClr val="FFFFFF"/>
                </a:solidFill>
                <a:latin typeface="Arial"/>
                <a:ea typeface="Arial"/>
                <a:cs typeface="Arial"/>
              </a:defRPr>
            </a:lvl5pPr>
            <a:lvl6pPr algn="l">
              <a:buNone/>
              <a:defRPr sz="1650" b="0">
                <a:solidFill>
                  <a:srgbClr val="FFFFFF"/>
                </a:solidFill>
                <a:latin typeface="Arial"/>
                <a:ea typeface="Arial"/>
                <a:cs typeface="Arial"/>
              </a:defRPr>
            </a:lvl6pPr>
            <a:lvl7pPr algn="l">
              <a:buNone/>
              <a:defRPr sz="1650" b="0">
                <a:solidFill>
                  <a:srgbClr val="FFFFFF"/>
                </a:solidFill>
                <a:latin typeface="Arial"/>
                <a:ea typeface="Arial"/>
                <a:cs typeface="Arial"/>
              </a:defRPr>
            </a:lvl7pPr>
            <a:lvl8pPr algn="l">
              <a:buNone/>
              <a:defRPr sz="1650" b="0">
                <a:solidFill>
                  <a:srgbClr val="FFFFFF"/>
                </a:solidFill>
                <a:latin typeface="Arial"/>
                <a:ea typeface="Arial"/>
                <a:cs typeface="Arial"/>
              </a:defRPr>
            </a:lvl8pPr>
            <a:lvl9pPr algn="l">
              <a:buNone/>
              <a:defRPr sz="1650" b="0">
                <a:solidFill>
                  <a:srgbClr val="FFFFFF"/>
                </a:solidFill>
                <a:latin typeface="Arial"/>
                <a:ea typeface="Arial"/>
                <a:cs typeface="Arial"/>
              </a:defRPr>
            </a:lvl9pPr>
          </a:lstStyle>
          <a:p xmlns:a="http://schemas.openxmlformats.org/drawingml/2006/main">
            <a:pPr algn="l">
              <a:buNone/>
              <a:defRPr sz="1650" b="0">
                <a:solidFill>
                  <a:srgbClr val="FFFFFF"/>
                </a:solidFill>
                <a:latin typeface="Arial"/>
                <a:ea typeface="Arial"/>
                <a:cs typeface="Arial"/>
              </a:defRPr>
            </a:pPr>
            <a:r>
              <a:rPr sz="1650" b="0">
                <a:solidFill>
                  <a:srgbClr val="FFFFFF"/>
                </a:solidFill>
                <a:latin typeface="Arial"/>
                <a:ea typeface="Arial"/>
                <a:cs typeface="Arial"/>
              </a:rPr>
              <a:t>Routine decisions need a shared, timely and auditable record.</a:t>
            </a:r>
          </a:p>
        </p:txBody>
      </p:sp>
    </p:spTree>
    <p:extLst>
      <p:ext uri="{BB962C8B-B14F-4D97-AF65-F5344CB8AC3E}">
        <p14:creationId xmlns:p14="http://schemas.microsoft.com/office/powerpoint/2010/main" val="165366156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6" name="Picture 15">
            <a:extLst xmlns:a="http://schemas.openxmlformats.org/drawingml/2006/main">
              <a:ext uri="{FF2B5EF4-FFF2-40B4-BE49-F238E27FC236}">
                <a16:creationId xmlns:a16="http://schemas.microsoft.com/office/drawing/2014/main" id="{B6926E5F-D89D-4591-9675-5FB30CF02760}"/>
              </a:ext>
            </a:extLst>
          </p:cNvPr>
          <p:cNvPicPr>
            <a:picLocks xmlns:a="http://schemas.openxmlformats.org/drawingml/2006/main" noChangeAspect="1"/>
          </p:cNvPicPr>
          <p:nvPr/>
        </p:nvPicPr>
        <p:blipFill>
          <a:blip xmlns:r="http://schemas.openxmlformats.org/officeDocument/2006/relationships" xmlns:a="http://schemas.openxmlformats.org/drawingml/2006/main" r:embed="R3538a0075d864dd5"/>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6">
            <a:extLst xmlns:a="http://schemas.openxmlformats.org/drawingml/2006/main">
              <a:ext uri="{FF2B5EF4-FFF2-40B4-BE49-F238E27FC236}">
                <a16:creationId xmlns:a16="http://schemas.microsoft.com/office/drawing/2014/main" id="{10CB2859-D0AD-4A6F-84ED-73E7112F063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Developed IT solution</a:t>
            </a:r>
          </a:p>
        </p:txBody>
      </p:sp>
      <p:pic>
        <p:nvPicPr>
          <p:cNvPr id="4" name="Picture 3">
            <a:extLst xmlns:a="http://schemas.openxmlformats.org/drawingml/2006/main">
              <a:ext uri="{FF2B5EF4-FFF2-40B4-BE49-F238E27FC236}">
                <a16:creationId xmlns:a16="http://schemas.microsoft.com/office/drawing/2014/main" id="{083E0458-08EA-4C9E-8783-A647B34C1E3B}"/>
              </a:ext>
            </a:extLst>
          </p:cNvPr>
          <p:cNvPicPr>
            <a:picLocks xmlns:a="http://schemas.openxmlformats.org/drawingml/2006/main" noChangeAspect="1"/>
          </p:cNvPicPr>
          <p:nvPr/>
        </p:nvPicPr>
        <p:blipFill>
          <a:blip xmlns:r="http://schemas.openxmlformats.org/officeDocument/2006/relationships" xmlns:a="http://schemas.openxmlformats.org/drawingml/2006/main" r:embed="R2e719c05696d452c"/>
          <a:stretch xmlns:a="http://schemas.openxmlformats.org/drawingml/2006/main"/>
        </p:blipFill>
        <p:spPr>
          <a:xfrm xmlns:a="http://schemas.openxmlformats.org/drawingml/2006/main">
            <a:off x="571500" y="1543050"/>
            <a:ext cx="1809750" cy="1809750"/>
          </a:xfrm>
          <a:prstGeom xmlns:a="http://schemas.openxmlformats.org/drawingml/2006/main" prst="rect">
            <a:avLst/>
          </a:prstGeom>
        </p:spPr>
      </p:pic>
      <p:sp>
        <p:nvSpPr>
          <p:cNvPr id="5" name="current-content-89">
            <a:extLst xmlns:a="http://schemas.openxmlformats.org/drawingml/2006/main">
              <a:ext uri="{FF2B5EF4-FFF2-40B4-BE49-F238E27FC236}">
                <a16:creationId xmlns:a16="http://schemas.microsoft.com/office/drawing/2014/main" id="{3115D5F7-304C-48DE-885B-446BBCD33CE6}"/>
              </a:ext>
            </a:extLst>
          </p:cNvPr>
          <p:cNvSpPr>
            <a:spLocks xmlns:a="http://schemas.openxmlformats.org/drawingml/2006/main" noGrp="1"/>
          </p:cNvSpPr>
          <p:nvPr/>
        </p:nvSpPr>
        <p:spPr>
          <a:xfrm xmlns:a="http://schemas.openxmlformats.org/drawingml/2006/main">
            <a:off x="2886075" y="1266825"/>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C61"/>
                </a:solidFill>
                <a:latin typeface="Raleway"/>
                <a:ea typeface="Raleway"/>
                <a:cs typeface="Raleway"/>
              </a:defRPr>
            </a:defPPr>
            <a:lvl1pPr algn="l">
              <a:buNone/>
              <a:defRPr sz="2025" b="1">
                <a:solidFill>
                  <a:srgbClr val="202C61"/>
                </a:solidFill>
                <a:latin typeface="Raleway"/>
                <a:ea typeface="Raleway"/>
                <a:cs typeface="Raleway"/>
              </a:defRPr>
            </a:lvl1pPr>
            <a:lvl2pPr algn="l">
              <a:buNone/>
              <a:defRPr sz="2025" b="1">
                <a:solidFill>
                  <a:srgbClr val="202C61"/>
                </a:solidFill>
                <a:latin typeface="Raleway"/>
                <a:ea typeface="Raleway"/>
                <a:cs typeface="Raleway"/>
              </a:defRPr>
            </a:lvl2pPr>
            <a:lvl3pPr algn="l">
              <a:buNone/>
              <a:defRPr sz="2025" b="1">
                <a:solidFill>
                  <a:srgbClr val="202C61"/>
                </a:solidFill>
                <a:latin typeface="Raleway"/>
                <a:ea typeface="Raleway"/>
                <a:cs typeface="Raleway"/>
              </a:defRPr>
            </a:lvl3pPr>
            <a:lvl4pPr algn="l">
              <a:buNone/>
              <a:defRPr sz="2025" b="1">
                <a:solidFill>
                  <a:srgbClr val="202C61"/>
                </a:solidFill>
                <a:latin typeface="Raleway"/>
                <a:ea typeface="Raleway"/>
                <a:cs typeface="Raleway"/>
              </a:defRPr>
            </a:lvl4pPr>
            <a:lvl5pPr algn="l">
              <a:buNone/>
              <a:defRPr sz="2025" b="1">
                <a:solidFill>
                  <a:srgbClr val="202C61"/>
                </a:solidFill>
                <a:latin typeface="Raleway"/>
                <a:ea typeface="Raleway"/>
                <a:cs typeface="Raleway"/>
              </a:defRPr>
            </a:lvl5pPr>
            <a:lvl6pPr algn="l">
              <a:buNone/>
              <a:defRPr sz="2025" b="1">
                <a:solidFill>
                  <a:srgbClr val="202C61"/>
                </a:solidFill>
                <a:latin typeface="Raleway"/>
                <a:ea typeface="Raleway"/>
                <a:cs typeface="Raleway"/>
              </a:defRPr>
            </a:lvl6pPr>
            <a:lvl7pPr algn="l">
              <a:buNone/>
              <a:defRPr sz="2025" b="1">
                <a:solidFill>
                  <a:srgbClr val="202C61"/>
                </a:solidFill>
                <a:latin typeface="Raleway"/>
                <a:ea typeface="Raleway"/>
                <a:cs typeface="Raleway"/>
              </a:defRPr>
            </a:lvl7pPr>
            <a:lvl8pPr algn="l">
              <a:buNone/>
              <a:defRPr sz="2025" b="1">
                <a:solidFill>
                  <a:srgbClr val="202C61"/>
                </a:solidFill>
                <a:latin typeface="Raleway"/>
                <a:ea typeface="Raleway"/>
                <a:cs typeface="Raleway"/>
              </a:defRPr>
            </a:lvl8pPr>
            <a:lvl9pPr algn="l">
              <a:buNone/>
              <a:defRPr sz="2025" b="1">
                <a:solidFill>
                  <a:srgbClr val="202C61"/>
                </a:solidFill>
                <a:latin typeface="Raleway"/>
                <a:ea typeface="Raleway"/>
                <a:cs typeface="Raleway"/>
              </a:defRPr>
            </a:lvl9pPr>
          </a:lstStyle>
          <a:p xmlns:a="http://schemas.openxmlformats.org/drawingml/2006/main">
            <a:pPr algn="l">
              <a:buNone/>
              <a:defRPr sz="2025" b="1">
                <a:solidFill>
                  <a:srgbClr val="202C61"/>
                </a:solidFill>
                <a:latin typeface="Raleway"/>
                <a:ea typeface="Raleway"/>
                <a:cs typeface="Raleway"/>
              </a:defRPr>
            </a:pPr>
            <a:r>
              <a:rPr sz="2025" b="1">
                <a:solidFill>
                  <a:srgbClr val="202C61"/>
                </a:solidFill>
                <a:latin typeface="Raleway"/>
                <a:ea typeface="Raleway"/>
                <a:cs typeface="Raleway"/>
              </a:rPr>
              <a:t>Point-of-sale and inventory management</a:t>
            </a:r>
          </a:p>
        </p:txBody>
      </p:sp>
      <p:sp>
        <p:nvSpPr>
          <p:cNvPr id="6" name="current-content-90">
            <a:extLst xmlns:a="http://schemas.openxmlformats.org/drawingml/2006/main">
              <a:ext uri="{FF2B5EF4-FFF2-40B4-BE49-F238E27FC236}">
                <a16:creationId xmlns:a16="http://schemas.microsoft.com/office/drawing/2014/main" id="{074604F5-6BC0-436B-9D28-845D084D7176}"/>
              </a:ext>
            </a:extLst>
          </p:cNvPr>
          <p:cNvSpPr>
            <a:spLocks xmlns:a="http://schemas.openxmlformats.org/drawingml/2006/main" noGrp="1"/>
          </p:cNvSpPr>
          <p:nvPr/>
        </p:nvSpPr>
        <p:spPr>
          <a:xfrm xmlns:a="http://schemas.openxmlformats.org/drawingml/2006/main">
            <a:off x="2886075" y="19526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Sales</a:t>
            </a:r>
          </a:p>
        </p:txBody>
      </p:sp>
      <p:sp>
        <p:nvSpPr>
          <p:cNvPr id="7" name="current-content-91">
            <a:extLst xmlns:a="http://schemas.openxmlformats.org/drawingml/2006/main">
              <a:ext uri="{FF2B5EF4-FFF2-40B4-BE49-F238E27FC236}">
                <a16:creationId xmlns:a16="http://schemas.microsoft.com/office/drawing/2014/main" id="{4904F8D9-6575-4957-9CC1-FD29C92B10F2}"/>
              </a:ext>
            </a:extLst>
          </p:cNvPr>
          <p:cNvSpPr>
            <a:spLocks xmlns:a="http://schemas.openxmlformats.org/drawingml/2006/main" noGrp="1"/>
          </p:cNvSpPr>
          <p:nvPr/>
        </p:nvSpPr>
        <p:spPr>
          <a:xfrm xmlns:a="http://schemas.openxmlformats.org/drawingml/2006/main">
            <a:off x="4286250" y="19526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Checkout, receipts and transaction history</a:t>
            </a:r>
          </a:p>
        </p:txBody>
      </p:sp>
      <p:sp>
        <p:nvSpPr>
          <p:cNvPr id="8" name="current-content-92">
            <a:extLst xmlns:a="http://schemas.openxmlformats.org/drawingml/2006/main">
              <a:ext uri="{FF2B5EF4-FFF2-40B4-BE49-F238E27FC236}">
                <a16:creationId xmlns:a16="http://schemas.microsoft.com/office/drawing/2014/main" id="{248B0B2F-A47E-40B1-8662-93F44167ADD3}"/>
              </a:ext>
            </a:extLst>
          </p:cNvPr>
          <p:cNvSpPr>
            <a:spLocks xmlns:a="http://schemas.openxmlformats.org/drawingml/2006/main" noGrp="1"/>
          </p:cNvSpPr>
          <p:nvPr/>
        </p:nvSpPr>
        <p:spPr>
          <a:xfrm xmlns:a="http://schemas.openxmlformats.org/drawingml/2006/main">
            <a:off x="2886075" y="243840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Inventory</a:t>
            </a:r>
          </a:p>
        </p:txBody>
      </p:sp>
      <p:sp>
        <p:nvSpPr>
          <p:cNvPr id="9" name="current-content-93">
            <a:extLst xmlns:a="http://schemas.openxmlformats.org/drawingml/2006/main">
              <a:ext uri="{FF2B5EF4-FFF2-40B4-BE49-F238E27FC236}">
                <a16:creationId xmlns:a16="http://schemas.microsoft.com/office/drawing/2014/main" id="{7A511D1E-E514-4B23-BF9B-8F5F1AD1AB92}"/>
              </a:ext>
            </a:extLst>
          </p:cNvPr>
          <p:cNvSpPr>
            <a:spLocks xmlns:a="http://schemas.openxmlformats.org/drawingml/2006/main" noGrp="1"/>
          </p:cNvSpPr>
          <p:nvPr/>
        </p:nvSpPr>
        <p:spPr>
          <a:xfrm xmlns:a="http://schemas.openxmlformats.org/drawingml/2006/main">
            <a:off x="4286250" y="243840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Base stock, options, adjustments and import</a:t>
            </a:r>
          </a:p>
        </p:txBody>
      </p:sp>
      <p:sp>
        <p:nvSpPr>
          <p:cNvPr id="10" name="current-content-94">
            <a:extLst xmlns:a="http://schemas.openxmlformats.org/drawingml/2006/main">
              <a:ext uri="{FF2B5EF4-FFF2-40B4-BE49-F238E27FC236}">
                <a16:creationId xmlns:a16="http://schemas.microsoft.com/office/drawing/2014/main" id="{D78A74F9-CE67-44FF-B9A9-E535F33AEA50}"/>
              </a:ext>
            </a:extLst>
          </p:cNvPr>
          <p:cNvSpPr>
            <a:spLocks xmlns:a="http://schemas.openxmlformats.org/drawingml/2006/main" noGrp="1"/>
          </p:cNvSpPr>
          <p:nvPr/>
        </p:nvSpPr>
        <p:spPr>
          <a:xfrm xmlns:a="http://schemas.openxmlformats.org/drawingml/2006/main">
            <a:off x="2886075" y="292417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Purchasing</a:t>
            </a:r>
          </a:p>
        </p:txBody>
      </p:sp>
      <p:sp>
        <p:nvSpPr>
          <p:cNvPr id="11" name="current-content-95">
            <a:extLst xmlns:a="http://schemas.openxmlformats.org/drawingml/2006/main">
              <a:ext uri="{FF2B5EF4-FFF2-40B4-BE49-F238E27FC236}">
                <a16:creationId xmlns:a16="http://schemas.microsoft.com/office/drawing/2014/main" id="{9E40A93E-45C7-4C81-92F8-D79744B57A2C}"/>
              </a:ext>
            </a:extLst>
          </p:cNvPr>
          <p:cNvSpPr>
            <a:spLocks xmlns:a="http://schemas.openxmlformats.org/drawingml/2006/main" noGrp="1"/>
          </p:cNvSpPr>
          <p:nvPr/>
        </p:nvSpPr>
        <p:spPr>
          <a:xfrm xmlns:a="http://schemas.openxmlformats.org/drawingml/2006/main">
            <a:off x="4286250" y="292417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Suppliers, receiving and consignment balances</a:t>
            </a:r>
          </a:p>
        </p:txBody>
      </p:sp>
      <p:sp>
        <p:nvSpPr>
          <p:cNvPr id="12" name="current-content-96">
            <a:extLst xmlns:a="http://schemas.openxmlformats.org/drawingml/2006/main">
              <a:ext uri="{FF2B5EF4-FFF2-40B4-BE49-F238E27FC236}">
                <a16:creationId xmlns:a16="http://schemas.microsoft.com/office/drawing/2014/main" id="{1D5ED9C8-3EA6-4636-A6B8-39EE100F7B22}"/>
              </a:ext>
            </a:extLst>
          </p:cNvPr>
          <p:cNvSpPr>
            <a:spLocks xmlns:a="http://schemas.openxmlformats.org/drawingml/2006/main" noGrp="1"/>
          </p:cNvSpPr>
          <p:nvPr/>
        </p:nvSpPr>
        <p:spPr>
          <a:xfrm xmlns:a="http://schemas.openxmlformats.org/drawingml/2006/main">
            <a:off x="2886075" y="340995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Monitoring</a:t>
            </a:r>
          </a:p>
        </p:txBody>
      </p:sp>
      <p:sp>
        <p:nvSpPr>
          <p:cNvPr id="13" name="current-content-97">
            <a:extLst xmlns:a="http://schemas.openxmlformats.org/drawingml/2006/main">
              <a:ext uri="{FF2B5EF4-FFF2-40B4-BE49-F238E27FC236}">
                <a16:creationId xmlns:a16="http://schemas.microsoft.com/office/drawing/2014/main" id="{3F881C0A-DA37-4AD3-B412-B6E95E25C062}"/>
              </a:ext>
            </a:extLst>
          </p:cNvPr>
          <p:cNvSpPr>
            <a:spLocks xmlns:a="http://schemas.openxmlformats.org/drawingml/2006/main" noGrp="1"/>
          </p:cNvSpPr>
          <p:nvPr/>
        </p:nvSpPr>
        <p:spPr>
          <a:xfrm xmlns:a="http://schemas.openxmlformats.org/drawingml/2006/main">
            <a:off x="4286250" y="340995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Alerts, descriptive analytics and reports</a:t>
            </a:r>
          </a:p>
        </p:txBody>
      </p:sp>
      <p:sp>
        <p:nvSpPr>
          <p:cNvPr id="14" name="current-content-98">
            <a:extLst xmlns:a="http://schemas.openxmlformats.org/drawingml/2006/main">
              <a:ext uri="{FF2B5EF4-FFF2-40B4-BE49-F238E27FC236}">
                <a16:creationId xmlns:a16="http://schemas.microsoft.com/office/drawing/2014/main" id="{C6AE54B3-2363-4B38-99A1-64F496372514}"/>
              </a:ext>
            </a:extLst>
          </p:cNvPr>
          <p:cNvSpPr>
            <a:spLocks xmlns:a="http://schemas.openxmlformats.org/drawingml/2006/main" noGrp="1"/>
          </p:cNvSpPr>
          <p:nvPr/>
        </p:nvSpPr>
        <p:spPr>
          <a:xfrm xmlns:a="http://schemas.openxmlformats.org/drawingml/2006/main">
            <a:off x="2886075" y="38957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Access</a:t>
            </a:r>
          </a:p>
        </p:txBody>
      </p:sp>
      <p:sp>
        <p:nvSpPr>
          <p:cNvPr id="15" name="current-content-99">
            <a:extLst xmlns:a="http://schemas.openxmlformats.org/drawingml/2006/main">
              <a:ext uri="{FF2B5EF4-FFF2-40B4-BE49-F238E27FC236}">
                <a16:creationId xmlns:a16="http://schemas.microsoft.com/office/drawing/2014/main" id="{E9C78588-3A1E-4310-8B4D-650B4788E747}"/>
              </a:ext>
            </a:extLst>
          </p:cNvPr>
          <p:cNvSpPr>
            <a:spLocks xmlns:a="http://schemas.openxmlformats.org/drawingml/2006/main" noGrp="1"/>
          </p:cNvSpPr>
          <p:nvPr/>
        </p:nvSpPr>
        <p:spPr>
          <a:xfrm xmlns:a="http://schemas.openxmlformats.org/drawingml/2006/main">
            <a:off x="4286250" y="38957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Assigned-store accounts and TOTP MFA</a:t>
            </a:r>
          </a:p>
        </p:txBody>
      </p:sp>
    </p:spTree>
    <p:extLst>
      <p:ext uri="{BB962C8B-B14F-4D97-AF65-F5344CB8AC3E}">
        <p14:creationId xmlns:p14="http://schemas.microsoft.com/office/powerpoint/2010/main" val="6989783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cxnSp>
        <p:nvCxnSpPr>
          <p:cNvPr id="56" name="">
            <a:extLst xmlns:a="http://schemas.openxmlformats.org/drawingml/2006/main">
              <a:ext uri="{FF2B5EF4-FFF2-40B4-BE49-F238E27FC236}">
                <a16:creationId xmlns:a16="http://schemas.microsoft.com/office/drawing/2014/main" id="{6431D79A-75ED-46DD-8844-D99F25AA7BFE}"/>
              </a:ext>
            </a:extLst>
          </p:cNvPr>
          <p:cNvCxnSpPr/>
          <p:nvPr/>
        </p:nvCxnSpPr>
        <p:spPr>
          <a:xfrm xmlns:a="http://schemas.openxmlformats.org/drawingml/2006/main" flipH="0" flipV="0">
            <a:off x="6762750" y="3000375"/>
            <a:ext cx="2857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35" name="">
            <a:extLst xmlns:a="http://schemas.openxmlformats.org/drawingml/2006/main">
              <a:ext uri="{FF2B5EF4-FFF2-40B4-BE49-F238E27FC236}">
                <a16:creationId xmlns:a16="http://schemas.microsoft.com/office/drawing/2014/main" id="{99492C00-38D8-4945-B879-62F7A126B4EB}"/>
              </a:ext>
            </a:extLst>
          </p:cNvPr>
          <p:cNvCxnSpPr/>
          <p:nvPr/>
        </p:nvCxnSpPr>
        <p:spPr>
          <a:xfrm xmlns:a="http://schemas.openxmlformats.org/drawingml/2006/main" flipH="0" flipV="0">
            <a:off x="2257425" y="3981450"/>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31" name="">
            <a:extLst xmlns:a="http://schemas.openxmlformats.org/drawingml/2006/main">
              <a:ext uri="{FF2B5EF4-FFF2-40B4-BE49-F238E27FC236}">
                <a16:creationId xmlns:a16="http://schemas.microsoft.com/office/drawing/2014/main" id="{D549B29A-92E8-4B58-8921-F191F8C83A5E}"/>
              </a:ext>
            </a:extLst>
          </p:cNvPr>
          <p:cNvCxnSpPr/>
          <p:nvPr/>
        </p:nvCxnSpPr>
        <p:spPr>
          <a:xfrm xmlns:a="http://schemas.openxmlformats.org/drawingml/2006/main" flipH="0" flipV="0">
            <a:off x="2257425" y="3286125"/>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27" name="">
            <a:extLst xmlns:a="http://schemas.openxmlformats.org/drawingml/2006/main">
              <a:ext uri="{FF2B5EF4-FFF2-40B4-BE49-F238E27FC236}">
                <a16:creationId xmlns:a16="http://schemas.microsoft.com/office/drawing/2014/main" id="{75F11DE2-8A69-4D64-8AAC-133A205C3022}"/>
              </a:ext>
            </a:extLst>
          </p:cNvPr>
          <p:cNvCxnSpPr/>
          <p:nvPr/>
        </p:nvCxnSpPr>
        <p:spPr>
          <a:xfrm xmlns:a="http://schemas.openxmlformats.org/drawingml/2006/main" flipH="0" flipV="0">
            <a:off x="2257425" y="2590800"/>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23" name="">
            <a:extLst xmlns:a="http://schemas.openxmlformats.org/drawingml/2006/main">
              <a:ext uri="{FF2B5EF4-FFF2-40B4-BE49-F238E27FC236}">
                <a16:creationId xmlns:a16="http://schemas.microsoft.com/office/drawing/2014/main" id="{F01CD93C-7B70-460A-8BA5-9DDFC6DF97E2}"/>
              </a:ext>
            </a:extLst>
          </p:cNvPr>
          <p:cNvCxnSpPr/>
          <p:nvPr/>
        </p:nvCxnSpPr>
        <p:spPr>
          <a:xfrm xmlns:a="http://schemas.openxmlformats.org/drawingml/2006/main" flipH="0" flipV="0">
            <a:off x="2257425" y="1895475"/>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pic>
        <p:nvPicPr>
          <p:cNvPr id="16" name="Picture 15">
            <a:extLst xmlns:a="http://schemas.openxmlformats.org/drawingml/2006/main">
              <a:ext uri="{FF2B5EF4-FFF2-40B4-BE49-F238E27FC236}">
                <a16:creationId xmlns:a16="http://schemas.microsoft.com/office/drawing/2014/main" id="{67B03F52-699F-4111-A9AF-E8E15C41720D}"/>
              </a:ext>
            </a:extLst>
          </p:cNvPr>
          <p:cNvPicPr>
            <a:picLocks xmlns:a="http://schemas.openxmlformats.org/drawingml/2006/main" noChangeAspect="1"/>
          </p:cNvPicPr>
          <p:nvPr/>
        </p:nvPicPr>
        <p:blipFill>
          <a:blip xmlns:r="http://schemas.openxmlformats.org/officeDocument/2006/relationships" xmlns:a="http://schemas.openxmlformats.org/drawingml/2006/main" r:embed="Rf4af62cb7b32458c"/>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8">
            <a:extLst xmlns:a="http://schemas.openxmlformats.org/drawingml/2006/main">
              <a:ext uri="{FF2B5EF4-FFF2-40B4-BE49-F238E27FC236}">
                <a16:creationId xmlns:a16="http://schemas.microsoft.com/office/drawing/2014/main" id="{6BFBB52B-2E60-44FE-975B-051D323D6873}"/>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Conceptual framework</a:t>
            </a:r>
          </a:p>
        </p:txBody>
      </p:sp>
      <p:sp>
        <p:nvSpPr>
          <p:cNvPr id="17" name="">
            <a:extLst xmlns:a="http://schemas.openxmlformats.org/drawingml/2006/main">
              <a:ext uri="{FF2B5EF4-FFF2-40B4-BE49-F238E27FC236}">
                <a16:creationId xmlns:a16="http://schemas.microsoft.com/office/drawing/2014/main" id="{E25A3C4E-F7D1-497C-8C87-46CAEE226563}"/>
              </a:ext>
            </a:extLst>
          </p:cNvPr>
          <p:cNvSpPr>
            <a:spLocks xmlns:a="http://schemas.openxmlformats.org/drawingml/2006/main" noGrp="1"/>
          </p:cNvSpPr>
          <p:nvPr/>
        </p:nvSpPr>
        <p:spPr>
          <a:xfrm xmlns:a="http://schemas.openxmlformats.org/drawingml/2006/main">
            <a:off x="533400" y="120015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02C61"/>
                </a:solidFill>
                <a:latin typeface="Arial"/>
                <a:ea typeface="Arial"/>
                <a:cs typeface="Arial"/>
              </a:defRPr>
            </a:defPPr>
            <a:lvl1pPr algn="l">
              <a:buNone/>
              <a:defRPr sz="1425" b="1">
                <a:solidFill>
                  <a:srgbClr val="202C61"/>
                </a:solidFill>
                <a:latin typeface="Arial"/>
                <a:ea typeface="Arial"/>
                <a:cs typeface="Arial"/>
              </a:defRPr>
            </a:lvl1pPr>
            <a:lvl2pPr algn="l">
              <a:buNone/>
              <a:defRPr sz="1425" b="1">
                <a:solidFill>
                  <a:srgbClr val="202C61"/>
                </a:solidFill>
                <a:latin typeface="Arial"/>
                <a:ea typeface="Arial"/>
                <a:cs typeface="Arial"/>
              </a:defRPr>
            </a:lvl2pPr>
            <a:lvl3pPr algn="l">
              <a:buNone/>
              <a:defRPr sz="1425" b="1">
                <a:solidFill>
                  <a:srgbClr val="202C61"/>
                </a:solidFill>
                <a:latin typeface="Arial"/>
                <a:ea typeface="Arial"/>
                <a:cs typeface="Arial"/>
              </a:defRPr>
            </a:lvl3pPr>
            <a:lvl4pPr algn="l">
              <a:buNone/>
              <a:defRPr sz="1425" b="1">
                <a:solidFill>
                  <a:srgbClr val="202C61"/>
                </a:solidFill>
                <a:latin typeface="Arial"/>
                <a:ea typeface="Arial"/>
                <a:cs typeface="Arial"/>
              </a:defRPr>
            </a:lvl4pPr>
            <a:lvl5pPr algn="l">
              <a:buNone/>
              <a:defRPr sz="1425" b="1">
                <a:solidFill>
                  <a:srgbClr val="202C61"/>
                </a:solidFill>
                <a:latin typeface="Arial"/>
                <a:ea typeface="Arial"/>
                <a:cs typeface="Arial"/>
              </a:defRPr>
            </a:lvl5pPr>
            <a:lvl6pPr algn="l">
              <a:buNone/>
              <a:defRPr sz="1425" b="1">
                <a:solidFill>
                  <a:srgbClr val="202C61"/>
                </a:solidFill>
                <a:latin typeface="Arial"/>
                <a:ea typeface="Arial"/>
                <a:cs typeface="Arial"/>
              </a:defRPr>
            </a:lvl6pPr>
            <a:lvl7pPr algn="l">
              <a:buNone/>
              <a:defRPr sz="1425" b="1">
                <a:solidFill>
                  <a:srgbClr val="202C61"/>
                </a:solidFill>
                <a:latin typeface="Arial"/>
                <a:ea typeface="Arial"/>
                <a:cs typeface="Arial"/>
              </a:defRPr>
            </a:lvl7pPr>
            <a:lvl8pPr algn="l">
              <a:buNone/>
              <a:defRPr sz="1425" b="1">
                <a:solidFill>
                  <a:srgbClr val="202C61"/>
                </a:solidFill>
                <a:latin typeface="Arial"/>
                <a:ea typeface="Arial"/>
                <a:cs typeface="Arial"/>
              </a:defRPr>
            </a:lvl8pPr>
            <a:lvl9pPr algn="l">
              <a:buNone/>
              <a:defRPr sz="1425" b="1">
                <a:solidFill>
                  <a:srgbClr val="202C61"/>
                </a:solidFill>
                <a:latin typeface="Arial"/>
                <a:ea typeface="Arial"/>
                <a:cs typeface="Arial"/>
              </a:defRPr>
            </a:lvl9pPr>
          </a:lstStyle>
          <a:p xmlns:a="http://schemas.openxmlformats.org/drawingml/2006/main">
            <a:pPr algn="l">
              <a:buNone/>
              <a:defRPr sz="1425" b="1">
                <a:solidFill>
                  <a:srgbClr val="202C61"/>
                </a:solidFill>
                <a:latin typeface="Arial"/>
                <a:ea typeface="Arial"/>
                <a:cs typeface="Arial"/>
              </a:defRPr>
            </a:pPr>
            <a:r>
              <a:rPr sz="1425" b="1">
                <a:solidFill>
                  <a:srgbClr val="202C61"/>
                </a:solidFill>
                <a:latin typeface="Arial"/>
                <a:ea typeface="Arial"/>
                <a:cs typeface="Arial"/>
              </a:rPr>
              <a:t>System roles</a:t>
            </a:r>
          </a:p>
        </p:txBody>
      </p:sp>
      <p:sp>
        <p:nvSpPr>
          <p:cNvPr id="18" name="">
            <a:extLst xmlns:a="http://schemas.openxmlformats.org/drawingml/2006/main">
              <a:ext uri="{FF2B5EF4-FFF2-40B4-BE49-F238E27FC236}">
                <a16:creationId xmlns:a16="http://schemas.microsoft.com/office/drawing/2014/main" id="{F335CB95-1F89-4FE8-9A2E-FFDBE48A1D32}"/>
              </a:ext>
            </a:extLst>
          </p:cNvPr>
          <p:cNvSpPr>
            <a:spLocks xmlns:a="http://schemas.openxmlformats.org/drawingml/2006/main" noGrp="1"/>
          </p:cNvSpPr>
          <p:nvPr/>
        </p:nvSpPr>
        <p:spPr>
          <a:xfrm xmlns:a="http://schemas.openxmlformats.org/drawingml/2006/main">
            <a:off x="2790825" y="1200150"/>
            <a:ext cx="3905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Kodigo cloud-based platform</a:t>
            </a:r>
          </a:p>
        </p:txBody>
      </p:sp>
      <p:sp>
        <p:nvSpPr>
          <p:cNvPr id="19" name="">
            <a:extLst xmlns:a="http://schemas.openxmlformats.org/drawingml/2006/main">
              <a:ext uri="{FF2B5EF4-FFF2-40B4-BE49-F238E27FC236}">
                <a16:creationId xmlns:a16="http://schemas.microsoft.com/office/drawing/2014/main" id="{8DF0137B-1B4E-4869-9B90-168BE65885D8}"/>
              </a:ext>
            </a:extLst>
          </p:cNvPr>
          <p:cNvSpPr>
            <a:spLocks xmlns:a="http://schemas.openxmlformats.org/drawingml/2006/main" noGrp="1"/>
          </p:cNvSpPr>
          <p:nvPr/>
        </p:nvSpPr>
        <p:spPr>
          <a:xfrm xmlns:a="http://schemas.openxmlformats.org/drawingml/2006/main">
            <a:off x="7038975" y="1200150"/>
            <a:ext cx="1628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02C61"/>
                </a:solidFill>
                <a:latin typeface="Arial"/>
                <a:ea typeface="Arial"/>
                <a:cs typeface="Arial"/>
              </a:defRPr>
            </a:defPPr>
            <a:lvl1pPr algn="l">
              <a:buNone/>
              <a:defRPr sz="1425" b="1">
                <a:solidFill>
                  <a:srgbClr val="202C61"/>
                </a:solidFill>
                <a:latin typeface="Arial"/>
                <a:ea typeface="Arial"/>
                <a:cs typeface="Arial"/>
              </a:defRPr>
            </a:lvl1pPr>
            <a:lvl2pPr algn="l">
              <a:buNone/>
              <a:defRPr sz="1425" b="1">
                <a:solidFill>
                  <a:srgbClr val="202C61"/>
                </a:solidFill>
                <a:latin typeface="Arial"/>
                <a:ea typeface="Arial"/>
                <a:cs typeface="Arial"/>
              </a:defRPr>
            </a:lvl2pPr>
            <a:lvl3pPr algn="l">
              <a:buNone/>
              <a:defRPr sz="1425" b="1">
                <a:solidFill>
                  <a:srgbClr val="202C61"/>
                </a:solidFill>
                <a:latin typeface="Arial"/>
                <a:ea typeface="Arial"/>
                <a:cs typeface="Arial"/>
              </a:defRPr>
            </a:lvl3pPr>
            <a:lvl4pPr algn="l">
              <a:buNone/>
              <a:defRPr sz="1425" b="1">
                <a:solidFill>
                  <a:srgbClr val="202C61"/>
                </a:solidFill>
                <a:latin typeface="Arial"/>
                <a:ea typeface="Arial"/>
                <a:cs typeface="Arial"/>
              </a:defRPr>
            </a:lvl4pPr>
            <a:lvl5pPr algn="l">
              <a:buNone/>
              <a:defRPr sz="1425" b="1">
                <a:solidFill>
                  <a:srgbClr val="202C61"/>
                </a:solidFill>
                <a:latin typeface="Arial"/>
                <a:ea typeface="Arial"/>
                <a:cs typeface="Arial"/>
              </a:defRPr>
            </a:lvl5pPr>
            <a:lvl6pPr algn="l">
              <a:buNone/>
              <a:defRPr sz="1425" b="1">
                <a:solidFill>
                  <a:srgbClr val="202C61"/>
                </a:solidFill>
                <a:latin typeface="Arial"/>
                <a:ea typeface="Arial"/>
                <a:cs typeface="Arial"/>
              </a:defRPr>
            </a:lvl6pPr>
            <a:lvl7pPr algn="l">
              <a:buNone/>
              <a:defRPr sz="1425" b="1">
                <a:solidFill>
                  <a:srgbClr val="202C61"/>
                </a:solidFill>
                <a:latin typeface="Arial"/>
                <a:ea typeface="Arial"/>
                <a:cs typeface="Arial"/>
              </a:defRPr>
            </a:lvl7pPr>
            <a:lvl8pPr algn="l">
              <a:buNone/>
              <a:defRPr sz="1425" b="1">
                <a:solidFill>
                  <a:srgbClr val="202C61"/>
                </a:solidFill>
                <a:latin typeface="Arial"/>
                <a:ea typeface="Arial"/>
                <a:cs typeface="Arial"/>
              </a:defRPr>
            </a:lvl8pPr>
            <a:lvl9pPr algn="l">
              <a:buNone/>
              <a:defRPr sz="1425" b="1">
                <a:solidFill>
                  <a:srgbClr val="202C61"/>
                </a:solidFill>
                <a:latin typeface="Arial"/>
                <a:ea typeface="Arial"/>
                <a:cs typeface="Arial"/>
              </a:defRPr>
            </a:lvl9pPr>
          </a:lstStyle>
          <a:p xmlns:a="http://schemas.openxmlformats.org/drawingml/2006/main">
            <a:pPr algn="l">
              <a:buNone/>
              <a:defRPr sz="1425" b="1">
                <a:solidFill>
                  <a:srgbClr val="202C61"/>
                </a:solidFill>
                <a:latin typeface="Arial"/>
                <a:ea typeface="Arial"/>
                <a:cs typeface="Arial"/>
              </a:defRPr>
            </a:pPr>
            <a:r>
              <a:rPr sz="1425" b="1">
                <a:solidFill>
                  <a:srgbClr val="202C61"/>
                </a:solidFill>
                <a:latin typeface="Arial"/>
                <a:ea typeface="Arial"/>
                <a:cs typeface="Arial"/>
              </a:rPr>
              <a:t>System outputs</a:t>
            </a:r>
          </a:p>
        </p:txBody>
      </p:sp>
      <p:sp>
        <p:nvSpPr>
          <p:cNvPr id="20" name="">
            <a:extLst xmlns:a="http://schemas.openxmlformats.org/drawingml/2006/main">
              <a:ext uri="{FF2B5EF4-FFF2-40B4-BE49-F238E27FC236}">
                <a16:creationId xmlns:a16="http://schemas.microsoft.com/office/drawing/2014/main" id="{558F6706-A0AA-4E4A-8FBD-D3D4D340DCC6}"/>
              </a:ext>
            </a:extLst>
          </p:cNvPr>
          <p:cNvSpPr>
            <a:spLocks xmlns:a="http://schemas.openxmlformats.org/drawingml/2006/main" noGrp="1"/>
          </p:cNvSpPr>
          <p:nvPr/>
        </p:nvSpPr>
        <p:spPr>
          <a:xfrm xmlns:a="http://schemas.openxmlformats.org/drawingml/2006/main">
            <a:off x="533400" y="1619250"/>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1" name="">
            <a:extLst xmlns:a="http://schemas.openxmlformats.org/drawingml/2006/main">
              <a:ext uri="{FF2B5EF4-FFF2-40B4-BE49-F238E27FC236}">
                <a16:creationId xmlns:a16="http://schemas.microsoft.com/office/drawing/2014/main" id="{9E2B36EE-F3D9-42E3-AC1C-551BB0AB2D59}"/>
              </a:ext>
            </a:extLst>
          </p:cNvPr>
          <p:cNvSpPr>
            <a:spLocks xmlns:a="http://schemas.openxmlformats.org/drawingml/2006/main" noGrp="1"/>
          </p:cNvSpPr>
          <p:nvPr/>
        </p:nvSpPr>
        <p:spPr>
          <a:xfrm xmlns:a="http://schemas.openxmlformats.org/drawingml/2006/main">
            <a:off x="619125" y="1666875"/>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Super Admin</a:t>
            </a:r>
          </a:p>
        </p:txBody>
      </p:sp>
      <p:sp>
        <p:nvSpPr>
          <p:cNvPr id="22" name="">
            <a:extLst xmlns:a="http://schemas.openxmlformats.org/drawingml/2006/main">
              <a:ext uri="{FF2B5EF4-FFF2-40B4-BE49-F238E27FC236}">
                <a16:creationId xmlns:a16="http://schemas.microsoft.com/office/drawing/2014/main" id="{B5EBBD7B-9B09-4105-8887-59925C3F3DF5}"/>
              </a:ext>
            </a:extLst>
          </p:cNvPr>
          <p:cNvSpPr>
            <a:spLocks xmlns:a="http://schemas.openxmlformats.org/drawingml/2006/main" noGrp="1"/>
          </p:cNvSpPr>
          <p:nvPr/>
        </p:nvSpPr>
        <p:spPr>
          <a:xfrm xmlns:a="http://schemas.openxmlformats.org/drawingml/2006/main">
            <a:off x="590550" y="1914525"/>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Admin invite codes</a:t>
            </a:r>
          </a:p>
        </p:txBody>
      </p:sp>
      <p:sp>
        <p:nvSpPr>
          <p:cNvPr id="24" name="">
            <a:extLst xmlns:a="http://schemas.openxmlformats.org/drawingml/2006/main">
              <a:ext uri="{FF2B5EF4-FFF2-40B4-BE49-F238E27FC236}">
                <a16:creationId xmlns:a16="http://schemas.microsoft.com/office/drawing/2014/main" id="{BDDDF531-136D-4AF2-9A82-570F476D3F7D}"/>
              </a:ext>
            </a:extLst>
          </p:cNvPr>
          <p:cNvSpPr>
            <a:spLocks xmlns:a="http://schemas.openxmlformats.org/drawingml/2006/main" noGrp="1"/>
          </p:cNvSpPr>
          <p:nvPr/>
        </p:nvSpPr>
        <p:spPr>
          <a:xfrm xmlns:a="http://schemas.openxmlformats.org/drawingml/2006/main">
            <a:off x="533400" y="2314575"/>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5" name="">
            <a:extLst xmlns:a="http://schemas.openxmlformats.org/drawingml/2006/main">
              <a:ext uri="{FF2B5EF4-FFF2-40B4-BE49-F238E27FC236}">
                <a16:creationId xmlns:a16="http://schemas.microsoft.com/office/drawing/2014/main" id="{53D55342-024C-4E0F-90CF-2C9A19A19CE5}"/>
              </a:ext>
            </a:extLst>
          </p:cNvPr>
          <p:cNvSpPr>
            <a:spLocks xmlns:a="http://schemas.openxmlformats.org/drawingml/2006/main" noGrp="1"/>
          </p:cNvSpPr>
          <p:nvPr/>
        </p:nvSpPr>
        <p:spPr>
          <a:xfrm xmlns:a="http://schemas.openxmlformats.org/drawingml/2006/main">
            <a:off x="619125" y="2362200"/>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Admin</a:t>
            </a:r>
          </a:p>
        </p:txBody>
      </p:sp>
      <p:sp>
        <p:nvSpPr>
          <p:cNvPr id="26" name="">
            <a:extLst xmlns:a="http://schemas.openxmlformats.org/drawingml/2006/main">
              <a:ext uri="{FF2B5EF4-FFF2-40B4-BE49-F238E27FC236}">
                <a16:creationId xmlns:a16="http://schemas.microsoft.com/office/drawing/2014/main" id="{D81B9160-81AF-4DD7-A7D1-3A77969D11FF}"/>
              </a:ext>
            </a:extLst>
          </p:cNvPr>
          <p:cNvSpPr>
            <a:spLocks xmlns:a="http://schemas.openxmlformats.org/drawingml/2006/main" noGrp="1"/>
          </p:cNvSpPr>
          <p:nvPr/>
        </p:nvSpPr>
        <p:spPr>
          <a:xfrm xmlns:a="http://schemas.openxmlformats.org/drawingml/2006/main">
            <a:off x="590550" y="2609850"/>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Store operations</a:t>
            </a:r>
          </a:p>
        </p:txBody>
      </p:sp>
      <p:sp>
        <p:nvSpPr>
          <p:cNvPr id="28" name="">
            <a:extLst xmlns:a="http://schemas.openxmlformats.org/drawingml/2006/main">
              <a:ext uri="{FF2B5EF4-FFF2-40B4-BE49-F238E27FC236}">
                <a16:creationId xmlns:a16="http://schemas.microsoft.com/office/drawing/2014/main" id="{2722BCFD-3C48-4D02-8239-831F2B6E4552}"/>
              </a:ext>
            </a:extLst>
          </p:cNvPr>
          <p:cNvSpPr>
            <a:spLocks xmlns:a="http://schemas.openxmlformats.org/drawingml/2006/main" noGrp="1"/>
          </p:cNvSpPr>
          <p:nvPr/>
        </p:nvSpPr>
        <p:spPr>
          <a:xfrm xmlns:a="http://schemas.openxmlformats.org/drawingml/2006/main">
            <a:off x="533400" y="3009900"/>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9" name="">
            <a:extLst xmlns:a="http://schemas.openxmlformats.org/drawingml/2006/main">
              <a:ext uri="{FF2B5EF4-FFF2-40B4-BE49-F238E27FC236}">
                <a16:creationId xmlns:a16="http://schemas.microsoft.com/office/drawing/2014/main" id="{77B9F6D4-9D49-4CEB-A592-E53E712156A5}"/>
              </a:ext>
            </a:extLst>
          </p:cNvPr>
          <p:cNvSpPr>
            <a:spLocks xmlns:a="http://schemas.openxmlformats.org/drawingml/2006/main" noGrp="1"/>
          </p:cNvSpPr>
          <p:nvPr/>
        </p:nvSpPr>
        <p:spPr>
          <a:xfrm xmlns:a="http://schemas.openxmlformats.org/drawingml/2006/main">
            <a:off x="619125" y="3057525"/>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Inventory</a:t>
            </a:r>
          </a:p>
        </p:txBody>
      </p:sp>
      <p:sp>
        <p:nvSpPr>
          <p:cNvPr id="30" name="">
            <a:extLst xmlns:a="http://schemas.openxmlformats.org/drawingml/2006/main">
              <a:ext uri="{FF2B5EF4-FFF2-40B4-BE49-F238E27FC236}">
                <a16:creationId xmlns:a16="http://schemas.microsoft.com/office/drawing/2014/main" id="{647997DD-C168-4C4B-8162-0660C0117DBB}"/>
              </a:ext>
            </a:extLst>
          </p:cNvPr>
          <p:cNvSpPr>
            <a:spLocks xmlns:a="http://schemas.openxmlformats.org/drawingml/2006/main" noGrp="1"/>
          </p:cNvSpPr>
          <p:nvPr/>
        </p:nvSpPr>
        <p:spPr>
          <a:xfrm xmlns:a="http://schemas.openxmlformats.org/drawingml/2006/main">
            <a:off x="590550" y="3305175"/>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Products and stock</a:t>
            </a:r>
          </a:p>
        </p:txBody>
      </p:sp>
      <p:sp>
        <p:nvSpPr>
          <p:cNvPr id="32" name="">
            <a:extLst xmlns:a="http://schemas.openxmlformats.org/drawingml/2006/main">
              <a:ext uri="{FF2B5EF4-FFF2-40B4-BE49-F238E27FC236}">
                <a16:creationId xmlns:a16="http://schemas.microsoft.com/office/drawing/2014/main" id="{7259F9E0-C8DE-4DB1-82C3-38124EBC98B8}"/>
              </a:ext>
            </a:extLst>
          </p:cNvPr>
          <p:cNvSpPr>
            <a:spLocks xmlns:a="http://schemas.openxmlformats.org/drawingml/2006/main" noGrp="1"/>
          </p:cNvSpPr>
          <p:nvPr/>
        </p:nvSpPr>
        <p:spPr>
          <a:xfrm xmlns:a="http://schemas.openxmlformats.org/drawingml/2006/main">
            <a:off x="533400" y="3705225"/>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33" name="">
            <a:extLst xmlns:a="http://schemas.openxmlformats.org/drawingml/2006/main">
              <a:ext uri="{FF2B5EF4-FFF2-40B4-BE49-F238E27FC236}">
                <a16:creationId xmlns:a16="http://schemas.microsoft.com/office/drawing/2014/main" id="{5F886511-D99F-4D1C-A626-58557B6E2A46}"/>
              </a:ext>
            </a:extLst>
          </p:cNvPr>
          <p:cNvSpPr>
            <a:spLocks xmlns:a="http://schemas.openxmlformats.org/drawingml/2006/main" noGrp="1"/>
          </p:cNvSpPr>
          <p:nvPr/>
        </p:nvSpPr>
        <p:spPr>
          <a:xfrm xmlns:a="http://schemas.openxmlformats.org/drawingml/2006/main">
            <a:off x="619125" y="3752850"/>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Cashier</a:t>
            </a:r>
          </a:p>
        </p:txBody>
      </p:sp>
      <p:sp>
        <p:nvSpPr>
          <p:cNvPr id="34" name="">
            <a:extLst xmlns:a="http://schemas.openxmlformats.org/drawingml/2006/main">
              <a:ext uri="{FF2B5EF4-FFF2-40B4-BE49-F238E27FC236}">
                <a16:creationId xmlns:a16="http://schemas.microsoft.com/office/drawing/2014/main" id="{6A4DC7DE-FBE9-4A5E-A838-1F6105BC1FBB}"/>
              </a:ext>
            </a:extLst>
          </p:cNvPr>
          <p:cNvSpPr>
            <a:spLocks xmlns:a="http://schemas.openxmlformats.org/drawingml/2006/main" noGrp="1"/>
          </p:cNvSpPr>
          <p:nvPr/>
        </p:nvSpPr>
        <p:spPr>
          <a:xfrm xmlns:a="http://schemas.openxmlformats.org/drawingml/2006/main">
            <a:off x="590550" y="4000500"/>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Sales and receipts</a:t>
            </a:r>
          </a:p>
        </p:txBody>
      </p:sp>
      <p:sp>
        <p:nvSpPr>
          <p:cNvPr id="36" name="">
            <a:extLst xmlns:a="http://schemas.openxmlformats.org/drawingml/2006/main">
              <a:ext uri="{FF2B5EF4-FFF2-40B4-BE49-F238E27FC236}">
                <a16:creationId xmlns:a16="http://schemas.microsoft.com/office/drawing/2014/main" id="{C653865F-6057-46F0-84BB-9209E62F59E3}"/>
              </a:ext>
            </a:extLst>
          </p:cNvPr>
          <p:cNvSpPr>
            <a:spLocks xmlns:a="http://schemas.openxmlformats.org/drawingml/2006/main" noGrp="1"/>
          </p:cNvSpPr>
          <p:nvPr/>
        </p:nvSpPr>
        <p:spPr>
          <a:xfrm xmlns:a="http://schemas.openxmlformats.org/drawingml/2006/main">
            <a:off x="2695575" y="1552575"/>
            <a:ext cx="4067175" cy="2905125"/>
          </a:xfrm>
          <a:prstGeom xmlns:a="http://schemas.openxmlformats.org/drawingml/2006/main" prst="rect">
            <a:avLst/>
          </a:prstGeom>
          <a:solidFill xmlns:a="http://schemas.openxmlformats.org/drawingml/2006/main">
            <a:srgbClr val="FFFFFF"/>
          </a:solidFill>
          <a:ln xmlns:a="http://schemas.openxmlformats.org/drawingml/2006/main" w="13335">
            <a:solidFill>
              <a:srgbClr val="0070C0"/>
            </a:solidFill>
          </a:ln>
        </p:spPr>
      </p:sp>
      <p:sp>
        <p:nvSpPr>
          <p:cNvPr id="37" name="">
            <a:extLst xmlns:a="http://schemas.openxmlformats.org/drawingml/2006/main">
              <a:ext uri="{FF2B5EF4-FFF2-40B4-BE49-F238E27FC236}">
                <a16:creationId xmlns:a16="http://schemas.microsoft.com/office/drawing/2014/main" id="{24FD9F31-B9D1-4FD6-B57F-4E0F3EAC27FA}"/>
              </a:ext>
            </a:extLst>
          </p:cNvPr>
          <p:cNvSpPr>
            <a:spLocks xmlns:a="http://schemas.openxmlformats.org/drawingml/2006/main" noGrp="1"/>
          </p:cNvSpPr>
          <p:nvPr/>
        </p:nvSpPr>
        <p:spPr>
          <a:xfrm xmlns:a="http://schemas.openxmlformats.org/drawingml/2006/main">
            <a:off x="2847975" y="1714500"/>
            <a:ext cx="1819275" cy="704850"/>
          </a:xfrm>
          <a:prstGeom xmlns:a="http://schemas.openxmlformats.org/drawingml/2006/main" prst="rect">
            <a:avLst/>
          </a:prstGeom>
          <a:solidFill xmlns:a="http://schemas.openxmlformats.org/drawingml/2006/main">
            <a:srgbClr val="EAF2FA"/>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Authentication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role controls</a:t>
            </a:r>
          </a:p>
        </p:txBody>
      </p:sp>
      <p:sp>
        <p:nvSpPr>
          <p:cNvPr id="38" name="">
            <a:extLst xmlns:a="http://schemas.openxmlformats.org/drawingml/2006/main">
              <a:ext uri="{FF2B5EF4-FFF2-40B4-BE49-F238E27FC236}">
                <a16:creationId xmlns:a16="http://schemas.microsoft.com/office/drawing/2014/main" id="{808A5434-BCEB-489F-9504-29E168335E19}"/>
              </a:ext>
            </a:extLst>
          </p:cNvPr>
          <p:cNvSpPr>
            <a:spLocks xmlns:a="http://schemas.openxmlformats.org/drawingml/2006/main" noGrp="1"/>
          </p:cNvSpPr>
          <p:nvPr/>
        </p:nvSpPr>
        <p:spPr>
          <a:xfrm xmlns:a="http://schemas.openxmlformats.org/drawingml/2006/main">
            <a:off x="4772025" y="1714500"/>
            <a:ext cx="1819275" cy="704850"/>
          </a:xfrm>
          <a:prstGeom xmlns:a="http://schemas.openxmlformats.org/drawingml/2006/main" prst="rect">
            <a:avLst/>
          </a:prstGeom>
          <a:solidFill xmlns:a="http://schemas.openxmlformats.org/drawingml/2006/main">
            <a:srgbClr val="EAF2FA"/>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Store and user</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administration</a:t>
            </a:r>
          </a:p>
        </p:txBody>
      </p:sp>
      <p:sp>
        <p:nvSpPr>
          <p:cNvPr id="39" name="">
            <a:extLst xmlns:a="http://schemas.openxmlformats.org/drawingml/2006/main">
              <a:ext uri="{FF2B5EF4-FFF2-40B4-BE49-F238E27FC236}">
                <a16:creationId xmlns:a16="http://schemas.microsoft.com/office/drawing/2014/main" id="{FC85839C-78B8-434E-91E8-28C19A33EB30}"/>
              </a:ext>
            </a:extLst>
          </p:cNvPr>
          <p:cNvSpPr>
            <a:spLocks xmlns:a="http://schemas.openxmlformats.org/drawingml/2006/main" noGrp="1"/>
          </p:cNvSpPr>
          <p:nvPr/>
        </p:nvSpPr>
        <p:spPr>
          <a:xfrm xmlns:a="http://schemas.openxmlformats.org/drawingml/2006/main">
            <a:off x="2847975" y="2600325"/>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Product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inventory control</a:t>
            </a:r>
          </a:p>
        </p:txBody>
      </p:sp>
      <p:sp>
        <p:nvSpPr>
          <p:cNvPr id="40" name="">
            <a:extLst xmlns:a="http://schemas.openxmlformats.org/drawingml/2006/main">
              <a:ext uri="{FF2B5EF4-FFF2-40B4-BE49-F238E27FC236}">
                <a16:creationId xmlns:a16="http://schemas.microsoft.com/office/drawing/2014/main" id="{0631323B-A7F5-4769-9995-07A627AF3949}"/>
              </a:ext>
            </a:extLst>
          </p:cNvPr>
          <p:cNvSpPr>
            <a:spLocks xmlns:a="http://schemas.openxmlformats.org/drawingml/2006/main" noGrp="1"/>
          </p:cNvSpPr>
          <p:nvPr/>
        </p:nvSpPr>
        <p:spPr>
          <a:xfrm xmlns:a="http://schemas.openxmlformats.org/drawingml/2006/main">
            <a:off x="4772025" y="2600325"/>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Suppliers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purchasing</a:t>
            </a:r>
          </a:p>
        </p:txBody>
      </p:sp>
      <p:sp>
        <p:nvSpPr>
          <p:cNvPr id="41" name="">
            <a:extLst xmlns:a="http://schemas.openxmlformats.org/drawingml/2006/main">
              <a:ext uri="{FF2B5EF4-FFF2-40B4-BE49-F238E27FC236}">
                <a16:creationId xmlns:a16="http://schemas.microsoft.com/office/drawing/2014/main" id="{9A97F743-1413-47ED-91F1-39052125A7CD}"/>
              </a:ext>
            </a:extLst>
          </p:cNvPr>
          <p:cNvSpPr>
            <a:spLocks xmlns:a="http://schemas.openxmlformats.org/drawingml/2006/main" noGrp="1"/>
          </p:cNvSpPr>
          <p:nvPr/>
        </p:nvSpPr>
        <p:spPr>
          <a:xfrm xmlns:a="http://schemas.openxmlformats.org/drawingml/2006/main">
            <a:off x="2847975" y="3486150"/>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Consignment</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inventory</a:t>
            </a:r>
          </a:p>
        </p:txBody>
      </p:sp>
      <p:sp>
        <p:nvSpPr>
          <p:cNvPr id="42" name="">
            <a:extLst xmlns:a="http://schemas.openxmlformats.org/drawingml/2006/main">
              <a:ext uri="{FF2B5EF4-FFF2-40B4-BE49-F238E27FC236}">
                <a16:creationId xmlns:a16="http://schemas.microsoft.com/office/drawing/2014/main" id="{55E88099-1854-41CF-9C10-90DAC2059C99}"/>
              </a:ext>
            </a:extLst>
          </p:cNvPr>
          <p:cNvSpPr>
            <a:spLocks xmlns:a="http://schemas.openxmlformats.org/drawingml/2006/main" noGrp="1"/>
          </p:cNvSpPr>
          <p:nvPr/>
        </p:nvSpPr>
        <p:spPr>
          <a:xfrm xmlns:a="http://schemas.openxmlformats.org/drawingml/2006/main">
            <a:off x="4772025" y="3486150"/>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POS, receipts</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and reporting</a:t>
            </a:r>
          </a:p>
        </p:txBody>
      </p:sp>
      <p:sp>
        <p:nvSpPr>
          <p:cNvPr id="43" name="">
            <a:extLst xmlns:a="http://schemas.openxmlformats.org/drawingml/2006/main">
              <a:ext uri="{FF2B5EF4-FFF2-40B4-BE49-F238E27FC236}">
                <a16:creationId xmlns:a16="http://schemas.microsoft.com/office/drawing/2014/main" id="{B7C6CFD5-C573-4B51-AAD2-8507013AB9D6}"/>
              </a:ext>
            </a:extLst>
          </p:cNvPr>
          <p:cNvSpPr>
            <a:spLocks xmlns:a="http://schemas.openxmlformats.org/drawingml/2006/main" noGrp="1"/>
          </p:cNvSpPr>
          <p:nvPr/>
        </p:nvSpPr>
        <p:spPr>
          <a:xfrm xmlns:a="http://schemas.openxmlformats.org/drawingml/2006/main">
            <a:off x="7048500" y="1552575"/>
            <a:ext cx="1685925" cy="2905125"/>
          </a:xfrm>
          <a:prstGeom xmlns:a="http://schemas.openxmlformats.org/drawingml/2006/main" prst="rect">
            <a:avLst/>
          </a:prstGeom>
          <a:noFill xmlns:a="http://schemas.openxmlformats.org/drawingml/2006/main"/>
          <a:ln xmlns:a="http://schemas.openxmlformats.org/drawingml/2006/main" w="13335">
            <a:solidFill>
              <a:srgbClr val="0070C0"/>
            </a:solidFill>
          </a:ln>
        </p:spPr>
      </p:sp>
      <p:sp>
        <p:nvSpPr>
          <p:cNvPr id="44" name="">
            <a:extLst xmlns:a="http://schemas.openxmlformats.org/drawingml/2006/main">
              <a:ext uri="{FF2B5EF4-FFF2-40B4-BE49-F238E27FC236}">
                <a16:creationId xmlns:a16="http://schemas.microsoft.com/office/drawing/2014/main" id="{7466D7A9-C11D-421B-A00A-990756F4CE1C}"/>
              </a:ext>
            </a:extLst>
          </p:cNvPr>
          <p:cNvSpPr>
            <a:spLocks xmlns:a="http://schemas.openxmlformats.org/drawingml/2006/main" noGrp="1"/>
          </p:cNvSpPr>
          <p:nvPr/>
        </p:nvSpPr>
        <p:spPr>
          <a:xfrm xmlns:a="http://schemas.openxmlformats.org/drawingml/2006/main">
            <a:off x="7181850" y="1619250"/>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45" name="">
            <a:extLst xmlns:a="http://schemas.openxmlformats.org/drawingml/2006/main">
              <a:ext uri="{FF2B5EF4-FFF2-40B4-BE49-F238E27FC236}">
                <a16:creationId xmlns:a16="http://schemas.microsoft.com/office/drawing/2014/main" id="{7CDF82B9-CE6A-4C3C-A306-8560CF9820F6}"/>
              </a:ext>
            </a:extLst>
          </p:cNvPr>
          <p:cNvSpPr>
            <a:spLocks xmlns:a="http://schemas.openxmlformats.org/drawingml/2006/main" noGrp="1"/>
          </p:cNvSpPr>
          <p:nvPr/>
        </p:nvSpPr>
        <p:spPr>
          <a:xfrm xmlns:a="http://schemas.openxmlformats.org/drawingml/2006/main">
            <a:off x="7219950" y="1666875"/>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Online writes</a:t>
            </a:r>
          </a:p>
        </p:txBody>
      </p:sp>
      <p:sp>
        <p:nvSpPr>
          <p:cNvPr id="46" name="">
            <a:extLst xmlns:a="http://schemas.openxmlformats.org/drawingml/2006/main">
              <a:ext uri="{FF2B5EF4-FFF2-40B4-BE49-F238E27FC236}">
                <a16:creationId xmlns:a16="http://schemas.microsoft.com/office/drawing/2014/main" id="{A561236E-3064-470D-8409-52B087E0C286}"/>
              </a:ext>
            </a:extLst>
          </p:cNvPr>
          <p:cNvSpPr>
            <a:spLocks xmlns:a="http://schemas.openxmlformats.org/drawingml/2006/main" noGrp="1"/>
          </p:cNvSpPr>
          <p:nvPr/>
        </p:nvSpPr>
        <p:spPr>
          <a:xfrm xmlns:a="http://schemas.openxmlformats.org/drawingml/2006/main">
            <a:off x="7219950" y="189547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Validated records</a:t>
            </a:r>
          </a:p>
        </p:txBody>
      </p:sp>
      <p:sp>
        <p:nvSpPr>
          <p:cNvPr id="47" name="">
            <a:extLst xmlns:a="http://schemas.openxmlformats.org/drawingml/2006/main">
              <a:ext uri="{FF2B5EF4-FFF2-40B4-BE49-F238E27FC236}">
                <a16:creationId xmlns:a16="http://schemas.microsoft.com/office/drawing/2014/main" id="{478F1D1B-02A1-424A-A6B2-7D6ED2135E23}"/>
              </a:ext>
            </a:extLst>
          </p:cNvPr>
          <p:cNvSpPr>
            <a:spLocks xmlns:a="http://schemas.openxmlformats.org/drawingml/2006/main" noGrp="1"/>
          </p:cNvSpPr>
          <p:nvPr/>
        </p:nvSpPr>
        <p:spPr>
          <a:xfrm xmlns:a="http://schemas.openxmlformats.org/drawingml/2006/main">
            <a:off x="7181850" y="2314575"/>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48" name="">
            <a:extLst xmlns:a="http://schemas.openxmlformats.org/drawingml/2006/main">
              <a:ext uri="{FF2B5EF4-FFF2-40B4-BE49-F238E27FC236}">
                <a16:creationId xmlns:a16="http://schemas.microsoft.com/office/drawing/2014/main" id="{84F499B2-8E73-42B9-A125-AF5334370A86}"/>
              </a:ext>
            </a:extLst>
          </p:cNvPr>
          <p:cNvSpPr>
            <a:spLocks xmlns:a="http://schemas.openxmlformats.org/drawingml/2006/main" noGrp="1"/>
          </p:cNvSpPr>
          <p:nvPr/>
        </p:nvSpPr>
        <p:spPr>
          <a:xfrm xmlns:a="http://schemas.openxmlformats.org/drawingml/2006/main">
            <a:off x="7219950" y="2362200"/>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Stock history</a:t>
            </a:r>
          </a:p>
        </p:txBody>
      </p:sp>
      <p:sp>
        <p:nvSpPr>
          <p:cNvPr id="49" name="">
            <a:extLst xmlns:a="http://schemas.openxmlformats.org/drawingml/2006/main">
              <a:ext uri="{FF2B5EF4-FFF2-40B4-BE49-F238E27FC236}">
                <a16:creationId xmlns:a16="http://schemas.microsoft.com/office/drawing/2014/main" id="{7EDB5E96-D90B-4F85-8767-24D353A15D71}"/>
              </a:ext>
            </a:extLst>
          </p:cNvPr>
          <p:cNvSpPr>
            <a:spLocks xmlns:a="http://schemas.openxmlformats.org/drawingml/2006/main" noGrp="1"/>
          </p:cNvSpPr>
          <p:nvPr/>
        </p:nvSpPr>
        <p:spPr>
          <a:xfrm xmlns:a="http://schemas.openxmlformats.org/drawingml/2006/main">
            <a:off x="7219950" y="2590800"/>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Base-unit movements</a:t>
            </a:r>
          </a:p>
        </p:txBody>
      </p:sp>
      <p:sp>
        <p:nvSpPr>
          <p:cNvPr id="50" name="">
            <a:extLst xmlns:a="http://schemas.openxmlformats.org/drawingml/2006/main">
              <a:ext uri="{FF2B5EF4-FFF2-40B4-BE49-F238E27FC236}">
                <a16:creationId xmlns:a16="http://schemas.microsoft.com/office/drawing/2014/main" id="{889C60E6-6A35-45CC-9FA2-AD39E62BDA30}"/>
              </a:ext>
            </a:extLst>
          </p:cNvPr>
          <p:cNvSpPr>
            <a:spLocks xmlns:a="http://schemas.openxmlformats.org/drawingml/2006/main" noGrp="1"/>
          </p:cNvSpPr>
          <p:nvPr/>
        </p:nvSpPr>
        <p:spPr>
          <a:xfrm xmlns:a="http://schemas.openxmlformats.org/drawingml/2006/main">
            <a:off x="7181850" y="3009900"/>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51" name="">
            <a:extLst xmlns:a="http://schemas.openxmlformats.org/drawingml/2006/main">
              <a:ext uri="{FF2B5EF4-FFF2-40B4-BE49-F238E27FC236}">
                <a16:creationId xmlns:a16="http://schemas.microsoft.com/office/drawing/2014/main" id="{D22DD79E-7FE0-4CF0-A184-B1301D0E3358}"/>
              </a:ext>
            </a:extLst>
          </p:cNvPr>
          <p:cNvSpPr>
            <a:spLocks xmlns:a="http://schemas.openxmlformats.org/drawingml/2006/main" noGrp="1"/>
          </p:cNvSpPr>
          <p:nvPr/>
        </p:nvSpPr>
        <p:spPr>
          <a:xfrm xmlns:a="http://schemas.openxmlformats.org/drawingml/2006/main">
            <a:off x="7219950" y="3057525"/>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Decision support</a:t>
            </a:r>
          </a:p>
        </p:txBody>
      </p:sp>
      <p:sp>
        <p:nvSpPr>
          <p:cNvPr id="52" name="">
            <a:extLst xmlns:a="http://schemas.openxmlformats.org/drawingml/2006/main">
              <a:ext uri="{FF2B5EF4-FFF2-40B4-BE49-F238E27FC236}">
                <a16:creationId xmlns:a16="http://schemas.microsoft.com/office/drawing/2014/main" id="{9E55F1A9-37D1-4A64-ABCD-C19A8E77F508}"/>
              </a:ext>
            </a:extLst>
          </p:cNvPr>
          <p:cNvSpPr>
            <a:spLocks xmlns:a="http://schemas.openxmlformats.org/drawingml/2006/main" noGrp="1"/>
          </p:cNvSpPr>
          <p:nvPr/>
        </p:nvSpPr>
        <p:spPr>
          <a:xfrm xmlns:a="http://schemas.openxmlformats.org/drawingml/2006/main">
            <a:off x="7219950" y="328612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Recorded-data reports</a:t>
            </a:r>
          </a:p>
        </p:txBody>
      </p:sp>
      <p:sp>
        <p:nvSpPr>
          <p:cNvPr id="53" name="">
            <a:extLst xmlns:a="http://schemas.openxmlformats.org/drawingml/2006/main">
              <a:ext uri="{FF2B5EF4-FFF2-40B4-BE49-F238E27FC236}">
                <a16:creationId xmlns:a16="http://schemas.microsoft.com/office/drawing/2014/main" id="{AF071716-4D6B-4802-AC48-2A49FACF16F0}"/>
              </a:ext>
            </a:extLst>
          </p:cNvPr>
          <p:cNvSpPr>
            <a:spLocks xmlns:a="http://schemas.openxmlformats.org/drawingml/2006/main" noGrp="1"/>
          </p:cNvSpPr>
          <p:nvPr/>
        </p:nvSpPr>
        <p:spPr>
          <a:xfrm xmlns:a="http://schemas.openxmlformats.org/drawingml/2006/main">
            <a:off x="7181850" y="3705225"/>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54" name="">
            <a:extLst xmlns:a="http://schemas.openxmlformats.org/drawingml/2006/main">
              <a:ext uri="{FF2B5EF4-FFF2-40B4-BE49-F238E27FC236}">
                <a16:creationId xmlns:a16="http://schemas.microsoft.com/office/drawing/2014/main" id="{60D1F4C4-645E-4ACE-9DEB-BD7068D339A2}"/>
              </a:ext>
            </a:extLst>
          </p:cNvPr>
          <p:cNvSpPr>
            <a:spLocks xmlns:a="http://schemas.openxmlformats.org/drawingml/2006/main" noGrp="1"/>
          </p:cNvSpPr>
          <p:nvPr/>
        </p:nvSpPr>
        <p:spPr>
          <a:xfrm xmlns:a="http://schemas.openxmlformats.org/drawingml/2006/main">
            <a:off x="7219950" y="3752850"/>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Continuity</a:t>
            </a:r>
          </a:p>
        </p:txBody>
      </p:sp>
      <p:sp>
        <p:nvSpPr>
          <p:cNvPr id="55" name="">
            <a:extLst xmlns:a="http://schemas.openxmlformats.org/drawingml/2006/main">
              <a:ext uri="{FF2B5EF4-FFF2-40B4-BE49-F238E27FC236}">
                <a16:creationId xmlns:a16="http://schemas.microsoft.com/office/drawing/2014/main" id="{81649AC4-C986-440E-9B05-1A3C0C0A17AB}"/>
              </a:ext>
            </a:extLst>
          </p:cNvPr>
          <p:cNvSpPr>
            <a:spLocks xmlns:a="http://schemas.openxmlformats.org/drawingml/2006/main" noGrp="1"/>
          </p:cNvSpPr>
          <p:nvPr/>
        </p:nvSpPr>
        <p:spPr>
          <a:xfrm xmlns:a="http://schemas.openxmlformats.org/drawingml/2006/main">
            <a:off x="7219950" y="3981450"/>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Bounded queue replay</a:t>
            </a:r>
          </a:p>
        </p:txBody>
      </p:sp>
      <p:sp>
        <p:nvSpPr>
          <p:cNvPr id="57" name="">
            <a:extLst xmlns:a="http://schemas.openxmlformats.org/drawingml/2006/main">
              <a:ext uri="{FF2B5EF4-FFF2-40B4-BE49-F238E27FC236}">
                <a16:creationId xmlns:a16="http://schemas.microsoft.com/office/drawing/2014/main" id="{EA45E892-8E9A-49F3-84B7-3067AB2C2623}"/>
              </a:ext>
            </a:extLst>
          </p:cNvPr>
          <p:cNvSpPr>
            <a:spLocks xmlns:a="http://schemas.openxmlformats.org/drawingml/2006/main" noGrp="1"/>
          </p:cNvSpPr>
          <p:nvPr/>
        </p:nvSpPr>
        <p:spPr>
          <a:xfrm xmlns:a="http://schemas.openxmlformats.org/drawingml/2006/main">
            <a:off x="533400" y="445770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Authorized staff enter supplier, delivery and consignment details.</a:t>
            </a:r>
          </a:p>
        </p:txBody>
      </p:sp>
    </p:spTree>
    <p:extLst>
      <p:ext uri="{BB962C8B-B14F-4D97-AF65-F5344CB8AC3E}">
        <p14:creationId xmlns:p14="http://schemas.microsoft.com/office/powerpoint/2010/main" val="186267995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cxnSp>
        <p:nvCxnSpPr>
          <p:cNvPr id="56" name="">
            <a:extLst xmlns:a="http://schemas.openxmlformats.org/drawingml/2006/main">
              <a:ext uri="{FF2B5EF4-FFF2-40B4-BE49-F238E27FC236}">
                <a16:creationId xmlns:a16="http://schemas.microsoft.com/office/drawing/2014/main" id="{AF6E2BCD-2E00-4BEE-925F-16868D34C887}"/>
              </a:ext>
            </a:extLst>
          </p:cNvPr>
          <p:cNvCxnSpPr/>
          <p:nvPr/>
        </p:nvCxnSpPr>
        <p:spPr>
          <a:xfrm xmlns:a="http://schemas.openxmlformats.org/drawingml/2006/main" flipH="1" flipV="0">
            <a:off x="7181850" y="3790950"/>
            <a:ext cx="952500" cy="328613"/>
          </a:xfrm>
          <a:prstGeom xmlns:a="http://schemas.openxmlformats.org/drawingml/2006/main" prst="straightConnector1">
            <a:avLst/>
          </a:prstGeom>
          <a:ln xmlns:a="http://schemas.openxmlformats.org/drawingml/2006/main" w="10478">
            <a:solidFill>
              <a:srgbClr val="171717"/>
            </a:solidFill>
          </a:ln>
        </p:spPr>
      </p:cxnSp>
      <p:cxnSp>
        <p:nvCxnSpPr>
          <p:cNvPr id="55" name="">
            <a:extLst xmlns:a="http://schemas.openxmlformats.org/drawingml/2006/main">
              <a:ext uri="{FF2B5EF4-FFF2-40B4-BE49-F238E27FC236}">
                <a16:creationId xmlns:a16="http://schemas.microsoft.com/office/drawing/2014/main" id="{1179B270-2A81-4535-BA27-A4CE2778D246}"/>
              </a:ext>
            </a:extLst>
          </p:cNvPr>
          <p:cNvCxnSpPr/>
          <p:nvPr/>
        </p:nvCxnSpPr>
        <p:spPr>
          <a:xfrm xmlns:a="http://schemas.openxmlformats.org/drawingml/2006/main" flipH="1" flipV="1">
            <a:off x="7181850" y="3424238"/>
            <a:ext cx="952500" cy="366713"/>
          </a:xfrm>
          <a:prstGeom xmlns:a="http://schemas.openxmlformats.org/drawingml/2006/main" prst="straightConnector1">
            <a:avLst/>
          </a:prstGeom>
          <a:ln xmlns:a="http://schemas.openxmlformats.org/drawingml/2006/main" w="10478">
            <a:solidFill>
              <a:srgbClr val="171717"/>
            </a:solidFill>
          </a:ln>
        </p:spPr>
      </p:cxnSp>
      <p:cxnSp>
        <p:nvCxnSpPr>
          <p:cNvPr id="54" name="">
            <a:extLst xmlns:a="http://schemas.openxmlformats.org/drawingml/2006/main">
              <a:ext uri="{FF2B5EF4-FFF2-40B4-BE49-F238E27FC236}">
                <a16:creationId xmlns:a16="http://schemas.microsoft.com/office/drawing/2014/main" id="{0724B7F7-3AC7-4EA3-8286-E4CD502EDE35}"/>
              </a:ext>
            </a:extLst>
          </p:cNvPr>
          <p:cNvCxnSpPr/>
          <p:nvPr/>
        </p:nvCxnSpPr>
        <p:spPr>
          <a:xfrm xmlns:a="http://schemas.openxmlformats.org/drawingml/2006/main" flipH="1" flipV="0">
            <a:off x="7181850" y="2105025"/>
            <a:ext cx="952500" cy="357188"/>
          </a:xfrm>
          <a:prstGeom xmlns:a="http://schemas.openxmlformats.org/drawingml/2006/main" prst="straightConnector1">
            <a:avLst/>
          </a:prstGeom>
          <a:ln xmlns:a="http://schemas.openxmlformats.org/drawingml/2006/main" w="10478">
            <a:solidFill>
              <a:srgbClr val="171717"/>
            </a:solidFill>
          </a:ln>
        </p:spPr>
      </p:cxnSp>
      <p:cxnSp>
        <p:nvCxnSpPr>
          <p:cNvPr id="53" name="">
            <a:extLst xmlns:a="http://schemas.openxmlformats.org/drawingml/2006/main">
              <a:ext uri="{FF2B5EF4-FFF2-40B4-BE49-F238E27FC236}">
                <a16:creationId xmlns:a16="http://schemas.microsoft.com/office/drawing/2014/main" id="{700B3ED4-AFDB-4747-B274-CB7A4570CAEE}"/>
              </a:ext>
            </a:extLst>
          </p:cNvPr>
          <p:cNvCxnSpPr/>
          <p:nvPr/>
        </p:nvCxnSpPr>
        <p:spPr>
          <a:xfrm xmlns:a="http://schemas.openxmlformats.org/drawingml/2006/main" flipH="1" flipV="1">
            <a:off x="7181850" y="1766888"/>
            <a:ext cx="952500" cy="338138"/>
          </a:xfrm>
          <a:prstGeom xmlns:a="http://schemas.openxmlformats.org/drawingml/2006/main" prst="straightConnector1">
            <a:avLst/>
          </a:prstGeom>
          <a:ln xmlns:a="http://schemas.openxmlformats.org/drawingml/2006/main" w="10478">
            <a:solidFill>
              <a:srgbClr val="171717"/>
            </a:solidFill>
          </a:ln>
        </p:spPr>
      </p:cxnSp>
      <p:cxnSp>
        <p:nvCxnSpPr>
          <p:cNvPr id="52" name="">
            <a:extLst xmlns:a="http://schemas.openxmlformats.org/drawingml/2006/main">
              <a:ext uri="{FF2B5EF4-FFF2-40B4-BE49-F238E27FC236}">
                <a16:creationId xmlns:a16="http://schemas.microsoft.com/office/drawing/2014/main" id="{B6D52DE9-A032-4A81-9C25-3E491ADA0980}"/>
              </a:ext>
            </a:extLst>
          </p:cNvPr>
          <p:cNvCxnSpPr/>
          <p:nvPr/>
        </p:nvCxnSpPr>
        <p:spPr>
          <a:xfrm xmlns:a="http://schemas.openxmlformats.org/drawingml/2006/main" flipH="0" flipV="0">
            <a:off x="1009650" y="3790950"/>
            <a:ext cx="1076325" cy="309563"/>
          </a:xfrm>
          <a:prstGeom xmlns:a="http://schemas.openxmlformats.org/drawingml/2006/main" prst="straightConnector1">
            <a:avLst/>
          </a:prstGeom>
          <a:ln xmlns:a="http://schemas.openxmlformats.org/drawingml/2006/main" w="10478">
            <a:solidFill>
              <a:srgbClr val="171717"/>
            </a:solidFill>
          </a:ln>
        </p:spPr>
      </p:cxnSp>
      <p:cxnSp>
        <p:nvCxnSpPr>
          <p:cNvPr id="51" name="">
            <a:extLst xmlns:a="http://schemas.openxmlformats.org/drawingml/2006/main">
              <a:ext uri="{FF2B5EF4-FFF2-40B4-BE49-F238E27FC236}">
                <a16:creationId xmlns:a16="http://schemas.microsoft.com/office/drawing/2014/main" id="{F2473465-42E5-4714-9B12-EE455EFA0DA3}"/>
              </a:ext>
            </a:extLst>
          </p:cNvPr>
          <p:cNvCxnSpPr/>
          <p:nvPr/>
        </p:nvCxnSpPr>
        <p:spPr>
          <a:xfrm xmlns:a="http://schemas.openxmlformats.org/drawingml/2006/main" flipH="0" flipV="0">
            <a:off x="1009650" y="2095500"/>
            <a:ext cx="1076325" cy="1062038"/>
          </a:xfrm>
          <a:prstGeom xmlns:a="http://schemas.openxmlformats.org/drawingml/2006/main" prst="straightConnector1">
            <a:avLst/>
          </a:prstGeom>
          <a:ln xmlns:a="http://schemas.openxmlformats.org/drawingml/2006/main" w="10478">
            <a:solidFill>
              <a:srgbClr val="171717"/>
            </a:solidFill>
          </a:ln>
        </p:spPr>
      </p:cxnSp>
      <p:cxnSp>
        <p:nvCxnSpPr>
          <p:cNvPr id="50" name="">
            <a:extLst xmlns:a="http://schemas.openxmlformats.org/drawingml/2006/main">
              <a:ext uri="{FF2B5EF4-FFF2-40B4-BE49-F238E27FC236}">
                <a16:creationId xmlns:a16="http://schemas.microsoft.com/office/drawing/2014/main" id="{84FB1966-116B-4D52-8CDE-4F4480494574}"/>
              </a:ext>
            </a:extLst>
          </p:cNvPr>
          <p:cNvCxnSpPr/>
          <p:nvPr/>
        </p:nvCxnSpPr>
        <p:spPr>
          <a:xfrm xmlns:a="http://schemas.openxmlformats.org/drawingml/2006/main" flipH="0" flipV="0">
            <a:off x="1009650" y="2095500"/>
            <a:ext cx="1076325" cy="366713"/>
          </a:xfrm>
          <a:prstGeom xmlns:a="http://schemas.openxmlformats.org/drawingml/2006/main" prst="straightConnector1">
            <a:avLst/>
          </a:prstGeom>
          <a:ln xmlns:a="http://schemas.openxmlformats.org/drawingml/2006/main" w="10478">
            <a:solidFill>
              <a:srgbClr val="171717"/>
            </a:solidFill>
          </a:ln>
        </p:spPr>
      </p:cxnSp>
      <p:cxnSp>
        <p:nvCxnSpPr>
          <p:cNvPr id="49" name="">
            <a:extLst xmlns:a="http://schemas.openxmlformats.org/drawingml/2006/main">
              <a:ext uri="{FF2B5EF4-FFF2-40B4-BE49-F238E27FC236}">
                <a16:creationId xmlns:a16="http://schemas.microsoft.com/office/drawing/2014/main" id="{F88FAAE9-4CF5-4C13-A302-1B31283F4ECC}"/>
              </a:ext>
            </a:extLst>
          </p:cNvPr>
          <p:cNvCxnSpPr/>
          <p:nvPr/>
        </p:nvCxnSpPr>
        <p:spPr>
          <a:xfrm xmlns:a="http://schemas.openxmlformats.org/drawingml/2006/main" flipH="0" flipV="1">
            <a:off x="1009650" y="1766888"/>
            <a:ext cx="1076325" cy="328613"/>
          </a:xfrm>
          <a:prstGeom xmlns:a="http://schemas.openxmlformats.org/drawingml/2006/main" prst="straightConnector1">
            <a:avLst/>
          </a:prstGeom>
          <a:ln xmlns:a="http://schemas.openxmlformats.org/drawingml/2006/main" w="10478">
            <a:solidFill>
              <a:srgbClr val="171717"/>
            </a:solidFill>
          </a:ln>
        </p:spPr>
      </p:cxnSp>
      <p:cxnSp>
        <p:nvCxnSpPr>
          <p:cNvPr id="31" name="">
            <a:extLst xmlns:a="http://schemas.openxmlformats.org/drawingml/2006/main">
              <a:ext uri="{FF2B5EF4-FFF2-40B4-BE49-F238E27FC236}">
                <a16:creationId xmlns:a16="http://schemas.microsoft.com/office/drawing/2014/main" id="{61FCED80-35A0-4A41-96F4-F3D85ED5D764}"/>
              </a:ext>
            </a:extLst>
          </p:cNvPr>
          <p:cNvCxnSpPr/>
          <p:nvPr/>
        </p:nvCxnSpPr>
        <p:spPr>
          <a:xfrm xmlns:a="http://schemas.openxmlformats.org/drawingml/2006/main" flipH="0" flipV="0">
            <a:off x="8334375"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30" name="">
            <a:extLst xmlns:a="http://schemas.openxmlformats.org/drawingml/2006/main">
              <a:ext uri="{FF2B5EF4-FFF2-40B4-BE49-F238E27FC236}">
                <a16:creationId xmlns:a16="http://schemas.microsoft.com/office/drawing/2014/main" id="{72EC9236-9454-4F8A-A6CD-BB09D335E46F}"/>
              </a:ext>
            </a:extLst>
          </p:cNvPr>
          <p:cNvCxnSpPr/>
          <p:nvPr/>
        </p:nvCxnSpPr>
        <p:spPr>
          <a:xfrm xmlns:a="http://schemas.openxmlformats.org/drawingml/2006/main" flipH="1" flipV="0">
            <a:off x="8172450"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9" name="">
            <a:extLst xmlns:a="http://schemas.openxmlformats.org/drawingml/2006/main">
              <a:ext uri="{FF2B5EF4-FFF2-40B4-BE49-F238E27FC236}">
                <a16:creationId xmlns:a16="http://schemas.microsoft.com/office/drawing/2014/main" id="{F8011207-9EFD-4AC6-A9FA-29F8155AE133}"/>
              </a:ext>
            </a:extLst>
          </p:cNvPr>
          <p:cNvCxnSpPr/>
          <p:nvPr/>
        </p:nvCxnSpPr>
        <p:spPr>
          <a:xfrm xmlns:a="http://schemas.openxmlformats.org/drawingml/2006/main" flipH="0" flipV="0">
            <a:off x="8153400" y="3790950"/>
            <a:ext cx="361950" cy="0"/>
          </a:xfrm>
          <a:prstGeom xmlns:a="http://schemas.openxmlformats.org/drawingml/2006/main" prst="straightConnector1">
            <a:avLst/>
          </a:prstGeom>
          <a:ln xmlns:a="http://schemas.openxmlformats.org/drawingml/2006/main" w="12383">
            <a:solidFill>
              <a:srgbClr val="171717"/>
            </a:solidFill>
          </a:ln>
        </p:spPr>
      </p:cxnSp>
      <p:cxnSp>
        <p:nvCxnSpPr>
          <p:cNvPr id="28" name="">
            <a:extLst xmlns:a="http://schemas.openxmlformats.org/drawingml/2006/main">
              <a:ext uri="{FF2B5EF4-FFF2-40B4-BE49-F238E27FC236}">
                <a16:creationId xmlns:a16="http://schemas.microsoft.com/office/drawing/2014/main" id="{85042D3F-514F-4F75-9946-03FAA95BE7D1}"/>
              </a:ext>
            </a:extLst>
          </p:cNvPr>
          <p:cNvCxnSpPr/>
          <p:nvPr/>
        </p:nvCxnSpPr>
        <p:spPr>
          <a:xfrm xmlns:a="http://schemas.openxmlformats.org/drawingml/2006/main" flipH="0" flipV="0">
            <a:off x="8334375" y="3686175"/>
            <a:ext cx="0" cy="285750"/>
          </a:xfrm>
          <a:prstGeom xmlns:a="http://schemas.openxmlformats.org/drawingml/2006/main" prst="straightConnector1">
            <a:avLst/>
          </a:prstGeom>
          <a:ln xmlns:a="http://schemas.openxmlformats.org/drawingml/2006/main" w="12383">
            <a:solidFill>
              <a:srgbClr val="171717"/>
            </a:solidFill>
          </a:ln>
        </p:spPr>
      </p:cxnSp>
      <p:cxnSp>
        <p:nvCxnSpPr>
          <p:cNvPr id="25" name="">
            <a:extLst xmlns:a="http://schemas.openxmlformats.org/drawingml/2006/main">
              <a:ext uri="{FF2B5EF4-FFF2-40B4-BE49-F238E27FC236}">
                <a16:creationId xmlns:a16="http://schemas.microsoft.com/office/drawing/2014/main" id="{69E5A6C0-DB1A-4A81-98CA-0BCC5CAAB49F}"/>
              </a:ext>
            </a:extLst>
          </p:cNvPr>
          <p:cNvCxnSpPr/>
          <p:nvPr/>
        </p:nvCxnSpPr>
        <p:spPr>
          <a:xfrm xmlns:a="http://schemas.openxmlformats.org/drawingml/2006/main" flipH="0" flipV="0">
            <a:off x="8334375" y="2286000"/>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4" name="">
            <a:extLst xmlns:a="http://schemas.openxmlformats.org/drawingml/2006/main">
              <a:ext uri="{FF2B5EF4-FFF2-40B4-BE49-F238E27FC236}">
                <a16:creationId xmlns:a16="http://schemas.microsoft.com/office/drawing/2014/main" id="{55193907-55F3-4550-85DE-A246D292FFFB}"/>
              </a:ext>
            </a:extLst>
          </p:cNvPr>
          <p:cNvCxnSpPr/>
          <p:nvPr/>
        </p:nvCxnSpPr>
        <p:spPr>
          <a:xfrm xmlns:a="http://schemas.openxmlformats.org/drawingml/2006/main" flipH="1" flipV="0">
            <a:off x="8172450" y="2286000"/>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3" name="">
            <a:extLst xmlns:a="http://schemas.openxmlformats.org/drawingml/2006/main">
              <a:ext uri="{FF2B5EF4-FFF2-40B4-BE49-F238E27FC236}">
                <a16:creationId xmlns:a16="http://schemas.microsoft.com/office/drawing/2014/main" id="{D059F046-51AB-4E17-8829-82483EFB6BCE}"/>
              </a:ext>
            </a:extLst>
          </p:cNvPr>
          <p:cNvCxnSpPr/>
          <p:nvPr/>
        </p:nvCxnSpPr>
        <p:spPr>
          <a:xfrm xmlns:a="http://schemas.openxmlformats.org/drawingml/2006/main" flipH="0" flipV="0">
            <a:off x="8153400" y="2105025"/>
            <a:ext cx="361950" cy="0"/>
          </a:xfrm>
          <a:prstGeom xmlns:a="http://schemas.openxmlformats.org/drawingml/2006/main" prst="straightConnector1">
            <a:avLst/>
          </a:prstGeom>
          <a:ln xmlns:a="http://schemas.openxmlformats.org/drawingml/2006/main" w="12383">
            <a:solidFill>
              <a:srgbClr val="171717"/>
            </a:solidFill>
          </a:ln>
        </p:spPr>
      </p:cxnSp>
      <p:cxnSp>
        <p:nvCxnSpPr>
          <p:cNvPr id="22" name="">
            <a:extLst xmlns:a="http://schemas.openxmlformats.org/drawingml/2006/main">
              <a:ext uri="{FF2B5EF4-FFF2-40B4-BE49-F238E27FC236}">
                <a16:creationId xmlns:a16="http://schemas.microsoft.com/office/drawing/2014/main" id="{FFF08451-A018-4638-BBD0-E7ADA1FC6A8F}"/>
              </a:ext>
            </a:extLst>
          </p:cNvPr>
          <p:cNvCxnSpPr/>
          <p:nvPr/>
        </p:nvCxnSpPr>
        <p:spPr>
          <a:xfrm xmlns:a="http://schemas.openxmlformats.org/drawingml/2006/main" flipH="0" flipV="0">
            <a:off x="8334375" y="2000250"/>
            <a:ext cx="0" cy="285750"/>
          </a:xfrm>
          <a:prstGeom xmlns:a="http://schemas.openxmlformats.org/drawingml/2006/main" prst="straightConnector1">
            <a:avLst/>
          </a:prstGeom>
          <a:ln xmlns:a="http://schemas.openxmlformats.org/drawingml/2006/main" w="12383">
            <a:solidFill>
              <a:srgbClr val="171717"/>
            </a:solidFill>
          </a:ln>
        </p:spPr>
      </p:cxnSp>
      <p:cxnSp>
        <p:nvCxnSpPr>
          <p:cNvPr id="19" name="">
            <a:extLst xmlns:a="http://schemas.openxmlformats.org/drawingml/2006/main">
              <a:ext uri="{FF2B5EF4-FFF2-40B4-BE49-F238E27FC236}">
                <a16:creationId xmlns:a16="http://schemas.microsoft.com/office/drawing/2014/main" id="{6C192E45-A9C5-4F60-8031-00D48EDA9771}"/>
              </a:ext>
            </a:extLst>
          </p:cNvPr>
          <p:cNvCxnSpPr/>
          <p:nvPr/>
        </p:nvCxnSpPr>
        <p:spPr>
          <a:xfrm xmlns:a="http://schemas.openxmlformats.org/drawingml/2006/main" flipH="0" flipV="0">
            <a:off x="809625"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8" name="">
            <a:extLst xmlns:a="http://schemas.openxmlformats.org/drawingml/2006/main">
              <a:ext uri="{FF2B5EF4-FFF2-40B4-BE49-F238E27FC236}">
                <a16:creationId xmlns:a16="http://schemas.microsoft.com/office/drawing/2014/main" id="{C0D17241-4AF1-4F61-BD07-3077FB865A2B}"/>
              </a:ext>
            </a:extLst>
          </p:cNvPr>
          <p:cNvCxnSpPr/>
          <p:nvPr/>
        </p:nvCxnSpPr>
        <p:spPr>
          <a:xfrm xmlns:a="http://schemas.openxmlformats.org/drawingml/2006/main" flipH="1" flipV="0">
            <a:off x="647700"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7" name="">
            <a:extLst xmlns:a="http://schemas.openxmlformats.org/drawingml/2006/main">
              <a:ext uri="{FF2B5EF4-FFF2-40B4-BE49-F238E27FC236}">
                <a16:creationId xmlns:a16="http://schemas.microsoft.com/office/drawing/2014/main" id="{D4E89CAF-AC43-4AB2-A209-11F0B715836B}"/>
              </a:ext>
            </a:extLst>
          </p:cNvPr>
          <p:cNvCxnSpPr/>
          <p:nvPr/>
        </p:nvCxnSpPr>
        <p:spPr>
          <a:xfrm xmlns:a="http://schemas.openxmlformats.org/drawingml/2006/main" flipH="0" flipV="0">
            <a:off x="628650" y="3790950"/>
            <a:ext cx="361950" cy="0"/>
          </a:xfrm>
          <a:prstGeom xmlns:a="http://schemas.openxmlformats.org/drawingml/2006/main" prst="straightConnector1">
            <a:avLst/>
          </a:prstGeom>
          <a:ln xmlns:a="http://schemas.openxmlformats.org/drawingml/2006/main" w="12383">
            <a:solidFill>
              <a:srgbClr val="171717"/>
            </a:solidFill>
          </a:ln>
        </p:spPr>
      </p:cxnSp>
      <p:cxnSp>
        <p:nvCxnSpPr>
          <p:cNvPr id="16" name="">
            <a:extLst xmlns:a="http://schemas.openxmlformats.org/drawingml/2006/main">
              <a:ext uri="{FF2B5EF4-FFF2-40B4-BE49-F238E27FC236}">
                <a16:creationId xmlns:a16="http://schemas.microsoft.com/office/drawing/2014/main" id="{F11F2CC4-6032-4FD1-B8EA-0894ED70787A}"/>
              </a:ext>
            </a:extLst>
          </p:cNvPr>
          <p:cNvCxnSpPr/>
          <p:nvPr/>
        </p:nvCxnSpPr>
        <p:spPr>
          <a:xfrm xmlns:a="http://schemas.openxmlformats.org/drawingml/2006/main" flipH="0" flipV="0">
            <a:off x="809625" y="3686175"/>
            <a:ext cx="0" cy="285750"/>
          </a:xfrm>
          <a:prstGeom xmlns:a="http://schemas.openxmlformats.org/drawingml/2006/main" prst="straightConnector1">
            <a:avLst/>
          </a:prstGeom>
          <a:ln xmlns:a="http://schemas.openxmlformats.org/drawingml/2006/main" w="12383">
            <a:solidFill>
              <a:srgbClr val="171717"/>
            </a:solidFill>
          </a:ln>
        </p:spPr>
      </p:cxnSp>
      <p:cxnSp>
        <p:nvCxnSpPr>
          <p:cNvPr id="13" name="">
            <a:extLst xmlns:a="http://schemas.openxmlformats.org/drawingml/2006/main">
              <a:ext uri="{FF2B5EF4-FFF2-40B4-BE49-F238E27FC236}">
                <a16:creationId xmlns:a16="http://schemas.microsoft.com/office/drawing/2014/main" id="{5A0F0D05-E909-4E6B-8977-2DF05A1658E5}"/>
              </a:ext>
            </a:extLst>
          </p:cNvPr>
          <p:cNvCxnSpPr/>
          <p:nvPr/>
        </p:nvCxnSpPr>
        <p:spPr>
          <a:xfrm xmlns:a="http://schemas.openxmlformats.org/drawingml/2006/main" flipH="0" flipV="0">
            <a:off x="809625" y="227647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2" name="">
            <a:extLst xmlns:a="http://schemas.openxmlformats.org/drawingml/2006/main">
              <a:ext uri="{FF2B5EF4-FFF2-40B4-BE49-F238E27FC236}">
                <a16:creationId xmlns:a16="http://schemas.microsoft.com/office/drawing/2014/main" id="{F9954622-CA76-479A-B144-E58FA35EF16F}"/>
              </a:ext>
            </a:extLst>
          </p:cNvPr>
          <p:cNvCxnSpPr/>
          <p:nvPr/>
        </p:nvCxnSpPr>
        <p:spPr>
          <a:xfrm xmlns:a="http://schemas.openxmlformats.org/drawingml/2006/main" flipH="1" flipV="0">
            <a:off x="647700" y="227647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1" name="">
            <a:extLst xmlns:a="http://schemas.openxmlformats.org/drawingml/2006/main">
              <a:ext uri="{FF2B5EF4-FFF2-40B4-BE49-F238E27FC236}">
                <a16:creationId xmlns:a16="http://schemas.microsoft.com/office/drawing/2014/main" id="{B2298A43-04A6-4C91-A917-62A8660D0867}"/>
              </a:ext>
            </a:extLst>
          </p:cNvPr>
          <p:cNvCxnSpPr/>
          <p:nvPr/>
        </p:nvCxnSpPr>
        <p:spPr>
          <a:xfrm xmlns:a="http://schemas.openxmlformats.org/drawingml/2006/main" flipH="0" flipV="0">
            <a:off x="628650" y="2095500"/>
            <a:ext cx="361950" cy="0"/>
          </a:xfrm>
          <a:prstGeom xmlns:a="http://schemas.openxmlformats.org/drawingml/2006/main" prst="straightConnector1">
            <a:avLst/>
          </a:prstGeom>
          <a:ln xmlns:a="http://schemas.openxmlformats.org/drawingml/2006/main" w="12383">
            <a:solidFill>
              <a:srgbClr val="171717"/>
            </a:solidFill>
          </a:ln>
        </p:spPr>
      </p:cxnSp>
      <p:cxnSp>
        <p:nvCxnSpPr>
          <p:cNvPr id="10" name="">
            <a:extLst xmlns:a="http://schemas.openxmlformats.org/drawingml/2006/main">
              <a:ext uri="{FF2B5EF4-FFF2-40B4-BE49-F238E27FC236}">
                <a16:creationId xmlns:a16="http://schemas.microsoft.com/office/drawing/2014/main" id="{17FDD17C-313F-409B-A06C-72B2099C8D99}"/>
              </a:ext>
            </a:extLst>
          </p:cNvPr>
          <p:cNvCxnSpPr/>
          <p:nvPr/>
        </p:nvCxnSpPr>
        <p:spPr>
          <a:xfrm xmlns:a="http://schemas.openxmlformats.org/drawingml/2006/main" flipH="0" flipV="0">
            <a:off x="809625" y="1990725"/>
            <a:ext cx="0" cy="285750"/>
          </a:xfrm>
          <a:prstGeom xmlns:a="http://schemas.openxmlformats.org/drawingml/2006/main" prst="straightConnector1">
            <a:avLst/>
          </a:prstGeom>
          <a:ln xmlns:a="http://schemas.openxmlformats.org/drawingml/2006/main" w="12383">
            <a:solidFill>
              <a:srgbClr val="171717"/>
            </a:solidFill>
          </a:ln>
        </p:spPr>
      </p:cxnSp>
      <p:pic>
        <p:nvPicPr>
          <p:cNvPr id="6" name="Picture 5">
            <a:extLst xmlns:a="http://schemas.openxmlformats.org/drawingml/2006/main">
              <a:ext uri="{FF2B5EF4-FFF2-40B4-BE49-F238E27FC236}">
                <a16:creationId xmlns:a16="http://schemas.microsoft.com/office/drawing/2014/main" id="{61A85A19-2EB2-4E80-AFF8-5A77E09B3FD4}"/>
              </a:ext>
            </a:extLst>
          </p:cNvPr>
          <p:cNvPicPr>
            <a:picLocks xmlns:a="http://schemas.openxmlformats.org/drawingml/2006/main" noChangeAspect="1"/>
          </p:cNvPicPr>
          <p:nvPr/>
        </p:nvPicPr>
        <p:blipFill>
          <a:blip xmlns:r="http://schemas.openxmlformats.org/officeDocument/2006/relationships" xmlns:a="http://schemas.openxmlformats.org/drawingml/2006/main" r:embed="R6e0b6d93cc6540fe"/>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0">
            <a:extLst xmlns:a="http://schemas.openxmlformats.org/drawingml/2006/main">
              <a:ext uri="{FF2B5EF4-FFF2-40B4-BE49-F238E27FC236}">
                <a16:creationId xmlns:a16="http://schemas.microsoft.com/office/drawing/2014/main" id="{E59B1D5B-39ED-4692-B1EB-9C871011E50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UML use-case diagram</a:t>
            </a:r>
          </a:p>
        </p:txBody>
      </p:sp>
      <p:sp>
        <p:nvSpPr>
          <p:cNvPr id="7" name="">
            <a:extLst xmlns:a="http://schemas.openxmlformats.org/drawingml/2006/main">
              <a:ext uri="{FF2B5EF4-FFF2-40B4-BE49-F238E27FC236}">
                <a16:creationId xmlns:a16="http://schemas.microsoft.com/office/drawing/2014/main" id="{30D122F1-1B9F-46C2-8800-76418E011CE7}"/>
              </a:ext>
            </a:extLst>
          </p:cNvPr>
          <p:cNvSpPr>
            <a:spLocks xmlns:a="http://schemas.openxmlformats.org/drawingml/2006/main" noGrp="1"/>
          </p:cNvSpPr>
          <p:nvPr/>
        </p:nvSpPr>
        <p:spPr>
          <a:xfrm xmlns:a="http://schemas.openxmlformats.org/drawingml/2006/main">
            <a:off x="1600200" y="1209675"/>
            <a:ext cx="6038850" cy="3200400"/>
          </a:xfrm>
          <a:prstGeom xmlns:a="http://schemas.openxmlformats.org/drawingml/2006/main" prst="rect">
            <a:avLst/>
          </a:prstGeom>
          <a:noFill xmlns:a="http://schemas.openxmlformats.org/drawingml/2006/main"/>
          <a:ln xmlns:a="http://schemas.openxmlformats.org/drawingml/2006/main" w="13335">
            <a:solidFill>
              <a:srgbClr val="202C61"/>
            </a:solidFill>
          </a:ln>
        </p:spPr>
      </p:sp>
      <p:sp>
        <p:nvSpPr>
          <p:cNvPr id="8" name="">
            <a:extLst xmlns:a="http://schemas.openxmlformats.org/drawingml/2006/main">
              <a:ext uri="{FF2B5EF4-FFF2-40B4-BE49-F238E27FC236}">
                <a16:creationId xmlns:a16="http://schemas.microsoft.com/office/drawing/2014/main" id="{B2EEC137-AF4D-4187-ADEA-EDAB48FE2FFC}"/>
              </a:ext>
            </a:extLst>
          </p:cNvPr>
          <p:cNvSpPr>
            <a:spLocks xmlns:a="http://schemas.openxmlformats.org/drawingml/2006/main" noGrp="1"/>
          </p:cNvSpPr>
          <p:nvPr/>
        </p:nvSpPr>
        <p:spPr>
          <a:xfrm xmlns:a="http://schemas.openxmlformats.org/drawingml/2006/main">
            <a:off x="3667125" y="1247775"/>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202C61"/>
                </a:solidFill>
                <a:latin typeface="Arial"/>
                <a:ea typeface="Arial"/>
                <a:cs typeface="Arial"/>
              </a:defRPr>
            </a:defPPr>
            <a:lvl1pPr algn="ctr">
              <a:buNone/>
              <a:defRPr sz="1425" b="1">
                <a:solidFill>
                  <a:srgbClr val="202C61"/>
                </a:solidFill>
                <a:latin typeface="Arial"/>
                <a:ea typeface="Arial"/>
                <a:cs typeface="Arial"/>
              </a:defRPr>
            </a:lvl1pPr>
            <a:lvl2pPr algn="ctr">
              <a:buNone/>
              <a:defRPr sz="1425" b="1">
                <a:solidFill>
                  <a:srgbClr val="202C61"/>
                </a:solidFill>
                <a:latin typeface="Arial"/>
                <a:ea typeface="Arial"/>
                <a:cs typeface="Arial"/>
              </a:defRPr>
            </a:lvl2pPr>
            <a:lvl3pPr algn="ctr">
              <a:buNone/>
              <a:defRPr sz="1425" b="1">
                <a:solidFill>
                  <a:srgbClr val="202C61"/>
                </a:solidFill>
                <a:latin typeface="Arial"/>
                <a:ea typeface="Arial"/>
                <a:cs typeface="Arial"/>
              </a:defRPr>
            </a:lvl3pPr>
            <a:lvl4pPr algn="ctr">
              <a:buNone/>
              <a:defRPr sz="1425" b="1">
                <a:solidFill>
                  <a:srgbClr val="202C61"/>
                </a:solidFill>
                <a:latin typeface="Arial"/>
                <a:ea typeface="Arial"/>
                <a:cs typeface="Arial"/>
              </a:defRPr>
            </a:lvl4pPr>
            <a:lvl5pPr algn="ctr">
              <a:buNone/>
              <a:defRPr sz="1425" b="1">
                <a:solidFill>
                  <a:srgbClr val="202C61"/>
                </a:solidFill>
                <a:latin typeface="Arial"/>
                <a:ea typeface="Arial"/>
                <a:cs typeface="Arial"/>
              </a:defRPr>
            </a:lvl5pPr>
            <a:lvl6pPr algn="ctr">
              <a:buNone/>
              <a:defRPr sz="1425" b="1">
                <a:solidFill>
                  <a:srgbClr val="202C61"/>
                </a:solidFill>
                <a:latin typeface="Arial"/>
                <a:ea typeface="Arial"/>
                <a:cs typeface="Arial"/>
              </a:defRPr>
            </a:lvl6pPr>
            <a:lvl7pPr algn="ctr">
              <a:buNone/>
              <a:defRPr sz="1425" b="1">
                <a:solidFill>
                  <a:srgbClr val="202C61"/>
                </a:solidFill>
                <a:latin typeface="Arial"/>
                <a:ea typeface="Arial"/>
                <a:cs typeface="Arial"/>
              </a:defRPr>
            </a:lvl7pPr>
            <a:lvl8pPr algn="ctr">
              <a:buNone/>
              <a:defRPr sz="1425" b="1">
                <a:solidFill>
                  <a:srgbClr val="202C61"/>
                </a:solidFill>
                <a:latin typeface="Arial"/>
                <a:ea typeface="Arial"/>
                <a:cs typeface="Arial"/>
              </a:defRPr>
            </a:lvl8pPr>
            <a:lvl9pPr algn="ctr">
              <a:buNone/>
              <a:defRPr sz="1425" b="1">
                <a:solidFill>
                  <a:srgbClr val="202C61"/>
                </a:solidFill>
                <a:latin typeface="Arial"/>
                <a:ea typeface="Arial"/>
                <a:cs typeface="Arial"/>
              </a:defRPr>
            </a:lvl9pPr>
          </a:lstStyle>
          <a:p xmlns:a="http://schemas.openxmlformats.org/drawingml/2006/main">
            <a:pPr algn="ctr">
              <a:buNone/>
              <a:defRPr sz="1425" b="1">
                <a:solidFill>
                  <a:srgbClr val="202C61"/>
                </a:solidFill>
                <a:latin typeface="Arial"/>
                <a:ea typeface="Arial"/>
                <a:cs typeface="Arial"/>
              </a:defRPr>
            </a:pPr>
            <a:r>
              <a:rPr sz="1425" b="1">
                <a:solidFill>
                  <a:srgbClr val="202C61"/>
                </a:solidFill>
                <a:latin typeface="Arial"/>
                <a:ea typeface="Arial"/>
                <a:cs typeface="Arial"/>
              </a:rPr>
              <a:t>Kodigo system</a:t>
            </a:r>
          </a:p>
        </p:txBody>
      </p:sp>
      <p:sp>
        <p:nvSpPr>
          <p:cNvPr id="9" name="">
            <a:extLst xmlns:a="http://schemas.openxmlformats.org/drawingml/2006/main">
              <a:ext uri="{FF2B5EF4-FFF2-40B4-BE49-F238E27FC236}">
                <a16:creationId xmlns:a16="http://schemas.microsoft.com/office/drawing/2014/main" id="{D65D04FF-1618-4E0E-B568-83BA15A50AC1}"/>
              </a:ext>
            </a:extLst>
          </p:cNvPr>
          <p:cNvSpPr>
            <a:spLocks xmlns:a="http://schemas.openxmlformats.org/drawingml/2006/main" noGrp="1"/>
          </p:cNvSpPr>
          <p:nvPr/>
        </p:nvSpPr>
        <p:spPr>
          <a:xfrm xmlns:a="http://schemas.openxmlformats.org/drawingml/2006/main">
            <a:off x="742950" y="185737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14" name="">
            <a:extLst xmlns:a="http://schemas.openxmlformats.org/drawingml/2006/main">
              <a:ext uri="{FF2B5EF4-FFF2-40B4-BE49-F238E27FC236}">
                <a16:creationId xmlns:a16="http://schemas.microsoft.com/office/drawing/2014/main" id="{1F08F109-9693-4C66-9FCB-0C589A84FA3B}"/>
              </a:ext>
            </a:extLst>
          </p:cNvPr>
          <p:cNvSpPr>
            <a:spLocks xmlns:a="http://schemas.openxmlformats.org/drawingml/2006/main" noGrp="1"/>
          </p:cNvSpPr>
          <p:nvPr/>
        </p:nvSpPr>
        <p:spPr>
          <a:xfrm xmlns:a="http://schemas.openxmlformats.org/drawingml/2006/main">
            <a:off x="190500" y="252412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Admin</a:t>
            </a:r>
          </a:p>
        </p:txBody>
      </p:sp>
      <p:sp>
        <p:nvSpPr>
          <p:cNvPr id="15" name="">
            <a:extLst xmlns:a="http://schemas.openxmlformats.org/drawingml/2006/main">
              <a:ext uri="{FF2B5EF4-FFF2-40B4-BE49-F238E27FC236}">
                <a16:creationId xmlns:a16="http://schemas.microsoft.com/office/drawing/2014/main" id="{045CDA2A-8109-4906-8652-B6507560A9A9}"/>
              </a:ext>
            </a:extLst>
          </p:cNvPr>
          <p:cNvSpPr>
            <a:spLocks xmlns:a="http://schemas.openxmlformats.org/drawingml/2006/main" noGrp="1"/>
          </p:cNvSpPr>
          <p:nvPr/>
        </p:nvSpPr>
        <p:spPr>
          <a:xfrm xmlns:a="http://schemas.openxmlformats.org/drawingml/2006/main">
            <a:off x="742950" y="355282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20" name="">
            <a:extLst xmlns:a="http://schemas.openxmlformats.org/drawingml/2006/main">
              <a:ext uri="{FF2B5EF4-FFF2-40B4-BE49-F238E27FC236}">
                <a16:creationId xmlns:a16="http://schemas.microsoft.com/office/drawing/2014/main" id="{5A1DDF47-B471-4952-AC7E-98844206E7F0}"/>
              </a:ext>
            </a:extLst>
          </p:cNvPr>
          <p:cNvSpPr>
            <a:spLocks xmlns:a="http://schemas.openxmlformats.org/drawingml/2006/main" noGrp="1"/>
          </p:cNvSpPr>
          <p:nvPr/>
        </p:nvSpPr>
        <p:spPr>
          <a:xfrm xmlns:a="http://schemas.openxmlformats.org/drawingml/2006/main">
            <a:off x="190500" y="421957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Super Admin</a:t>
            </a:r>
          </a:p>
        </p:txBody>
      </p:sp>
      <p:sp>
        <p:nvSpPr>
          <p:cNvPr id="21" name="">
            <a:extLst xmlns:a="http://schemas.openxmlformats.org/drawingml/2006/main">
              <a:ext uri="{FF2B5EF4-FFF2-40B4-BE49-F238E27FC236}">
                <a16:creationId xmlns:a16="http://schemas.microsoft.com/office/drawing/2014/main" id="{F5BD5779-CF34-469B-9E8C-95BEC12C8387}"/>
              </a:ext>
            </a:extLst>
          </p:cNvPr>
          <p:cNvSpPr>
            <a:spLocks xmlns:a="http://schemas.openxmlformats.org/drawingml/2006/main" noGrp="1"/>
          </p:cNvSpPr>
          <p:nvPr/>
        </p:nvSpPr>
        <p:spPr>
          <a:xfrm xmlns:a="http://schemas.openxmlformats.org/drawingml/2006/main">
            <a:off x="8267700" y="1866900"/>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26" name="">
            <a:extLst xmlns:a="http://schemas.openxmlformats.org/drawingml/2006/main">
              <a:ext uri="{FF2B5EF4-FFF2-40B4-BE49-F238E27FC236}">
                <a16:creationId xmlns:a16="http://schemas.microsoft.com/office/drawing/2014/main" id="{65CE764A-1E5E-49DC-8B73-A95743FDBBD7}"/>
              </a:ext>
            </a:extLst>
          </p:cNvPr>
          <p:cNvSpPr>
            <a:spLocks xmlns:a="http://schemas.openxmlformats.org/drawingml/2006/main" noGrp="1"/>
          </p:cNvSpPr>
          <p:nvPr/>
        </p:nvSpPr>
        <p:spPr>
          <a:xfrm xmlns:a="http://schemas.openxmlformats.org/drawingml/2006/main">
            <a:off x="7715250" y="2533650"/>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Cashier</a:t>
            </a:r>
          </a:p>
        </p:txBody>
      </p:sp>
      <p:sp>
        <p:nvSpPr>
          <p:cNvPr id="27" name="">
            <a:extLst xmlns:a="http://schemas.openxmlformats.org/drawingml/2006/main">
              <a:ext uri="{FF2B5EF4-FFF2-40B4-BE49-F238E27FC236}">
                <a16:creationId xmlns:a16="http://schemas.microsoft.com/office/drawing/2014/main" id="{FD64F878-0855-4548-88DF-6B92C7DD9381}"/>
              </a:ext>
            </a:extLst>
          </p:cNvPr>
          <p:cNvSpPr>
            <a:spLocks xmlns:a="http://schemas.openxmlformats.org/drawingml/2006/main" noGrp="1"/>
          </p:cNvSpPr>
          <p:nvPr/>
        </p:nvSpPr>
        <p:spPr>
          <a:xfrm xmlns:a="http://schemas.openxmlformats.org/drawingml/2006/main">
            <a:off x="8267700" y="355282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2" name="">
            <a:extLst xmlns:a="http://schemas.openxmlformats.org/drawingml/2006/main">
              <a:ext uri="{FF2B5EF4-FFF2-40B4-BE49-F238E27FC236}">
                <a16:creationId xmlns:a16="http://schemas.microsoft.com/office/drawing/2014/main" id="{70D1306C-F8DC-417C-960F-32951BEA30CB}"/>
              </a:ext>
            </a:extLst>
          </p:cNvPr>
          <p:cNvSpPr>
            <a:spLocks xmlns:a="http://schemas.openxmlformats.org/drawingml/2006/main" noGrp="1"/>
          </p:cNvSpPr>
          <p:nvPr/>
        </p:nvSpPr>
        <p:spPr>
          <a:xfrm xmlns:a="http://schemas.openxmlformats.org/drawingml/2006/main">
            <a:off x="7715250" y="421957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Inventory</a:t>
            </a:r>
          </a:p>
        </p:txBody>
      </p:sp>
      <p:sp>
        <p:nvSpPr>
          <p:cNvPr id="33" name="">
            <a:extLst xmlns:a="http://schemas.openxmlformats.org/drawingml/2006/main">
              <a:ext uri="{FF2B5EF4-FFF2-40B4-BE49-F238E27FC236}">
                <a16:creationId xmlns:a16="http://schemas.microsoft.com/office/drawing/2014/main" id="{C988B761-E25B-4D24-A2BF-9A4C0C663A71}"/>
              </a:ext>
            </a:extLst>
          </p:cNvPr>
          <p:cNvSpPr>
            <a:spLocks xmlns:a="http://schemas.openxmlformats.org/drawingml/2006/main" noGrp="1"/>
          </p:cNvSpPr>
          <p:nvPr/>
        </p:nvSpPr>
        <p:spPr>
          <a:xfrm xmlns:a="http://schemas.openxmlformats.org/drawingml/2006/main">
            <a:off x="2085975" y="150495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4" name="">
            <a:extLst xmlns:a="http://schemas.openxmlformats.org/drawingml/2006/main">
              <a:ext uri="{FF2B5EF4-FFF2-40B4-BE49-F238E27FC236}">
                <a16:creationId xmlns:a16="http://schemas.microsoft.com/office/drawing/2014/main" id="{11448CC9-B657-4235-A9CC-8DE60ED127C4}"/>
              </a:ext>
            </a:extLst>
          </p:cNvPr>
          <p:cNvSpPr>
            <a:spLocks xmlns:a="http://schemas.openxmlformats.org/drawingml/2006/main" noGrp="1"/>
          </p:cNvSpPr>
          <p:nvPr/>
        </p:nvSpPr>
        <p:spPr>
          <a:xfrm xmlns:a="http://schemas.openxmlformats.org/drawingml/2006/main">
            <a:off x="2162175" y="153352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assigned</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stores and users</a:t>
            </a:r>
          </a:p>
        </p:txBody>
      </p:sp>
      <p:sp>
        <p:nvSpPr>
          <p:cNvPr id="35" name="">
            <a:extLst xmlns:a="http://schemas.openxmlformats.org/drawingml/2006/main">
              <a:ext uri="{FF2B5EF4-FFF2-40B4-BE49-F238E27FC236}">
                <a16:creationId xmlns:a16="http://schemas.microsoft.com/office/drawing/2014/main" id="{FB8328F6-E98B-41C5-8223-0D428A34610F}"/>
              </a:ext>
            </a:extLst>
          </p:cNvPr>
          <p:cNvSpPr>
            <a:spLocks xmlns:a="http://schemas.openxmlformats.org/drawingml/2006/main" noGrp="1"/>
          </p:cNvSpPr>
          <p:nvPr/>
        </p:nvSpPr>
        <p:spPr>
          <a:xfrm xmlns:a="http://schemas.openxmlformats.org/drawingml/2006/main">
            <a:off x="2085975" y="22002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6" name="">
            <a:extLst xmlns:a="http://schemas.openxmlformats.org/drawingml/2006/main">
              <a:ext uri="{FF2B5EF4-FFF2-40B4-BE49-F238E27FC236}">
                <a16:creationId xmlns:a16="http://schemas.microsoft.com/office/drawing/2014/main" id="{71AAB195-E9C7-4613-ACBF-4FD1271855AE}"/>
              </a:ext>
            </a:extLst>
          </p:cNvPr>
          <p:cNvSpPr>
            <a:spLocks xmlns:a="http://schemas.openxmlformats.org/drawingml/2006/main" noGrp="1"/>
          </p:cNvSpPr>
          <p:nvPr/>
        </p:nvSpPr>
        <p:spPr>
          <a:xfrm xmlns:a="http://schemas.openxmlformats.org/drawingml/2006/main">
            <a:off x="2162175" y="22288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suppliers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purchasing</a:t>
            </a:r>
          </a:p>
        </p:txBody>
      </p:sp>
      <p:sp>
        <p:nvSpPr>
          <p:cNvPr id="37" name="">
            <a:extLst xmlns:a="http://schemas.openxmlformats.org/drawingml/2006/main">
              <a:ext uri="{FF2B5EF4-FFF2-40B4-BE49-F238E27FC236}">
                <a16:creationId xmlns:a16="http://schemas.microsoft.com/office/drawing/2014/main" id="{F29D5FC5-4648-4173-88FF-23C09812A29B}"/>
              </a:ext>
            </a:extLst>
          </p:cNvPr>
          <p:cNvSpPr>
            <a:spLocks xmlns:a="http://schemas.openxmlformats.org/drawingml/2006/main" noGrp="1"/>
          </p:cNvSpPr>
          <p:nvPr/>
        </p:nvSpPr>
        <p:spPr>
          <a:xfrm xmlns:a="http://schemas.openxmlformats.org/drawingml/2006/main">
            <a:off x="2085975" y="289560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8" name="">
            <a:extLst xmlns:a="http://schemas.openxmlformats.org/drawingml/2006/main">
              <a:ext uri="{FF2B5EF4-FFF2-40B4-BE49-F238E27FC236}">
                <a16:creationId xmlns:a16="http://schemas.microsoft.com/office/drawing/2014/main" id="{7891B4C7-C939-46E8-A709-D558B6FFD6C7}"/>
              </a:ext>
            </a:extLst>
          </p:cNvPr>
          <p:cNvSpPr>
            <a:spLocks xmlns:a="http://schemas.openxmlformats.org/drawingml/2006/main" noGrp="1"/>
          </p:cNvSpPr>
          <p:nvPr/>
        </p:nvSpPr>
        <p:spPr>
          <a:xfrm xmlns:a="http://schemas.openxmlformats.org/drawingml/2006/main">
            <a:off x="2162175" y="292417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inventory</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business reports</a:t>
            </a:r>
          </a:p>
        </p:txBody>
      </p:sp>
      <p:sp>
        <p:nvSpPr>
          <p:cNvPr id="39" name="">
            <a:extLst xmlns:a="http://schemas.openxmlformats.org/drawingml/2006/main">
              <a:ext uri="{FF2B5EF4-FFF2-40B4-BE49-F238E27FC236}">
                <a16:creationId xmlns:a16="http://schemas.microsoft.com/office/drawing/2014/main" id="{D1A527FE-0EA2-4794-A119-5F576CE17B66}"/>
              </a:ext>
            </a:extLst>
          </p:cNvPr>
          <p:cNvSpPr>
            <a:spLocks xmlns:a="http://schemas.openxmlformats.org/drawingml/2006/main" noGrp="1"/>
          </p:cNvSpPr>
          <p:nvPr/>
        </p:nvSpPr>
        <p:spPr>
          <a:xfrm xmlns:a="http://schemas.openxmlformats.org/drawingml/2006/main">
            <a:off x="2085975" y="38385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0" name="">
            <a:extLst xmlns:a="http://schemas.openxmlformats.org/drawingml/2006/main">
              <a:ext uri="{FF2B5EF4-FFF2-40B4-BE49-F238E27FC236}">
                <a16:creationId xmlns:a16="http://schemas.microsoft.com/office/drawing/2014/main" id="{3589ED3F-D9D5-4915-B6BB-259DEAE25429}"/>
              </a:ext>
            </a:extLst>
          </p:cNvPr>
          <p:cNvSpPr>
            <a:spLocks xmlns:a="http://schemas.openxmlformats.org/drawingml/2006/main" noGrp="1"/>
          </p:cNvSpPr>
          <p:nvPr/>
        </p:nvSpPr>
        <p:spPr>
          <a:xfrm xmlns:a="http://schemas.openxmlformats.org/drawingml/2006/main">
            <a:off x="2162175" y="38671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Generate Admin</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invite codes</a:t>
            </a:r>
          </a:p>
        </p:txBody>
      </p:sp>
      <p:sp>
        <p:nvSpPr>
          <p:cNvPr id="41" name="">
            <a:extLst xmlns:a="http://schemas.openxmlformats.org/drawingml/2006/main">
              <a:ext uri="{FF2B5EF4-FFF2-40B4-BE49-F238E27FC236}">
                <a16:creationId xmlns:a16="http://schemas.microsoft.com/office/drawing/2014/main" id="{033D4411-F0B3-4DC5-85A2-720949FEC986}"/>
              </a:ext>
            </a:extLst>
          </p:cNvPr>
          <p:cNvSpPr>
            <a:spLocks xmlns:a="http://schemas.openxmlformats.org/drawingml/2006/main" noGrp="1"/>
          </p:cNvSpPr>
          <p:nvPr/>
        </p:nvSpPr>
        <p:spPr>
          <a:xfrm xmlns:a="http://schemas.openxmlformats.org/drawingml/2006/main">
            <a:off x="5257800" y="150495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2" name="">
            <a:extLst xmlns:a="http://schemas.openxmlformats.org/drawingml/2006/main">
              <a:ext uri="{FF2B5EF4-FFF2-40B4-BE49-F238E27FC236}">
                <a16:creationId xmlns:a16="http://schemas.microsoft.com/office/drawing/2014/main" id="{579EC15D-FF55-4531-9800-D762C3B0FC75}"/>
              </a:ext>
            </a:extLst>
          </p:cNvPr>
          <p:cNvSpPr>
            <a:spLocks xmlns:a="http://schemas.openxmlformats.org/drawingml/2006/main" noGrp="1"/>
          </p:cNvSpPr>
          <p:nvPr/>
        </p:nvSpPr>
        <p:spPr>
          <a:xfrm xmlns:a="http://schemas.openxmlformats.org/drawingml/2006/main">
            <a:off x="5334000" y="153352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Process POS sales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payments</a:t>
            </a:r>
          </a:p>
        </p:txBody>
      </p:sp>
      <p:sp>
        <p:nvSpPr>
          <p:cNvPr id="43" name="">
            <a:extLst xmlns:a="http://schemas.openxmlformats.org/drawingml/2006/main">
              <a:ext uri="{FF2B5EF4-FFF2-40B4-BE49-F238E27FC236}">
                <a16:creationId xmlns:a16="http://schemas.microsoft.com/office/drawing/2014/main" id="{82BB6DBD-9D8D-4FE8-8CBD-18A29C38AC98}"/>
              </a:ext>
            </a:extLst>
          </p:cNvPr>
          <p:cNvSpPr>
            <a:spLocks xmlns:a="http://schemas.openxmlformats.org/drawingml/2006/main" noGrp="1"/>
          </p:cNvSpPr>
          <p:nvPr/>
        </p:nvSpPr>
        <p:spPr>
          <a:xfrm xmlns:a="http://schemas.openxmlformats.org/drawingml/2006/main">
            <a:off x="5257800" y="22002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4" name="">
            <a:extLst xmlns:a="http://schemas.openxmlformats.org/drawingml/2006/main">
              <a:ext uri="{FF2B5EF4-FFF2-40B4-BE49-F238E27FC236}">
                <a16:creationId xmlns:a16="http://schemas.microsoft.com/office/drawing/2014/main" id="{396492F6-5A2D-4573-B106-D47ED29F7F10}"/>
              </a:ext>
            </a:extLst>
          </p:cNvPr>
          <p:cNvSpPr>
            <a:spLocks xmlns:a="http://schemas.openxmlformats.org/drawingml/2006/main" noGrp="1"/>
          </p:cNvSpPr>
          <p:nvPr/>
        </p:nvSpPr>
        <p:spPr>
          <a:xfrm xmlns:a="http://schemas.openxmlformats.org/drawingml/2006/main">
            <a:off x="5334000" y="22288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Generate / reprint</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receipts</a:t>
            </a:r>
          </a:p>
        </p:txBody>
      </p:sp>
      <p:sp>
        <p:nvSpPr>
          <p:cNvPr id="45" name="">
            <a:extLst xmlns:a="http://schemas.openxmlformats.org/drawingml/2006/main">
              <a:ext uri="{FF2B5EF4-FFF2-40B4-BE49-F238E27FC236}">
                <a16:creationId xmlns:a16="http://schemas.microsoft.com/office/drawing/2014/main" id="{0E95240E-F39B-4745-9CCE-001D08963AEE}"/>
              </a:ext>
            </a:extLst>
          </p:cNvPr>
          <p:cNvSpPr>
            <a:spLocks xmlns:a="http://schemas.openxmlformats.org/drawingml/2006/main" noGrp="1"/>
          </p:cNvSpPr>
          <p:nvPr/>
        </p:nvSpPr>
        <p:spPr>
          <a:xfrm xmlns:a="http://schemas.openxmlformats.org/drawingml/2006/main">
            <a:off x="5257800" y="316230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6" name="">
            <a:extLst xmlns:a="http://schemas.openxmlformats.org/drawingml/2006/main">
              <a:ext uri="{FF2B5EF4-FFF2-40B4-BE49-F238E27FC236}">
                <a16:creationId xmlns:a16="http://schemas.microsoft.com/office/drawing/2014/main" id="{2E3119CE-8236-44E6-B1C9-2A77A066FFDD}"/>
              </a:ext>
            </a:extLst>
          </p:cNvPr>
          <p:cNvSpPr>
            <a:spLocks xmlns:a="http://schemas.openxmlformats.org/drawingml/2006/main" noGrp="1"/>
          </p:cNvSpPr>
          <p:nvPr/>
        </p:nvSpPr>
        <p:spPr>
          <a:xfrm xmlns:a="http://schemas.openxmlformats.org/drawingml/2006/main">
            <a:off x="5334000" y="319087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Maintain products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stock</a:t>
            </a:r>
          </a:p>
        </p:txBody>
      </p:sp>
      <p:sp>
        <p:nvSpPr>
          <p:cNvPr id="47" name="">
            <a:extLst xmlns:a="http://schemas.openxmlformats.org/drawingml/2006/main">
              <a:ext uri="{FF2B5EF4-FFF2-40B4-BE49-F238E27FC236}">
                <a16:creationId xmlns:a16="http://schemas.microsoft.com/office/drawing/2014/main" id="{167DF1B6-FF2B-418E-837C-81F6AE0B6304}"/>
              </a:ext>
            </a:extLst>
          </p:cNvPr>
          <p:cNvSpPr>
            <a:spLocks xmlns:a="http://schemas.openxmlformats.org/drawingml/2006/main" noGrp="1"/>
          </p:cNvSpPr>
          <p:nvPr/>
        </p:nvSpPr>
        <p:spPr>
          <a:xfrm xmlns:a="http://schemas.openxmlformats.org/drawingml/2006/main">
            <a:off x="5257800" y="385762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8" name="">
            <a:extLst xmlns:a="http://schemas.openxmlformats.org/drawingml/2006/main">
              <a:ext uri="{FF2B5EF4-FFF2-40B4-BE49-F238E27FC236}">
                <a16:creationId xmlns:a16="http://schemas.microsoft.com/office/drawing/2014/main" id="{A45AE259-05DE-4838-BF54-7F8B77F99F8C}"/>
              </a:ext>
            </a:extLst>
          </p:cNvPr>
          <p:cNvSpPr>
            <a:spLocks xmlns:a="http://schemas.openxmlformats.org/drawingml/2006/main" noGrp="1"/>
          </p:cNvSpPr>
          <p:nvPr/>
        </p:nvSpPr>
        <p:spPr>
          <a:xfrm xmlns:a="http://schemas.openxmlformats.org/drawingml/2006/main">
            <a:off x="5334000" y="388620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View inventory</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reports</a:t>
            </a:r>
          </a:p>
        </p:txBody>
      </p:sp>
      <p:sp>
        <p:nvSpPr>
          <p:cNvPr id="57" name="">
            <a:extLst xmlns:a="http://schemas.openxmlformats.org/drawingml/2006/main">
              <a:ext uri="{FF2B5EF4-FFF2-40B4-BE49-F238E27FC236}">
                <a16:creationId xmlns:a16="http://schemas.microsoft.com/office/drawing/2014/main" id="{B7349681-2639-440A-A9CF-4DD66FBF0CA1}"/>
              </a:ext>
            </a:extLst>
          </p:cNvPr>
          <p:cNvSpPr>
            <a:spLocks xmlns:a="http://schemas.openxmlformats.org/drawingml/2006/main" noGrp="1"/>
          </p:cNvSpPr>
          <p:nvPr/>
        </p:nvSpPr>
        <p:spPr>
          <a:xfrm xmlns:a="http://schemas.openxmlformats.org/drawingml/2006/main">
            <a:off x="533400" y="445770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All roles authenticate. Configured MFA and role/store checks apply.</a:t>
            </a:r>
          </a:p>
        </p:txBody>
      </p:sp>
    </p:spTree>
    <p:extLst>
      <p:ext uri="{BB962C8B-B14F-4D97-AF65-F5344CB8AC3E}">
        <p14:creationId xmlns:p14="http://schemas.microsoft.com/office/powerpoint/2010/main" val="198247536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21" name="Picture 20">
            <a:extLst xmlns:a="http://schemas.openxmlformats.org/drawingml/2006/main">
              <a:ext uri="{FF2B5EF4-FFF2-40B4-BE49-F238E27FC236}">
                <a16:creationId xmlns:a16="http://schemas.microsoft.com/office/drawing/2014/main" id="{0346F0CA-C809-4029-A757-C39BE7332CB4}"/>
              </a:ext>
            </a:extLst>
          </p:cNvPr>
          <p:cNvPicPr>
            <a:picLocks xmlns:a="http://schemas.openxmlformats.org/drawingml/2006/main" noChangeAspect="1"/>
          </p:cNvPicPr>
          <p:nvPr/>
        </p:nvPicPr>
        <p:blipFill>
          <a:blip xmlns:r="http://schemas.openxmlformats.org/officeDocument/2006/relationships" xmlns:a="http://schemas.openxmlformats.org/drawingml/2006/main" r:embed="Reca8507c13384f5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2">
            <a:extLst xmlns:a="http://schemas.openxmlformats.org/drawingml/2006/main">
              <a:ext uri="{FF2B5EF4-FFF2-40B4-BE49-F238E27FC236}">
                <a16:creationId xmlns:a16="http://schemas.microsoft.com/office/drawing/2014/main" id="{18D92FD7-46E9-4588-9D7F-F8DC895EE600}"/>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System architecture</a:t>
            </a:r>
          </a:p>
        </p:txBody>
      </p:sp>
      <p:sp>
        <p:nvSpPr>
          <p:cNvPr id="4" name="Rectangle 3">
            <a:extLst xmlns:a="http://schemas.openxmlformats.org/drawingml/2006/main">
              <a:ext uri="{FF2B5EF4-FFF2-40B4-BE49-F238E27FC236}">
                <a16:creationId xmlns:a16="http://schemas.microsoft.com/office/drawing/2014/main" id="{87ACF121-7C51-4CE0-AEC1-E063836DF1AF}"/>
              </a:ext>
            </a:extLst>
          </p:cNvPr>
          <p:cNvSpPr>
            <a:spLocks xmlns:a="http://schemas.openxmlformats.org/drawingml/2006/main" noGrp="1"/>
          </p:cNvSpPr>
          <p:nvPr/>
        </p:nvSpPr>
        <p:spPr>
          <a:xfrm xmlns:a="http://schemas.openxmlformats.org/drawingml/2006/main">
            <a:off x="533400" y="1381125"/>
            <a:ext cx="29527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Browser application</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React + TypeScript</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Zustand + TanStack Query</a:t>
            </a:r>
          </a:p>
        </p:txBody>
      </p:sp>
      <p:sp>
        <p:nvSpPr>
          <p:cNvPr id="5" name="Rectangle 4">
            <a:extLst xmlns:a="http://schemas.openxmlformats.org/drawingml/2006/main">
              <a:ext uri="{FF2B5EF4-FFF2-40B4-BE49-F238E27FC236}">
                <a16:creationId xmlns:a16="http://schemas.microsoft.com/office/drawing/2014/main" id="{D64A8BF0-45ED-4DD2-8D79-2691034E0722}"/>
              </a:ext>
            </a:extLst>
          </p:cNvPr>
          <p:cNvSpPr>
            <a:spLocks xmlns:a="http://schemas.openxmlformats.org/drawingml/2006/main" noGrp="1"/>
          </p:cNvSpPr>
          <p:nvPr/>
        </p:nvSpPr>
        <p:spPr>
          <a:xfrm xmlns:a="http://schemas.openxmlformats.org/drawingml/2006/main">
            <a:off x="533400" y="3381375"/>
            <a:ext cx="2952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IndexedDB</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Cache + selected queues</a:t>
            </a:r>
          </a:p>
        </p:txBody>
      </p:sp>
      <p:sp>
        <p:nvSpPr>
          <p:cNvPr id="7" name="Rectangle 6">
            <a:extLst xmlns:a="http://schemas.openxmlformats.org/drawingml/2006/main">
              <a:ext uri="{FF2B5EF4-FFF2-40B4-BE49-F238E27FC236}">
                <a16:creationId xmlns:a16="http://schemas.microsoft.com/office/drawing/2014/main" id="{EB2C6E3D-7BBB-4FD5-A2C3-F294C243680C}"/>
              </a:ext>
            </a:extLst>
          </p:cNvPr>
          <p:cNvSpPr>
            <a:spLocks xmlns:a="http://schemas.openxmlformats.org/drawingml/2006/main" noGrp="1"/>
          </p:cNvSpPr>
          <p:nvPr/>
        </p:nvSpPr>
        <p:spPr>
          <a:xfrm xmlns:a="http://schemas.openxmlformats.org/drawingml/2006/main">
            <a:off x="4457700" y="13144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Supabase Auth</a:t>
            </a:r>
          </a:p>
        </p:txBody>
      </p:sp>
      <p:sp>
        <p:nvSpPr>
          <p:cNvPr id="8" name="Rectangle 7">
            <a:extLst xmlns:a="http://schemas.openxmlformats.org/drawingml/2006/main">
              <a:ext uri="{FF2B5EF4-FFF2-40B4-BE49-F238E27FC236}">
                <a16:creationId xmlns:a16="http://schemas.microsoft.com/office/drawing/2014/main" id="{60072FC9-BDE3-445F-B933-C332BB544E96}"/>
              </a:ext>
            </a:extLst>
          </p:cNvPr>
          <p:cNvSpPr>
            <a:spLocks xmlns:a="http://schemas.openxmlformats.org/drawingml/2006/main" noGrp="1"/>
          </p:cNvSpPr>
          <p:nvPr/>
        </p:nvSpPr>
        <p:spPr>
          <a:xfrm xmlns:a="http://schemas.openxmlformats.org/drawingml/2006/main">
            <a:off x="4457700" y="21717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Data API + RPC</a:t>
            </a:r>
          </a:p>
        </p:txBody>
      </p:sp>
      <p:sp>
        <p:nvSpPr>
          <p:cNvPr id="9" name="Rectangle 8">
            <a:extLst xmlns:a="http://schemas.openxmlformats.org/drawingml/2006/main">
              <a:ext uri="{FF2B5EF4-FFF2-40B4-BE49-F238E27FC236}">
                <a16:creationId xmlns:a16="http://schemas.microsoft.com/office/drawing/2014/main" id="{C56626A6-B534-4905-B783-BA8F7D5C0962}"/>
              </a:ext>
            </a:extLst>
          </p:cNvPr>
          <p:cNvSpPr>
            <a:spLocks xmlns:a="http://schemas.openxmlformats.org/drawingml/2006/main" noGrp="1"/>
          </p:cNvSpPr>
          <p:nvPr/>
        </p:nvSpPr>
        <p:spPr>
          <a:xfrm xmlns:a="http://schemas.openxmlformats.org/drawingml/2006/main">
            <a:off x="4457700" y="30289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Edge Functions</a:t>
            </a:r>
          </a:p>
        </p:txBody>
      </p:sp>
      <p:sp>
        <p:nvSpPr>
          <p:cNvPr id="10" name="Rectangle 9">
            <a:extLst xmlns:a="http://schemas.openxmlformats.org/drawingml/2006/main">
              <a:ext uri="{FF2B5EF4-FFF2-40B4-BE49-F238E27FC236}">
                <a16:creationId xmlns:a16="http://schemas.microsoft.com/office/drawing/2014/main" id="{8EB43E2F-F300-4825-921D-4D972032B08F}"/>
              </a:ext>
            </a:extLst>
          </p:cNvPr>
          <p:cNvSpPr>
            <a:spLocks xmlns:a="http://schemas.openxmlformats.org/drawingml/2006/main" noGrp="1"/>
          </p:cNvSpPr>
          <p:nvPr/>
        </p:nvSpPr>
        <p:spPr>
          <a:xfrm xmlns:a="http://schemas.openxmlformats.org/drawingml/2006/main">
            <a:off x="4457700" y="38862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Storage</a:t>
            </a:r>
          </a:p>
        </p:txBody>
      </p:sp>
      <p:sp>
        <p:nvSpPr>
          <p:cNvPr id="11" name="Rectangle 10">
            <a:extLst xmlns:a="http://schemas.openxmlformats.org/drawingml/2006/main">
              <a:ext uri="{FF2B5EF4-FFF2-40B4-BE49-F238E27FC236}">
                <a16:creationId xmlns:a16="http://schemas.microsoft.com/office/drawing/2014/main" id="{7D809919-B7C4-4703-8C2A-CE52134903AB}"/>
              </a:ext>
            </a:extLst>
          </p:cNvPr>
          <p:cNvSpPr>
            <a:spLocks xmlns:a="http://schemas.openxmlformats.org/drawingml/2006/main" noGrp="1"/>
          </p:cNvSpPr>
          <p:nvPr/>
        </p:nvSpPr>
        <p:spPr>
          <a:xfrm xmlns:a="http://schemas.openxmlformats.org/drawingml/2006/main">
            <a:off x="7000875" y="2095500"/>
            <a:ext cx="1590675" cy="2000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buNone/>
              <a:defRPr sz="1425">
                <a:solidFill>
                  <a:srgbClr val="171717"/>
                </a:solidFill>
                <a:latin typeface="Arial"/>
                <a:ea typeface="Arial"/>
                <a:cs typeface="Arial"/>
              </a:defRPr>
            </a:lvl1pPr>
            <a:lvl2pPr algn="ctr">
              <a:buNone/>
              <a:defRPr sz="1425">
                <a:solidFill>
                  <a:srgbClr val="171717"/>
                </a:solidFill>
                <a:latin typeface="Arial"/>
                <a:ea typeface="Arial"/>
                <a:cs typeface="Arial"/>
              </a:defRPr>
            </a:lvl2pPr>
            <a:lvl3pPr algn="ctr">
              <a:buNone/>
              <a:defRPr sz="1425">
                <a:solidFill>
                  <a:srgbClr val="171717"/>
                </a:solidFill>
                <a:latin typeface="Arial"/>
                <a:ea typeface="Arial"/>
                <a:cs typeface="Arial"/>
              </a:defRPr>
            </a:lvl3pPr>
            <a:lvl4pPr algn="ctr">
              <a:buNone/>
              <a:defRPr sz="1425">
                <a:solidFill>
                  <a:srgbClr val="171717"/>
                </a:solidFill>
                <a:latin typeface="Arial"/>
                <a:ea typeface="Arial"/>
                <a:cs typeface="Arial"/>
              </a:defRPr>
            </a:lvl4pPr>
            <a:lvl5pPr algn="ctr">
              <a:buNone/>
              <a:defRPr sz="1425">
                <a:solidFill>
                  <a:srgbClr val="171717"/>
                </a:solidFill>
                <a:latin typeface="Arial"/>
                <a:ea typeface="Arial"/>
                <a:cs typeface="Arial"/>
              </a:defRPr>
            </a:lvl5pPr>
            <a:lvl6pPr algn="ctr">
              <a:buNone/>
              <a:defRPr sz="1425">
                <a:solidFill>
                  <a:srgbClr val="171717"/>
                </a:solidFill>
                <a:latin typeface="Arial"/>
                <a:ea typeface="Arial"/>
                <a:cs typeface="Arial"/>
              </a:defRPr>
            </a:lvl6pPr>
            <a:lvl7pPr algn="ctr">
              <a:buNone/>
              <a:defRPr sz="1425">
                <a:solidFill>
                  <a:srgbClr val="171717"/>
                </a:solidFill>
                <a:latin typeface="Arial"/>
                <a:ea typeface="Arial"/>
                <a:cs typeface="Arial"/>
              </a:defRPr>
            </a:lvl7pPr>
            <a:lvl8pPr algn="ctr">
              <a:buNone/>
              <a:defRPr sz="1425">
                <a:solidFill>
                  <a:srgbClr val="171717"/>
                </a:solidFill>
                <a:latin typeface="Arial"/>
                <a:ea typeface="Arial"/>
                <a:cs typeface="Arial"/>
              </a:defRPr>
            </a:lvl8pPr>
            <a:lvl9pPr algn="ctr">
              <a:buNone/>
              <a:defRPr sz="1425">
                <a:solidFill>
                  <a:srgbClr val="171717"/>
                </a:solidFill>
                <a:latin typeface="Arial"/>
                <a:ea typeface="Arial"/>
                <a:cs typeface="Arial"/>
              </a:defRPr>
            </a:lvl9pPr>
          </a:lstStyle>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PostgreSQL</a:t>
            </a:r>
          </a:p>
          <a:p xmlns:a="http://schemas.openxmlformats.org/drawingml/2006/main">
            <a:endParaRPr sz="1425">
              <a:solidFill>
                <a:srgbClr val="171717"/>
              </a:solidFill>
              <a:latin typeface="Arial"/>
              <a:ea typeface="Arial"/>
              <a:cs typeface="Arial"/>
            </a:endParaRP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RLS + validation</a:t>
            </a: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Stock triggers</a:t>
            </a: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Business records</a:t>
            </a:r>
          </a:p>
        </p:txBody>
      </p:sp>
      <p:sp>
        <p:nvSpPr>
          <p:cNvPr id="20" name="current-content-102">
            <a:extLst xmlns:a="http://schemas.openxmlformats.org/drawingml/2006/main">
              <a:ext uri="{FF2B5EF4-FFF2-40B4-BE49-F238E27FC236}">
                <a16:creationId xmlns:a16="http://schemas.microsoft.com/office/drawing/2014/main" id="{CA416DC8-16C6-4850-8490-33E394D9D0F5}"/>
              </a:ext>
            </a:extLst>
          </p:cNvPr>
          <p:cNvSpPr>
            <a:spLocks xmlns:a="http://schemas.openxmlformats.org/drawingml/2006/main" noGrp="1"/>
          </p:cNvSpPr>
          <p:nvPr/>
        </p:nvSpPr>
        <p:spPr>
          <a:xfrm xmlns:a="http://schemas.openxmlformats.org/drawingml/2006/main">
            <a:off x="533400" y="4495800"/>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Vercel SPA routing configured. Live deployment and applied migrations require verification.</a:t>
            </a:r>
          </a:p>
        </p:txBody>
      </p:sp>
      <p:cxnSp>
        <p:nvCxnSpPr>
          <p:cNvPr id="6" name="Straight Arrow Connector 5">
            <a:extLst xmlns:a="http://schemas.openxmlformats.org/drawingml/2006/main">
              <a:ext uri="{FF2B5EF4-FFF2-40B4-BE49-F238E27FC236}">
                <a16:creationId xmlns:a16="http://schemas.microsoft.com/office/drawing/2014/main" id="{02564342-43A8-4A6B-A3B1-F88CE9A184D9}"/>
              </a:ext>
            </a:extLst>
          </p:cNvPr>
          <p:cNvCxnSpPr>
            <a:stCxn xmlns:a="http://schemas.openxmlformats.org/drawingml/2006/main" id="4" idx="2"/>
            <a:endCxn xmlns:a="http://schemas.openxmlformats.org/drawingml/2006/main" id="5" idx="0"/>
          </p:cNvCxnSpPr>
          <p:nvPr/>
        </p:nvCxnSpPr>
        <p:spPr>
          <a:xfrm xmlns:a="http://schemas.openxmlformats.org/drawingml/2006/main">
            <a:off x="2009775" y="2476500"/>
            <a:ext cx="0" cy="904875"/>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2" name="Straight Arrow Connector 11">
            <a:extLst xmlns:a="http://schemas.openxmlformats.org/drawingml/2006/main">
              <a:ext uri="{FF2B5EF4-FFF2-40B4-BE49-F238E27FC236}">
                <a16:creationId xmlns:a16="http://schemas.microsoft.com/office/drawing/2014/main" id="{B7DBD600-CE61-4B9C-8BA0-900B0D47899F}"/>
              </a:ext>
            </a:extLst>
          </p:cNvPr>
          <p:cNvCxnSpPr/>
          <p:nvPr/>
        </p:nvCxnSpPr>
        <p:spPr>
          <a:xfrm xmlns:a="http://schemas.openxmlformats.org/drawingml/2006/main">
            <a:off x="3486150" y="1933575"/>
            <a:ext cx="457200"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3" name="Straight Arrow Connector 12">
            <a:extLst xmlns:a="http://schemas.openxmlformats.org/drawingml/2006/main">
              <a:ext uri="{FF2B5EF4-FFF2-40B4-BE49-F238E27FC236}">
                <a16:creationId xmlns:a16="http://schemas.microsoft.com/office/drawing/2014/main" id="{B1FE55B0-5C0C-4A70-B141-01D753CF4CC7}"/>
              </a:ext>
            </a:extLst>
          </p:cNvPr>
          <p:cNvCxnSpPr/>
          <p:nvPr/>
        </p:nvCxnSpPr>
        <p:spPr>
          <a:xfrm xmlns:a="http://schemas.openxmlformats.org/drawingml/2006/main">
            <a:off x="3943350" y="1590675"/>
            <a:ext cx="0" cy="2571750"/>
          </a:xfrm>
          <a:prstGeom xmlns:a="http://schemas.openxmlformats.org/drawingml/2006/main" prst="straightConnector1">
            <a:avLst/>
          </a:prstGeom>
          <a:ln xmlns:a="http://schemas.openxmlformats.org/drawingml/2006/main" w="19050">
            <a:solidFill>
              <a:srgbClr val="0070C0"/>
            </a:solidFill>
          </a:ln>
        </p:spPr>
      </p:cxnSp>
      <p:cxnSp>
        <p:nvCxnSpPr>
          <p:cNvPr id="14" name="Straight Arrow Connector 13">
            <a:extLst xmlns:a="http://schemas.openxmlformats.org/drawingml/2006/main">
              <a:ext uri="{FF2B5EF4-FFF2-40B4-BE49-F238E27FC236}">
                <a16:creationId xmlns:a16="http://schemas.microsoft.com/office/drawing/2014/main" id="{0CE854DA-FA19-450D-AFA5-D25EB497C7A9}"/>
              </a:ext>
            </a:extLst>
          </p:cNvPr>
          <p:cNvCxnSpPr/>
          <p:nvPr/>
        </p:nvCxnSpPr>
        <p:spPr>
          <a:xfrm xmlns:a="http://schemas.openxmlformats.org/drawingml/2006/main">
            <a:off x="3943350" y="15906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5" name="Straight Arrow Connector 14">
            <a:extLst xmlns:a="http://schemas.openxmlformats.org/drawingml/2006/main">
              <a:ext uri="{FF2B5EF4-FFF2-40B4-BE49-F238E27FC236}">
                <a16:creationId xmlns:a16="http://schemas.microsoft.com/office/drawing/2014/main" id="{B8B76E53-CD47-44DE-AE28-CF14BF6A12D7}"/>
              </a:ext>
            </a:extLst>
          </p:cNvPr>
          <p:cNvCxnSpPr/>
          <p:nvPr/>
        </p:nvCxnSpPr>
        <p:spPr>
          <a:xfrm xmlns:a="http://schemas.openxmlformats.org/drawingml/2006/main">
            <a:off x="3943350" y="24479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6" name="Straight Arrow Connector 15">
            <a:extLst xmlns:a="http://schemas.openxmlformats.org/drawingml/2006/main">
              <a:ext uri="{FF2B5EF4-FFF2-40B4-BE49-F238E27FC236}">
                <a16:creationId xmlns:a16="http://schemas.microsoft.com/office/drawing/2014/main" id="{4FEB9E42-3300-426B-84C6-ECD73EA77D2C}"/>
              </a:ext>
            </a:extLst>
          </p:cNvPr>
          <p:cNvCxnSpPr/>
          <p:nvPr/>
        </p:nvCxnSpPr>
        <p:spPr>
          <a:xfrm xmlns:a="http://schemas.openxmlformats.org/drawingml/2006/main">
            <a:off x="3943350" y="33051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7" name="Straight Arrow Connector 16">
            <a:extLst xmlns:a="http://schemas.openxmlformats.org/drawingml/2006/main">
              <a:ext uri="{FF2B5EF4-FFF2-40B4-BE49-F238E27FC236}">
                <a16:creationId xmlns:a16="http://schemas.microsoft.com/office/drawing/2014/main" id="{5889F2C3-00A4-410D-B903-84207EACEAB8}"/>
              </a:ext>
            </a:extLst>
          </p:cNvPr>
          <p:cNvCxnSpPr/>
          <p:nvPr/>
        </p:nvCxnSpPr>
        <p:spPr>
          <a:xfrm xmlns:a="http://schemas.openxmlformats.org/drawingml/2006/main">
            <a:off x="3943350" y="41624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8" name="Straight Arrow Connector 17">
            <a:extLst xmlns:a="http://schemas.openxmlformats.org/drawingml/2006/main">
              <a:ext uri="{FF2B5EF4-FFF2-40B4-BE49-F238E27FC236}">
                <a16:creationId xmlns:a16="http://schemas.microsoft.com/office/drawing/2014/main" id="{2212BB74-0E3A-4039-8144-530D7B5AF40E}"/>
              </a:ext>
            </a:extLst>
          </p:cNvPr>
          <p:cNvCxnSpPr/>
          <p:nvPr/>
        </p:nvCxnSpPr>
        <p:spPr>
          <a:xfrm xmlns:a="http://schemas.openxmlformats.org/drawingml/2006/main">
            <a:off x="6505575" y="244792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9" name="Straight Arrow Connector 18">
            <a:extLst xmlns:a="http://schemas.openxmlformats.org/drawingml/2006/main">
              <a:ext uri="{FF2B5EF4-FFF2-40B4-BE49-F238E27FC236}">
                <a16:creationId xmlns:a16="http://schemas.microsoft.com/office/drawing/2014/main" id="{3D954DEC-F2B2-4D6F-B359-D080DF464A73}"/>
              </a:ext>
            </a:extLst>
          </p:cNvPr>
          <p:cNvCxnSpPr/>
          <p:nvPr/>
        </p:nvCxnSpPr>
        <p:spPr>
          <a:xfrm xmlns:a="http://schemas.openxmlformats.org/drawingml/2006/main">
            <a:off x="6505575" y="330517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spTree>
    <p:extLst>
      <p:ext uri="{BB962C8B-B14F-4D97-AF65-F5344CB8AC3E}">
        <p14:creationId xmlns:p14="http://schemas.microsoft.com/office/powerpoint/2010/main" val="44575232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24" name="Picture 23">
            <a:extLst xmlns:a="http://schemas.openxmlformats.org/drawingml/2006/main">
              <a:ext uri="{FF2B5EF4-FFF2-40B4-BE49-F238E27FC236}">
                <a16:creationId xmlns:a16="http://schemas.microsoft.com/office/drawing/2014/main" id="{C52A439E-F775-499F-BCBD-B4637394FA94}"/>
              </a:ext>
            </a:extLst>
          </p:cNvPr>
          <p:cNvPicPr>
            <a:picLocks xmlns:a="http://schemas.openxmlformats.org/drawingml/2006/main" noChangeAspect="1"/>
          </p:cNvPicPr>
          <p:nvPr/>
        </p:nvPicPr>
        <p:blipFill>
          <a:blip xmlns:r="http://schemas.openxmlformats.org/officeDocument/2006/relationships" xmlns:a="http://schemas.openxmlformats.org/drawingml/2006/main" r:embed="R961b0af416004b79"/>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4">
            <a:extLst xmlns:a="http://schemas.openxmlformats.org/drawingml/2006/main">
              <a:ext uri="{FF2B5EF4-FFF2-40B4-BE49-F238E27FC236}">
                <a16:creationId xmlns:a16="http://schemas.microsoft.com/office/drawing/2014/main" id="{1D8FE253-7413-4F51-9C24-549B80145B5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Database design</a:t>
            </a:r>
          </a:p>
        </p:txBody>
      </p:sp>
      <p:sp>
        <p:nvSpPr>
          <p:cNvPr id="4" name="Rectangle 3">
            <a:extLst xmlns:a="http://schemas.openxmlformats.org/drawingml/2006/main">
              <a:ext uri="{FF2B5EF4-FFF2-40B4-BE49-F238E27FC236}">
                <a16:creationId xmlns:a16="http://schemas.microsoft.com/office/drawing/2014/main" id="{F72742E5-A2A7-40B7-A177-9E9C5A1A97BA}"/>
              </a:ext>
            </a:extLst>
          </p:cNvPr>
          <p:cNvSpPr>
            <a:spLocks xmlns:a="http://schemas.openxmlformats.org/drawingml/2006/main" noGrp="1"/>
          </p:cNvSpPr>
          <p:nvPr/>
        </p:nvSpPr>
        <p:spPr>
          <a:xfrm xmlns:a="http://schemas.openxmlformats.org/drawingml/2006/main">
            <a:off x="533400" y="15240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buNone/>
              <a:defRPr sz="1725">
                <a:solidFill>
                  <a:srgbClr val="171717"/>
                </a:solidFill>
                <a:latin typeface="Arial"/>
                <a:ea typeface="Arial"/>
                <a:cs typeface="Arial"/>
              </a:defRPr>
            </a:lvl1pPr>
            <a:lvl2pPr algn="ctr">
              <a:buNone/>
              <a:defRPr sz="1725">
                <a:solidFill>
                  <a:srgbClr val="171717"/>
                </a:solidFill>
                <a:latin typeface="Arial"/>
                <a:ea typeface="Arial"/>
                <a:cs typeface="Arial"/>
              </a:defRPr>
            </a:lvl2pPr>
            <a:lvl3pPr algn="ctr">
              <a:buNone/>
              <a:defRPr sz="1725">
                <a:solidFill>
                  <a:srgbClr val="171717"/>
                </a:solidFill>
                <a:latin typeface="Arial"/>
                <a:ea typeface="Arial"/>
                <a:cs typeface="Arial"/>
              </a:defRPr>
            </a:lvl3pPr>
            <a:lvl4pPr algn="ctr">
              <a:buNone/>
              <a:defRPr sz="1725">
                <a:solidFill>
                  <a:srgbClr val="171717"/>
                </a:solidFill>
                <a:latin typeface="Arial"/>
                <a:ea typeface="Arial"/>
                <a:cs typeface="Arial"/>
              </a:defRPr>
            </a:lvl4pPr>
            <a:lvl5pPr algn="ctr">
              <a:buNone/>
              <a:defRPr sz="1725">
                <a:solidFill>
                  <a:srgbClr val="171717"/>
                </a:solidFill>
                <a:latin typeface="Arial"/>
                <a:ea typeface="Arial"/>
                <a:cs typeface="Arial"/>
              </a:defRPr>
            </a:lvl5pPr>
            <a:lvl6pPr algn="ctr">
              <a:buNone/>
              <a:defRPr sz="1725">
                <a:solidFill>
                  <a:srgbClr val="171717"/>
                </a:solidFill>
                <a:latin typeface="Arial"/>
                <a:ea typeface="Arial"/>
                <a:cs typeface="Arial"/>
              </a:defRPr>
            </a:lvl6pPr>
            <a:lvl7pPr algn="ctr">
              <a:buNone/>
              <a:defRPr sz="1725">
                <a:solidFill>
                  <a:srgbClr val="171717"/>
                </a:solidFill>
                <a:latin typeface="Arial"/>
                <a:ea typeface="Arial"/>
                <a:cs typeface="Arial"/>
              </a:defRPr>
            </a:lvl7pPr>
            <a:lvl8pPr algn="ctr">
              <a:buNone/>
              <a:defRPr sz="1725">
                <a:solidFill>
                  <a:srgbClr val="171717"/>
                </a:solidFill>
                <a:latin typeface="Arial"/>
                <a:ea typeface="Arial"/>
                <a:cs typeface="Arial"/>
              </a:defRPr>
            </a:lvl8pPr>
            <a:lvl9pPr algn="ctr">
              <a:buNone/>
              <a:defRPr sz="1725">
                <a:solidFill>
                  <a:srgbClr val="171717"/>
                </a:solidFill>
                <a:latin typeface="Arial"/>
                <a:ea typeface="Arial"/>
                <a:cs typeface="Arial"/>
              </a:defRPr>
            </a:lvl9pPr>
          </a:lstStyle>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products</a:t>
            </a:r>
          </a:p>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current_stock</a:t>
            </a:r>
          </a:p>
        </p:txBody>
      </p:sp>
      <p:sp>
        <p:nvSpPr>
          <p:cNvPr id="5" name="Rectangle 4">
            <a:extLst xmlns:a="http://schemas.openxmlformats.org/drawingml/2006/main">
              <a:ext uri="{FF2B5EF4-FFF2-40B4-BE49-F238E27FC236}">
                <a16:creationId xmlns:a16="http://schemas.microsoft.com/office/drawing/2014/main" id="{8BB27A59-1D7F-496F-88D2-12A184E6E23B}"/>
              </a:ext>
            </a:extLst>
          </p:cNvPr>
          <p:cNvSpPr>
            <a:spLocks xmlns:a="http://schemas.openxmlformats.org/drawingml/2006/main" noGrp="1"/>
          </p:cNvSpPr>
          <p:nvPr/>
        </p:nvSpPr>
        <p:spPr>
          <a:xfrm xmlns:a="http://schemas.openxmlformats.org/drawingml/2006/main">
            <a:off x="3524250" y="1524000"/>
            <a:ext cx="271462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00">
                <a:solidFill>
                  <a:srgbClr val="171717"/>
                </a:solidFill>
                <a:latin typeface="Arial"/>
                <a:ea typeface="Arial"/>
                <a:cs typeface="Arial"/>
              </a:defRPr>
            </a:defPPr>
            <a:lvl1pPr algn="ctr">
              <a:buNone/>
              <a:defRPr sz="1500">
                <a:solidFill>
                  <a:srgbClr val="171717"/>
                </a:solidFill>
                <a:latin typeface="Arial"/>
                <a:ea typeface="Arial"/>
                <a:cs typeface="Arial"/>
              </a:defRPr>
            </a:lvl1pPr>
            <a:lvl2pPr algn="ctr">
              <a:buNone/>
              <a:defRPr sz="1500">
                <a:solidFill>
                  <a:srgbClr val="171717"/>
                </a:solidFill>
                <a:latin typeface="Arial"/>
                <a:ea typeface="Arial"/>
                <a:cs typeface="Arial"/>
              </a:defRPr>
            </a:lvl2pPr>
            <a:lvl3pPr algn="ctr">
              <a:buNone/>
              <a:defRPr sz="1500">
                <a:solidFill>
                  <a:srgbClr val="171717"/>
                </a:solidFill>
                <a:latin typeface="Arial"/>
                <a:ea typeface="Arial"/>
                <a:cs typeface="Arial"/>
              </a:defRPr>
            </a:lvl3pPr>
            <a:lvl4pPr algn="ctr">
              <a:buNone/>
              <a:defRPr sz="1500">
                <a:solidFill>
                  <a:srgbClr val="171717"/>
                </a:solidFill>
                <a:latin typeface="Arial"/>
                <a:ea typeface="Arial"/>
                <a:cs typeface="Arial"/>
              </a:defRPr>
            </a:lvl4pPr>
            <a:lvl5pPr algn="ctr">
              <a:buNone/>
              <a:defRPr sz="1500">
                <a:solidFill>
                  <a:srgbClr val="171717"/>
                </a:solidFill>
                <a:latin typeface="Arial"/>
                <a:ea typeface="Arial"/>
                <a:cs typeface="Arial"/>
              </a:defRPr>
            </a:lvl5pPr>
            <a:lvl6pPr algn="ctr">
              <a:buNone/>
              <a:defRPr sz="1500">
                <a:solidFill>
                  <a:srgbClr val="171717"/>
                </a:solidFill>
                <a:latin typeface="Arial"/>
                <a:ea typeface="Arial"/>
                <a:cs typeface="Arial"/>
              </a:defRPr>
            </a:lvl6pPr>
            <a:lvl7pPr algn="ctr">
              <a:buNone/>
              <a:defRPr sz="1500">
                <a:solidFill>
                  <a:srgbClr val="171717"/>
                </a:solidFill>
                <a:latin typeface="Arial"/>
                <a:ea typeface="Arial"/>
                <a:cs typeface="Arial"/>
              </a:defRPr>
            </a:lvl7pPr>
            <a:lvl8pPr algn="ctr">
              <a:buNone/>
              <a:defRPr sz="1500">
                <a:solidFill>
                  <a:srgbClr val="171717"/>
                </a:solidFill>
                <a:latin typeface="Arial"/>
                <a:ea typeface="Arial"/>
                <a:cs typeface="Arial"/>
              </a:defRPr>
            </a:lvl8pPr>
            <a:lvl9pPr algn="ctr">
              <a:buNone/>
              <a:defRPr sz="1500">
                <a:solidFill>
                  <a:srgbClr val="171717"/>
                </a:solidFill>
                <a:latin typeface="Arial"/>
                <a:ea typeface="Arial"/>
                <a:cs typeface="Arial"/>
              </a:defRPr>
            </a:lvl9pPr>
          </a:lstStyle>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product_selling_options</a:t>
            </a:r>
          </a:p>
        </p:txBody>
      </p:sp>
      <p:sp>
        <p:nvSpPr>
          <p:cNvPr id="6" name="Rectangle 5">
            <a:extLst xmlns:a="http://schemas.openxmlformats.org/drawingml/2006/main">
              <a:ext uri="{FF2B5EF4-FFF2-40B4-BE49-F238E27FC236}">
                <a16:creationId xmlns:a16="http://schemas.microsoft.com/office/drawing/2014/main" id="{9EF11584-699F-4A63-A0D8-DE9B61E194A9}"/>
              </a:ext>
            </a:extLst>
          </p:cNvPr>
          <p:cNvSpPr>
            <a:spLocks xmlns:a="http://schemas.openxmlformats.org/drawingml/2006/main" noGrp="1"/>
          </p:cNvSpPr>
          <p:nvPr/>
        </p:nvSpPr>
        <p:spPr>
          <a:xfrm xmlns:a="http://schemas.openxmlformats.org/drawingml/2006/main">
            <a:off x="7115175" y="1524000"/>
            <a:ext cx="147637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buNone/>
              <a:defRPr sz="1725">
                <a:solidFill>
                  <a:srgbClr val="171717"/>
                </a:solidFill>
                <a:latin typeface="Arial"/>
                <a:ea typeface="Arial"/>
                <a:cs typeface="Arial"/>
              </a:defRPr>
            </a:lvl1pPr>
            <a:lvl2pPr algn="ctr">
              <a:buNone/>
              <a:defRPr sz="1725">
                <a:solidFill>
                  <a:srgbClr val="171717"/>
                </a:solidFill>
                <a:latin typeface="Arial"/>
                <a:ea typeface="Arial"/>
                <a:cs typeface="Arial"/>
              </a:defRPr>
            </a:lvl2pPr>
            <a:lvl3pPr algn="ctr">
              <a:buNone/>
              <a:defRPr sz="1725">
                <a:solidFill>
                  <a:srgbClr val="171717"/>
                </a:solidFill>
                <a:latin typeface="Arial"/>
                <a:ea typeface="Arial"/>
                <a:cs typeface="Arial"/>
              </a:defRPr>
            </a:lvl3pPr>
            <a:lvl4pPr algn="ctr">
              <a:buNone/>
              <a:defRPr sz="1725">
                <a:solidFill>
                  <a:srgbClr val="171717"/>
                </a:solidFill>
                <a:latin typeface="Arial"/>
                <a:ea typeface="Arial"/>
                <a:cs typeface="Arial"/>
              </a:defRPr>
            </a:lvl4pPr>
            <a:lvl5pPr algn="ctr">
              <a:buNone/>
              <a:defRPr sz="1725">
                <a:solidFill>
                  <a:srgbClr val="171717"/>
                </a:solidFill>
                <a:latin typeface="Arial"/>
                <a:ea typeface="Arial"/>
                <a:cs typeface="Arial"/>
              </a:defRPr>
            </a:lvl5pPr>
            <a:lvl6pPr algn="ctr">
              <a:buNone/>
              <a:defRPr sz="1725">
                <a:solidFill>
                  <a:srgbClr val="171717"/>
                </a:solidFill>
                <a:latin typeface="Arial"/>
                <a:ea typeface="Arial"/>
                <a:cs typeface="Arial"/>
              </a:defRPr>
            </a:lvl6pPr>
            <a:lvl7pPr algn="ctr">
              <a:buNone/>
              <a:defRPr sz="1725">
                <a:solidFill>
                  <a:srgbClr val="171717"/>
                </a:solidFill>
                <a:latin typeface="Arial"/>
                <a:ea typeface="Arial"/>
                <a:cs typeface="Arial"/>
              </a:defRPr>
            </a:lvl7pPr>
            <a:lvl8pPr algn="ctr">
              <a:buNone/>
              <a:defRPr sz="1725">
                <a:solidFill>
                  <a:srgbClr val="171717"/>
                </a:solidFill>
                <a:latin typeface="Arial"/>
                <a:ea typeface="Arial"/>
                <a:cs typeface="Arial"/>
              </a:defRPr>
            </a:lvl8pPr>
            <a:lvl9pPr algn="ctr">
              <a:buNone/>
              <a:defRPr sz="1725">
                <a:solidFill>
                  <a:srgbClr val="171717"/>
                </a:solidFill>
                <a:latin typeface="Arial"/>
                <a:ea typeface="Arial"/>
                <a:cs typeface="Arial"/>
              </a:defRPr>
            </a:lvl9pPr>
          </a:lstStyle>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sales</a:t>
            </a:r>
          </a:p>
        </p:txBody>
      </p:sp>
      <p:sp>
        <p:nvSpPr>
          <p:cNvPr id="7" name="Rectangle 6">
            <a:extLst xmlns:a="http://schemas.openxmlformats.org/drawingml/2006/main">
              <a:ext uri="{FF2B5EF4-FFF2-40B4-BE49-F238E27FC236}">
                <a16:creationId xmlns:a16="http://schemas.microsoft.com/office/drawing/2014/main" id="{26788786-2F73-40E2-B898-4F7E4EFFF804}"/>
              </a:ext>
            </a:extLst>
          </p:cNvPr>
          <p:cNvSpPr>
            <a:spLocks xmlns:a="http://schemas.openxmlformats.org/drawingml/2006/main" noGrp="1"/>
          </p:cNvSpPr>
          <p:nvPr/>
        </p:nvSpPr>
        <p:spPr>
          <a:xfrm xmlns:a="http://schemas.openxmlformats.org/drawingml/2006/main">
            <a:off x="533400" y="32766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restock_history</a:t>
            </a:r>
          </a:p>
        </p:txBody>
      </p:sp>
      <p:sp>
        <p:nvSpPr>
          <p:cNvPr id="8" name="Rectangle 7">
            <a:extLst xmlns:a="http://schemas.openxmlformats.org/drawingml/2006/main">
              <a:ext uri="{FF2B5EF4-FFF2-40B4-BE49-F238E27FC236}">
                <a16:creationId xmlns:a16="http://schemas.microsoft.com/office/drawing/2014/main" id="{DCC5D78B-E001-4261-9B2E-EA79AA99F095}"/>
              </a:ext>
            </a:extLst>
          </p:cNvPr>
          <p:cNvSpPr>
            <a:spLocks xmlns:a="http://schemas.openxmlformats.org/drawingml/2006/main" noGrp="1"/>
          </p:cNvSpPr>
          <p:nvPr/>
        </p:nvSpPr>
        <p:spPr>
          <a:xfrm xmlns:a="http://schemas.openxmlformats.org/drawingml/2006/main">
            <a:off x="3524250" y="3114675"/>
            <a:ext cx="2714625"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sale_items</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Product and price snapshots</a:t>
            </a:r>
          </a:p>
        </p:txBody>
      </p:sp>
      <p:sp>
        <p:nvSpPr>
          <p:cNvPr id="9" name="Rectangle 8">
            <a:extLst xmlns:a="http://schemas.openxmlformats.org/drawingml/2006/main">
              <a:ext uri="{FF2B5EF4-FFF2-40B4-BE49-F238E27FC236}">
                <a16:creationId xmlns:a16="http://schemas.microsoft.com/office/drawing/2014/main" id="{F91D3365-381B-47B5-904E-B89C750445D6}"/>
              </a:ext>
            </a:extLst>
          </p:cNvPr>
          <p:cNvSpPr>
            <a:spLocks xmlns:a="http://schemas.openxmlformats.org/drawingml/2006/main" noGrp="1"/>
          </p:cNvSpPr>
          <p:nvPr/>
        </p:nvSpPr>
        <p:spPr>
          <a:xfrm xmlns:a="http://schemas.openxmlformats.org/drawingml/2006/main">
            <a:off x="6762750" y="3276600"/>
            <a:ext cx="182880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238">
                <a:solidFill>
                  <a:srgbClr val="171717"/>
                </a:solidFill>
                <a:latin typeface="Arial"/>
                <a:ea typeface="Arial"/>
                <a:cs typeface="Arial"/>
              </a:defRPr>
            </a:defPPr>
            <a:lvl1pPr algn="ctr">
              <a:buNone/>
              <a:defRPr sz="1238">
                <a:solidFill>
                  <a:srgbClr val="171717"/>
                </a:solidFill>
                <a:latin typeface="Arial"/>
                <a:ea typeface="Arial"/>
                <a:cs typeface="Arial"/>
              </a:defRPr>
            </a:lvl1pPr>
            <a:lvl2pPr algn="ctr">
              <a:buNone/>
              <a:defRPr sz="1238">
                <a:solidFill>
                  <a:srgbClr val="171717"/>
                </a:solidFill>
                <a:latin typeface="Arial"/>
                <a:ea typeface="Arial"/>
                <a:cs typeface="Arial"/>
              </a:defRPr>
            </a:lvl2pPr>
            <a:lvl3pPr algn="ctr">
              <a:buNone/>
              <a:defRPr sz="1238">
                <a:solidFill>
                  <a:srgbClr val="171717"/>
                </a:solidFill>
                <a:latin typeface="Arial"/>
                <a:ea typeface="Arial"/>
                <a:cs typeface="Arial"/>
              </a:defRPr>
            </a:lvl3pPr>
            <a:lvl4pPr algn="ctr">
              <a:buNone/>
              <a:defRPr sz="1238">
                <a:solidFill>
                  <a:srgbClr val="171717"/>
                </a:solidFill>
                <a:latin typeface="Arial"/>
                <a:ea typeface="Arial"/>
                <a:cs typeface="Arial"/>
              </a:defRPr>
            </a:lvl4pPr>
            <a:lvl5pPr algn="ctr">
              <a:buNone/>
              <a:defRPr sz="1238">
                <a:solidFill>
                  <a:srgbClr val="171717"/>
                </a:solidFill>
                <a:latin typeface="Arial"/>
                <a:ea typeface="Arial"/>
                <a:cs typeface="Arial"/>
              </a:defRPr>
            </a:lvl5pPr>
            <a:lvl6pPr algn="ctr">
              <a:buNone/>
              <a:defRPr sz="1238">
                <a:solidFill>
                  <a:srgbClr val="171717"/>
                </a:solidFill>
                <a:latin typeface="Arial"/>
                <a:ea typeface="Arial"/>
                <a:cs typeface="Arial"/>
              </a:defRPr>
            </a:lvl6pPr>
            <a:lvl7pPr algn="ctr">
              <a:buNone/>
              <a:defRPr sz="1238">
                <a:solidFill>
                  <a:srgbClr val="171717"/>
                </a:solidFill>
                <a:latin typeface="Arial"/>
                <a:ea typeface="Arial"/>
                <a:cs typeface="Arial"/>
              </a:defRPr>
            </a:lvl7pPr>
            <a:lvl8pPr algn="ctr">
              <a:buNone/>
              <a:defRPr sz="1238">
                <a:solidFill>
                  <a:srgbClr val="171717"/>
                </a:solidFill>
                <a:latin typeface="Arial"/>
                <a:ea typeface="Arial"/>
                <a:cs typeface="Arial"/>
              </a:defRPr>
            </a:lvl8pPr>
            <a:lvl9pPr algn="ctr">
              <a:buNone/>
              <a:defRPr sz="1238">
                <a:solidFill>
                  <a:srgbClr val="171717"/>
                </a:solidFill>
                <a:latin typeface="Arial"/>
                <a:ea typeface="Arial"/>
                <a:cs typeface="Arial"/>
              </a:defRPr>
            </a:lvl9pPr>
          </a:lstStyle>
          <a:p xmlns:a="http://schemas.openxmlformats.org/drawingml/2006/main">
            <a:pPr algn="ctr">
              <a:buNone/>
              <a:defRPr sz="1238">
                <a:solidFill>
                  <a:srgbClr val="171717"/>
                </a:solidFill>
                <a:latin typeface="Arial"/>
                <a:ea typeface="Arial"/>
                <a:cs typeface="Arial"/>
              </a:defRPr>
            </a:pPr>
            <a:r>
              <a:rPr sz="1238">
                <a:solidFill>
                  <a:srgbClr val="171717"/>
                </a:solidFill>
                <a:latin typeface="Arial"/>
                <a:ea typeface="Arial"/>
                <a:cs typeface="Arial"/>
              </a:rPr>
              <a:t>inventory_movements</a:t>
            </a:r>
          </a:p>
        </p:txBody>
      </p:sp>
      <p:sp>
        <p:nvSpPr>
          <p:cNvPr id="19" name="current-content-103">
            <a:extLst xmlns:a="http://schemas.openxmlformats.org/drawingml/2006/main">
              <a:ext uri="{FF2B5EF4-FFF2-40B4-BE49-F238E27FC236}">
                <a16:creationId xmlns:a16="http://schemas.microsoft.com/office/drawing/2014/main" id="{73E6488E-3918-40F4-B8B2-B4A67F7B3DCE}"/>
              </a:ext>
            </a:extLst>
          </p:cNvPr>
          <p:cNvSpPr>
            <a:spLocks xmlns:a="http://schemas.openxmlformats.org/drawingml/2006/main" noGrp="1"/>
          </p:cNvSpPr>
          <p:nvPr/>
        </p:nvSpPr>
        <p:spPr>
          <a:xfrm xmlns:a="http://schemas.openxmlformats.org/drawingml/2006/main">
            <a:off x="2905125" y="16002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0" name="current-content-104">
            <a:extLst xmlns:a="http://schemas.openxmlformats.org/drawingml/2006/main">
              <a:ext uri="{FF2B5EF4-FFF2-40B4-BE49-F238E27FC236}">
                <a16:creationId xmlns:a16="http://schemas.microsoft.com/office/drawing/2014/main" id="{46ED05B8-1AA7-42F9-B81C-0EE0FA8334F1}"/>
              </a:ext>
            </a:extLst>
          </p:cNvPr>
          <p:cNvSpPr>
            <a:spLocks xmlns:a="http://schemas.openxmlformats.org/drawingml/2006/main" noGrp="1"/>
          </p:cNvSpPr>
          <p:nvPr/>
        </p:nvSpPr>
        <p:spPr>
          <a:xfrm xmlns:a="http://schemas.openxmlformats.org/drawingml/2006/main">
            <a:off x="1619250" y="26193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1" name="current-content-105">
            <a:extLst xmlns:a="http://schemas.openxmlformats.org/drawingml/2006/main">
              <a:ext uri="{FF2B5EF4-FFF2-40B4-BE49-F238E27FC236}">
                <a16:creationId xmlns:a16="http://schemas.microsoft.com/office/drawing/2014/main" id="{4B5367A4-0E94-4565-B9A7-67F83FB32E0C}"/>
              </a:ext>
            </a:extLst>
          </p:cNvPr>
          <p:cNvSpPr>
            <a:spLocks xmlns:a="http://schemas.openxmlformats.org/drawingml/2006/main" noGrp="1"/>
          </p:cNvSpPr>
          <p:nvPr/>
        </p:nvSpPr>
        <p:spPr>
          <a:xfrm xmlns:a="http://schemas.openxmlformats.org/drawingml/2006/main">
            <a:off x="4914900" y="26289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2" name="current-content-106">
            <a:extLst xmlns:a="http://schemas.openxmlformats.org/drawingml/2006/main">
              <a:ext uri="{FF2B5EF4-FFF2-40B4-BE49-F238E27FC236}">
                <a16:creationId xmlns:a16="http://schemas.microsoft.com/office/drawing/2014/main" id="{DF93694B-CEBF-4972-AFE0-5B087E7967EB}"/>
              </a:ext>
            </a:extLst>
          </p:cNvPr>
          <p:cNvSpPr>
            <a:spLocks xmlns:a="http://schemas.openxmlformats.org/drawingml/2006/main" noGrp="1"/>
          </p:cNvSpPr>
          <p:nvPr/>
        </p:nvSpPr>
        <p:spPr>
          <a:xfrm xmlns:a="http://schemas.openxmlformats.org/drawingml/2006/main">
            <a:off x="6638925" y="26384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3" name="current-content-107">
            <a:extLst xmlns:a="http://schemas.openxmlformats.org/drawingml/2006/main">
              <a:ext uri="{FF2B5EF4-FFF2-40B4-BE49-F238E27FC236}">
                <a16:creationId xmlns:a16="http://schemas.microsoft.com/office/drawing/2014/main" id="{B63EAE2E-95B7-4D7C-8017-FBBB67D72864}"/>
              </a:ext>
            </a:extLst>
          </p:cNvPr>
          <p:cNvSpPr>
            <a:spLocks xmlns:a="http://schemas.openxmlformats.org/drawingml/2006/main" noGrp="1"/>
          </p:cNvSpPr>
          <p:nvPr/>
        </p:nvSpPr>
        <p:spPr>
          <a:xfrm xmlns:a="http://schemas.openxmlformats.org/drawingml/2006/main">
            <a:off x="533400" y="4181475"/>
            <a:ext cx="8058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Movement history references products and records before/after stock.</a:t>
            </a:r>
          </a:p>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Store membership: stores, profiles and store_users. Other entities omitted.</a:t>
            </a:r>
          </a:p>
        </p:txBody>
      </p:sp>
      <p:cxnSp>
        <p:nvCxnSpPr>
          <p:cNvPr id="10" name="Straight Arrow Connector 9">
            <a:extLst xmlns:a="http://schemas.openxmlformats.org/drawingml/2006/main">
              <a:ext uri="{FF2B5EF4-FFF2-40B4-BE49-F238E27FC236}">
                <a16:creationId xmlns:a16="http://schemas.microsoft.com/office/drawing/2014/main" id="{6578CED5-4B1D-4778-93B9-100C1B3D9C9A}"/>
              </a:ext>
            </a:extLst>
          </p:cNvPr>
          <p:cNvCxnSpPr>
            <a:stCxn xmlns:a="http://schemas.openxmlformats.org/drawingml/2006/main" id="4" idx="3"/>
            <a:endCxn xmlns:a="http://schemas.openxmlformats.org/drawingml/2006/main" id="5" idx="1"/>
          </p:cNvCxnSpPr>
          <p:nvPr/>
        </p:nvCxnSpPr>
        <p:spPr>
          <a:xfrm xmlns:a="http://schemas.openxmlformats.org/drawingml/2006/main">
            <a:off x="2724150" y="1881188"/>
            <a:ext cx="80010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1" name="Straight Arrow Connector 10">
            <a:extLst xmlns:a="http://schemas.openxmlformats.org/drawingml/2006/main">
              <a:ext uri="{FF2B5EF4-FFF2-40B4-BE49-F238E27FC236}">
                <a16:creationId xmlns:a16="http://schemas.microsoft.com/office/drawing/2014/main" id="{3CE3CDED-3567-4C1F-B2A4-916838564CEC}"/>
              </a:ext>
            </a:extLst>
          </p:cNvPr>
          <p:cNvCxnSpPr>
            <a:stCxn xmlns:a="http://schemas.openxmlformats.org/drawingml/2006/main" id="4" idx="2"/>
            <a:endCxn xmlns:a="http://schemas.openxmlformats.org/drawingml/2006/main" id="7" idx="0"/>
          </p:cNvCxnSpPr>
          <p:nvPr/>
        </p:nvCxnSpPr>
        <p:spPr>
          <a:xfrm xmlns:a="http://schemas.openxmlformats.org/drawingml/2006/main">
            <a:off x="1628775" y="2238375"/>
            <a:ext cx="0" cy="1038225"/>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2" name="Straight Arrow Connector 11">
            <a:extLst xmlns:a="http://schemas.openxmlformats.org/drawingml/2006/main">
              <a:ext uri="{FF2B5EF4-FFF2-40B4-BE49-F238E27FC236}">
                <a16:creationId xmlns:a16="http://schemas.microsoft.com/office/drawing/2014/main" id="{631F39DD-C222-4CC9-93EA-9E22B1BC826F}"/>
              </a:ext>
            </a:extLst>
          </p:cNvPr>
          <p:cNvCxnSpPr>
            <a:stCxn xmlns:a="http://schemas.openxmlformats.org/drawingml/2006/main" id="5" idx="2"/>
            <a:endCxn xmlns:a="http://schemas.openxmlformats.org/drawingml/2006/main" id="8" idx="0"/>
          </p:cNvCxnSpPr>
          <p:nvPr/>
        </p:nvCxnSpPr>
        <p:spPr>
          <a:xfrm xmlns:a="http://schemas.openxmlformats.org/drawingml/2006/main">
            <a:off x="4881563" y="2238375"/>
            <a:ext cx="0" cy="87630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3" name="Straight Arrow Connector 12">
            <a:extLst xmlns:a="http://schemas.openxmlformats.org/drawingml/2006/main">
              <a:ext uri="{FF2B5EF4-FFF2-40B4-BE49-F238E27FC236}">
                <a16:creationId xmlns:a16="http://schemas.microsoft.com/office/drawing/2014/main" id="{5238B32B-E67D-4321-BD4E-26A28ACA7D45}"/>
              </a:ext>
            </a:extLst>
          </p:cNvPr>
          <p:cNvCxnSpPr/>
          <p:nvPr/>
        </p:nvCxnSpPr>
        <p:spPr>
          <a:xfrm xmlns:a="http://schemas.openxmlformats.org/drawingml/2006/main">
            <a:off x="6572250" y="1876425"/>
            <a:ext cx="542925" cy="0"/>
          </a:xfrm>
          <a:prstGeom xmlns:a="http://schemas.openxmlformats.org/drawingml/2006/main" prst="straightConnector1">
            <a:avLst/>
          </a:prstGeom>
          <a:ln xmlns:a="http://schemas.openxmlformats.org/drawingml/2006/main" w="19050">
            <a:solidFill>
              <a:srgbClr val="0070C0"/>
            </a:solidFill>
          </a:ln>
        </p:spPr>
      </p:cxnSp>
      <p:cxnSp>
        <p:nvCxnSpPr>
          <p:cNvPr id="14" name="Straight Arrow Connector 13">
            <a:extLst xmlns:a="http://schemas.openxmlformats.org/drawingml/2006/main">
              <a:ext uri="{FF2B5EF4-FFF2-40B4-BE49-F238E27FC236}">
                <a16:creationId xmlns:a16="http://schemas.microsoft.com/office/drawing/2014/main" id="{EB9CF903-A5A8-4675-8AAC-DB316039CC56}"/>
              </a:ext>
            </a:extLst>
          </p:cNvPr>
          <p:cNvCxnSpPr/>
          <p:nvPr/>
        </p:nvCxnSpPr>
        <p:spPr>
          <a:xfrm xmlns:a="http://schemas.openxmlformats.org/drawingml/2006/main">
            <a:off x="6572250" y="1876425"/>
            <a:ext cx="0" cy="1676400"/>
          </a:xfrm>
          <a:prstGeom xmlns:a="http://schemas.openxmlformats.org/drawingml/2006/main" prst="straightConnector1">
            <a:avLst/>
          </a:prstGeom>
          <a:ln xmlns:a="http://schemas.openxmlformats.org/drawingml/2006/main" w="19050">
            <a:solidFill>
              <a:srgbClr val="0070C0"/>
            </a:solidFill>
          </a:ln>
        </p:spPr>
      </p:cxnSp>
      <p:cxnSp>
        <p:nvCxnSpPr>
          <p:cNvPr id="15" name="Straight Arrow Connector 14">
            <a:extLst xmlns:a="http://schemas.openxmlformats.org/drawingml/2006/main">
              <a:ext uri="{FF2B5EF4-FFF2-40B4-BE49-F238E27FC236}">
                <a16:creationId xmlns:a16="http://schemas.microsoft.com/office/drawing/2014/main" id="{6958210C-2CAE-41BA-80C6-3674449651E7}"/>
              </a:ext>
            </a:extLst>
          </p:cNvPr>
          <p:cNvCxnSpPr/>
          <p:nvPr/>
        </p:nvCxnSpPr>
        <p:spPr>
          <a:xfrm xmlns:a="http://schemas.openxmlformats.org/drawingml/2006/main">
            <a:off x="6238875" y="3552825"/>
            <a:ext cx="333375"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6" name="Straight Arrow Connector 15">
            <a:extLst xmlns:a="http://schemas.openxmlformats.org/drawingml/2006/main">
              <a:ext uri="{FF2B5EF4-FFF2-40B4-BE49-F238E27FC236}">
                <a16:creationId xmlns:a16="http://schemas.microsoft.com/office/drawing/2014/main" id="{B9506596-6A8F-4748-99BA-23FEF871E987}"/>
              </a:ext>
            </a:extLst>
          </p:cNvPr>
          <p:cNvCxnSpPr/>
          <p:nvPr/>
        </p:nvCxnSpPr>
        <p:spPr>
          <a:xfrm xmlns:a="http://schemas.openxmlformats.org/drawingml/2006/main">
            <a:off x="2724150" y="2066925"/>
            <a:ext cx="361950" cy="0"/>
          </a:xfrm>
          <a:prstGeom xmlns:a="http://schemas.openxmlformats.org/drawingml/2006/main" prst="straightConnector1">
            <a:avLst/>
          </a:prstGeom>
          <a:ln xmlns:a="http://schemas.openxmlformats.org/drawingml/2006/main" w="19050">
            <a:solidFill>
              <a:srgbClr val="0070C0"/>
            </a:solidFill>
          </a:ln>
        </p:spPr>
      </p:cxnSp>
      <p:cxnSp>
        <p:nvCxnSpPr>
          <p:cNvPr id="17" name="Straight Arrow Connector 16">
            <a:extLst xmlns:a="http://schemas.openxmlformats.org/drawingml/2006/main">
              <a:ext uri="{FF2B5EF4-FFF2-40B4-BE49-F238E27FC236}">
                <a16:creationId xmlns:a16="http://schemas.microsoft.com/office/drawing/2014/main" id="{AB920DB5-30CA-45E9-A027-E88C1002DB72}"/>
              </a:ext>
            </a:extLst>
          </p:cNvPr>
          <p:cNvCxnSpPr/>
          <p:nvPr/>
        </p:nvCxnSpPr>
        <p:spPr>
          <a:xfrm xmlns:a="http://schemas.openxmlformats.org/drawingml/2006/main">
            <a:off x="3086100" y="2066925"/>
            <a:ext cx="0" cy="1485900"/>
          </a:xfrm>
          <a:prstGeom xmlns:a="http://schemas.openxmlformats.org/drawingml/2006/main" prst="straightConnector1">
            <a:avLst/>
          </a:prstGeom>
          <a:ln xmlns:a="http://schemas.openxmlformats.org/drawingml/2006/main" w="19050">
            <a:solidFill>
              <a:srgbClr val="0070C0"/>
            </a:solidFill>
          </a:ln>
        </p:spPr>
      </p:cxnSp>
      <p:cxnSp>
        <p:nvCxnSpPr>
          <p:cNvPr id="18" name="Straight Arrow Connector 17">
            <a:extLst xmlns:a="http://schemas.openxmlformats.org/drawingml/2006/main">
              <a:ext uri="{FF2B5EF4-FFF2-40B4-BE49-F238E27FC236}">
                <a16:creationId xmlns:a16="http://schemas.microsoft.com/office/drawing/2014/main" id="{1B065224-9C6C-4123-9281-AA4EAAE97A1A}"/>
              </a:ext>
            </a:extLst>
          </p:cNvPr>
          <p:cNvCxnSpPr/>
          <p:nvPr/>
        </p:nvCxnSpPr>
        <p:spPr>
          <a:xfrm xmlns:a="http://schemas.openxmlformats.org/drawingml/2006/main">
            <a:off x="3086100" y="3552825"/>
            <a:ext cx="438150" cy="0"/>
          </a:xfrm>
          <a:prstGeom xmlns:a="http://schemas.openxmlformats.org/drawingml/2006/main" prst="straightConnector1">
            <a:avLst/>
          </a:prstGeom>
          <a:ln xmlns:a="http://schemas.openxmlformats.org/drawingml/2006/main" w="19050">
            <a:solidFill>
              <a:srgbClr val="0070C0"/>
            </a:solidFill>
            <a:tailEnd type="triangle" w="med" len="med"/>
          </a:ln>
        </p:spPr>
      </p:cxnSp>
    </p:spTree>
    <p:extLst>
      <p:ext uri="{BB962C8B-B14F-4D97-AF65-F5344CB8AC3E}">
        <p14:creationId xmlns:p14="http://schemas.microsoft.com/office/powerpoint/2010/main" val="173836648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cxnSp>
        <p:nvCxnSpPr>
          <p:cNvPr id="90" name="">
            <a:extLst xmlns:a="http://schemas.openxmlformats.org/drawingml/2006/main">
              <a:ext uri="{FF2B5EF4-FFF2-40B4-BE49-F238E27FC236}">
                <a16:creationId xmlns:a16="http://schemas.microsoft.com/office/drawing/2014/main" id="{A3DA93B4-FB6F-4CD7-8ABD-3F065045EC14}"/>
              </a:ext>
            </a:extLst>
          </p:cNvPr>
          <p:cNvCxnSpPr/>
          <p:nvPr/>
        </p:nvCxnSpPr>
        <p:spPr>
          <a:xfrm xmlns:a="http://schemas.openxmlformats.org/drawingml/2006/main" flipH="0" flipV="0">
            <a:off x="5429250" y="3857625"/>
            <a:ext cx="695325" cy="0"/>
          </a:xfrm>
          <a:prstGeom xmlns:a="http://schemas.openxmlformats.org/drawingml/2006/main" prst="straightConnector1">
            <a:avLst/>
          </a:prstGeom>
          <a:ln xmlns:a="http://schemas.openxmlformats.org/drawingml/2006/main" w="19050">
            <a:solidFill>
              <a:srgbClr val="0070C0"/>
            </a:solidFill>
            <a:tailEnd type="triangle" w="sm" len="sm"/>
          </a:ln>
        </p:spPr>
      </p:cxnSp>
      <p:cxnSp>
        <p:nvCxnSpPr>
          <p:cNvPr id="88" name="">
            <a:extLst xmlns:a="http://schemas.openxmlformats.org/drawingml/2006/main">
              <a:ext uri="{FF2B5EF4-FFF2-40B4-BE49-F238E27FC236}">
                <a16:creationId xmlns:a16="http://schemas.microsoft.com/office/drawing/2014/main" id="{29150E6F-8767-4932-86DD-082C4CA1384B}"/>
              </a:ext>
            </a:extLst>
          </p:cNvPr>
          <p:cNvCxnSpPr/>
          <p:nvPr/>
        </p:nvCxnSpPr>
        <p:spPr>
          <a:xfrm xmlns:a="http://schemas.openxmlformats.org/drawingml/2006/main" flipH="0" flipV="0">
            <a:off x="2476500" y="3857625"/>
            <a:ext cx="695325" cy="0"/>
          </a:xfrm>
          <a:prstGeom xmlns:a="http://schemas.openxmlformats.org/drawingml/2006/main" prst="straightConnector1">
            <a:avLst/>
          </a:prstGeom>
          <a:ln xmlns:a="http://schemas.openxmlformats.org/drawingml/2006/main" w="19050">
            <a:solidFill>
              <a:srgbClr val="0070C0"/>
            </a:solidFill>
            <a:tailEnd type="triangle" w="sm" len="sm"/>
          </a:ln>
        </p:spPr>
      </p:cxnSp>
      <p:cxnSp>
        <p:nvCxnSpPr>
          <p:cNvPr id="34" name="">
            <a:extLst xmlns:a="http://schemas.openxmlformats.org/drawingml/2006/main">
              <a:ext uri="{FF2B5EF4-FFF2-40B4-BE49-F238E27FC236}">
                <a16:creationId xmlns:a16="http://schemas.microsoft.com/office/drawing/2014/main" id="{04A641B8-0FE1-4E84-831D-602F96096430}"/>
              </a:ext>
            </a:extLst>
          </p:cNvPr>
          <p:cNvCxnSpPr>
            <a:stCxn xmlns:a="http://schemas.openxmlformats.org/drawingml/2006/main" id="26" idx="2"/>
            <a:endCxn xmlns:a="http://schemas.openxmlformats.org/drawingml/2006/main" id="33" idx="0"/>
          </p:cNvCxnSpPr>
          <p:nvPr/>
        </p:nvCxnSpPr>
        <p:spPr>
          <a:xfrm xmlns:a="http://schemas.openxmlformats.org/drawingml/2006/main">
            <a:off x="5024438" y="1981200"/>
            <a:ext cx="0" cy="257175"/>
          </a:xfrm>
          <a:prstGeom xmlns:a="http://schemas.openxmlformats.org/drawingml/2006/main" prst="straightConnector1">
            <a:avLst/>
          </a:prstGeom>
          <a:ln xmlns:a="http://schemas.openxmlformats.org/drawingml/2006/main" w="15240">
            <a:solidFill>
              <a:srgbClr val="9D5B00"/>
            </a:solidFill>
            <a:tailEnd type="triangle" w="sm" len="sm"/>
          </a:ln>
        </p:spPr>
      </p:cxnSp>
      <p:cxnSp>
        <p:nvCxnSpPr>
          <p:cNvPr id="31" name="">
            <a:extLst xmlns:a="http://schemas.openxmlformats.org/drawingml/2006/main">
              <a:ext uri="{FF2B5EF4-FFF2-40B4-BE49-F238E27FC236}">
                <a16:creationId xmlns:a16="http://schemas.microsoft.com/office/drawing/2014/main" id="{4ECA0A41-A6D8-4F4B-B9CE-48FBDF7C18D7}"/>
              </a:ext>
            </a:extLst>
          </p:cNvPr>
          <p:cNvCxnSpPr>
            <a:stCxn xmlns:a="http://schemas.openxmlformats.org/drawingml/2006/main" id="26" idx="3"/>
            <a:endCxn xmlns:a="http://schemas.openxmlformats.org/drawingml/2006/main" id="28" idx="1"/>
          </p:cNvCxnSpPr>
          <p:nvPr/>
        </p:nvCxnSpPr>
        <p:spPr>
          <a:xfrm xmlns:a="http://schemas.openxmlformats.org/drawingml/2006/main">
            <a:off x="5524500" y="1638300"/>
            <a:ext cx="1114425" cy="0"/>
          </a:xfrm>
          <a:prstGeom xmlns:a="http://schemas.openxmlformats.org/drawingml/2006/main" prst="straightConnector1">
            <a:avLst/>
          </a:prstGeom>
          <a:ln xmlns:a="http://schemas.openxmlformats.org/drawingml/2006/main" w="15240">
            <a:solidFill>
              <a:srgbClr val="0070C0"/>
            </a:solidFill>
            <a:tailEnd type="triangle" w="sm" len="sm"/>
          </a:ln>
        </p:spPr>
      </p:cxnSp>
      <p:cxnSp>
        <p:nvCxnSpPr>
          <p:cNvPr id="30" name="">
            <a:extLst xmlns:a="http://schemas.openxmlformats.org/drawingml/2006/main">
              <a:ext uri="{FF2B5EF4-FFF2-40B4-BE49-F238E27FC236}">
                <a16:creationId xmlns:a16="http://schemas.microsoft.com/office/drawing/2014/main" id="{CD1DDA38-2929-4458-A0A7-01EC476F6D48}"/>
              </a:ext>
            </a:extLst>
          </p:cNvPr>
          <p:cNvCxnSpPr>
            <a:stCxn xmlns:a="http://schemas.openxmlformats.org/drawingml/2006/main" id="25" idx="3"/>
            <a:endCxn xmlns:a="http://schemas.openxmlformats.org/drawingml/2006/main" id="26" idx="1"/>
          </p:cNvCxnSpPr>
          <p:nvPr/>
        </p:nvCxnSpPr>
        <p:spPr>
          <a:xfrm xmlns:a="http://schemas.openxmlformats.org/drawingml/2006/main">
            <a:off x="4114800" y="1638300"/>
            <a:ext cx="409575" cy="0"/>
          </a:xfrm>
          <a:prstGeom xmlns:a="http://schemas.openxmlformats.org/drawingml/2006/main" prst="straightConnector1">
            <a:avLst/>
          </a:prstGeom>
          <a:ln xmlns:a="http://schemas.openxmlformats.org/drawingml/2006/main" w="15240">
            <a:solidFill>
              <a:srgbClr val="0070C0"/>
            </a:solidFill>
            <a:tailEnd type="triangle" w="sm" len="sm"/>
          </a:ln>
        </p:spPr>
      </p:cxnSp>
      <p:cxnSp>
        <p:nvCxnSpPr>
          <p:cNvPr id="29" name="">
            <a:extLst xmlns:a="http://schemas.openxmlformats.org/drawingml/2006/main">
              <a:ext uri="{FF2B5EF4-FFF2-40B4-BE49-F238E27FC236}">
                <a16:creationId xmlns:a16="http://schemas.microsoft.com/office/drawing/2014/main" id="{EF083DC2-09E4-42EE-A853-2FAF0654B5B6}"/>
              </a:ext>
            </a:extLst>
          </p:cNvPr>
          <p:cNvCxnSpPr>
            <a:stCxn xmlns:a="http://schemas.openxmlformats.org/drawingml/2006/main" id="24" idx="3"/>
            <a:endCxn xmlns:a="http://schemas.openxmlformats.org/drawingml/2006/main" id="25" idx="1"/>
          </p:cNvCxnSpPr>
          <p:nvPr/>
        </p:nvCxnSpPr>
        <p:spPr>
          <a:xfrm xmlns:a="http://schemas.openxmlformats.org/drawingml/2006/main">
            <a:off x="1914525" y="1638300"/>
            <a:ext cx="371475" cy="0"/>
          </a:xfrm>
          <a:prstGeom xmlns:a="http://schemas.openxmlformats.org/drawingml/2006/main" prst="straightConnector1">
            <a:avLst/>
          </a:prstGeom>
          <a:ln xmlns:a="http://schemas.openxmlformats.org/drawingml/2006/main" w="15240">
            <a:solidFill>
              <a:srgbClr val="0070C0"/>
            </a:solidFill>
            <a:tailEnd type="triangle" w="sm" len="sm"/>
          </a:ln>
        </p:spPr>
      </p:cxnSp>
      <p:pic>
        <p:nvPicPr>
          <p:cNvPr id="23" name="Picture 22">
            <a:extLst xmlns:a="http://schemas.openxmlformats.org/drawingml/2006/main">
              <a:ext uri="{FF2B5EF4-FFF2-40B4-BE49-F238E27FC236}">
                <a16:creationId xmlns:a16="http://schemas.microsoft.com/office/drawing/2014/main" id="{A9652C79-0488-4B59-A916-1F1B94B39515}"/>
              </a:ext>
            </a:extLst>
          </p:cNvPr>
          <p:cNvPicPr>
            <a:picLocks xmlns:a="http://schemas.openxmlformats.org/drawingml/2006/main" noChangeAspect="1"/>
          </p:cNvPicPr>
          <p:nvPr/>
        </p:nvPicPr>
        <p:blipFill>
          <a:blip xmlns:r="http://schemas.openxmlformats.org/officeDocument/2006/relationships" xmlns:a="http://schemas.openxmlformats.org/drawingml/2006/main" r:embed="R5685ff9b34cc4fe6"/>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6">
            <a:extLst xmlns:a="http://schemas.openxmlformats.org/drawingml/2006/main">
              <a:ext uri="{FF2B5EF4-FFF2-40B4-BE49-F238E27FC236}">
                <a16:creationId xmlns:a16="http://schemas.microsoft.com/office/drawing/2014/main" id="{98647030-E4B5-4D52-AA6F-471A0126840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Core system logic</a:t>
            </a:r>
          </a:p>
        </p:txBody>
      </p:sp>
      <p:sp>
        <p:nvSpPr>
          <p:cNvPr id="24" name="">
            <a:extLst xmlns:a="http://schemas.openxmlformats.org/drawingml/2006/main">
              <a:ext uri="{FF2B5EF4-FFF2-40B4-BE49-F238E27FC236}">
                <a16:creationId xmlns:a16="http://schemas.microsoft.com/office/drawing/2014/main" id="{AB6DF9D7-1324-4D3D-8516-AA37BF0A6C8B}"/>
              </a:ext>
            </a:extLst>
          </p:cNvPr>
          <p:cNvSpPr>
            <a:spLocks xmlns:a="http://schemas.openxmlformats.org/drawingml/2006/main" noGrp="1"/>
          </p:cNvSpPr>
          <p:nvPr/>
        </p:nvSpPr>
        <p:spPr>
          <a:xfrm xmlns:a="http://schemas.openxmlformats.org/drawingml/2006/main">
            <a:off x="533400" y="1362075"/>
            <a:ext cx="13811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500">
                <a:solidFill>
                  <a:srgbClr val="171717"/>
                </a:solidFill>
                <a:latin typeface="Arial"/>
                <a:ea typeface="Arial"/>
                <a:cs typeface="Arial"/>
              </a:defRPr>
            </a:defPPr>
            <a:lvl1pPr algn="ctr">
              <a:buNone/>
              <a:defRPr sz="1500">
                <a:solidFill>
                  <a:srgbClr val="171717"/>
                </a:solidFill>
                <a:latin typeface="Arial"/>
                <a:ea typeface="Arial"/>
                <a:cs typeface="Arial"/>
              </a:defRPr>
            </a:lvl1pPr>
            <a:lvl2pPr algn="ctr">
              <a:buNone/>
              <a:defRPr sz="1500">
                <a:solidFill>
                  <a:srgbClr val="171717"/>
                </a:solidFill>
                <a:latin typeface="Arial"/>
                <a:ea typeface="Arial"/>
                <a:cs typeface="Arial"/>
              </a:defRPr>
            </a:lvl2pPr>
            <a:lvl3pPr algn="ctr">
              <a:buNone/>
              <a:defRPr sz="1500">
                <a:solidFill>
                  <a:srgbClr val="171717"/>
                </a:solidFill>
                <a:latin typeface="Arial"/>
                <a:ea typeface="Arial"/>
                <a:cs typeface="Arial"/>
              </a:defRPr>
            </a:lvl3pPr>
            <a:lvl4pPr algn="ctr">
              <a:buNone/>
              <a:defRPr sz="1500">
                <a:solidFill>
                  <a:srgbClr val="171717"/>
                </a:solidFill>
                <a:latin typeface="Arial"/>
                <a:ea typeface="Arial"/>
                <a:cs typeface="Arial"/>
              </a:defRPr>
            </a:lvl4pPr>
            <a:lvl5pPr algn="ctr">
              <a:buNone/>
              <a:defRPr sz="1500">
                <a:solidFill>
                  <a:srgbClr val="171717"/>
                </a:solidFill>
                <a:latin typeface="Arial"/>
                <a:ea typeface="Arial"/>
                <a:cs typeface="Arial"/>
              </a:defRPr>
            </a:lvl5pPr>
            <a:lvl6pPr algn="ctr">
              <a:buNone/>
              <a:defRPr sz="1500">
                <a:solidFill>
                  <a:srgbClr val="171717"/>
                </a:solidFill>
                <a:latin typeface="Arial"/>
                <a:ea typeface="Arial"/>
                <a:cs typeface="Arial"/>
              </a:defRPr>
            </a:lvl6pPr>
            <a:lvl7pPr algn="ctr">
              <a:buNone/>
              <a:defRPr sz="1500">
                <a:solidFill>
                  <a:srgbClr val="171717"/>
                </a:solidFill>
                <a:latin typeface="Arial"/>
                <a:ea typeface="Arial"/>
                <a:cs typeface="Arial"/>
              </a:defRPr>
            </a:lvl7pPr>
            <a:lvl8pPr algn="ctr">
              <a:buNone/>
              <a:defRPr sz="1500">
                <a:solidFill>
                  <a:srgbClr val="171717"/>
                </a:solidFill>
                <a:latin typeface="Arial"/>
                <a:ea typeface="Arial"/>
                <a:cs typeface="Arial"/>
              </a:defRPr>
            </a:lvl8pPr>
            <a:lvl9pPr algn="ctr">
              <a:buNone/>
              <a:defRPr sz="1500">
                <a:solidFill>
                  <a:srgbClr val="171717"/>
                </a:solidFill>
                <a:latin typeface="Arial"/>
                <a:ea typeface="Arial"/>
                <a:cs typeface="Arial"/>
              </a:defRPr>
            </a:lvl9pPr>
          </a:lstStyle>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Cart and</a:t>
            </a:r>
          </a:p>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payment</a:t>
            </a:r>
          </a:p>
        </p:txBody>
      </p:sp>
      <p:sp>
        <p:nvSpPr>
          <p:cNvPr id="25" name="">
            <a:extLst xmlns:a="http://schemas.openxmlformats.org/drawingml/2006/main">
              <a:ext uri="{FF2B5EF4-FFF2-40B4-BE49-F238E27FC236}">
                <a16:creationId xmlns:a16="http://schemas.microsoft.com/office/drawing/2014/main" id="{75334CDF-498B-421C-A4B8-12DA1F62A76F}"/>
              </a:ext>
            </a:extLst>
          </p:cNvPr>
          <p:cNvSpPr>
            <a:spLocks xmlns:a="http://schemas.openxmlformats.org/drawingml/2006/main" noGrp="1"/>
          </p:cNvSpPr>
          <p:nvPr/>
        </p:nvSpPr>
        <p:spPr>
          <a:xfrm xmlns:a="http://schemas.openxmlformats.org/drawingml/2006/main">
            <a:off x="2286000" y="1362075"/>
            <a:ext cx="1828800"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Server validates</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role, store and stock</a:t>
            </a:r>
          </a:p>
        </p:txBody>
      </p:sp>
      <p:sp>
        <p:nvSpPr>
          <p:cNvPr id="26" name="">
            <a:extLst xmlns:a="http://schemas.openxmlformats.org/drawingml/2006/main">
              <a:ext uri="{FF2B5EF4-FFF2-40B4-BE49-F238E27FC236}">
                <a16:creationId xmlns:a16="http://schemas.microsoft.com/office/drawing/2014/main" id="{76615C49-B82A-482B-B315-2CB6F1FC60E8}"/>
              </a:ext>
            </a:extLst>
          </p:cNvPr>
          <p:cNvSpPr>
            <a:spLocks xmlns:a="http://schemas.openxmlformats.org/drawingml/2006/main" noGrp="1"/>
          </p:cNvSpPr>
          <p:nvPr/>
        </p:nvSpPr>
        <p:spPr>
          <a:xfrm xmlns:a="http://schemas.openxmlformats.org/drawingml/2006/main">
            <a:off x="4524375" y="1295400"/>
            <a:ext cx="1000125" cy="685800"/>
          </a:xfrm>
          <a:prstGeom xmlns:a="http://schemas.openxmlformats.org/drawingml/2006/main" prst="diamond">
            <a:avLst/>
          </a:prstGeom>
          <a:solidFill xmlns:a="http://schemas.openxmlformats.org/drawingml/2006/main">
            <a:srgbClr val="FFFFFF"/>
          </a:solidFill>
          <a:ln xmlns:a="http://schemas.openxmlformats.org/drawingml/2006/main" w="13335">
            <a:solidFill>
              <a:srgbClr val="202C61"/>
            </a:solidFill>
          </a:ln>
        </p:spPr>
      </p:sp>
      <p:sp>
        <p:nvSpPr>
          <p:cNvPr id="27" name="">
            <a:extLst xmlns:a="http://schemas.openxmlformats.org/drawingml/2006/main">
              <a:ext uri="{FF2B5EF4-FFF2-40B4-BE49-F238E27FC236}">
                <a16:creationId xmlns:a16="http://schemas.microsoft.com/office/drawing/2014/main" id="{946300D5-F0A3-436E-B1F8-A0623D51EFC9}"/>
              </a:ext>
            </a:extLst>
          </p:cNvPr>
          <p:cNvSpPr>
            <a:spLocks xmlns:a="http://schemas.openxmlformats.org/drawingml/2006/main" noGrp="1"/>
          </p:cNvSpPr>
          <p:nvPr/>
        </p:nvSpPr>
        <p:spPr>
          <a:xfrm xmlns:a="http://schemas.openxmlformats.org/drawingml/2006/main">
            <a:off x="4600575" y="1323975"/>
            <a:ext cx="8477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171717"/>
                </a:solidFill>
                <a:latin typeface="Arial"/>
                <a:ea typeface="Arial"/>
                <a:cs typeface="Arial"/>
              </a:defRPr>
            </a:defPPr>
            <a:lvl1pPr algn="ctr">
              <a:buNone/>
              <a:defRPr sz="1350" b="0">
                <a:solidFill>
                  <a:srgbClr val="171717"/>
                </a:solidFill>
                <a:latin typeface="Arial"/>
                <a:ea typeface="Arial"/>
                <a:cs typeface="Arial"/>
              </a:defRPr>
            </a:lvl1pPr>
            <a:lvl2pPr algn="ctr">
              <a:buNone/>
              <a:defRPr sz="1350" b="0">
                <a:solidFill>
                  <a:srgbClr val="171717"/>
                </a:solidFill>
                <a:latin typeface="Arial"/>
                <a:ea typeface="Arial"/>
                <a:cs typeface="Arial"/>
              </a:defRPr>
            </a:lvl2pPr>
            <a:lvl3pPr algn="ctr">
              <a:buNone/>
              <a:defRPr sz="1350" b="0">
                <a:solidFill>
                  <a:srgbClr val="171717"/>
                </a:solidFill>
                <a:latin typeface="Arial"/>
                <a:ea typeface="Arial"/>
                <a:cs typeface="Arial"/>
              </a:defRPr>
            </a:lvl3pPr>
            <a:lvl4pPr algn="ctr">
              <a:buNone/>
              <a:defRPr sz="1350" b="0">
                <a:solidFill>
                  <a:srgbClr val="171717"/>
                </a:solidFill>
                <a:latin typeface="Arial"/>
                <a:ea typeface="Arial"/>
                <a:cs typeface="Arial"/>
              </a:defRPr>
            </a:lvl4pPr>
            <a:lvl5pPr algn="ctr">
              <a:buNone/>
              <a:defRPr sz="1350" b="0">
                <a:solidFill>
                  <a:srgbClr val="171717"/>
                </a:solidFill>
                <a:latin typeface="Arial"/>
                <a:ea typeface="Arial"/>
                <a:cs typeface="Arial"/>
              </a:defRPr>
            </a:lvl5pPr>
            <a:lvl6pPr algn="ctr">
              <a:buNone/>
              <a:defRPr sz="1350" b="0">
                <a:solidFill>
                  <a:srgbClr val="171717"/>
                </a:solidFill>
                <a:latin typeface="Arial"/>
                <a:ea typeface="Arial"/>
                <a:cs typeface="Arial"/>
              </a:defRPr>
            </a:lvl6pPr>
            <a:lvl7pPr algn="ctr">
              <a:buNone/>
              <a:defRPr sz="1350" b="0">
                <a:solidFill>
                  <a:srgbClr val="171717"/>
                </a:solidFill>
                <a:latin typeface="Arial"/>
                <a:ea typeface="Arial"/>
                <a:cs typeface="Arial"/>
              </a:defRPr>
            </a:lvl7pPr>
            <a:lvl8pPr algn="ctr">
              <a:buNone/>
              <a:defRPr sz="1350" b="0">
                <a:solidFill>
                  <a:srgbClr val="171717"/>
                </a:solidFill>
                <a:latin typeface="Arial"/>
                <a:ea typeface="Arial"/>
                <a:cs typeface="Arial"/>
              </a:defRPr>
            </a:lvl8pPr>
            <a:lvl9pPr algn="ctr">
              <a:buNone/>
              <a:defRPr sz="1350" b="0">
                <a:solidFill>
                  <a:srgbClr val="171717"/>
                </a:solidFill>
                <a:latin typeface="Arial"/>
                <a:ea typeface="Arial"/>
                <a:cs typeface="Arial"/>
              </a:defRPr>
            </a:lvl9pPr>
          </a:lstStyle>
          <a:p xmlns:a="http://schemas.openxmlformats.org/drawingml/2006/main">
            <a:pPr algn="ctr">
              <a:buNone/>
              <a:defRPr sz="1350" b="0">
                <a:solidFill>
                  <a:srgbClr val="171717"/>
                </a:solidFill>
                <a:latin typeface="Arial"/>
                <a:ea typeface="Arial"/>
                <a:cs typeface="Arial"/>
              </a:defRPr>
            </a:pPr>
            <a:r>
              <a:rPr sz="1350" b="0">
                <a:solidFill>
                  <a:srgbClr val="171717"/>
                </a:solidFill>
                <a:latin typeface="Arial"/>
                <a:ea typeface="Arial"/>
                <a:cs typeface="Arial"/>
              </a:rPr>
              <a:t>Valid?</a:t>
            </a:r>
          </a:p>
        </p:txBody>
      </p:sp>
      <p:sp>
        <p:nvSpPr>
          <p:cNvPr id="28" name="">
            <a:extLst xmlns:a="http://schemas.openxmlformats.org/drawingml/2006/main">
              <a:ext uri="{FF2B5EF4-FFF2-40B4-BE49-F238E27FC236}">
                <a16:creationId xmlns:a16="http://schemas.microsoft.com/office/drawing/2014/main" id="{E573F84B-DF75-4462-BE31-D65FC9312964}"/>
              </a:ext>
            </a:extLst>
          </p:cNvPr>
          <p:cNvSpPr>
            <a:spLocks xmlns:a="http://schemas.openxmlformats.org/drawingml/2006/main" noGrp="1"/>
          </p:cNvSpPr>
          <p:nvPr/>
        </p:nvSpPr>
        <p:spPr>
          <a:xfrm xmlns:a="http://schemas.openxmlformats.org/drawingml/2006/main">
            <a:off x="6638925" y="1362075"/>
            <a:ext cx="197167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19713C"/>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Commit sale + stock</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Return receipt data</a:t>
            </a:r>
          </a:p>
        </p:txBody>
      </p:sp>
      <p:sp>
        <p:nvSpPr>
          <p:cNvPr id="32" name="">
            <a:extLst xmlns:a="http://schemas.openxmlformats.org/drawingml/2006/main">
              <a:ext uri="{FF2B5EF4-FFF2-40B4-BE49-F238E27FC236}">
                <a16:creationId xmlns:a16="http://schemas.microsoft.com/office/drawing/2014/main" id="{0F02B44A-F8DE-4B27-AC70-727DB2528724}"/>
              </a:ext>
            </a:extLst>
          </p:cNvPr>
          <p:cNvSpPr>
            <a:spLocks xmlns:a="http://schemas.openxmlformats.org/drawingml/2006/main" noGrp="1"/>
          </p:cNvSpPr>
          <p:nvPr/>
        </p:nvSpPr>
        <p:spPr>
          <a:xfrm xmlns:a="http://schemas.openxmlformats.org/drawingml/2006/main">
            <a:off x="5848350" y="13620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19713C"/>
                </a:solidFill>
                <a:latin typeface="Arial"/>
                <a:ea typeface="Arial"/>
                <a:cs typeface="Arial"/>
              </a:defRPr>
            </a:defPPr>
            <a:lvl1pPr algn="l">
              <a:buNone/>
              <a:defRPr sz="1275" b="1">
                <a:solidFill>
                  <a:srgbClr val="19713C"/>
                </a:solidFill>
                <a:latin typeface="Arial"/>
                <a:ea typeface="Arial"/>
                <a:cs typeface="Arial"/>
              </a:defRPr>
            </a:lvl1pPr>
            <a:lvl2pPr algn="l">
              <a:buNone/>
              <a:defRPr sz="1275" b="1">
                <a:solidFill>
                  <a:srgbClr val="19713C"/>
                </a:solidFill>
                <a:latin typeface="Arial"/>
                <a:ea typeface="Arial"/>
                <a:cs typeface="Arial"/>
              </a:defRPr>
            </a:lvl2pPr>
            <a:lvl3pPr algn="l">
              <a:buNone/>
              <a:defRPr sz="1275" b="1">
                <a:solidFill>
                  <a:srgbClr val="19713C"/>
                </a:solidFill>
                <a:latin typeface="Arial"/>
                <a:ea typeface="Arial"/>
                <a:cs typeface="Arial"/>
              </a:defRPr>
            </a:lvl3pPr>
            <a:lvl4pPr algn="l">
              <a:buNone/>
              <a:defRPr sz="1275" b="1">
                <a:solidFill>
                  <a:srgbClr val="19713C"/>
                </a:solidFill>
                <a:latin typeface="Arial"/>
                <a:ea typeface="Arial"/>
                <a:cs typeface="Arial"/>
              </a:defRPr>
            </a:lvl4pPr>
            <a:lvl5pPr algn="l">
              <a:buNone/>
              <a:defRPr sz="1275" b="1">
                <a:solidFill>
                  <a:srgbClr val="19713C"/>
                </a:solidFill>
                <a:latin typeface="Arial"/>
                <a:ea typeface="Arial"/>
                <a:cs typeface="Arial"/>
              </a:defRPr>
            </a:lvl5pPr>
            <a:lvl6pPr algn="l">
              <a:buNone/>
              <a:defRPr sz="1275" b="1">
                <a:solidFill>
                  <a:srgbClr val="19713C"/>
                </a:solidFill>
                <a:latin typeface="Arial"/>
                <a:ea typeface="Arial"/>
                <a:cs typeface="Arial"/>
              </a:defRPr>
            </a:lvl6pPr>
            <a:lvl7pPr algn="l">
              <a:buNone/>
              <a:defRPr sz="1275" b="1">
                <a:solidFill>
                  <a:srgbClr val="19713C"/>
                </a:solidFill>
                <a:latin typeface="Arial"/>
                <a:ea typeface="Arial"/>
                <a:cs typeface="Arial"/>
              </a:defRPr>
            </a:lvl7pPr>
            <a:lvl8pPr algn="l">
              <a:buNone/>
              <a:defRPr sz="1275" b="1">
                <a:solidFill>
                  <a:srgbClr val="19713C"/>
                </a:solidFill>
                <a:latin typeface="Arial"/>
                <a:ea typeface="Arial"/>
                <a:cs typeface="Arial"/>
              </a:defRPr>
            </a:lvl8pPr>
            <a:lvl9pPr algn="l">
              <a:buNone/>
              <a:defRPr sz="1275" b="1">
                <a:solidFill>
                  <a:srgbClr val="19713C"/>
                </a:solidFill>
                <a:latin typeface="Arial"/>
                <a:ea typeface="Arial"/>
                <a:cs typeface="Arial"/>
              </a:defRPr>
            </a:lvl9pPr>
          </a:lstStyle>
          <a:p xmlns:a="http://schemas.openxmlformats.org/drawingml/2006/main">
            <a:pPr algn="l">
              <a:buNone/>
              <a:defRPr sz="1275" b="1">
                <a:solidFill>
                  <a:srgbClr val="19713C"/>
                </a:solidFill>
                <a:latin typeface="Arial"/>
                <a:ea typeface="Arial"/>
                <a:cs typeface="Arial"/>
              </a:defRPr>
            </a:pPr>
            <a:r>
              <a:rPr sz="1275" b="1">
                <a:solidFill>
                  <a:srgbClr val="19713C"/>
                </a:solidFill>
                <a:latin typeface="Arial"/>
                <a:ea typeface="Arial"/>
                <a:cs typeface="Arial"/>
              </a:rPr>
              <a:t>Yes</a:t>
            </a:r>
          </a:p>
        </p:txBody>
      </p:sp>
      <p:sp>
        <p:nvSpPr>
          <p:cNvPr id="33" name="">
            <a:extLst xmlns:a="http://schemas.openxmlformats.org/drawingml/2006/main">
              <a:ext uri="{FF2B5EF4-FFF2-40B4-BE49-F238E27FC236}">
                <a16:creationId xmlns:a16="http://schemas.microsoft.com/office/drawing/2014/main" id="{5575F813-C153-41DA-9D0C-3EE8938EA2F3}"/>
              </a:ext>
            </a:extLst>
          </p:cNvPr>
          <p:cNvSpPr>
            <a:spLocks xmlns:a="http://schemas.openxmlformats.org/drawingml/2006/main" noGrp="1"/>
          </p:cNvSpPr>
          <p:nvPr/>
        </p:nvSpPr>
        <p:spPr>
          <a:xfrm xmlns:a="http://schemas.openxmlformats.org/drawingml/2006/main">
            <a:off x="4238625" y="2238375"/>
            <a:ext cx="1571625" cy="419100"/>
          </a:xfrm>
          <a:prstGeom xmlns:a="http://schemas.openxmlformats.org/drawingml/2006/main" prst="rect">
            <a:avLst/>
          </a:prstGeom>
          <a:solidFill xmlns:a="http://schemas.openxmlformats.org/drawingml/2006/main">
            <a:srgbClr val="FFFFFF"/>
          </a:solidFill>
          <a:ln xmlns:a="http://schemas.openxmlformats.org/drawingml/2006/main" w="13335">
            <a:solidFill>
              <a:srgbClr val="9D5B00"/>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Reject / roll back</a:t>
            </a:r>
          </a:p>
        </p:txBody>
      </p:sp>
      <p:sp>
        <p:nvSpPr>
          <p:cNvPr id="35" name="">
            <a:extLst xmlns:a="http://schemas.openxmlformats.org/drawingml/2006/main">
              <a:ext uri="{FF2B5EF4-FFF2-40B4-BE49-F238E27FC236}">
                <a16:creationId xmlns:a16="http://schemas.microsoft.com/office/drawing/2014/main" id="{584F1852-9958-4353-BAF5-4A15C23E445E}"/>
              </a:ext>
            </a:extLst>
          </p:cNvPr>
          <p:cNvSpPr>
            <a:spLocks xmlns:a="http://schemas.openxmlformats.org/drawingml/2006/main" noGrp="1"/>
          </p:cNvSpPr>
          <p:nvPr/>
        </p:nvSpPr>
        <p:spPr>
          <a:xfrm xmlns:a="http://schemas.openxmlformats.org/drawingml/2006/main">
            <a:off x="5124450" y="2000250"/>
            <a:ext cx="428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9D5B00"/>
                </a:solidFill>
                <a:latin typeface="Arial"/>
                <a:ea typeface="Arial"/>
                <a:cs typeface="Arial"/>
              </a:defRPr>
            </a:defPPr>
            <a:lvl1pPr algn="l">
              <a:buNone/>
              <a:defRPr sz="1200" b="1">
                <a:solidFill>
                  <a:srgbClr val="9D5B00"/>
                </a:solidFill>
                <a:latin typeface="Arial"/>
                <a:ea typeface="Arial"/>
                <a:cs typeface="Arial"/>
              </a:defRPr>
            </a:lvl1pPr>
            <a:lvl2pPr algn="l">
              <a:buNone/>
              <a:defRPr sz="1200" b="1">
                <a:solidFill>
                  <a:srgbClr val="9D5B00"/>
                </a:solidFill>
                <a:latin typeface="Arial"/>
                <a:ea typeface="Arial"/>
                <a:cs typeface="Arial"/>
              </a:defRPr>
            </a:lvl2pPr>
            <a:lvl3pPr algn="l">
              <a:buNone/>
              <a:defRPr sz="1200" b="1">
                <a:solidFill>
                  <a:srgbClr val="9D5B00"/>
                </a:solidFill>
                <a:latin typeface="Arial"/>
                <a:ea typeface="Arial"/>
                <a:cs typeface="Arial"/>
              </a:defRPr>
            </a:lvl3pPr>
            <a:lvl4pPr algn="l">
              <a:buNone/>
              <a:defRPr sz="1200" b="1">
                <a:solidFill>
                  <a:srgbClr val="9D5B00"/>
                </a:solidFill>
                <a:latin typeface="Arial"/>
                <a:ea typeface="Arial"/>
                <a:cs typeface="Arial"/>
              </a:defRPr>
            </a:lvl4pPr>
            <a:lvl5pPr algn="l">
              <a:buNone/>
              <a:defRPr sz="1200" b="1">
                <a:solidFill>
                  <a:srgbClr val="9D5B00"/>
                </a:solidFill>
                <a:latin typeface="Arial"/>
                <a:ea typeface="Arial"/>
                <a:cs typeface="Arial"/>
              </a:defRPr>
            </a:lvl5pPr>
            <a:lvl6pPr algn="l">
              <a:buNone/>
              <a:defRPr sz="1200" b="1">
                <a:solidFill>
                  <a:srgbClr val="9D5B00"/>
                </a:solidFill>
                <a:latin typeface="Arial"/>
                <a:ea typeface="Arial"/>
                <a:cs typeface="Arial"/>
              </a:defRPr>
            </a:lvl6pPr>
            <a:lvl7pPr algn="l">
              <a:buNone/>
              <a:defRPr sz="1200" b="1">
                <a:solidFill>
                  <a:srgbClr val="9D5B00"/>
                </a:solidFill>
                <a:latin typeface="Arial"/>
                <a:ea typeface="Arial"/>
                <a:cs typeface="Arial"/>
              </a:defRPr>
            </a:lvl7pPr>
            <a:lvl8pPr algn="l">
              <a:buNone/>
              <a:defRPr sz="1200" b="1">
                <a:solidFill>
                  <a:srgbClr val="9D5B00"/>
                </a:solidFill>
                <a:latin typeface="Arial"/>
                <a:ea typeface="Arial"/>
                <a:cs typeface="Arial"/>
              </a:defRPr>
            </a:lvl8pPr>
            <a:lvl9pPr algn="l">
              <a:buNone/>
              <a:defRPr sz="1200" b="1">
                <a:solidFill>
                  <a:srgbClr val="9D5B00"/>
                </a:solidFill>
                <a:latin typeface="Arial"/>
                <a:ea typeface="Arial"/>
                <a:cs typeface="Arial"/>
              </a:defRPr>
            </a:lvl9pPr>
          </a:lstStyle>
          <a:p xmlns:a="http://schemas.openxmlformats.org/drawingml/2006/main">
            <a:pPr algn="l">
              <a:buNone/>
              <a:defRPr sz="1200" b="1">
                <a:solidFill>
                  <a:srgbClr val="9D5B00"/>
                </a:solidFill>
                <a:latin typeface="Arial"/>
                <a:ea typeface="Arial"/>
                <a:cs typeface="Arial"/>
              </a:defRPr>
            </a:pPr>
            <a:r>
              <a:rPr sz="1200" b="1">
                <a:solidFill>
                  <a:srgbClr val="9D5B00"/>
                </a:solidFill>
                <a:latin typeface="Arial"/>
                <a:ea typeface="Arial"/>
                <a:cs typeface="Arial"/>
              </a:rPr>
              <a:t>No</a:t>
            </a:r>
          </a:p>
        </p:txBody>
      </p:sp>
      <p:sp>
        <p:nvSpPr>
          <p:cNvPr id="36" name="">
            <a:extLst xmlns:a="http://schemas.openxmlformats.org/drawingml/2006/main">
              <a:ext uri="{FF2B5EF4-FFF2-40B4-BE49-F238E27FC236}">
                <a16:creationId xmlns:a16="http://schemas.microsoft.com/office/drawing/2014/main" id="{1030B910-4395-4E67-A538-F6EF9927BE7A}"/>
              </a:ext>
            </a:extLst>
          </p:cNvPr>
          <p:cNvSpPr>
            <a:spLocks xmlns:a="http://schemas.openxmlformats.org/drawingml/2006/main" noGrp="1"/>
          </p:cNvSpPr>
          <p:nvPr/>
        </p:nvSpPr>
        <p:spPr>
          <a:xfrm xmlns:a="http://schemas.openxmlformats.org/drawingml/2006/main">
            <a:off x="533400" y="2781300"/>
            <a:ext cx="807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C61"/>
                </a:solidFill>
                <a:latin typeface="Raleway"/>
                <a:ea typeface="Raleway"/>
                <a:cs typeface="Raleway"/>
              </a:defRPr>
            </a:defPPr>
            <a:lvl1pPr algn="l">
              <a:buNone/>
              <a:defRPr sz="1725" b="1">
                <a:solidFill>
                  <a:srgbClr val="202C61"/>
                </a:solidFill>
                <a:latin typeface="Raleway"/>
                <a:ea typeface="Raleway"/>
                <a:cs typeface="Raleway"/>
              </a:defRPr>
            </a:lvl1pPr>
            <a:lvl2pPr algn="l">
              <a:buNone/>
              <a:defRPr sz="1725" b="1">
                <a:solidFill>
                  <a:srgbClr val="202C61"/>
                </a:solidFill>
                <a:latin typeface="Raleway"/>
                <a:ea typeface="Raleway"/>
                <a:cs typeface="Raleway"/>
              </a:defRPr>
            </a:lvl2pPr>
            <a:lvl3pPr algn="l">
              <a:buNone/>
              <a:defRPr sz="1725" b="1">
                <a:solidFill>
                  <a:srgbClr val="202C61"/>
                </a:solidFill>
                <a:latin typeface="Raleway"/>
                <a:ea typeface="Raleway"/>
                <a:cs typeface="Raleway"/>
              </a:defRPr>
            </a:lvl3pPr>
            <a:lvl4pPr algn="l">
              <a:buNone/>
              <a:defRPr sz="1725" b="1">
                <a:solidFill>
                  <a:srgbClr val="202C61"/>
                </a:solidFill>
                <a:latin typeface="Raleway"/>
                <a:ea typeface="Raleway"/>
                <a:cs typeface="Raleway"/>
              </a:defRPr>
            </a:lvl4pPr>
            <a:lvl5pPr algn="l">
              <a:buNone/>
              <a:defRPr sz="1725" b="1">
                <a:solidFill>
                  <a:srgbClr val="202C61"/>
                </a:solidFill>
                <a:latin typeface="Raleway"/>
                <a:ea typeface="Raleway"/>
                <a:cs typeface="Raleway"/>
              </a:defRPr>
            </a:lvl5pPr>
            <a:lvl6pPr algn="l">
              <a:buNone/>
              <a:defRPr sz="1725" b="1">
                <a:solidFill>
                  <a:srgbClr val="202C61"/>
                </a:solidFill>
                <a:latin typeface="Raleway"/>
                <a:ea typeface="Raleway"/>
                <a:cs typeface="Raleway"/>
              </a:defRPr>
            </a:lvl6pPr>
            <a:lvl7pPr algn="l">
              <a:buNone/>
              <a:defRPr sz="1725" b="1">
                <a:solidFill>
                  <a:srgbClr val="202C61"/>
                </a:solidFill>
                <a:latin typeface="Raleway"/>
                <a:ea typeface="Raleway"/>
                <a:cs typeface="Raleway"/>
              </a:defRPr>
            </a:lvl7pPr>
            <a:lvl8pPr algn="l">
              <a:buNone/>
              <a:defRPr sz="1725" b="1">
                <a:solidFill>
                  <a:srgbClr val="202C61"/>
                </a:solidFill>
                <a:latin typeface="Raleway"/>
                <a:ea typeface="Raleway"/>
                <a:cs typeface="Raleway"/>
              </a:defRPr>
            </a:lvl8pPr>
            <a:lvl9pPr algn="l">
              <a:buNone/>
              <a:defRPr sz="1725" b="1">
                <a:solidFill>
                  <a:srgbClr val="202C61"/>
                </a:solidFill>
                <a:latin typeface="Raleway"/>
                <a:ea typeface="Raleway"/>
                <a:cs typeface="Raleway"/>
              </a:defRPr>
            </a:lvl9pPr>
          </a:lstStyle>
          <a:p xmlns:a="http://schemas.openxmlformats.org/drawingml/2006/main">
            <a:pPr algn="l">
              <a:buNone/>
              <a:defRPr sz="1725" b="1">
                <a:solidFill>
                  <a:srgbClr val="202C61"/>
                </a:solidFill>
                <a:latin typeface="Raleway"/>
                <a:ea typeface="Raleway"/>
                <a:cs typeface="Raleway"/>
              </a:defRPr>
            </a:pPr>
            <a:r>
              <a:rPr sz="1725" b="1">
                <a:solidFill>
                  <a:srgbClr val="202C61"/>
                </a:solidFill>
                <a:latin typeface="Raleway"/>
                <a:ea typeface="Raleway"/>
                <a:cs typeface="Raleway"/>
              </a:rPr>
              <a:t>Illustrative bulk sale: 2 packs of 6 consume 12 base units</a:t>
            </a:r>
          </a:p>
        </p:txBody>
      </p:sp>
      <p:sp>
        <p:nvSpPr>
          <p:cNvPr id="37" name="">
            <a:extLst xmlns:a="http://schemas.openxmlformats.org/drawingml/2006/main">
              <a:ext uri="{FF2B5EF4-FFF2-40B4-BE49-F238E27FC236}">
                <a16:creationId xmlns:a16="http://schemas.microsoft.com/office/drawing/2014/main" id="{C18D60CF-761A-479B-9C82-9C6659AE65BA}"/>
              </a:ext>
            </a:extLst>
          </p:cNvPr>
          <p:cNvSpPr>
            <a:spLocks xmlns:a="http://schemas.openxmlformats.org/drawingml/2006/main" noGrp="1"/>
          </p:cNvSpPr>
          <p:nvPr/>
        </p:nvSpPr>
        <p:spPr>
          <a:xfrm xmlns:a="http://schemas.openxmlformats.org/drawingml/2006/main">
            <a:off x="533400"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Before: 24 pieces</a:t>
            </a:r>
          </a:p>
        </p:txBody>
      </p:sp>
      <p:sp>
        <p:nvSpPr>
          <p:cNvPr id="38" name="">
            <a:extLst xmlns:a="http://schemas.openxmlformats.org/drawingml/2006/main">
              <a:ext uri="{FF2B5EF4-FFF2-40B4-BE49-F238E27FC236}">
                <a16:creationId xmlns:a16="http://schemas.microsoft.com/office/drawing/2014/main" id="{C7DD83B6-F9FE-4D79-B887-A8E53A37791C}"/>
              </a:ext>
            </a:extLst>
          </p:cNvPr>
          <p:cNvSpPr>
            <a:spLocks xmlns:a="http://schemas.openxmlformats.org/drawingml/2006/main" noGrp="1"/>
          </p:cNvSpPr>
          <p:nvPr/>
        </p:nvSpPr>
        <p:spPr>
          <a:xfrm xmlns:a="http://schemas.openxmlformats.org/drawingml/2006/main">
            <a:off x="5334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39" name="">
            <a:extLst xmlns:a="http://schemas.openxmlformats.org/drawingml/2006/main">
              <a:ext uri="{FF2B5EF4-FFF2-40B4-BE49-F238E27FC236}">
                <a16:creationId xmlns:a16="http://schemas.microsoft.com/office/drawing/2014/main" id="{231E7E37-51A5-4635-9FF5-0814EE1BC41B}"/>
              </a:ext>
            </a:extLst>
          </p:cNvPr>
          <p:cNvSpPr>
            <a:spLocks xmlns:a="http://schemas.openxmlformats.org/drawingml/2006/main" noGrp="1"/>
          </p:cNvSpPr>
          <p:nvPr/>
        </p:nvSpPr>
        <p:spPr>
          <a:xfrm xmlns:a="http://schemas.openxmlformats.org/drawingml/2006/main">
            <a:off x="8191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0" name="">
            <a:extLst xmlns:a="http://schemas.openxmlformats.org/drawingml/2006/main">
              <a:ext uri="{FF2B5EF4-FFF2-40B4-BE49-F238E27FC236}">
                <a16:creationId xmlns:a16="http://schemas.microsoft.com/office/drawing/2014/main" id="{0AC98CC5-6428-4F27-934F-1A1032CD8805}"/>
              </a:ext>
            </a:extLst>
          </p:cNvPr>
          <p:cNvSpPr>
            <a:spLocks xmlns:a="http://schemas.openxmlformats.org/drawingml/2006/main" noGrp="1"/>
          </p:cNvSpPr>
          <p:nvPr/>
        </p:nvSpPr>
        <p:spPr>
          <a:xfrm xmlns:a="http://schemas.openxmlformats.org/drawingml/2006/main">
            <a:off x="11049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1" name="">
            <a:extLst xmlns:a="http://schemas.openxmlformats.org/drawingml/2006/main">
              <a:ext uri="{FF2B5EF4-FFF2-40B4-BE49-F238E27FC236}">
                <a16:creationId xmlns:a16="http://schemas.microsoft.com/office/drawing/2014/main" id="{0BBF30AB-1113-49A4-9EE2-7E5DF0A4892F}"/>
              </a:ext>
            </a:extLst>
          </p:cNvPr>
          <p:cNvSpPr>
            <a:spLocks xmlns:a="http://schemas.openxmlformats.org/drawingml/2006/main" noGrp="1"/>
          </p:cNvSpPr>
          <p:nvPr/>
        </p:nvSpPr>
        <p:spPr>
          <a:xfrm xmlns:a="http://schemas.openxmlformats.org/drawingml/2006/main">
            <a:off x="13906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2" name="">
            <a:extLst xmlns:a="http://schemas.openxmlformats.org/drawingml/2006/main">
              <a:ext uri="{FF2B5EF4-FFF2-40B4-BE49-F238E27FC236}">
                <a16:creationId xmlns:a16="http://schemas.microsoft.com/office/drawing/2014/main" id="{323D7ABF-5A7B-44D8-8A7D-00C49D7AA131}"/>
              </a:ext>
            </a:extLst>
          </p:cNvPr>
          <p:cNvSpPr>
            <a:spLocks xmlns:a="http://schemas.openxmlformats.org/drawingml/2006/main" noGrp="1"/>
          </p:cNvSpPr>
          <p:nvPr/>
        </p:nvSpPr>
        <p:spPr>
          <a:xfrm xmlns:a="http://schemas.openxmlformats.org/drawingml/2006/main">
            <a:off x="16764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3" name="">
            <a:extLst xmlns:a="http://schemas.openxmlformats.org/drawingml/2006/main">
              <a:ext uri="{FF2B5EF4-FFF2-40B4-BE49-F238E27FC236}">
                <a16:creationId xmlns:a16="http://schemas.microsoft.com/office/drawing/2014/main" id="{701A24E8-F835-4972-9C87-C8AA683199B6}"/>
              </a:ext>
            </a:extLst>
          </p:cNvPr>
          <p:cNvSpPr>
            <a:spLocks xmlns:a="http://schemas.openxmlformats.org/drawingml/2006/main" noGrp="1"/>
          </p:cNvSpPr>
          <p:nvPr/>
        </p:nvSpPr>
        <p:spPr>
          <a:xfrm xmlns:a="http://schemas.openxmlformats.org/drawingml/2006/main">
            <a:off x="19621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4" name="">
            <a:extLst xmlns:a="http://schemas.openxmlformats.org/drawingml/2006/main">
              <a:ext uri="{FF2B5EF4-FFF2-40B4-BE49-F238E27FC236}">
                <a16:creationId xmlns:a16="http://schemas.microsoft.com/office/drawing/2014/main" id="{B01727CC-9E9F-43F6-ADEA-B64C84BC59C5}"/>
              </a:ext>
            </a:extLst>
          </p:cNvPr>
          <p:cNvSpPr>
            <a:spLocks xmlns:a="http://schemas.openxmlformats.org/drawingml/2006/main" noGrp="1"/>
          </p:cNvSpPr>
          <p:nvPr/>
        </p:nvSpPr>
        <p:spPr>
          <a:xfrm xmlns:a="http://schemas.openxmlformats.org/drawingml/2006/main">
            <a:off x="5334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5" name="">
            <a:extLst xmlns:a="http://schemas.openxmlformats.org/drawingml/2006/main">
              <a:ext uri="{FF2B5EF4-FFF2-40B4-BE49-F238E27FC236}">
                <a16:creationId xmlns:a16="http://schemas.microsoft.com/office/drawing/2014/main" id="{0E0A02D1-E068-48D4-ACD1-F6D0F9B954E1}"/>
              </a:ext>
            </a:extLst>
          </p:cNvPr>
          <p:cNvSpPr>
            <a:spLocks xmlns:a="http://schemas.openxmlformats.org/drawingml/2006/main" noGrp="1"/>
          </p:cNvSpPr>
          <p:nvPr/>
        </p:nvSpPr>
        <p:spPr>
          <a:xfrm xmlns:a="http://schemas.openxmlformats.org/drawingml/2006/main">
            <a:off x="8191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6" name="">
            <a:extLst xmlns:a="http://schemas.openxmlformats.org/drawingml/2006/main">
              <a:ext uri="{FF2B5EF4-FFF2-40B4-BE49-F238E27FC236}">
                <a16:creationId xmlns:a16="http://schemas.microsoft.com/office/drawing/2014/main" id="{9B43D853-66FB-4FBB-8F0C-FEB5BF548371}"/>
              </a:ext>
            </a:extLst>
          </p:cNvPr>
          <p:cNvSpPr>
            <a:spLocks xmlns:a="http://schemas.openxmlformats.org/drawingml/2006/main" noGrp="1"/>
          </p:cNvSpPr>
          <p:nvPr/>
        </p:nvSpPr>
        <p:spPr>
          <a:xfrm xmlns:a="http://schemas.openxmlformats.org/drawingml/2006/main">
            <a:off x="11049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7" name="">
            <a:extLst xmlns:a="http://schemas.openxmlformats.org/drawingml/2006/main">
              <a:ext uri="{FF2B5EF4-FFF2-40B4-BE49-F238E27FC236}">
                <a16:creationId xmlns:a16="http://schemas.microsoft.com/office/drawing/2014/main" id="{BC2394C3-BA4C-4D72-B461-3EA8A566CF4A}"/>
              </a:ext>
            </a:extLst>
          </p:cNvPr>
          <p:cNvSpPr>
            <a:spLocks xmlns:a="http://schemas.openxmlformats.org/drawingml/2006/main" noGrp="1"/>
          </p:cNvSpPr>
          <p:nvPr/>
        </p:nvSpPr>
        <p:spPr>
          <a:xfrm xmlns:a="http://schemas.openxmlformats.org/drawingml/2006/main">
            <a:off x="13906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8" name="">
            <a:extLst xmlns:a="http://schemas.openxmlformats.org/drawingml/2006/main">
              <a:ext uri="{FF2B5EF4-FFF2-40B4-BE49-F238E27FC236}">
                <a16:creationId xmlns:a16="http://schemas.microsoft.com/office/drawing/2014/main" id="{0B92BE9E-389F-4E6D-902E-6CD1812AAB6D}"/>
              </a:ext>
            </a:extLst>
          </p:cNvPr>
          <p:cNvSpPr>
            <a:spLocks xmlns:a="http://schemas.openxmlformats.org/drawingml/2006/main" noGrp="1"/>
          </p:cNvSpPr>
          <p:nvPr/>
        </p:nvSpPr>
        <p:spPr>
          <a:xfrm xmlns:a="http://schemas.openxmlformats.org/drawingml/2006/main">
            <a:off x="16764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9" name="">
            <a:extLst xmlns:a="http://schemas.openxmlformats.org/drawingml/2006/main">
              <a:ext uri="{FF2B5EF4-FFF2-40B4-BE49-F238E27FC236}">
                <a16:creationId xmlns:a16="http://schemas.microsoft.com/office/drawing/2014/main" id="{CABC5B74-7159-4DD5-9497-53429916CEDE}"/>
              </a:ext>
            </a:extLst>
          </p:cNvPr>
          <p:cNvSpPr>
            <a:spLocks xmlns:a="http://schemas.openxmlformats.org/drawingml/2006/main" noGrp="1"/>
          </p:cNvSpPr>
          <p:nvPr/>
        </p:nvSpPr>
        <p:spPr>
          <a:xfrm xmlns:a="http://schemas.openxmlformats.org/drawingml/2006/main">
            <a:off x="19621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0" name="">
            <a:extLst xmlns:a="http://schemas.openxmlformats.org/drawingml/2006/main">
              <a:ext uri="{FF2B5EF4-FFF2-40B4-BE49-F238E27FC236}">
                <a16:creationId xmlns:a16="http://schemas.microsoft.com/office/drawing/2014/main" id="{4237FC8A-3869-4EDC-8956-C4EA93AE548B}"/>
              </a:ext>
            </a:extLst>
          </p:cNvPr>
          <p:cNvSpPr>
            <a:spLocks xmlns:a="http://schemas.openxmlformats.org/drawingml/2006/main" noGrp="1"/>
          </p:cNvSpPr>
          <p:nvPr/>
        </p:nvSpPr>
        <p:spPr>
          <a:xfrm xmlns:a="http://schemas.openxmlformats.org/drawingml/2006/main">
            <a:off x="5334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1" name="">
            <a:extLst xmlns:a="http://schemas.openxmlformats.org/drawingml/2006/main">
              <a:ext uri="{FF2B5EF4-FFF2-40B4-BE49-F238E27FC236}">
                <a16:creationId xmlns:a16="http://schemas.microsoft.com/office/drawing/2014/main" id="{B3ED0E5A-B9CB-418C-8FDA-E1F146D39982}"/>
              </a:ext>
            </a:extLst>
          </p:cNvPr>
          <p:cNvSpPr>
            <a:spLocks xmlns:a="http://schemas.openxmlformats.org/drawingml/2006/main" noGrp="1"/>
          </p:cNvSpPr>
          <p:nvPr/>
        </p:nvSpPr>
        <p:spPr>
          <a:xfrm xmlns:a="http://schemas.openxmlformats.org/drawingml/2006/main">
            <a:off x="8191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2" name="">
            <a:extLst xmlns:a="http://schemas.openxmlformats.org/drawingml/2006/main">
              <a:ext uri="{FF2B5EF4-FFF2-40B4-BE49-F238E27FC236}">
                <a16:creationId xmlns:a16="http://schemas.microsoft.com/office/drawing/2014/main" id="{D2643A3B-38D1-40A0-970F-4DA9F8872CA0}"/>
              </a:ext>
            </a:extLst>
          </p:cNvPr>
          <p:cNvSpPr>
            <a:spLocks xmlns:a="http://schemas.openxmlformats.org/drawingml/2006/main" noGrp="1"/>
          </p:cNvSpPr>
          <p:nvPr/>
        </p:nvSpPr>
        <p:spPr>
          <a:xfrm xmlns:a="http://schemas.openxmlformats.org/drawingml/2006/main">
            <a:off x="11049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3" name="">
            <a:extLst xmlns:a="http://schemas.openxmlformats.org/drawingml/2006/main">
              <a:ext uri="{FF2B5EF4-FFF2-40B4-BE49-F238E27FC236}">
                <a16:creationId xmlns:a16="http://schemas.microsoft.com/office/drawing/2014/main" id="{E2846396-A361-427E-8139-6F6F7CF591B0}"/>
              </a:ext>
            </a:extLst>
          </p:cNvPr>
          <p:cNvSpPr>
            <a:spLocks xmlns:a="http://schemas.openxmlformats.org/drawingml/2006/main" noGrp="1"/>
          </p:cNvSpPr>
          <p:nvPr/>
        </p:nvSpPr>
        <p:spPr>
          <a:xfrm xmlns:a="http://schemas.openxmlformats.org/drawingml/2006/main">
            <a:off x="13906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4" name="">
            <a:extLst xmlns:a="http://schemas.openxmlformats.org/drawingml/2006/main">
              <a:ext uri="{FF2B5EF4-FFF2-40B4-BE49-F238E27FC236}">
                <a16:creationId xmlns:a16="http://schemas.microsoft.com/office/drawing/2014/main" id="{F9AB6798-86AB-432A-99AD-F251333C4FBA}"/>
              </a:ext>
            </a:extLst>
          </p:cNvPr>
          <p:cNvSpPr>
            <a:spLocks xmlns:a="http://schemas.openxmlformats.org/drawingml/2006/main" noGrp="1"/>
          </p:cNvSpPr>
          <p:nvPr/>
        </p:nvSpPr>
        <p:spPr>
          <a:xfrm xmlns:a="http://schemas.openxmlformats.org/drawingml/2006/main">
            <a:off x="16764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5" name="">
            <a:extLst xmlns:a="http://schemas.openxmlformats.org/drawingml/2006/main">
              <a:ext uri="{FF2B5EF4-FFF2-40B4-BE49-F238E27FC236}">
                <a16:creationId xmlns:a16="http://schemas.microsoft.com/office/drawing/2014/main" id="{D215A3CF-97FE-45A9-BF14-5B929DC184D1}"/>
              </a:ext>
            </a:extLst>
          </p:cNvPr>
          <p:cNvSpPr>
            <a:spLocks xmlns:a="http://schemas.openxmlformats.org/drawingml/2006/main" noGrp="1"/>
          </p:cNvSpPr>
          <p:nvPr/>
        </p:nvSpPr>
        <p:spPr>
          <a:xfrm xmlns:a="http://schemas.openxmlformats.org/drawingml/2006/main">
            <a:off x="19621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6" name="">
            <a:extLst xmlns:a="http://schemas.openxmlformats.org/drawingml/2006/main">
              <a:ext uri="{FF2B5EF4-FFF2-40B4-BE49-F238E27FC236}">
                <a16:creationId xmlns:a16="http://schemas.microsoft.com/office/drawing/2014/main" id="{EFB7A7AA-E8A8-43B6-9CA0-8B19850F4E76}"/>
              </a:ext>
            </a:extLst>
          </p:cNvPr>
          <p:cNvSpPr>
            <a:spLocks xmlns:a="http://schemas.openxmlformats.org/drawingml/2006/main" noGrp="1"/>
          </p:cNvSpPr>
          <p:nvPr/>
        </p:nvSpPr>
        <p:spPr>
          <a:xfrm xmlns:a="http://schemas.openxmlformats.org/drawingml/2006/main">
            <a:off x="5334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7" name="">
            <a:extLst xmlns:a="http://schemas.openxmlformats.org/drawingml/2006/main">
              <a:ext uri="{FF2B5EF4-FFF2-40B4-BE49-F238E27FC236}">
                <a16:creationId xmlns:a16="http://schemas.microsoft.com/office/drawing/2014/main" id="{0E6D79CC-1882-4ED7-B972-2F79284E5F31}"/>
              </a:ext>
            </a:extLst>
          </p:cNvPr>
          <p:cNvSpPr>
            <a:spLocks xmlns:a="http://schemas.openxmlformats.org/drawingml/2006/main" noGrp="1"/>
          </p:cNvSpPr>
          <p:nvPr/>
        </p:nvSpPr>
        <p:spPr>
          <a:xfrm xmlns:a="http://schemas.openxmlformats.org/drawingml/2006/main">
            <a:off x="8191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8" name="">
            <a:extLst xmlns:a="http://schemas.openxmlformats.org/drawingml/2006/main">
              <a:ext uri="{FF2B5EF4-FFF2-40B4-BE49-F238E27FC236}">
                <a16:creationId xmlns:a16="http://schemas.microsoft.com/office/drawing/2014/main" id="{3CF3119F-F491-44E2-B687-F951179F6EE4}"/>
              </a:ext>
            </a:extLst>
          </p:cNvPr>
          <p:cNvSpPr>
            <a:spLocks xmlns:a="http://schemas.openxmlformats.org/drawingml/2006/main" noGrp="1"/>
          </p:cNvSpPr>
          <p:nvPr/>
        </p:nvSpPr>
        <p:spPr>
          <a:xfrm xmlns:a="http://schemas.openxmlformats.org/drawingml/2006/main">
            <a:off x="11049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9" name="">
            <a:extLst xmlns:a="http://schemas.openxmlformats.org/drawingml/2006/main">
              <a:ext uri="{FF2B5EF4-FFF2-40B4-BE49-F238E27FC236}">
                <a16:creationId xmlns:a16="http://schemas.microsoft.com/office/drawing/2014/main" id="{679697BF-9734-4941-B941-AD286F10CEAA}"/>
              </a:ext>
            </a:extLst>
          </p:cNvPr>
          <p:cNvSpPr>
            <a:spLocks xmlns:a="http://schemas.openxmlformats.org/drawingml/2006/main" noGrp="1"/>
          </p:cNvSpPr>
          <p:nvPr/>
        </p:nvSpPr>
        <p:spPr>
          <a:xfrm xmlns:a="http://schemas.openxmlformats.org/drawingml/2006/main">
            <a:off x="13906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0" name="">
            <a:extLst xmlns:a="http://schemas.openxmlformats.org/drawingml/2006/main">
              <a:ext uri="{FF2B5EF4-FFF2-40B4-BE49-F238E27FC236}">
                <a16:creationId xmlns:a16="http://schemas.microsoft.com/office/drawing/2014/main" id="{478D8433-ED17-4753-BF5F-216314E27ECB}"/>
              </a:ext>
            </a:extLst>
          </p:cNvPr>
          <p:cNvSpPr>
            <a:spLocks xmlns:a="http://schemas.openxmlformats.org/drawingml/2006/main" noGrp="1"/>
          </p:cNvSpPr>
          <p:nvPr/>
        </p:nvSpPr>
        <p:spPr>
          <a:xfrm xmlns:a="http://schemas.openxmlformats.org/drawingml/2006/main">
            <a:off x="16764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1" name="">
            <a:extLst xmlns:a="http://schemas.openxmlformats.org/drawingml/2006/main">
              <a:ext uri="{FF2B5EF4-FFF2-40B4-BE49-F238E27FC236}">
                <a16:creationId xmlns:a16="http://schemas.microsoft.com/office/drawing/2014/main" id="{6AC4543E-2D69-4F81-9BFF-90FB4A82EFBC}"/>
              </a:ext>
            </a:extLst>
          </p:cNvPr>
          <p:cNvSpPr>
            <a:spLocks xmlns:a="http://schemas.openxmlformats.org/drawingml/2006/main" noGrp="1"/>
          </p:cNvSpPr>
          <p:nvPr/>
        </p:nvSpPr>
        <p:spPr>
          <a:xfrm xmlns:a="http://schemas.openxmlformats.org/drawingml/2006/main">
            <a:off x="19621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2" name="">
            <a:extLst xmlns:a="http://schemas.openxmlformats.org/drawingml/2006/main">
              <a:ext uri="{FF2B5EF4-FFF2-40B4-BE49-F238E27FC236}">
                <a16:creationId xmlns:a16="http://schemas.microsoft.com/office/drawing/2014/main" id="{F58C6064-94EF-4243-8D97-3491AF8EDD61}"/>
              </a:ext>
            </a:extLst>
          </p:cNvPr>
          <p:cNvSpPr>
            <a:spLocks xmlns:a="http://schemas.openxmlformats.org/drawingml/2006/main" noGrp="1"/>
          </p:cNvSpPr>
          <p:nvPr/>
        </p:nvSpPr>
        <p:spPr>
          <a:xfrm xmlns:a="http://schemas.openxmlformats.org/drawingml/2006/main">
            <a:off x="3476625"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9D5B00"/>
                </a:solidFill>
                <a:latin typeface="Arial"/>
                <a:ea typeface="Arial"/>
                <a:cs typeface="Arial"/>
              </a:defRPr>
            </a:defPPr>
            <a:lvl1pPr algn="l">
              <a:buNone/>
              <a:defRPr sz="1650" b="1">
                <a:solidFill>
                  <a:srgbClr val="9D5B00"/>
                </a:solidFill>
                <a:latin typeface="Arial"/>
                <a:ea typeface="Arial"/>
                <a:cs typeface="Arial"/>
              </a:defRPr>
            </a:lvl1pPr>
            <a:lvl2pPr algn="l">
              <a:buNone/>
              <a:defRPr sz="1650" b="1">
                <a:solidFill>
                  <a:srgbClr val="9D5B00"/>
                </a:solidFill>
                <a:latin typeface="Arial"/>
                <a:ea typeface="Arial"/>
                <a:cs typeface="Arial"/>
              </a:defRPr>
            </a:lvl2pPr>
            <a:lvl3pPr algn="l">
              <a:buNone/>
              <a:defRPr sz="1650" b="1">
                <a:solidFill>
                  <a:srgbClr val="9D5B00"/>
                </a:solidFill>
                <a:latin typeface="Arial"/>
                <a:ea typeface="Arial"/>
                <a:cs typeface="Arial"/>
              </a:defRPr>
            </a:lvl3pPr>
            <a:lvl4pPr algn="l">
              <a:buNone/>
              <a:defRPr sz="1650" b="1">
                <a:solidFill>
                  <a:srgbClr val="9D5B00"/>
                </a:solidFill>
                <a:latin typeface="Arial"/>
                <a:ea typeface="Arial"/>
                <a:cs typeface="Arial"/>
              </a:defRPr>
            </a:lvl4pPr>
            <a:lvl5pPr algn="l">
              <a:buNone/>
              <a:defRPr sz="1650" b="1">
                <a:solidFill>
                  <a:srgbClr val="9D5B00"/>
                </a:solidFill>
                <a:latin typeface="Arial"/>
                <a:ea typeface="Arial"/>
                <a:cs typeface="Arial"/>
              </a:defRPr>
            </a:lvl5pPr>
            <a:lvl6pPr algn="l">
              <a:buNone/>
              <a:defRPr sz="1650" b="1">
                <a:solidFill>
                  <a:srgbClr val="9D5B00"/>
                </a:solidFill>
                <a:latin typeface="Arial"/>
                <a:ea typeface="Arial"/>
                <a:cs typeface="Arial"/>
              </a:defRPr>
            </a:lvl6pPr>
            <a:lvl7pPr algn="l">
              <a:buNone/>
              <a:defRPr sz="1650" b="1">
                <a:solidFill>
                  <a:srgbClr val="9D5B00"/>
                </a:solidFill>
                <a:latin typeface="Arial"/>
                <a:ea typeface="Arial"/>
                <a:cs typeface="Arial"/>
              </a:defRPr>
            </a:lvl7pPr>
            <a:lvl8pPr algn="l">
              <a:buNone/>
              <a:defRPr sz="1650" b="1">
                <a:solidFill>
                  <a:srgbClr val="9D5B00"/>
                </a:solidFill>
                <a:latin typeface="Arial"/>
                <a:ea typeface="Arial"/>
                <a:cs typeface="Arial"/>
              </a:defRPr>
            </a:lvl8pPr>
            <a:lvl9pPr algn="l">
              <a:buNone/>
              <a:defRPr sz="1650" b="1">
                <a:solidFill>
                  <a:srgbClr val="9D5B00"/>
                </a:solidFill>
                <a:latin typeface="Arial"/>
                <a:ea typeface="Arial"/>
                <a:cs typeface="Arial"/>
              </a:defRPr>
            </a:lvl9pPr>
          </a:lstStyle>
          <a:p xmlns:a="http://schemas.openxmlformats.org/drawingml/2006/main">
            <a:pPr algn="l">
              <a:buNone/>
              <a:defRPr sz="1650" b="1">
                <a:solidFill>
                  <a:srgbClr val="9D5B00"/>
                </a:solidFill>
                <a:latin typeface="Arial"/>
                <a:ea typeface="Arial"/>
                <a:cs typeface="Arial"/>
              </a:defRPr>
            </a:pPr>
            <a:r>
              <a:rPr sz="1650" b="1">
                <a:solidFill>
                  <a:srgbClr val="9D5B00"/>
                </a:solidFill>
                <a:latin typeface="Arial"/>
                <a:ea typeface="Arial"/>
                <a:cs typeface="Arial"/>
              </a:rPr>
              <a:t>Sold: 2 × 6 = 12</a:t>
            </a:r>
          </a:p>
        </p:txBody>
      </p:sp>
      <p:sp>
        <p:nvSpPr>
          <p:cNvPr id="63" name="">
            <a:extLst xmlns:a="http://schemas.openxmlformats.org/drawingml/2006/main">
              <a:ext uri="{FF2B5EF4-FFF2-40B4-BE49-F238E27FC236}">
                <a16:creationId xmlns:a16="http://schemas.microsoft.com/office/drawing/2014/main" id="{5557C7B6-3263-44D1-BAF3-725021481549}"/>
              </a:ext>
            </a:extLst>
          </p:cNvPr>
          <p:cNvSpPr>
            <a:spLocks xmlns:a="http://schemas.openxmlformats.org/drawingml/2006/main" noGrp="1"/>
          </p:cNvSpPr>
          <p:nvPr/>
        </p:nvSpPr>
        <p:spPr>
          <a:xfrm xmlns:a="http://schemas.openxmlformats.org/drawingml/2006/main">
            <a:off x="34766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4" name="">
            <a:extLst xmlns:a="http://schemas.openxmlformats.org/drawingml/2006/main">
              <a:ext uri="{FF2B5EF4-FFF2-40B4-BE49-F238E27FC236}">
                <a16:creationId xmlns:a16="http://schemas.microsoft.com/office/drawing/2014/main" id="{C1BF60DF-7138-4FB9-9998-4FFA2FCE05BE}"/>
              </a:ext>
            </a:extLst>
          </p:cNvPr>
          <p:cNvSpPr>
            <a:spLocks xmlns:a="http://schemas.openxmlformats.org/drawingml/2006/main" noGrp="1"/>
          </p:cNvSpPr>
          <p:nvPr/>
        </p:nvSpPr>
        <p:spPr>
          <a:xfrm xmlns:a="http://schemas.openxmlformats.org/drawingml/2006/main">
            <a:off x="37623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5" name="">
            <a:extLst xmlns:a="http://schemas.openxmlformats.org/drawingml/2006/main">
              <a:ext uri="{FF2B5EF4-FFF2-40B4-BE49-F238E27FC236}">
                <a16:creationId xmlns:a16="http://schemas.microsoft.com/office/drawing/2014/main" id="{4F864D6B-E4C8-4BE3-9A49-CB8BC8C0DFAC}"/>
              </a:ext>
            </a:extLst>
          </p:cNvPr>
          <p:cNvSpPr>
            <a:spLocks xmlns:a="http://schemas.openxmlformats.org/drawingml/2006/main" noGrp="1"/>
          </p:cNvSpPr>
          <p:nvPr/>
        </p:nvSpPr>
        <p:spPr>
          <a:xfrm xmlns:a="http://schemas.openxmlformats.org/drawingml/2006/main">
            <a:off x="40481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6" name="">
            <a:extLst xmlns:a="http://schemas.openxmlformats.org/drawingml/2006/main">
              <a:ext uri="{FF2B5EF4-FFF2-40B4-BE49-F238E27FC236}">
                <a16:creationId xmlns:a16="http://schemas.microsoft.com/office/drawing/2014/main" id="{F2ECC745-2F4E-4FCC-BAC3-3FA7BC52E04F}"/>
              </a:ext>
            </a:extLst>
          </p:cNvPr>
          <p:cNvSpPr>
            <a:spLocks xmlns:a="http://schemas.openxmlformats.org/drawingml/2006/main" noGrp="1"/>
          </p:cNvSpPr>
          <p:nvPr/>
        </p:nvSpPr>
        <p:spPr>
          <a:xfrm xmlns:a="http://schemas.openxmlformats.org/drawingml/2006/main">
            <a:off x="43338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7" name="">
            <a:extLst xmlns:a="http://schemas.openxmlformats.org/drawingml/2006/main">
              <a:ext uri="{FF2B5EF4-FFF2-40B4-BE49-F238E27FC236}">
                <a16:creationId xmlns:a16="http://schemas.microsoft.com/office/drawing/2014/main" id="{A08262E7-68F8-4972-8023-90E23DFB7E83}"/>
              </a:ext>
            </a:extLst>
          </p:cNvPr>
          <p:cNvSpPr>
            <a:spLocks xmlns:a="http://schemas.openxmlformats.org/drawingml/2006/main" noGrp="1"/>
          </p:cNvSpPr>
          <p:nvPr/>
        </p:nvSpPr>
        <p:spPr>
          <a:xfrm xmlns:a="http://schemas.openxmlformats.org/drawingml/2006/main">
            <a:off x="46196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8" name="">
            <a:extLst xmlns:a="http://schemas.openxmlformats.org/drawingml/2006/main">
              <a:ext uri="{FF2B5EF4-FFF2-40B4-BE49-F238E27FC236}">
                <a16:creationId xmlns:a16="http://schemas.microsoft.com/office/drawing/2014/main" id="{F9293DD0-02BB-4F99-AF22-37F634B5001C}"/>
              </a:ext>
            </a:extLst>
          </p:cNvPr>
          <p:cNvSpPr>
            <a:spLocks xmlns:a="http://schemas.openxmlformats.org/drawingml/2006/main" noGrp="1"/>
          </p:cNvSpPr>
          <p:nvPr/>
        </p:nvSpPr>
        <p:spPr>
          <a:xfrm xmlns:a="http://schemas.openxmlformats.org/drawingml/2006/main">
            <a:off x="49053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9" name="">
            <a:extLst xmlns:a="http://schemas.openxmlformats.org/drawingml/2006/main">
              <a:ext uri="{FF2B5EF4-FFF2-40B4-BE49-F238E27FC236}">
                <a16:creationId xmlns:a16="http://schemas.microsoft.com/office/drawing/2014/main" id="{ACC260E9-C0F6-40DF-9150-B81D7B6D5176}"/>
              </a:ext>
            </a:extLst>
          </p:cNvPr>
          <p:cNvSpPr>
            <a:spLocks xmlns:a="http://schemas.openxmlformats.org/drawingml/2006/main" noGrp="1"/>
          </p:cNvSpPr>
          <p:nvPr/>
        </p:nvSpPr>
        <p:spPr>
          <a:xfrm xmlns:a="http://schemas.openxmlformats.org/drawingml/2006/main">
            <a:off x="34766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0" name="">
            <a:extLst xmlns:a="http://schemas.openxmlformats.org/drawingml/2006/main">
              <a:ext uri="{FF2B5EF4-FFF2-40B4-BE49-F238E27FC236}">
                <a16:creationId xmlns:a16="http://schemas.microsoft.com/office/drawing/2014/main" id="{F2B74790-A9A1-46E5-8BD4-EA8171719ACC}"/>
              </a:ext>
            </a:extLst>
          </p:cNvPr>
          <p:cNvSpPr>
            <a:spLocks xmlns:a="http://schemas.openxmlformats.org/drawingml/2006/main" noGrp="1"/>
          </p:cNvSpPr>
          <p:nvPr/>
        </p:nvSpPr>
        <p:spPr>
          <a:xfrm xmlns:a="http://schemas.openxmlformats.org/drawingml/2006/main">
            <a:off x="37623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1" name="">
            <a:extLst xmlns:a="http://schemas.openxmlformats.org/drawingml/2006/main">
              <a:ext uri="{FF2B5EF4-FFF2-40B4-BE49-F238E27FC236}">
                <a16:creationId xmlns:a16="http://schemas.microsoft.com/office/drawing/2014/main" id="{D1830150-A1E7-452E-8776-86FEA9E241E4}"/>
              </a:ext>
            </a:extLst>
          </p:cNvPr>
          <p:cNvSpPr>
            <a:spLocks xmlns:a="http://schemas.openxmlformats.org/drawingml/2006/main" noGrp="1"/>
          </p:cNvSpPr>
          <p:nvPr/>
        </p:nvSpPr>
        <p:spPr>
          <a:xfrm xmlns:a="http://schemas.openxmlformats.org/drawingml/2006/main">
            <a:off x="40481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2" name="">
            <a:extLst xmlns:a="http://schemas.openxmlformats.org/drawingml/2006/main">
              <a:ext uri="{FF2B5EF4-FFF2-40B4-BE49-F238E27FC236}">
                <a16:creationId xmlns:a16="http://schemas.microsoft.com/office/drawing/2014/main" id="{888DB43F-A92F-4AEF-B431-096860C14F78}"/>
              </a:ext>
            </a:extLst>
          </p:cNvPr>
          <p:cNvSpPr>
            <a:spLocks xmlns:a="http://schemas.openxmlformats.org/drawingml/2006/main" noGrp="1"/>
          </p:cNvSpPr>
          <p:nvPr/>
        </p:nvSpPr>
        <p:spPr>
          <a:xfrm xmlns:a="http://schemas.openxmlformats.org/drawingml/2006/main">
            <a:off x="43338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3" name="">
            <a:extLst xmlns:a="http://schemas.openxmlformats.org/drawingml/2006/main">
              <a:ext uri="{FF2B5EF4-FFF2-40B4-BE49-F238E27FC236}">
                <a16:creationId xmlns:a16="http://schemas.microsoft.com/office/drawing/2014/main" id="{552949B1-8319-4F2B-A0C2-8139E2FEAA29}"/>
              </a:ext>
            </a:extLst>
          </p:cNvPr>
          <p:cNvSpPr>
            <a:spLocks xmlns:a="http://schemas.openxmlformats.org/drawingml/2006/main" noGrp="1"/>
          </p:cNvSpPr>
          <p:nvPr/>
        </p:nvSpPr>
        <p:spPr>
          <a:xfrm xmlns:a="http://schemas.openxmlformats.org/drawingml/2006/main">
            <a:off x="46196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4" name="">
            <a:extLst xmlns:a="http://schemas.openxmlformats.org/drawingml/2006/main">
              <a:ext uri="{FF2B5EF4-FFF2-40B4-BE49-F238E27FC236}">
                <a16:creationId xmlns:a16="http://schemas.microsoft.com/office/drawing/2014/main" id="{E7F9BCC7-7D15-4A43-85E4-B4EFEFC4B25E}"/>
              </a:ext>
            </a:extLst>
          </p:cNvPr>
          <p:cNvSpPr>
            <a:spLocks xmlns:a="http://schemas.openxmlformats.org/drawingml/2006/main" noGrp="1"/>
          </p:cNvSpPr>
          <p:nvPr/>
        </p:nvSpPr>
        <p:spPr>
          <a:xfrm xmlns:a="http://schemas.openxmlformats.org/drawingml/2006/main">
            <a:off x="49053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5" name="">
            <a:extLst xmlns:a="http://schemas.openxmlformats.org/drawingml/2006/main">
              <a:ext uri="{FF2B5EF4-FFF2-40B4-BE49-F238E27FC236}">
                <a16:creationId xmlns:a16="http://schemas.microsoft.com/office/drawing/2014/main" id="{26C61C8C-11BB-4466-AEA6-446789CE651E}"/>
              </a:ext>
            </a:extLst>
          </p:cNvPr>
          <p:cNvSpPr>
            <a:spLocks xmlns:a="http://schemas.openxmlformats.org/drawingml/2006/main" noGrp="1"/>
          </p:cNvSpPr>
          <p:nvPr/>
        </p:nvSpPr>
        <p:spPr>
          <a:xfrm xmlns:a="http://schemas.openxmlformats.org/drawingml/2006/main">
            <a:off x="6419850"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19713C"/>
                </a:solidFill>
                <a:latin typeface="Arial"/>
                <a:ea typeface="Arial"/>
                <a:cs typeface="Arial"/>
              </a:defRPr>
            </a:defPPr>
            <a:lvl1pPr algn="l">
              <a:buNone/>
              <a:defRPr sz="1650" b="1">
                <a:solidFill>
                  <a:srgbClr val="19713C"/>
                </a:solidFill>
                <a:latin typeface="Arial"/>
                <a:ea typeface="Arial"/>
                <a:cs typeface="Arial"/>
              </a:defRPr>
            </a:lvl1pPr>
            <a:lvl2pPr algn="l">
              <a:buNone/>
              <a:defRPr sz="1650" b="1">
                <a:solidFill>
                  <a:srgbClr val="19713C"/>
                </a:solidFill>
                <a:latin typeface="Arial"/>
                <a:ea typeface="Arial"/>
                <a:cs typeface="Arial"/>
              </a:defRPr>
            </a:lvl2pPr>
            <a:lvl3pPr algn="l">
              <a:buNone/>
              <a:defRPr sz="1650" b="1">
                <a:solidFill>
                  <a:srgbClr val="19713C"/>
                </a:solidFill>
                <a:latin typeface="Arial"/>
                <a:ea typeface="Arial"/>
                <a:cs typeface="Arial"/>
              </a:defRPr>
            </a:lvl3pPr>
            <a:lvl4pPr algn="l">
              <a:buNone/>
              <a:defRPr sz="1650" b="1">
                <a:solidFill>
                  <a:srgbClr val="19713C"/>
                </a:solidFill>
                <a:latin typeface="Arial"/>
                <a:ea typeface="Arial"/>
                <a:cs typeface="Arial"/>
              </a:defRPr>
            </a:lvl4pPr>
            <a:lvl5pPr algn="l">
              <a:buNone/>
              <a:defRPr sz="1650" b="1">
                <a:solidFill>
                  <a:srgbClr val="19713C"/>
                </a:solidFill>
                <a:latin typeface="Arial"/>
                <a:ea typeface="Arial"/>
                <a:cs typeface="Arial"/>
              </a:defRPr>
            </a:lvl5pPr>
            <a:lvl6pPr algn="l">
              <a:buNone/>
              <a:defRPr sz="1650" b="1">
                <a:solidFill>
                  <a:srgbClr val="19713C"/>
                </a:solidFill>
                <a:latin typeface="Arial"/>
                <a:ea typeface="Arial"/>
                <a:cs typeface="Arial"/>
              </a:defRPr>
            </a:lvl6pPr>
            <a:lvl7pPr algn="l">
              <a:buNone/>
              <a:defRPr sz="1650" b="1">
                <a:solidFill>
                  <a:srgbClr val="19713C"/>
                </a:solidFill>
                <a:latin typeface="Arial"/>
                <a:ea typeface="Arial"/>
                <a:cs typeface="Arial"/>
              </a:defRPr>
            </a:lvl7pPr>
            <a:lvl8pPr algn="l">
              <a:buNone/>
              <a:defRPr sz="1650" b="1">
                <a:solidFill>
                  <a:srgbClr val="19713C"/>
                </a:solidFill>
                <a:latin typeface="Arial"/>
                <a:ea typeface="Arial"/>
                <a:cs typeface="Arial"/>
              </a:defRPr>
            </a:lvl8pPr>
            <a:lvl9pPr algn="l">
              <a:buNone/>
              <a:defRPr sz="1650" b="1">
                <a:solidFill>
                  <a:srgbClr val="19713C"/>
                </a:solidFill>
                <a:latin typeface="Arial"/>
                <a:ea typeface="Arial"/>
                <a:cs typeface="Arial"/>
              </a:defRPr>
            </a:lvl9pPr>
          </a:lstStyle>
          <a:p xmlns:a="http://schemas.openxmlformats.org/drawingml/2006/main">
            <a:pPr algn="l">
              <a:buNone/>
              <a:defRPr sz="1650" b="1">
                <a:solidFill>
                  <a:srgbClr val="19713C"/>
                </a:solidFill>
                <a:latin typeface="Arial"/>
                <a:ea typeface="Arial"/>
                <a:cs typeface="Arial"/>
              </a:defRPr>
            </a:pPr>
            <a:r>
              <a:rPr sz="1650" b="1">
                <a:solidFill>
                  <a:srgbClr val="19713C"/>
                </a:solidFill>
                <a:latin typeface="Arial"/>
                <a:ea typeface="Arial"/>
                <a:cs typeface="Arial"/>
              </a:rPr>
              <a:t>After: 12 pieces</a:t>
            </a:r>
          </a:p>
        </p:txBody>
      </p:sp>
      <p:sp>
        <p:nvSpPr>
          <p:cNvPr id="76" name="">
            <a:extLst xmlns:a="http://schemas.openxmlformats.org/drawingml/2006/main">
              <a:ext uri="{FF2B5EF4-FFF2-40B4-BE49-F238E27FC236}">
                <a16:creationId xmlns:a16="http://schemas.microsoft.com/office/drawing/2014/main" id="{D2A02CE2-8A52-43BB-8DA3-E7C10B3BCE3E}"/>
              </a:ext>
            </a:extLst>
          </p:cNvPr>
          <p:cNvSpPr>
            <a:spLocks xmlns:a="http://schemas.openxmlformats.org/drawingml/2006/main" noGrp="1"/>
          </p:cNvSpPr>
          <p:nvPr/>
        </p:nvSpPr>
        <p:spPr>
          <a:xfrm xmlns:a="http://schemas.openxmlformats.org/drawingml/2006/main">
            <a:off x="64198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7" name="">
            <a:extLst xmlns:a="http://schemas.openxmlformats.org/drawingml/2006/main">
              <a:ext uri="{FF2B5EF4-FFF2-40B4-BE49-F238E27FC236}">
                <a16:creationId xmlns:a16="http://schemas.microsoft.com/office/drawing/2014/main" id="{E4D6EB1D-CA6C-4269-A1FC-373CFB0C9B71}"/>
              </a:ext>
            </a:extLst>
          </p:cNvPr>
          <p:cNvSpPr>
            <a:spLocks xmlns:a="http://schemas.openxmlformats.org/drawingml/2006/main" noGrp="1"/>
          </p:cNvSpPr>
          <p:nvPr/>
        </p:nvSpPr>
        <p:spPr>
          <a:xfrm xmlns:a="http://schemas.openxmlformats.org/drawingml/2006/main">
            <a:off x="67056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8" name="">
            <a:extLst xmlns:a="http://schemas.openxmlformats.org/drawingml/2006/main">
              <a:ext uri="{FF2B5EF4-FFF2-40B4-BE49-F238E27FC236}">
                <a16:creationId xmlns:a16="http://schemas.microsoft.com/office/drawing/2014/main" id="{DB24B2F8-A266-4945-A849-597A3E87984C}"/>
              </a:ext>
            </a:extLst>
          </p:cNvPr>
          <p:cNvSpPr>
            <a:spLocks xmlns:a="http://schemas.openxmlformats.org/drawingml/2006/main" noGrp="1"/>
          </p:cNvSpPr>
          <p:nvPr/>
        </p:nvSpPr>
        <p:spPr>
          <a:xfrm xmlns:a="http://schemas.openxmlformats.org/drawingml/2006/main">
            <a:off x="69913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9" name="">
            <a:extLst xmlns:a="http://schemas.openxmlformats.org/drawingml/2006/main">
              <a:ext uri="{FF2B5EF4-FFF2-40B4-BE49-F238E27FC236}">
                <a16:creationId xmlns:a16="http://schemas.microsoft.com/office/drawing/2014/main" id="{6AACA37E-3CFC-415A-9856-9B03B3D0562F}"/>
              </a:ext>
            </a:extLst>
          </p:cNvPr>
          <p:cNvSpPr>
            <a:spLocks xmlns:a="http://schemas.openxmlformats.org/drawingml/2006/main" noGrp="1"/>
          </p:cNvSpPr>
          <p:nvPr/>
        </p:nvSpPr>
        <p:spPr>
          <a:xfrm xmlns:a="http://schemas.openxmlformats.org/drawingml/2006/main">
            <a:off x="72771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0" name="">
            <a:extLst xmlns:a="http://schemas.openxmlformats.org/drawingml/2006/main">
              <a:ext uri="{FF2B5EF4-FFF2-40B4-BE49-F238E27FC236}">
                <a16:creationId xmlns:a16="http://schemas.microsoft.com/office/drawing/2014/main" id="{7682D40F-C81C-4C3A-9F60-25041A8966A8}"/>
              </a:ext>
            </a:extLst>
          </p:cNvPr>
          <p:cNvSpPr>
            <a:spLocks xmlns:a="http://schemas.openxmlformats.org/drawingml/2006/main" noGrp="1"/>
          </p:cNvSpPr>
          <p:nvPr/>
        </p:nvSpPr>
        <p:spPr>
          <a:xfrm xmlns:a="http://schemas.openxmlformats.org/drawingml/2006/main">
            <a:off x="75628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1" name="">
            <a:extLst xmlns:a="http://schemas.openxmlformats.org/drawingml/2006/main">
              <a:ext uri="{FF2B5EF4-FFF2-40B4-BE49-F238E27FC236}">
                <a16:creationId xmlns:a16="http://schemas.microsoft.com/office/drawing/2014/main" id="{F48FA60A-5845-4CFD-8AA3-2E531F14864A}"/>
              </a:ext>
            </a:extLst>
          </p:cNvPr>
          <p:cNvSpPr>
            <a:spLocks xmlns:a="http://schemas.openxmlformats.org/drawingml/2006/main" noGrp="1"/>
          </p:cNvSpPr>
          <p:nvPr/>
        </p:nvSpPr>
        <p:spPr>
          <a:xfrm xmlns:a="http://schemas.openxmlformats.org/drawingml/2006/main">
            <a:off x="78486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2" name="">
            <a:extLst xmlns:a="http://schemas.openxmlformats.org/drawingml/2006/main">
              <a:ext uri="{FF2B5EF4-FFF2-40B4-BE49-F238E27FC236}">
                <a16:creationId xmlns:a16="http://schemas.microsoft.com/office/drawing/2014/main" id="{E63F31A7-ACDF-47E1-9A0D-CF8E138CF8EE}"/>
              </a:ext>
            </a:extLst>
          </p:cNvPr>
          <p:cNvSpPr>
            <a:spLocks xmlns:a="http://schemas.openxmlformats.org/drawingml/2006/main" noGrp="1"/>
          </p:cNvSpPr>
          <p:nvPr/>
        </p:nvSpPr>
        <p:spPr>
          <a:xfrm xmlns:a="http://schemas.openxmlformats.org/drawingml/2006/main">
            <a:off x="64198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3" name="">
            <a:extLst xmlns:a="http://schemas.openxmlformats.org/drawingml/2006/main">
              <a:ext uri="{FF2B5EF4-FFF2-40B4-BE49-F238E27FC236}">
                <a16:creationId xmlns:a16="http://schemas.microsoft.com/office/drawing/2014/main" id="{B76870D8-856B-41F8-9D38-12F0D165DE10}"/>
              </a:ext>
            </a:extLst>
          </p:cNvPr>
          <p:cNvSpPr>
            <a:spLocks xmlns:a="http://schemas.openxmlformats.org/drawingml/2006/main" noGrp="1"/>
          </p:cNvSpPr>
          <p:nvPr/>
        </p:nvSpPr>
        <p:spPr>
          <a:xfrm xmlns:a="http://schemas.openxmlformats.org/drawingml/2006/main">
            <a:off x="67056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4" name="">
            <a:extLst xmlns:a="http://schemas.openxmlformats.org/drawingml/2006/main">
              <a:ext uri="{FF2B5EF4-FFF2-40B4-BE49-F238E27FC236}">
                <a16:creationId xmlns:a16="http://schemas.microsoft.com/office/drawing/2014/main" id="{7415C376-382F-4A5D-8755-5DA6234FB88D}"/>
              </a:ext>
            </a:extLst>
          </p:cNvPr>
          <p:cNvSpPr>
            <a:spLocks xmlns:a="http://schemas.openxmlformats.org/drawingml/2006/main" noGrp="1"/>
          </p:cNvSpPr>
          <p:nvPr/>
        </p:nvSpPr>
        <p:spPr>
          <a:xfrm xmlns:a="http://schemas.openxmlformats.org/drawingml/2006/main">
            <a:off x="69913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5" name="">
            <a:extLst xmlns:a="http://schemas.openxmlformats.org/drawingml/2006/main">
              <a:ext uri="{FF2B5EF4-FFF2-40B4-BE49-F238E27FC236}">
                <a16:creationId xmlns:a16="http://schemas.microsoft.com/office/drawing/2014/main" id="{0A322BB1-577E-4A6F-9396-D4472BCCEF7D}"/>
              </a:ext>
            </a:extLst>
          </p:cNvPr>
          <p:cNvSpPr>
            <a:spLocks xmlns:a="http://schemas.openxmlformats.org/drawingml/2006/main" noGrp="1"/>
          </p:cNvSpPr>
          <p:nvPr/>
        </p:nvSpPr>
        <p:spPr>
          <a:xfrm xmlns:a="http://schemas.openxmlformats.org/drawingml/2006/main">
            <a:off x="72771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6" name="">
            <a:extLst xmlns:a="http://schemas.openxmlformats.org/drawingml/2006/main">
              <a:ext uri="{FF2B5EF4-FFF2-40B4-BE49-F238E27FC236}">
                <a16:creationId xmlns:a16="http://schemas.microsoft.com/office/drawing/2014/main" id="{D7851C57-6C36-4E65-964C-B2785C53363A}"/>
              </a:ext>
            </a:extLst>
          </p:cNvPr>
          <p:cNvSpPr>
            <a:spLocks xmlns:a="http://schemas.openxmlformats.org/drawingml/2006/main" noGrp="1"/>
          </p:cNvSpPr>
          <p:nvPr/>
        </p:nvSpPr>
        <p:spPr>
          <a:xfrm xmlns:a="http://schemas.openxmlformats.org/drawingml/2006/main">
            <a:off x="75628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7" name="">
            <a:extLst xmlns:a="http://schemas.openxmlformats.org/drawingml/2006/main">
              <a:ext uri="{FF2B5EF4-FFF2-40B4-BE49-F238E27FC236}">
                <a16:creationId xmlns:a16="http://schemas.microsoft.com/office/drawing/2014/main" id="{7A000355-8784-47C8-BFB3-0DA1ACE2E341}"/>
              </a:ext>
            </a:extLst>
          </p:cNvPr>
          <p:cNvSpPr>
            <a:spLocks xmlns:a="http://schemas.openxmlformats.org/drawingml/2006/main" noGrp="1"/>
          </p:cNvSpPr>
          <p:nvPr/>
        </p:nvSpPr>
        <p:spPr>
          <a:xfrm xmlns:a="http://schemas.openxmlformats.org/drawingml/2006/main">
            <a:off x="78486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9" name="">
            <a:extLst xmlns:a="http://schemas.openxmlformats.org/drawingml/2006/main">
              <a:ext uri="{FF2B5EF4-FFF2-40B4-BE49-F238E27FC236}">
                <a16:creationId xmlns:a16="http://schemas.microsoft.com/office/drawing/2014/main" id="{331D92B2-AF48-4917-81F7-1912840ED3BB}"/>
              </a:ext>
            </a:extLst>
          </p:cNvPr>
          <p:cNvSpPr>
            <a:spLocks xmlns:a="http://schemas.openxmlformats.org/drawingml/2006/main" noGrp="1"/>
          </p:cNvSpPr>
          <p:nvPr/>
        </p:nvSpPr>
        <p:spPr>
          <a:xfrm xmlns:a="http://schemas.openxmlformats.org/drawingml/2006/main">
            <a:off x="2486025" y="35623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595959"/>
                </a:solidFill>
                <a:latin typeface="Arial"/>
                <a:ea typeface="Arial"/>
                <a:cs typeface="Arial"/>
              </a:defRPr>
            </a:defPPr>
            <a:lvl1pPr algn="ctr">
              <a:buNone/>
              <a:defRPr sz="1200" b="0">
                <a:solidFill>
                  <a:srgbClr val="595959"/>
                </a:solidFill>
                <a:latin typeface="Arial"/>
                <a:ea typeface="Arial"/>
                <a:cs typeface="Arial"/>
              </a:defRPr>
            </a:lvl1pPr>
            <a:lvl2pPr algn="ctr">
              <a:buNone/>
              <a:defRPr sz="1200" b="0">
                <a:solidFill>
                  <a:srgbClr val="595959"/>
                </a:solidFill>
                <a:latin typeface="Arial"/>
                <a:ea typeface="Arial"/>
                <a:cs typeface="Arial"/>
              </a:defRPr>
            </a:lvl2pPr>
            <a:lvl3pPr algn="ctr">
              <a:buNone/>
              <a:defRPr sz="1200" b="0">
                <a:solidFill>
                  <a:srgbClr val="595959"/>
                </a:solidFill>
                <a:latin typeface="Arial"/>
                <a:ea typeface="Arial"/>
                <a:cs typeface="Arial"/>
              </a:defRPr>
            </a:lvl3pPr>
            <a:lvl4pPr algn="ctr">
              <a:buNone/>
              <a:defRPr sz="1200" b="0">
                <a:solidFill>
                  <a:srgbClr val="595959"/>
                </a:solidFill>
                <a:latin typeface="Arial"/>
                <a:ea typeface="Arial"/>
                <a:cs typeface="Arial"/>
              </a:defRPr>
            </a:lvl4pPr>
            <a:lvl5pPr algn="ctr">
              <a:buNone/>
              <a:defRPr sz="1200" b="0">
                <a:solidFill>
                  <a:srgbClr val="595959"/>
                </a:solidFill>
                <a:latin typeface="Arial"/>
                <a:ea typeface="Arial"/>
                <a:cs typeface="Arial"/>
              </a:defRPr>
            </a:lvl5pPr>
            <a:lvl6pPr algn="ctr">
              <a:buNone/>
              <a:defRPr sz="1200" b="0">
                <a:solidFill>
                  <a:srgbClr val="595959"/>
                </a:solidFill>
                <a:latin typeface="Arial"/>
                <a:ea typeface="Arial"/>
                <a:cs typeface="Arial"/>
              </a:defRPr>
            </a:lvl6pPr>
            <a:lvl7pPr algn="ctr">
              <a:buNone/>
              <a:defRPr sz="1200" b="0">
                <a:solidFill>
                  <a:srgbClr val="595959"/>
                </a:solidFill>
                <a:latin typeface="Arial"/>
                <a:ea typeface="Arial"/>
                <a:cs typeface="Arial"/>
              </a:defRPr>
            </a:lvl7pPr>
            <a:lvl8pPr algn="ctr">
              <a:buNone/>
              <a:defRPr sz="1200" b="0">
                <a:solidFill>
                  <a:srgbClr val="595959"/>
                </a:solidFill>
                <a:latin typeface="Arial"/>
                <a:ea typeface="Arial"/>
                <a:cs typeface="Arial"/>
              </a:defRPr>
            </a:lvl8pPr>
            <a:lvl9pPr algn="ctr">
              <a:buNone/>
              <a:defRPr sz="1200" b="0">
                <a:solidFill>
                  <a:srgbClr val="595959"/>
                </a:solidFill>
                <a:latin typeface="Arial"/>
                <a:ea typeface="Arial"/>
                <a:cs typeface="Arial"/>
              </a:defRPr>
            </a:lvl9pPr>
          </a:lstStyle>
          <a:p xmlns:a="http://schemas.openxmlformats.org/drawingml/2006/main">
            <a:pPr algn="ctr">
              <a:buNone/>
              <a:defRPr sz="1200" b="0">
                <a:solidFill>
                  <a:srgbClr val="595959"/>
                </a:solidFill>
                <a:latin typeface="Arial"/>
                <a:ea typeface="Arial"/>
                <a:cs typeface="Arial"/>
              </a:defRPr>
            </a:pPr>
            <a:r>
              <a:rPr sz="1200" b="0">
                <a:solidFill>
                  <a:srgbClr val="595959"/>
                </a:solidFill>
                <a:latin typeface="Arial"/>
                <a:ea typeface="Arial"/>
                <a:cs typeface="Arial"/>
              </a:rPr>
              <a:t>deduct</a:t>
            </a:r>
          </a:p>
        </p:txBody>
      </p:sp>
      <p:sp>
        <p:nvSpPr>
          <p:cNvPr id="91" name="">
            <a:extLst xmlns:a="http://schemas.openxmlformats.org/drawingml/2006/main">
              <a:ext uri="{FF2B5EF4-FFF2-40B4-BE49-F238E27FC236}">
                <a16:creationId xmlns:a16="http://schemas.microsoft.com/office/drawing/2014/main" id="{2B7A7472-40E7-45E5-AEFE-4DF999BE421A}"/>
              </a:ext>
            </a:extLst>
          </p:cNvPr>
          <p:cNvSpPr>
            <a:spLocks xmlns:a="http://schemas.openxmlformats.org/drawingml/2006/main" noGrp="1"/>
          </p:cNvSpPr>
          <p:nvPr/>
        </p:nvSpPr>
        <p:spPr>
          <a:xfrm xmlns:a="http://schemas.openxmlformats.org/drawingml/2006/main">
            <a:off x="5448300" y="35623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595959"/>
                </a:solidFill>
                <a:latin typeface="Arial"/>
                <a:ea typeface="Arial"/>
                <a:cs typeface="Arial"/>
              </a:defRPr>
            </a:defPPr>
            <a:lvl1pPr algn="ctr">
              <a:buNone/>
              <a:defRPr sz="1200" b="0">
                <a:solidFill>
                  <a:srgbClr val="595959"/>
                </a:solidFill>
                <a:latin typeface="Arial"/>
                <a:ea typeface="Arial"/>
                <a:cs typeface="Arial"/>
              </a:defRPr>
            </a:lvl1pPr>
            <a:lvl2pPr algn="ctr">
              <a:buNone/>
              <a:defRPr sz="1200" b="0">
                <a:solidFill>
                  <a:srgbClr val="595959"/>
                </a:solidFill>
                <a:latin typeface="Arial"/>
                <a:ea typeface="Arial"/>
                <a:cs typeface="Arial"/>
              </a:defRPr>
            </a:lvl2pPr>
            <a:lvl3pPr algn="ctr">
              <a:buNone/>
              <a:defRPr sz="1200" b="0">
                <a:solidFill>
                  <a:srgbClr val="595959"/>
                </a:solidFill>
                <a:latin typeface="Arial"/>
                <a:ea typeface="Arial"/>
                <a:cs typeface="Arial"/>
              </a:defRPr>
            </a:lvl3pPr>
            <a:lvl4pPr algn="ctr">
              <a:buNone/>
              <a:defRPr sz="1200" b="0">
                <a:solidFill>
                  <a:srgbClr val="595959"/>
                </a:solidFill>
                <a:latin typeface="Arial"/>
                <a:ea typeface="Arial"/>
                <a:cs typeface="Arial"/>
              </a:defRPr>
            </a:lvl4pPr>
            <a:lvl5pPr algn="ctr">
              <a:buNone/>
              <a:defRPr sz="1200" b="0">
                <a:solidFill>
                  <a:srgbClr val="595959"/>
                </a:solidFill>
                <a:latin typeface="Arial"/>
                <a:ea typeface="Arial"/>
                <a:cs typeface="Arial"/>
              </a:defRPr>
            </a:lvl5pPr>
            <a:lvl6pPr algn="ctr">
              <a:buNone/>
              <a:defRPr sz="1200" b="0">
                <a:solidFill>
                  <a:srgbClr val="595959"/>
                </a:solidFill>
                <a:latin typeface="Arial"/>
                <a:ea typeface="Arial"/>
                <a:cs typeface="Arial"/>
              </a:defRPr>
            </a:lvl6pPr>
            <a:lvl7pPr algn="ctr">
              <a:buNone/>
              <a:defRPr sz="1200" b="0">
                <a:solidFill>
                  <a:srgbClr val="595959"/>
                </a:solidFill>
                <a:latin typeface="Arial"/>
                <a:ea typeface="Arial"/>
                <a:cs typeface="Arial"/>
              </a:defRPr>
            </a:lvl7pPr>
            <a:lvl8pPr algn="ctr">
              <a:buNone/>
              <a:defRPr sz="1200" b="0">
                <a:solidFill>
                  <a:srgbClr val="595959"/>
                </a:solidFill>
                <a:latin typeface="Arial"/>
                <a:ea typeface="Arial"/>
                <a:cs typeface="Arial"/>
              </a:defRPr>
            </a:lvl8pPr>
            <a:lvl9pPr algn="ctr">
              <a:buNone/>
              <a:defRPr sz="1200" b="0">
                <a:solidFill>
                  <a:srgbClr val="595959"/>
                </a:solidFill>
                <a:latin typeface="Arial"/>
                <a:ea typeface="Arial"/>
                <a:cs typeface="Arial"/>
              </a:defRPr>
            </a:lvl9pPr>
          </a:lstStyle>
          <a:p xmlns:a="http://schemas.openxmlformats.org/drawingml/2006/main">
            <a:pPr algn="ctr">
              <a:buNone/>
              <a:defRPr sz="1200" b="0">
                <a:solidFill>
                  <a:srgbClr val="595959"/>
                </a:solidFill>
                <a:latin typeface="Arial"/>
                <a:ea typeface="Arial"/>
                <a:cs typeface="Arial"/>
              </a:defRPr>
            </a:pPr>
            <a:r>
              <a:rPr sz="1200" b="0">
                <a:solidFill>
                  <a:srgbClr val="595959"/>
                </a:solidFill>
                <a:latin typeface="Arial"/>
                <a:ea typeface="Arial"/>
                <a:cs typeface="Arial"/>
              </a:rPr>
              <a:t>balance</a:t>
            </a:r>
          </a:p>
        </p:txBody>
      </p:sp>
      <p:sp>
        <p:nvSpPr>
          <p:cNvPr id="92" name="">
            <a:extLst xmlns:a="http://schemas.openxmlformats.org/drawingml/2006/main">
              <a:ext uri="{FF2B5EF4-FFF2-40B4-BE49-F238E27FC236}">
                <a16:creationId xmlns:a16="http://schemas.microsoft.com/office/drawing/2014/main" id="{4C5283D3-6F57-4C2E-9D1A-EF3668635EFF}"/>
              </a:ext>
            </a:extLst>
          </p:cNvPr>
          <p:cNvSpPr>
            <a:spLocks xmlns:a="http://schemas.openxmlformats.org/drawingml/2006/main" noGrp="1"/>
          </p:cNvSpPr>
          <p:nvPr/>
        </p:nvSpPr>
        <p:spPr>
          <a:xfrm xmlns:a="http://schemas.openxmlformats.org/drawingml/2006/main">
            <a:off x="533400" y="4429125"/>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Each block = 1 piece. Receiving adds base units. Selling-price approval is separate.</a:t>
            </a:r>
          </a:p>
        </p:txBody>
      </p:sp>
    </p:spTree>
    <p:extLst>
      <p:ext uri="{BB962C8B-B14F-4D97-AF65-F5344CB8AC3E}">
        <p14:creationId xmlns:p14="http://schemas.microsoft.com/office/powerpoint/2010/main" val="64959019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19" name="Picture 18">
            <a:extLst xmlns:a="http://schemas.openxmlformats.org/drawingml/2006/main">
              <a:ext uri="{FF2B5EF4-FFF2-40B4-BE49-F238E27FC236}">
                <a16:creationId xmlns:a16="http://schemas.microsoft.com/office/drawing/2014/main" id="{2CB8379D-EEED-42DE-A78D-093F2FD727CD}"/>
              </a:ext>
            </a:extLst>
          </p:cNvPr>
          <p:cNvPicPr>
            <a:picLocks xmlns:a="http://schemas.openxmlformats.org/drawingml/2006/main" noChangeAspect="1"/>
          </p:cNvPicPr>
          <p:nvPr/>
        </p:nvPicPr>
        <p:blipFill>
          <a:blip xmlns:r="http://schemas.openxmlformats.org/officeDocument/2006/relationships" xmlns:a="http://schemas.openxmlformats.org/drawingml/2006/main" r:embed="R847a8a3f6a2843aa"/>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8">
            <a:extLst xmlns:a="http://schemas.openxmlformats.org/drawingml/2006/main">
              <a:ext uri="{FF2B5EF4-FFF2-40B4-BE49-F238E27FC236}">
                <a16:creationId xmlns:a16="http://schemas.microsoft.com/office/drawing/2014/main" id="{1FDE2168-784E-4CE9-95E8-7C8F20B773C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Development platform</a:t>
            </a:r>
          </a:p>
        </p:txBody>
      </p:sp>
      <p:sp>
        <p:nvSpPr>
          <p:cNvPr id="4" name="current-content-112">
            <a:extLst xmlns:a="http://schemas.openxmlformats.org/drawingml/2006/main">
              <a:ext uri="{FF2B5EF4-FFF2-40B4-BE49-F238E27FC236}">
                <a16:creationId xmlns:a16="http://schemas.microsoft.com/office/drawing/2014/main" id="{96954CFD-A8AC-4E63-BBF9-6611069F43F3}"/>
              </a:ext>
            </a:extLst>
          </p:cNvPr>
          <p:cNvSpPr>
            <a:spLocks xmlns:a="http://schemas.openxmlformats.org/drawingml/2006/main" noGrp="1"/>
          </p:cNvSpPr>
          <p:nvPr/>
        </p:nvSpPr>
        <p:spPr>
          <a:xfrm xmlns:a="http://schemas.openxmlformats.org/drawingml/2006/main">
            <a:off x="533400" y="13239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Hardware</a:t>
            </a:r>
          </a:p>
        </p:txBody>
      </p:sp>
      <p:sp>
        <p:nvSpPr>
          <p:cNvPr id="5" name="current-content-113">
            <a:extLst xmlns:a="http://schemas.openxmlformats.org/drawingml/2006/main">
              <a:ext uri="{FF2B5EF4-FFF2-40B4-BE49-F238E27FC236}">
                <a16:creationId xmlns:a16="http://schemas.microsoft.com/office/drawing/2014/main" id="{6619B2D9-9579-4705-9AF1-F479F96A09DE}"/>
              </a:ext>
            </a:extLst>
          </p:cNvPr>
          <p:cNvSpPr>
            <a:spLocks xmlns:a="http://schemas.openxmlformats.org/drawingml/2006/main" noGrp="1"/>
          </p:cNvSpPr>
          <p:nvPr/>
        </p:nvSpPr>
        <p:spPr>
          <a:xfrm xmlns:a="http://schemas.openxmlformats.org/drawingml/2006/main">
            <a:off x="3124200" y="13239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Desktop browser, barcode input, optional printer/drawer</a:t>
            </a:r>
          </a:p>
        </p:txBody>
      </p:sp>
      <p:sp>
        <p:nvSpPr>
          <p:cNvPr id="6" name="Straight Connector 5">
            <a:extLst xmlns:a="http://schemas.openxmlformats.org/drawingml/2006/main">
              <a:ext uri="{FF2B5EF4-FFF2-40B4-BE49-F238E27FC236}">
                <a16:creationId xmlns:a16="http://schemas.microsoft.com/office/drawing/2014/main" id="{F8998EDA-4390-4FE2-AA0C-2B213ADB31A7}"/>
              </a:ext>
            </a:extLst>
          </p:cNvPr>
          <p:cNvSpPr>
            <a:spLocks xmlns:a="http://schemas.openxmlformats.org/drawingml/2006/main" noGrp="1"/>
          </p:cNvSpPr>
          <p:nvPr/>
        </p:nvSpPr>
        <p:spPr>
          <a:xfrm xmlns:a="http://schemas.openxmlformats.org/drawingml/2006/main">
            <a:off x="533400" y="181927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7" name="current-content-114">
            <a:extLst xmlns:a="http://schemas.openxmlformats.org/drawingml/2006/main">
              <a:ext uri="{FF2B5EF4-FFF2-40B4-BE49-F238E27FC236}">
                <a16:creationId xmlns:a16="http://schemas.microsoft.com/office/drawing/2014/main" id="{3EED4A95-F050-47AD-B375-4FF458EDEEFA}"/>
              </a:ext>
            </a:extLst>
          </p:cNvPr>
          <p:cNvSpPr>
            <a:spLocks xmlns:a="http://schemas.openxmlformats.org/drawingml/2006/main" noGrp="1"/>
          </p:cNvSpPr>
          <p:nvPr/>
        </p:nvSpPr>
        <p:spPr>
          <a:xfrm xmlns:a="http://schemas.openxmlformats.org/drawingml/2006/main">
            <a:off x="533400" y="19526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Software workflow</a:t>
            </a:r>
          </a:p>
        </p:txBody>
      </p:sp>
      <p:sp>
        <p:nvSpPr>
          <p:cNvPr id="8" name="current-content-115">
            <a:extLst xmlns:a="http://schemas.openxmlformats.org/drawingml/2006/main">
              <a:ext uri="{FF2B5EF4-FFF2-40B4-BE49-F238E27FC236}">
                <a16:creationId xmlns:a16="http://schemas.microsoft.com/office/drawing/2014/main" id="{4B42E1A8-E2C3-444E-977B-DEF537336A48}"/>
              </a:ext>
            </a:extLst>
          </p:cNvPr>
          <p:cNvSpPr>
            <a:spLocks xmlns:a="http://schemas.openxmlformats.org/drawingml/2006/main" noGrp="1"/>
          </p:cNvSpPr>
          <p:nvPr/>
        </p:nvSpPr>
        <p:spPr>
          <a:xfrm xmlns:a="http://schemas.openxmlformats.org/drawingml/2006/main">
            <a:off x="3124200" y="19526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Git, TypeScript checks, ESLint and GitHub Actions</a:t>
            </a:r>
          </a:p>
        </p:txBody>
      </p:sp>
      <p:sp>
        <p:nvSpPr>
          <p:cNvPr id="9" name="Straight Connector 8">
            <a:extLst xmlns:a="http://schemas.openxmlformats.org/drawingml/2006/main">
              <a:ext uri="{FF2B5EF4-FFF2-40B4-BE49-F238E27FC236}">
                <a16:creationId xmlns:a16="http://schemas.microsoft.com/office/drawing/2014/main" id="{C634A3A8-C006-4898-8BFB-7490151EBC3D}"/>
              </a:ext>
            </a:extLst>
          </p:cNvPr>
          <p:cNvSpPr>
            <a:spLocks xmlns:a="http://schemas.openxmlformats.org/drawingml/2006/main" noGrp="1"/>
          </p:cNvSpPr>
          <p:nvPr/>
        </p:nvSpPr>
        <p:spPr>
          <a:xfrm xmlns:a="http://schemas.openxmlformats.org/drawingml/2006/main">
            <a:off x="533400" y="244792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0" name="current-content-116">
            <a:extLst xmlns:a="http://schemas.openxmlformats.org/drawingml/2006/main">
              <a:ext uri="{FF2B5EF4-FFF2-40B4-BE49-F238E27FC236}">
                <a16:creationId xmlns:a16="http://schemas.microsoft.com/office/drawing/2014/main" id="{3219341E-FCD2-4572-8FA9-F5605A0D0282}"/>
              </a:ext>
            </a:extLst>
          </p:cNvPr>
          <p:cNvSpPr>
            <a:spLocks xmlns:a="http://schemas.openxmlformats.org/drawingml/2006/main" noGrp="1"/>
          </p:cNvSpPr>
          <p:nvPr/>
        </p:nvSpPr>
        <p:spPr>
          <a:xfrm xmlns:a="http://schemas.openxmlformats.org/drawingml/2006/main">
            <a:off x="533400" y="25812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Frontend</a:t>
            </a:r>
          </a:p>
        </p:txBody>
      </p:sp>
      <p:sp>
        <p:nvSpPr>
          <p:cNvPr id="11" name="current-content-117">
            <a:extLst xmlns:a="http://schemas.openxmlformats.org/drawingml/2006/main">
              <a:ext uri="{FF2B5EF4-FFF2-40B4-BE49-F238E27FC236}">
                <a16:creationId xmlns:a16="http://schemas.microsoft.com/office/drawing/2014/main" id="{6BB78E61-E53B-45FB-B246-36E740F53261}"/>
              </a:ext>
            </a:extLst>
          </p:cNvPr>
          <p:cNvSpPr>
            <a:spLocks xmlns:a="http://schemas.openxmlformats.org/drawingml/2006/main" noGrp="1"/>
          </p:cNvSpPr>
          <p:nvPr/>
        </p:nvSpPr>
        <p:spPr>
          <a:xfrm xmlns:a="http://schemas.openxmlformats.org/drawingml/2006/main">
            <a:off x="3124200" y="25812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React, TypeScript, Vite, Tailwind, Zustand, TanStack Query</a:t>
            </a:r>
          </a:p>
        </p:txBody>
      </p:sp>
      <p:sp>
        <p:nvSpPr>
          <p:cNvPr id="12" name="Straight Connector 11">
            <a:extLst xmlns:a="http://schemas.openxmlformats.org/drawingml/2006/main">
              <a:ext uri="{FF2B5EF4-FFF2-40B4-BE49-F238E27FC236}">
                <a16:creationId xmlns:a16="http://schemas.microsoft.com/office/drawing/2014/main" id="{88EBA718-C57D-4022-8734-123377C6193A}"/>
              </a:ext>
            </a:extLst>
          </p:cNvPr>
          <p:cNvSpPr>
            <a:spLocks xmlns:a="http://schemas.openxmlformats.org/drawingml/2006/main" noGrp="1"/>
          </p:cNvSpPr>
          <p:nvPr/>
        </p:nvSpPr>
        <p:spPr>
          <a:xfrm xmlns:a="http://schemas.openxmlformats.org/drawingml/2006/main">
            <a:off x="533400" y="307657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3" name="current-content-118">
            <a:extLst xmlns:a="http://schemas.openxmlformats.org/drawingml/2006/main">
              <a:ext uri="{FF2B5EF4-FFF2-40B4-BE49-F238E27FC236}">
                <a16:creationId xmlns:a16="http://schemas.microsoft.com/office/drawing/2014/main" id="{D871CAB6-9768-4DA2-89BD-D78D81606B24}"/>
              </a:ext>
            </a:extLst>
          </p:cNvPr>
          <p:cNvSpPr>
            <a:spLocks xmlns:a="http://schemas.openxmlformats.org/drawingml/2006/main" noGrp="1"/>
          </p:cNvSpPr>
          <p:nvPr/>
        </p:nvSpPr>
        <p:spPr>
          <a:xfrm xmlns:a="http://schemas.openxmlformats.org/drawingml/2006/main">
            <a:off x="533400" y="32099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Backend</a:t>
            </a:r>
          </a:p>
        </p:txBody>
      </p:sp>
      <p:sp>
        <p:nvSpPr>
          <p:cNvPr id="14" name="current-content-119">
            <a:extLst xmlns:a="http://schemas.openxmlformats.org/drawingml/2006/main">
              <a:ext uri="{FF2B5EF4-FFF2-40B4-BE49-F238E27FC236}">
                <a16:creationId xmlns:a16="http://schemas.microsoft.com/office/drawing/2014/main" id="{B25D8566-ACBE-4AD3-B7F9-9FF8437CD246}"/>
              </a:ext>
            </a:extLst>
          </p:cNvPr>
          <p:cNvSpPr>
            <a:spLocks xmlns:a="http://schemas.openxmlformats.org/drawingml/2006/main" noGrp="1"/>
          </p:cNvSpPr>
          <p:nvPr/>
        </p:nvSpPr>
        <p:spPr>
          <a:xfrm xmlns:a="http://schemas.openxmlformats.org/drawingml/2006/main">
            <a:off x="3124200" y="32099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Supabase Auth, PostgreSQL, RLS, Storage, Edge Functions</a:t>
            </a:r>
          </a:p>
        </p:txBody>
      </p:sp>
      <p:sp>
        <p:nvSpPr>
          <p:cNvPr id="15" name="Straight Connector 14">
            <a:extLst xmlns:a="http://schemas.openxmlformats.org/drawingml/2006/main">
              <a:ext uri="{FF2B5EF4-FFF2-40B4-BE49-F238E27FC236}">
                <a16:creationId xmlns:a16="http://schemas.microsoft.com/office/drawing/2014/main" id="{ACB0DA79-4119-4E8E-98E1-5C5B664B13E6}"/>
              </a:ext>
            </a:extLst>
          </p:cNvPr>
          <p:cNvSpPr>
            <a:spLocks xmlns:a="http://schemas.openxmlformats.org/drawingml/2006/main" noGrp="1"/>
          </p:cNvSpPr>
          <p:nvPr/>
        </p:nvSpPr>
        <p:spPr>
          <a:xfrm xmlns:a="http://schemas.openxmlformats.org/drawingml/2006/main">
            <a:off x="533400" y="370522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6" name="current-content-120">
            <a:extLst xmlns:a="http://schemas.openxmlformats.org/drawingml/2006/main">
              <a:ext uri="{FF2B5EF4-FFF2-40B4-BE49-F238E27FC236}">
                <a16:creationId xmlns:a16="http://schemas.microsoft.com/office/drawing/2014/main" id="{90FB75DF-2E99-4E48-A62B-FC09B65703DB}"/>
              </a:ext>
            </a:extLst>
          </p:cNvPr>
          <p:cNvSpPr>
            <a:spLocks xmlns:a="http://schemas.openxmlformats.org/drawingml/2006/main" noGrp="1"/>
          </p:cNvSpPr>
          <p:nvPr/>
        </p:nvSpPr>
        <p:spPr>
          <a:xfrm xmlns:a="http://schemas.openxmlformats.org/drawingml/2006/main">
            <a:off x="533400" y="38385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Deployment</a:t>
            </a:r>
          </a:p>
        </p:txBody>
      </p:sp>
      <p:sp>
        <p:nvSpPr>
          <p:cNvPr id="17" name="current-content-121">
            <a:extLst xmlns:a="http://schemas.openxmlformats.org/drawingml/2006/main">
              <a:ext uri="{FF2B5EF4-FFF2-40B4-BE49-F238E27FC236}">
                <a16:creationId xmlns:a16="http://schemas.microsoft.com/office/drawing/2014/main" id="{C2A3274D-798F-4093-BF80-03E40D0473DA}"/>
              </a:ext>
            </a:extLst>
          </p:cNvPr>
          <p:cNvSpPr>
            <a:spLocks xmlns:a="http://schemas.openxmlformats.org/drawingml/2006/main" noGrp="1"/>
          </p:cNvSpPr>
          <p:nvPr/>
        </p:nvSpPr>
        <p:spPr>
          <a:xfrm xmlns:a="http://schemas.openxmlformats.org/drawingml/2006/main">
            <a:off x="3124200" y="38385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Vercel SPA routing configuration</a:t>
            </a:r>
          </a:p>
        </p:txBody>
      </p:sp>
      <p:sp>
        <p:nvSpPr>
          <p:cNvPr id="18" name="current-content-122">
            <a:extLst xmlns:a="http://schemas.openxmlformats.org/drawingml/2006/main">
              <a:ext uri="{FF2B5EF4-FFF2-40B4-BE49-F238E27FC236}">
                <a16:creationId xmlns:a16="http://schemas.microsoft.com/office/drawing/2014/main" id="{B1E12E2F-0720-4B3F-82DE-BAEE5EB317F2}"/>
              </a:ext>
            </a:extLst>
          </p:cNvPr>
          <p:cNvSpPr>
            <a:spLocks xmlns:a="http://schemas.openxmlformats.org/drawingml/2006/main" noGrp="1"/>
          </p:cNvSpPr>
          <p:nvPr/>
        </p:nvSpPr>
        <p:spPr>
          <a:xfrm xmlns:a="http://schemas.openxmlformats.org/drawingml/2006/main">
            <a:off x="533400" y="4429125"/>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Current optional hardware bridge: QZ Tray. Device readiness remains unverified.</a:t>
            </a:r>
          </a:p>
        </p:txBody>
      </p:sp>
    </p:spTree>
    <p:extLst>
      <p:ext uri="{BB962C8B-B14F-4D97-AF65-F5344CB8AC3E}">
        <p14:creationId xmlns:p14="http://schemas.microsoft.com/office/powerpoint/2010/main" val="93202327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871917-E088-4E43-86E8-BCBE67C01AD4}"/>
              </a:ext>
            </a:extLst>
          </p:cNvPr>
          <p:cNvPicPr>
            <a:picLocks xmlns:a="http://schemas.openxmlformats.org/drawingml/2006/main" noChangeAspect="1"/>
          </p:cNvPicPr>
          <p:nvPr/>
        </p:nvPicPr>
        <p:blipFill>
          <a:blip xmlns:r="http://schemas.openxmlformats.org/officeDocument/2006/relationships" xmlns:a="http://schemas.openxmlformats.org/drawingml/2006/main" r:embed="R11c89d71c2a04aaf"/>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EEFABD3-B9F4-4D67-B6B5-91A44AE192CF}"/>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RQ2</a:t>
            </a:r>
          </a:p>
        </p:txBody>
      </p:sp>
      <p:sp>
        <p:nvSpPr>
          <p:cNvPr id="3" name="">
            <a:extLst xmlns:a="http://schemas.openxmlformats.org/drawingml/2006/main">
              <a:ext uri="{FF2B5EF4-FFF2-40B4-BE49-F238E27FC236}">
                <a16:creationId xmlns:a16="http://schemas.microsoft.com/office/drawing/2014/main" id="{53E84A7A-38BF-474C-B094-866435FBBC2F}"/>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202C61"/>
                </a:solidFill>
                <a:latin typeface="Arial"/>
                <a:ea typeface="Arial"/>
                <a:cs typeface="Arial"/>
              </a:defRPr>
            </a:defPPr>
            <a:lvl1pPr algn="l">
              <a:buNone/>
              <a:defRPr sz="1650" b="1">
                <a:solidFill>
                  <a:srgbClr val="202C61"/>
                </a:solidFill>
                <a:latin typeface="Arial"/>
                <a:ea typeface="Arial"/>
                <a:cs typeface="Arial"/>
              </a:defRPr>
            </a:lvl1pPr>
            <a:lvl2pPr algn="l">
              <a:buNone/>
              <a:defRPr sz="1650" b="1">
                <a:solidFill>
                  <a:srgbClr val="202C61"/>
                </a:solidFill>
                <a:latin typeface="Arial"/>
                <a:ea typeface="Arial"/>
                <a:cs typeface="Arial"/>
              </a:defRPr>
            </a:lvl2pPr>
            <a:lvl3pPr algn="l">
              <a:buNone/>
              <a:defRPr sz="1650" b="1">
                <a:solidFill>
                  <a:srgbClr val="202C61"/>
                </a:solidFill>
                <a:latin typeface="Arial"/>
                <a:ea typeface="Arial"/>
                <a:cs typeface="Arial"/>
              </a:defRPr>
            </a:lvl3pPr>
            <a:lvl4pPr algn="l">
              <a:buNone/>
              <a:defRPr sz="1650" b="1">
                <a:solidFill>
                  <a:srgbClr val="202C61"/>
                </a:solidFill>
                <a:latin typeface="Arial"/>
                <a:ea typeface="Arial"/>
                <a:cs typeface="Arial"/>
              </a:defRPr>
            </a:lvl4pPr>
            <a:lvl5pPr algn="l">
              <a:buNone/>
              <a:defRPr sz="1650" b="1">
                <a:solidFill>
                  <a:srgbClr val="202C61"/>
                </a:solidFill>
                <a:latin typeface="Arial"/>
                <a:ea typeface="Arial"/>
                <a:cs typeface="Arial"/>
              </a:defRPr>
            </a:lvl5pPr>
            <a:lvl6pPr algn="l">
              <a:buNone/>
              <a:defRPr sz="1650" b="1">
                <a:solidFill>
                  <a:srgbClr val="202C61"/>
                </a:solidFill>
                <a:latin typeface="Arial"/>
                <a:ea typeface="Arial"/>
                <a:cs typeface="Arial"/>
              </a:defRPr>
            </a:lvl6pPr>
            <a:lvl7pPr algn="l">
              <a:buNone/>
              <a:defRPr sz="1650" b="1">
                <a:solidFill>
                  <a:srgbClr val="202C61"/>
                </a:solidFill>
                <a:latin typeface="Arial"/>
                <a:ea typeface="Arial"/>
                <a:cs typeface="Arial"/>
              </a:defRPr>
            </a:lvl7pPr>
            <a:lvl8pPr algn="l">
              <a:buNone/>
              <a:defRPr sz="1650" b="1">
                <a:solidFill>
                  <a:srgbClr val="202C61"/>
                </a:solidFill>
                <a:latin typeface="Arial"/>
                <a:ea typeface="Arial"/>
                <a:cs typeface="Arial"/>
              </a:defRPr>
            </a:lvl8pPr>
            <a:lvl9pPr algn="l">
              <a:buNone/>
              <a:defRPr sz="1650" b="1">
                <a:solidFill>
                  <a:srgbClr val="202C61"/>
                </a:solidFill>
                <a:latin typeface="Arial"/>
                <a:ea typeface="Arial"/>
                <a:cs typeface="Arial"/>
              </a:defRPr>
            </a:lvl9pPr>
          </a:lstStyle>
          <a:p xmlns:a="http://schemas.openxmlformats.org/drawingml/2006/main">
            <a:pPr algn="l">
              <a:buNone/>
              <a:defRPr sz="1650" b="1">
                <a:solidFill>
                  <a:srgbClr val="202C61"/>
                </a:solidFill>
                <a:latin typeface="Arial"/>
                <a:ea typeface="Arial"/>
                <a:cs typeface="Arial"/>
              </a:defRPr>
            </a:pPr>
            <a:r>
              <a:rPr sz="1650" b="1">
                <a:solidFill>
                  <a:srgbClr val="202C61"/>
                </a:solidFill>
                <a:latin typeface="Arial"/>
                <a:ea typeface="Arial"/>
                <a:cs typeface="Arial"/>
              </a:rPr>
              <a:t>System checks, 27 October 2026</a:t>
            </a:r>
          </a:p>
        </p:txBody>
      </p:sp>
      <p:graphicFrame>
        <p:nvGraphicFramePr>
          <p:cNvPr id="4" name="">
            <a:extLst xmlns:a="http://schemas.openxmlformats.org/drawingml/2006/main">
              <a:ext uri="{FF2B5EF4-FFF2-40B4-BE49-F238E27FC236}">
                <a16:creationId xmlns:a16="http://schemas.microsoft.com/office/drawing/2014/main" id="{4E7DA0A6-D390-4479-B6DB-6838941D0902}"/>
              </a:ext>
            </a:extLst>
          </p:cNvPr>
          <p:cNvGraphicFramePr/>
          <p:nvPr/>
        </p:nvGraphicFramePr>
        <p:xfrm>
          <a:off xmlns:a="http://schemas.openxmlformats.org/drawingml/2006/main" x="533400" y="1514475"/>
          <a:ext xmlns:a="http://schemas.openxmlformats.org/drawingml/2006/main" cx="8058150" cy="2286000"/>
        </p:xfrm>
        <a:graphic xmlns:a="http://schemas.openxmlformats.org/drawingml/2006/main">
          <a:graphicData uri="http://schemas.openxmlformats.org/drawingml/2006/table">
            <a:tbl>
              <a:tblPr/>
              <a:tblGrid>
                <a:gridCol w="2333625"/>
                <a:gridCol w="1619250"/>
                <a:gridCol w="4105275"/>
              </a:tblGrid>
              <a:tr h="428625">
                <a:tc>
                  <a:txBody>
                    <a:bodyPr wrap="square" lIns="47625" tIns="47625" rIns="47625" bIns="47625"/>
                    <a:lstStyle/>
                    <a:p>
                      <a:pPr algn="ctr">
                        <a:buNone/>
                      </a:pPr>
                      <a:r>
                        <a:rPr sz="1500" b="1">
                          <a:solidFill>
                            <a:srgbClr val="171717"/>
                          </a:solidFill>
                          <a:latin typeface="Cambria"/>
                          <a:ea typeface="Cambria"/>
                          <a:cs typeface="Cambria"/>
                        </a:rPr>
                        <a:t>What was checked</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47625" tIns="47625" rIns="47625" bIns="47625"/>
                    <a:lstStyle/>
                    <a:p>
                      <a:pPr algn="ctr">
                        <a:buNone/>
                      </a:pPr>
                      <a:r>
                        <a:rPr sz="1500" b="1">
                          <a:solidFill>
                            <a:srgbClr val="171717"/>
                          </a:solidFill>
                          <a:latin typeface="Cambria"/>
                          <a:ea typeface="Cambria"/>
                          <a:cs typeface="Cambria"/>
                        </a:rPr>
                        <a:t>Result</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47625" tIns="47625" rIns="47625" bIns="47625"/>
                    <a:lstStyle/>
                    <a:p>
                      <a:pPr algn="ctr">
                        <a:buNone/>
                      </a:pPr>
                      <a:r>
                        <a:rPr sz="1500" b="1">
                          <a:solidFill>
                            <a:srgbClr val="171717"/>
                          </a:solidFill>
                          <a:latin typeface="Cambria"/>
                          <a:ea typeface="Cambria"/>
                          <a:cs typeface="Cambria"/>
                        </a:rPr>
                        <a:t>What it means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523875">
                <a:tc>
                  <a:txBody>
                    <a:bodyPr wrap="square" lIns="47625" tIns="47625" rIns="47625" bIns="47625"/>
                    <a:lstStyle/>
                    <a:p>
                      <a:pPr algn="l">
                        <a:buNone/>
                      </a:pPr>
                      <a:r>
                        <a:rPr sz="1500" b="0">
                          <a:solidFill>
                            <a:srgbClr val="171717"/>
                          </a:solidFill>
                          <a:latin typeface="Cambria"/>
                          <a:ea typeface="Cambria"/>
                          <a:cs typeface="Cambria"/>
                        </a:rPr>
                        <a:t>Application build</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ctr">
                        <a:buNone/>
                      </a:pPr>
                      <a:r>
                        <a:rPr sz="1500" b="0">
                          <a:solidFill>
                            <a:srgbClr val="171717"/>
                          </a:solidFill>
                          <a:latin typeface="Cambria"/>
                          <a:ea typeface="Cambria"/>
                          <a:cs typeface="Cambria"/>
                        </a:rPr>
                        <a:t>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l">
                        <a:buNone/>
                      </a:pPr>
                      <a:r>
                        <a:rPr sz="1500" b="0">
                          <a:solidFill>
                            <a:srgbClr val="171717"/>
                          </a:solidFill>
                          <a:latin typeface="Cambria"/>
                          <a:ea typeface="Cambria"/>
                          <a:cs typeface="Cambria"/>
                        </a:rPr>
                        <a:t>The application built without errors.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523875">
                <a:tc>
                  <a:txBody>
                    <a:bodyPr wrap="square" lIns="47625" tIns="47625" rIns="47625" bIns="47625"/>
                    <a:lstStyle/>
                    <a:p>
                      <a:pPr algn="l">
                        <a:buNone/>
                      </a:pPr>
                      <a:r>
                        <a:rPr sz="1500" b="0">
                          <a:solidFill>
                            <a:srgbClr val="171717"/>
                          </a:solidFill>
                          <a:latin typeface="Cambria"/>
                          <a:ea typeface="Cambria"/>
                          <a:cs typeface="Cambria"/>
                        </a:rPr>
                        <a:t>Sales calculations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ctr">
                        <a:buNone/>
                      </a:pPr>
                      <a:r>
                        <a:rPr sz="1500" b="0">
                          <a:solidFill>
                            <a:srgbClr val="171717"/>
                          </a:solidFill>
                          <a:latin typeface="Cambria"/>
                          <a:ea typeface="Cambria"/>
                          <a:cs typeface="Cambria"/>
                        </a:rPr>
                        <a:t>17 of 17 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l">
                        <a:buNone/>
                      </a:pPr>
                      <a:r>
                        <a:rPr sz="1500" b="0">
                          <a:solidFill>
                            <a:srgbClr val="171717"/>
                          </a:solidFill>
                          <a:latin typeface="Cambria"/>
                          <a:ea typeface="Cambria"/>
                          <a:cs typeface="Cambria"/>
                        </a:rPr>
                        <a:t>Tested calculations gave the expected results.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523875">
                <a:tc>
                  <a:txBody>
                    <a:bodyPr wrap="square" lIns="47625" tIns="47625" rIns="47625" bIns="47625"/>
                    <a:lstStyle/>
                    <a:p>
                      <a:pPr algn="l">
                        <a:buNone/>
                      </a:pPr>
                      <a:r>
                        <a:rPr sz="1500" b="0">
                          <a:solidFill>
                            <a:srgbClr val="171717"/>
                          </a:solidFill>
                          <a:latin typeface="Cambria"/>
                          <a:ea typeface="Cambria"/>
                          <a:cs typeface="Cambria"/>
                        </a:rPr>
                        <a:t>Login protection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ctr">
                        <a:buNone/>
                      </a:pPr>
                      <a:r>
                        <a:rPr sz="1500" b="0">
                          <a:solidFill>
                            <a:srgbClr val="171717"/>
                          </a:solidFill>
                          <a:latin typeface="Cambria"/>
                          <a:ea typeface="Cambria"/>
                          <a:cs typeface="Cambria"/>
                        </a:rPr>
                        <a:t>4 of 4 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l">
                        <a:buNone/>
                      </a:pPr>
                      <a:r>
                        <a:rPr sz="1500" b="0">
                          <a:solidFill>
                            <a:srgbClr val="171717"/>
                          </a:solidFill>
                          <a:latin typeface="Cambria"/>
                          <a:ea typeface="Cambria"/>
                          <a:cs typeface="Cambria"/>
                        </a:rPr>
                        <a:t>Protected pages required users to sign in.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523875">
                <a:tc>
                  <a:txBody>
                    <a:bodyPr wrap="square" lIns="47625" tIns="47625" rIns="47625" bIns="47625"/>
                    <a:lstStyle/>
                    <a:p>
                      <a:pPr algn="l">
                        <a:buNone/>
                      </a:pPr>
                      <a:r>
                        <a:rPr sz="1500" b="0">
                          <a:solidFill>
                            <a:srgbClr val="171717"/>
                          </a:solidFill>
                          <a:latin typeface="Cambria"/>
                          <a:ea typeface="Cambria"/>
                          <a:cs typeface="Cambria"/>
                        </a:rPr>
                        <a:t>Access rules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ctr">
                        <a:buNone/>
                      </a:pPr>
                      <a:r>
                        <a:rPr sz="1500" b="0">
                          <a:solidFill>
                            <a:srgbClr val="171717"/>
                          </a:solidFill>
                          <a:latin typeface="Cambria"/>
                          <a:ea typeface="Cambria"/>
                          <a:cs typeface="Cambria"/>
                        </a:rPr>
                        <a:t>20 of 22 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l">
                        <a:buNone/>
                      </a:pPr>
                      <a:r>
                        <a:rPr sz="1500" b="0">
                          <a:solidFill>
                            <a:srgbClr val="171717"/>
                          </a:solidFill>
                          <a:latin typeface="Cambria"/>
                          <a:ea typeface="Cambria"/>
                          <a:cs typeface="Cambria"/>
                        </a:rPr>
                        <a:t>Two security gaps still need fixing.</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523875">
                <a:tc>
                  <a:txBody>
                    <a:bodyPr wrap="square" lIns="47625" tIns="47625" rIns="47625" bIns="47625"/>
                    <a:lstStyle/>
                    <a:p>
                      <a:pPr algn="l">
                        <a:buNone/>
                      </a:pPr>
                      <a:r>
                        <a:rPr sz="1500" b="0">
                          <a:solidFill>
                            <a:srgbClr val="171717"/>
                          </a:solidFill>
                          <a:latin typeface="Cambria"/>
                          <a:ea typeface="Cambria"/>
                          <a:cs typeface="Cambria"/>
                        </a:rPr>
                        <a:t>Data protection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ctr">
                        <a:buNone/>
                      </a:pPr>
                      <a:r>
                        <a:rPr sz="1500" b="0">
                          <a:solidFill>
                            <a:srgbClr val="171717"/>
                          </a:solidFill>
                          <a:latin typeface="Cambria"/>
                          <a:ea typeface="Cambria"/>
                          <a:cs typeface="Cambria"/>
                        </a:rPr>
                        <a:t>Controls present</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l">
                        <a:buNone/>
                      </a:pPr>
                      <a:r>
                        <a:rPr sz="1500" b="0">
                          <a:solidFill>
                            <a:srgbClr val="171717"/>
                          </a:solidFill>
                          <a:latin typeface="Cambria"/>
                          <a:ea typeface="Cambria"/>
                          <a:cs typeface="Cambria"/>
                        </a:rPr>
                        <a:t>Secure connections and record-access limits were confirmed.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EF4244D-E290-42F6-A755-9CB527007676}"/>
              </a:ext>
            </a:extLst>
          </p:cNvPr>
          <p:cNvSpPr>
            <a:spLocks xmlns:a="http://schemas.openxmlformats.org/drawingml/2006/main" noGrp="1"/>
          </p:cNvSpPr>
          <p:nvPr/>
        </p:nvSpPr>
        <p:spPr>
          <a:xfrm xmlns:a="http://schemas.openxmlformats.org/drawingml/2006/main">
            <a:off x="2714625" y="4657725"/>
            <a:ext cx="58769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buNone/>
              <a:defRPr sz="1125" b="0">
                <a:solidFill>
                  <a:srgbClr val="595959"/>
                </a:solidFill>
                <a:latin typeface="Arial"/>
                <a:ea typeface="Arial"/>
                <a:cs typeface="Arial"/>
              </a:defRPr>
            </a:lvl1pPr>
            <a:lvl2pPr algn="l">
              <a:buNone/>
              <a:defRPr sz="1125" b="0">
                <a:solidFill>
                  <a:srgbClr val="595959"/>
                </a:solidFill>
                <a:latin typeface="Arial"/>
                <a:ea typeface="Arial"/>
                <a:cs typeface="Arial"/>
              </a:defRPr>
            </a:lvl2pPr>
            <a:lvl3pPr algn="l">
              <a:buNone/>
              <a:defRPr sz="1125" b="0">
                <a:solidFill>
                  <a:srgbClr val="595959"/>
                </a:solidFill>
                <a:latin typeface="Arial"/>
                <a:ea typeface="Arial"/>
                <a:cs typeface="Arial"/>
              </a:defRPr>
            </a:lvl3pPr>
            <a:lvl4pPr algn="l">
              <a:buNone/>
              <a:defRPr sz="1125" b="0">
                <a:solidFill>
                  <a:srgbClr val="595959"/>
                </a:solidFill>
                <a:latin typeface="Arial"/>
                <a:ea typeface="Arial"/>
                <a:cs typeface="Arial"/>
              </a:defRPr>
            </a:lvl4pPr>
            <a:lvl5pPr algn="l">
              <a:buNone/>
              <a:defRPr sz="1125" b="0">
                <a:solidFill>
                  <a:srgbClr val="595959"/>
                </a:solidFill>
                <a:latin typeface="Arial"/>
                <a:ea typeface="Arial"/>
                <a:cs typeface="Arial"/>
              </a:defRPr>
            </a:lvl5pPr>
            <a:lvl6pPr algn="l">
              <a:buNone/>
              <a:defRPr sz="1125" b="0">
                <a:solidFill>
                  <a:srgbClr val="595959"/>
                </a:solidFill>
                <a:latin typeface="Arial"/>
                <a:ea typeface="Arial"/>
                <a:cs typeface="Arial"/>
              </a:defRPr>
            </a:lvl6pPr>
            <a:lvl7pPr algn="l">
              <a:buNone/>
              <a:defRPr sz="1125" b="0">
                <a:solidFill>
                  <a:srgbClr val="595959"/>
                </a:solidFill>
                <a:latin typeface="Arial"/>
                <a:ea typeface="Arial"/>
                <a:cs typeface="Arial"/>
              </a:defRPr>
            </a:lvl7pPr>
            <a:lvl8pPr algn="l">
              <a:buNone/>
              <a:defRPr sz="1125" b="0">
                <a:solidFill>
                  <a:srgbClr val="595959"/>
                </a:solidFill>
                <a:latin typeface="Arial"/>
                <a:ea typeface="Arial"/>
                <a:cs typeface="Arial"/>
              </a:defRPr>
            </a:lvl8pPr>
            <a:lvl9pPr algn="l">
              <a:buNone/>
              <a:defRPr sz="1125" b="0">
                <a:solidFill>
                  <a:srgbClr val="595959"/>
                </a:solidFill>
                <a:latin typeface="Arial"/>
                <a:ea typeface="Arial"/>
                <a:cs typeface="Arial"/>
              </a:defRPr>
            </a:lvl9pPr>
          </a:lstStyle>
          <a:p xmlns:a="http://schemas.openxmlformats.org/drawingml/2006/main">
            <a:pPr algn="l">
              <a:buNone/>
              <a:defRPr sz="1125" b="0">
                <a:solidFill>
                  <a:srgbClr val="595959"/>
                </a:solidFill>
                <a:latin typeface="Arial"/>
                <a:ea typeface="Arial"/>
                <a:cs typeface="Arial"/>
              </a:defRPr>
            </a:pPr>
            <a:r>
              <a:rPr sz="1125" b="0">
                <a:solidFill>
                  <a:srgbClr val="595959"/>
                </a:solidFill>
                <a:latin typeface="Arial"/>
                <a:ea typeface="Arial"/>
                <a:cs typeface="Arial"/>
              </a:rPr>
              <a:t>AI-assisted system checks. Detailed evidence is in the speaker notes.</a:t>
            </a:r>
          </a:p>
        </p:txBody>
      </p:sp>
    </p:spTree>
    <p:extLst>
      <p:ext uri="{BB962C8B-B14F-4D97-AF65-F5344CB8AC3E}">
        <p14:creationId xmlns:p14="http://schemas.microsoft.com/office/powerpoint/2010/main" val="63760497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893B4C6C-045A-4369-A1D9-68D20A4FDADA}"/>
              </a:ext>
            </a:extLst>
          </p:cNvPr>
          <p:cNvPicPr>
            <a:picLocks xmlns:a="http://schemas.openxmlformats.org/drawingml/2006/main" noChangeAspect="1"/>
          </p:cNvPicPr>
          <p:nvPr/>
        </p:nvPicPr>
        <p:blipFill>
          <a:blip xmlns:r="http://schemas.openxmlformats.org/officeDocument/2006/relationships" xmlns:a="http://schemas.openxmlformats.org/drawingml/2006/main" r:embed="Rabf7f71a13844bfc"/>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577390A-4E41-410C-A6E6-C005C803D2D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RQ2</a:t>
            </a:r>
          </a:p>
        </p:txBody>
      </p:sp>
      <p:sp>
        <p:nvSpPr>
          <p:cNvPr id="3" name="">
            <a:extLst xmlns:a="http://schemas.openxmlformats.org/drawingml/2006/main">
              <a:ext uri="{FF2B5EF4-FFF2-40B4-BE49-F238E27FC236}">
                <a16:creationId xmlns:a16="http://schemas.microsoft.com/office/drawing/2014/main" id="{3FBEFB9C-6E59-4B47-9F1B-3B2FDBCF2E11}"/>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202C61"/>
                </a:solidFill>
                <a:latin typeface="Arial"/>
                <a:ea typeface="Arial"/>
                <a:cs typeface="Arial"/>
              </a:defRPr>
            </a:defPPr>
            <a:lvl1pPr algn="l">
              <a:buNone/>
              <a:defRPr sz="1650" b="1">
                <a:solidFill>
                  <a:srgbClr val="202C61"/>
                </a:solidFill>
                <a:latin typeface="Arial"/>
                <a:ea typeface="Arial"/>
                <a:cs typeface="Arial"/>
              </a:defRPr>
            </a:lvl1pPr>
            <a:lvl2pPr algn="l">
              <a:buNone/>
              <a:defRPr sz="1650" b="1">
                <a:solidFill>
                  <a:srgbClr val="202C61"/>
                </a:solidFill>
                <a:latin typeface="Arial"/>
                <a:ea typeface="Arial"/>
                <a:cs typeface="Arial"/>
              </a:defRPr>
            </a:lvl2pPr>
            <a:lvl3pPr algn="l">
              <a:buNone/>
              <a:defRPr sz="1650" b="1">
                <a:solidFill>
                  <a:srgbClr val="202C61"/>
                </a:solidFill>
                <a:latin typeface="Arial"/>
                <a:ea typeface="Arial"/>
                <a:cs typeface="Arial"/>
              </a:defRPr>
            </a:lvl3pPr>
            <a:lvl4pPr algn="l">
              <a:buNone/>
              <a:defRPr sz="1650" b="1">
                <a:solidFill>
                  <a:srgbClr val="202C61"/>
                </a:solidFill>
                <a:latin typeface="Arial"/>
                <a:ea typeface="Arial"/>
                <a:cs typeface="Arial"/>
              </a:defRPr>
            </a:lvl4pPr>
            <a:lvl5pPr algn="l">
              <a:buNone/>
              <a:defRPr sz="1650" b="1">
                <a:solidFill>
                  <a:srgbClr val="202C61"/>
                </a:solidFill>
                <a:latin typeface="Arial"/>
                <a:ea typeface="Arial"/>
                <a:cs typeface="Arial"/>
              </a:defRPr>
            </a:lvl5pPr>
            <a:lvl6pPr algn="l">
              <a:buNone/>
              <a:defRPr sz="1650" b="1">
                <a:solidFill>
                  <a:srgbClr val="202C61"/>
                </a:solidFill>
                <a:latin typeface="Arial"/>
                <a:ea typeface="Arial"/>
                <a:cs typeface="Arial"/>
              </a:defRPr>
            </a:lvl6pPr>
            <a:lvl7pPr algn="l">
              <a:buNone/>
              <a:defRPr sz="1650" b="1">
                <a:solidFill>
                  <a:srgbClr val="202C61"/>
                </a:solidFill>
                <a:latin typeface="Arial"/>
                <a:ea typeface="Arial"/>
                <a:cs typeface="Arial"/>
              </a:defRPr>
            </a:lvl7pPr>
            <a:lvl8pPr algn="l">
              <a:buNone/>
              <a:defRPr sz="1650" b="1">
                <a:solidFill>
                  <a:srgbClr val="202C61"/>
                </a:solidFill>
                <a:latin typeface="Arial"/>
                <a:ea typeface="Arial"/>
                <a:cs typeface="Arial"/>
              </a:defRPr>
            </a:lvl8pPr>
            <a:lvl9pPr algn="l">
              <a:buNone/>
              <a:defRPr sz="1650" b="1">
                <a:solidFill>
                  <a:srgbClr val="202C61"/>
                </a:solidFill>
                <a:latin typeface="Arial"/>
                <a:ea typeface="Arial"/>
                <a:cs typeface="Arial"/>
              </a:defRPr>
            </a:lvl9pPr>
          </a:lstStyle>
          <a:p xmlns:a="http://schemas.openxmlformats.org/drawingml/2006/main">
            <a:pPr algn="l">
              <a:buNone/>
              <a:defRPr sz="1650" b="1">
                <a:solidFill>
                  <a:srgbClr val="202C61"/>
                </a:solidFill>
                <a:latin typeface="Arial"/>
                <a:ea typeface="Arial"/>
                <a:cs typeface="Arial"/>
              </a:defRPr>
            </a:pPr>
            <a:r>
              <a:rPr sz="1650" b="1">
                <a:solidFill>
                  <a:srgbClr val="202C61"/>
                </a:solidFill>
                <a:latin typeface="Arial"/>
                <a:ea typeface="Arial"/>
                <a:cs typeface="Arial"/>
              </a:rPr>
              <a:t>Two issues found during the system checks</a:t>
            </a:r>
          </a:p>
        </p:txBody>
      </p:sp>
      <p:graphicFrame>
        <p:nvGraphicFramePr>
          <p:cNvPr id="4" name="">
            <a:extLst xmlns:a="http://schemas.openxmlformats.org/drawingml/2006/main">
              <a:ext uri="{FF2B5EF4-FFF2-40B4-BE49-F238E27FC236}">
                <a16:creationId xmlns:a16="http://schemas.microsoft.com/office/drawing/2014/main" id="{2B49316A-0137-4B63-956C-DFE447CAF9C5}"/>
              </a:ext>
            </a:extLst>
          </p:cNvPr>
          <p:cNvGraphicFramePr/>
          <p:nvPr/>
        </p:nvGraphicFramePr>
        <p:xfrm>
          <a:off xmlns:a="http://schemas.openxmlformats.org/drawingml/2006/main" x="533400" y="1543050"/>
          <a:ext xmlns:a="http://schemas.openxmlformats.org/drawingml/2006/main" cx="8058150" cy="2286000"/>
        </p:xfrm>
        <a:graphic xmlns:a="http://schemas.openxmlformats.org/drawingml/2006/main">
          <a:graphicData uri="http://schemas.openxmlformats.org/drawingml/2006/table">
            <a:tbl>
              <a:tblPr/>
              <a:tblGrid>
                <a:gridCol w="1905000"/>
                <a:gridCol w="3238500"/>
                <a:gridCol w="2914650"/>
              </a:tblGrid>
              <a:tr h="419100">
                <a:tc>
                  <a:txBody>
                    <a:bodyPr wrap="square" lIns="47625" tIns="47625" rIns="47625" bIns="47625"/>
                    <a:lstStyle/>
                    <a:p>
                      <a:pPr algn="ctr">
                        <a:buNone/>
                      </a:pPr>
                      <a:r>
                        <a:rPr sz="1575" b="1">
                          <a:solidFill>
                            <a:srgbClr val="171717"/>
                          </a:solidFill>
                          <a:latin typeface="Cambria"/>
                          <a:ea typeface="Cambria"/>
                          <a:cs typeface="Cambria"/>
                        </a:rPr>
                        <a:t>Area</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47625" tIns="47625" rIns="47625" bIns="47625"/>
                    <a:lstStyle/>
                    <a:p>
                      <a:pPr algn="ctr">
                        <a:buNone/>
                      </a:pPr>
                      <a:r>
                        <a:rPr sz="1575" b="1">
                          <a:solidFill>
                            <a:srgbClr val="171717"/>
                          </a:solidFill>
                          <a:latin typeface="Cambria"/>
                          <a:ea typeface="Cambria"/>
                          <a:cs typeface="Cambria"/>
                        </a:rPr>
                        <a:t>What was found</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47625" tIns="47625" rIns="47625" bIns="47625"/>
                    <a:lstStyle/>
                    <a:p>
                      <a:pPr algn="ctr">
                        <a:buNone/>
                      </a:pPr>
                      <a:r>
                        <a:rPr sz="1575" b="1">
                          <a:solidFill>
                            <a:srgbClr val="171717"/>
                          </a:solidFill>
                          <a:latin typeface="Cambria"/>
                          <a:ea typeface="Cambria"/>
                          <a:cs typeface="Cambria"/>
                        </a:rPr>
                        <a:t>What needs to change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933450">
                <a:tc>
                  <a:txBody>
                    <a:bodyPr wrap="square" lIns="47625" tIns="47625" rIns="47625" bIns="47625"/>
                    <a:lstStyle/>
                    <a:p>
                      <a:pPr algn="l">
                        <a:buNone/>
                      </a:pPr>
                      <a:r>
                        <a:rPr sz="1575" b="0">
                          <a:solidFill>
                            <a:srgbClr val="171717"/>
                          </a:solidFill>
                          <a:latin typeface="Cambria"/>
                          <a:ea typeface="Cambria"/>
                          <a:cs typeface="Cambria"/>
                        </a:rPr>
                        <a:t>Store creation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l">
                        <a:buNone/>
                      </a:pPr>
                      <a:r>
                        <a:rPr sz="1575" b="0">
                          <a:solidFill>
                            <a:srgbClr val="171717"/>
                          </a:solidFill>
                          <a:latin typeface="Cambria"/>
                          <a:ea typeface="Cambria"/>
                          <a:cs typeface="Cambria"/>
                        </a:rPr>
                        <a:t>The extra identity check could be bypassed.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l">
                        <a:buNone/>
                      </a:pPr>
                      <a:r>
                        <a:rPr sz="1575" b="0">
                          <a:solidFill>
                            <a:srgbClr val="171717"/>
                          </a:solidFill>
                          <a:latin typeface="Cambria"/>
                          <a:ea typeface="Cambria"/>
                          <a:cs typeface="Cambria"/>
                        </a:rPr>
                        <a:t>Require the check before allowing store creation.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33450">
                <a:tc>
                  <a:txBody>
                    <a:bodyPr wrap="square" lIns="47625" tIns="47625" rIns="47625" bIns="47625"/>
                    <a:lstStyle/>
                    <a:p>
                      <a:pPr algn="l">
                        <a:buNone/>
                      </a:pPr>
                      <a:r>
                        <a:rPr sz="1575" b="0">
                          <a:solidFill>
                            <a:srgbClr val="171717"/>
                          </a:solidFill>
                          <a:latin typeface="Cambria"/>
                          <a:ea typeface="Cambria"/>
                          <a:cs typeface="Cambria"/>
                        </a:rPr>
                        <a:t>Activity history</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l">
                        <a:buNone/>
                      </a:pPr>
                      <a:r>
                        <a:rPr sz="1575" b="0">
                          <a:solidFill>
                            <a:srgbClr val="171717"/>
                          </a:solidFill>
                          <a:latin typeface="Cambria"/>
                          <a:ea typeface="Cambria"/>
                          <a:cs typeface="Cambria"/>
                        </a:rPr>
                        <a:t>Someone who was not signed in could add an activity record.</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l">
                        <a:buNone/>
                      </a:pPr>
                      <a:r>
                        <a:rPr sz="1575" b="0">
                          <a:solidFill>
                            <a:srgbClr val="171717"/>
                          </a:solidFill>
                          <a:latin typeface="Cambria"/>
                          <a:ea typeface="Cambria"/>
                          <a:cs typeface="Cambria"/>
                        </a:rPr>
                        <a:t>Only authorized users should add these records.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F962AA9-DB9B-4835-B63C-1D3A39B26ADF}"/>
              </a:ext>
            </a:extLst>
          </p:cNvPr>
          <p:cNvSpPr>
            <a:spLocks xmlns:a="http://schemas.openxmlformats.org/drawingml/2006/main" noGrp="1"/>
          </p:cNvSpPr>
          <p:nvPr/>
        </p:nvSpPr>
        <p:spPr>
          <a:xfrm xmlns:a="http://schemas.openxmlformats.org/drawingml/2006/main">
            <a:off x="533400" y="3981450"/>
            <a:ext cx="80581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202C61"/>
                </a:solidFill>
                <a:latin typeface="Raleway"/>
                <a:ea typeface="Raleway"/>
                <a:cs typeface="Raleway"/>
              </a:defRPr>
            </a:defPPr>
            <a:lvl1pPr algn="l">
              <a:buNone/>
              <a:defRPr sz="2175" b="1">
                <a:solidFill>
                  <a:srgbClr val="202C61"/>
                </a:solidFill>
                <a:latin typeface="Raleway"/>
                <a:ea typeface="Raleway"/>
                <a:cs typeface="Raleway"/>
              </a:defRPr>
            </a:lvl1pPr>
            <a:lvl2pPr algn="l">
              <a:buNone/>
              <a:defRPr sz="2175" b="1">
                <a:solidFill>
                  <a:srgbClr val="202C61"/>
                </a:solidFill>
                <a:latin typeface="Raleway"/>
                <a:ea typeface="Raleway"/>
                <a:cs typeface="Raleway"/>
              </a:defRPr>
            </a:lvl2pPr>
            <a:lvl3pPr algn="l">
              <a:buNone/>
              <a:defRPr sz="2175" b="1">
                <a:solidFill>
                  <a:srgbClr val="202C61"/>
                </a:solidFill>
                <a:latin typeface="Raleway"/>
                <a:ea typeface="Raleway"/>
                <a:cs typeface="Raleway"/>
              </a:defRPr>
            </a:lvl3pPr>
            <a:lvl4pPr algn="l">
              <a:buNone/>
              <a:defRPr sz="2175" b="1">
                <a:solidFill>
                  <a:srgbClr val="202C61"/>
                </a:solidFill>
                <a:latin typeface="Raleway"/>
                <a:ea typeface="Raleway"/>
                <a:cs typeface="Raleway"/>
              </a:defRPr>
            </a:lvl4pPr>
            <a:lvl5pPr algn="l">
              <a:buNone/>
              <a:defRPr sz="2175" b="1">
                <a:solidFill>
                  <a:srgbClr val="202C61"/>
                </a:solidFill>
                <a:latin typeface="Raleway"/>
                <a:ea typeface="Raleway"/>
                <a:cs typeface="Raleway"/>
              </a:defRPr>
            </a:lvl5pPr>
            <a:lvl6pPr algn="l">
              <a:buNone/>
              <a:defRPr sz="2175" b="1">
                <a:solidFill>
                  <a:srgbClr val="202C61"/>
                </a:solidFill>
                <a:latin typeface="Raleway"/>
                <a:ea typeface="Raleway"/>
                <a:cs typeface="Raleway"/>
              </a:defRPr>
            </a:lvl6pPr>
            <a:lvl7pPr algn="l">
              <a:buNone/>
              <a:defRPr sz="2175" b="1">
                <a:solidFill>
                  <a:srgbClr val="202C61"/>
                </a:solidFill>
                <a:latin typeface="Raleway"/>
                <a:ea typeface="Raleway"/>
                <a:cs typeface="Raleway"/>
              </a:defRPr>
            </a:lvl7pPr>
            <a:lvl8pPr algn="l">
              <a:buNone/>
              <a:defRPr sz="2175" b="1">
                <a:solidFill>
                  <a:srgbClr val="202C61"/>
                </a:solidFill>
                <a:latin typeface="Raleway"/>
                <a:ea typeface="Raleway"/>
                <a:cs typeface="Raleway"/>
              </a:defRPr>
            </a:lvl8pPr>
            <a:lvl9pPr algn="l">
              <a:buNone/>
              <a:defRPr sz="2175" b="1">
                <a:solidFill>
                  <a:srgbClr val="202C61"/>
                </a:solidFill>
                <a:latin typeface="Raleway"/>
                <a:ea typeface="Raleway"/>
                <a:cs typeface="Raleway"/>
              </a:defRPr>
            </a:lvl9pPr>
          </a:lstStyle>
          <a:p xmlns:a="http://schemas.openxmlformats.org/drawingml/2006/main">
            <a:pPr algn="l">
              <a:buNone/>
              <a:defRPr sz="2175" b="1">
                <a:solidFill>
                  <a:srgbClr val="202C61"/>
                </a:solidFill>
                <a:latin typeface="Raleway"/>
                <a:ea typeface="Raleway"/>
                <a:cs typeface="Raleway"/>
              </a:defRPr>
            </a:pPr>
            <a:r>
              <a:rPr sz="2175" b="1">
                <a:solidFill>
                  <a:srgbClr val="202C61"/>
                </a:solidFill>
                <a:latin typeface="Raleway"/>
                <a:ea typeface="Raleway"/>
                <a:cs typeface="Raleway"/>
              </a:rPr>
              <a:t>Two security gaps still need fixing</a:t>
            </a:r>
          </a:p>
        </p:txBody>
      </p:sp>
      <p:sp>
        <p:nvSpPr>
          <p:cNvPr id="6" name="">
            <a:extLst xmlns:a="http://schemas.openxmlformats.org/drawingml/2006/main">
              <a:ext uri="{FF2B5EF4-FFF2-40B4-BE49-F238E27FC236}">
                <a16:creationId xmlns:a16="http://schemas.microsoft.com/office/drawing/2014/main" id="{58246795-5BF4-4D74-92FF-EF359E985E63}"/>
              </a:ext>
            </a:extLst>
          </p:cNvPr>
          <p:cNvSpPr>
            <a:spLocks xmlns:a="http://schemas.openxmlformats.org/drawingml/2006/main" noGrp="1"/>
          </p:cNvSpPr>
          <p:nvPr/>
        </p:nvSpPr>
        <p:spPr>
          <a:xfrm xmlns:a="http://schemas.openxmlformats.org/drawingml/2006/main">
            <a:off x="533400" y="4362450"/>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Fix both gaps and test again before giving a full security pass.</a:t>
            </a:r>
          </a:p>
        </p:txBody>
      </p:sp>
    </p:spTree>
    <p:extLst>
      <p:ext uri="{BB962C8B-B14F-4D97-AF65-F5344CB8AC3E}">
        <p14:creationId xmlns:p14="http://schemas.microsoft.com/office/powerpoint/2010/main" val="121332943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20" name="Picture 19">
            <a:extLst xmlns:a="http://schemas.openxmlformats.org/drawingml/2006/main">
              <a:ext uri="{FF2B5EF4-FFF2-40B4-BE49-F238E27FC236}">
                <a16:creationId xmlns:a16="http://schemas.microsoft.com/office/drawing/2014/main" id="{7EEFCA9B-00C9-4A1C-8A4D-9C4DEC95139F}"/>
              </a:ext>
            </a:extLst>
          </p:cNvPr>
          <p:cNvPicPr>
            <a:picLocks xmlns:a="http://schemas.openxmlformats.org/drawingml/2006/main" noChangeAspect="1"/>
          </p:cNvPicPr>
          <p:nvPr/>
        </p:nvPicPr>
        <p:blipFill>
          <a:blip xmlns:r="http://schemas.openxmlformats.org/officeDocument/2006/relationships" xmlns:a="http://schemas.openxmlformats.org/drawingml/2006/main" r:embed="R4065216994a84c45"/>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32">
            <a:extLst xmlns:a="http://schemas.openxmlformats.org/drawingml/2006/main">
              <a:ext uri="{FF2B5EF4-FFF2-40B4-BE49-F238E27FC236}">
                <a16:creationId xmlns:a16="http://schemas.microsoft.com/office/drawing/2014/main" id="{ED370FE4-1261-4D79-80FC-BA1E65894816}"/>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System walkthrough</a:t>
            </a:r>
          </a:p>
        </p:txBody>
      </p:sp>
      <p:sp>
        <p:nvSpPr>
          <p:cNvPr id="4" name="current-content-129">
            <a:extLst xmlns:a="http://schemas.openxmlformats.org/drawingml/2006/main">
              <a:ext uri="{FF2B5EF4-FFF2-40B4-BE49-F238E27FC236}">
                <a16:creationId xmlns:a16="http://schemas.microsoft.com/office/drawing/2014/main" id="{FD311013-AB83-4541-B024-F9E8A763B518}"/>
              </a:ext>
            </a:extLst>
          </p:cNvPr>
          <p:cNvSpPr>
            <a:spLocks xmlns:a="http://schemas.openxmlformats.org/drawingml/2006/main" noGrp="1"/>
          </p:cNvSpPr>
          <p:nvPr/>
        </p:nvSpPr>
        <p:spPr>
          <a:xfrm xmlns:a="http://schemas.openxmlformats.org/drawingml/2006/main">
            <a:off x="533400" y="13239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buNone/>
              <a:defRPr sz="1950" b="1">
                <a:solidFill>
                  <a:srgbClr val="202C61"/>
                </a:solidFill>
                <a:latin typeface="Raleway"/>
                <a:ea typeface="Raleway"/>
                <a:cs typeface="Raleway"/>
              </a:defRPr>
            </a:lvl1pPr>
            <a:lvl2pPr algn="l">
              <a:buNone/>
              <a:defRPr sz="1950" b="1">
                <a:solidFill>
                  <a:srgbClr val="202C61"/>
                </a:solidFill>
                <a:latin typeface="Raleway"/>
                <a:ea typeface="Raleway"/>
                <a:cs typeface="Raleway"/>
              </a:defRPr>
            </a:lvl2pPr>
            <a:lvl3pPr algn="l">
              <a:buNone/>
              <a:defRPr sz="1950" b="1">
                <a:solidFill>
                  <a:srgbClr val="202C61"/>
                </a:solidFill>
                <a:latin typeface="Raleway"/>
                <a:ea typeface="Raleway"/>
                <a:cs typeface="Raleway"/>
              </a:defRPr>
            </a:lvl3pPr>
            <a:lvl4pPr algn="l">
              <a:buNone/>
              <a:defRPr sz="1950" b="1">
                <a:solidFill>
                  <a:srgbClr val="202C61"/>
                </a:solidFill>
                <a:latin typeface="Raleway"/>
                <a:ea typeface="Raleway"/>
                <a:cs typeface="Raleway"/>
              </a:defRPr>
            </a:lvl4pPr>
            <a:lvl5pPr algn="l">
              <a:buNone/>
              <a:defRPr sz="1950" b="1">
                <a:solidFill>
                  <a:srgbClr val="202C61"/>
                </a:solidFill>
                <a:latin typeface="Raleway"/>
                <a:ea typeface="Raleway"/>
                <a:cs typeface="Raleway"/>
              </a:defRPr>
            </a:lvl5pPr>
            <a:lvl6pPr algn="l">
              <a:buNone/>
              <a:defRPr sz="1950" b="1">
                <a:solidFill>
                  <a:srgbClr val="202C61"/>
                </a:solidFill>
                <a:latin typeface="Raleway"/>
                <a:ea typeface="Raleway"/>
                <a:cs typeface="Raleway"/>
              </a:defRPr>
            </a:lvl6pPr>
            <a:lvl7pPr algn="l">
              <a:buNone/>
              <a:defRPr sz="1950" b="1">
                <a:solidFill>
                  <a:srgbClr val="202C61"/>
                </a:solidFill>
                <a:latin typeface="Raleway"/>
                <a:ea typeface="Raleway"/>
                <a:cs typeface="Raleway"/>
              </a:defRPr>
            </a:lvl7pPr>
            <a:lvl8pPr algn="l">
              <a:buNone/>
              <a:defRPr sz="1950" b="1">
                <a:solidFill>
                  <a:srgbClr val="202C61"/>
                </a:solidFill>
                <a:latin typeface="Raleway"/>
                <a:ea typeface="Raleway"/>
                <a:cs typeface="Raleway"/>
              </a:defRPr>
            </a:lvl8pPr>
            <a:lvl9pPr algn="l">
              <a:buNone/>
              <a:defRPr sz="1950" b="1">
                <a:solidFill>
                  <a:srgbClr val="202C61"/>
                </a:solidFill>
                <a:latin typeface="Raleway"/>
                <a:ea typeface="Raleway"/>
                <a:cs typeface="Raleway"/>
              </a:defRPr>
            </a:lvl9pPr>
          </a:lstStyle>
          <a:p xmlns:a="http://schemas.openxmlformats.org/drawingml/2006/main">
            <a:pPr algn="l">
              <a:buNone/>
              <a:defRPr sz="1950" b="1">
                <a:solidFill>
                  <a:srgbClr val="202C61"/>
                </a:solidFill>
                <a:latin typeface="Raleway"/>
                <a:ea typeface="Raleway"/>
                <a:cs typeface="Raleway"/>
              </a:defRPr>
            </a:pPr>
            <a:r>
              <a:rPr sz="1950" b="1">
                <a:solidFill>
                  <a:srgbClr val="202C61"/>
                </a:solidFill>
                <a:latin typeface="Raleway"/>
                <a:ea typeface="Raleway"/>
                <a:cs typeface="Raleway"/>
              </a:rPr>
              <a:t>Planned initial state</a:t>
            </a:r>
          </a:p>
        </p:txBody>
      </p:sp>
      <p:sp>
        <p:nvSpPr>
          <p:cNvPr id="5" name="current-content-130">
            <a:extLst xmlns:a="http://schemas.openxmlformats.org/drawingml/2006/main">
              <a:ext uri="{FF2B5EF4-FFF2-40B4-BE49-F238E27FC236}">
                <a16:creationId xmlns:a16="http://schemas.microsoft.com/office/drawing/2014/main" id="{D90D6AE2-4A53-41E7-B125-E13A1700F3CD}"/>
              </a:ext>
            </a:extLst>
          </p:cNvPr>
          <p:cNvSpPr>
            <a:spLocks xmlns:a="http://schemas.openxmlformats.org/drawingml/2006/main" noGrp="1"/>
          </p:cNvSpPr>
          <p:nvPr/>
        </p:nvSpPr>
        <p:spPr>
          <a:xfrm xmlns:a="http://schemas.openxmlformats.org/drawingml/2006/main">
            <a:off x="533400" y="1924050"/>
            <a:ext cx="3714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Cleared business records</a:t>
            </a:r>
          </a:p>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Required schema, Auth and</a:t>
            </a:r>
          </a:p>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configuration retained</a:t>
            </a:r>
          </a:p>
        </p:txBody>
      </p:sp>
      <p:sp>
        <p:nvSpPr>
          <p:cNvPr id="7" name="current-content-132">
            <a:extLst xmlns:a="http://schemas.openxmlformats.org/drawingml/2006/main">
              <a:ext uri="{FF2B5EF4-FFF2-40B4-BE49-F238E27FC236}">
                <a16:creationId xmlns:a16="http://schemas.microsoft.com/office/drawing/2014/main" id="{B39C5E37-0570-4358-A2BF-7706F8FF1FA1}"/>
              </a:ext>
            </a:extLst>
          </p:cNvPr>
          <p:cNvSpPr>
            <a:spLocks xmlns:a="http://schemas.openxmlformats.org/drawingml/2006/main" noGrp="1"/>
          </p:cNvSpPr>
          <p:nvPr/>
        </p:nvSpPr>
        <p:spPr>
          <a:xfrm xmlns:a="http://schemas.openxmlformats.org/drawingml/2006/main">
            <a:off x="4857750" y="13239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01</a:t>
            </a:r>
          </a:p>
        </p:txBody>
      </p:sp>
      <p:sp>
        <p:nvSpPr>
          <p:cNvPr id="8" name="current-content-133">
            <a:extLst xmlns:a="http://schemas.openxmlformats.org/drawingml/2006/main">
              <a:ext uri="{FF2B5EF4-FFF2-40B4-BE49-F238E27FC236}">
                <a16:creationId xmlns:a16="http://schemas.microsoft.com/office/drawing/2014/main" id="{6C097D81-2902-42EF-A4E7-78DB70717D85}"/>
              </a:ext>
            </a:extLst>
          </p:cNvPr>
          <p:cNvSpPr>
            <a:spLocks xmlns:a="http://schemas.openxmlformats.org/drawingml/2006/main" noGrp="1"/>
          </p:cNvSpPr>
          <p:nvPr/>
        </p:nvSpPr>
        <p:spPr>
          <a:xfrm xmlns:a="http://schemas.openxmlformats.org/drawingml/2006/main">
            <a:off x="5619750" y="13239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Login</a:t>
            </a:r>
          </a:p>
        </p:txBody>
      </p:sp>
      <p:sp>
        <p:nvSpPr>
          <p:cNvPr id="9" name="current-content-134">
            <a:extLst xmlns:a="http://schemas.openxmlformats.org/drawingml/2006/main">
              <a:ext uri="{FF2B5EF4-FFF2-40B4-BE49-F238E27FC236}">
                <a16:creationId xmlns:a16="http://schemas.microsoft.com/office/drawing/2014/main" id="{CB68AC8B-9238-4F60-BD7E-AD2C5389D989}"/>
              </a:ext>
            </a:extLst>
          </p:cNvPr>
          <p:cNvSpPr>
            <a:spLocks xmlns:a="http://schemas.openxmlformats.org/drawingml/2006/main" noGrp="1"/>
          </p:cNvSpPr>
          <p:nvPr/>
        </p:nvSpPr>
        <p:spPr>
          <a:xfrm xmlns:a="http://schemas.openxmlformats.org/drawingml/2006/main">
            <a:off x="4857750" y="17716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02</a:t>
            </a:r>
          </a:p>
        </p:txBody>
      </p:sp>
      <p:sp>
        <p:nvSpPr>
          <p:cNvPr id="10" name="current-content-135">
            <a:extLst xmlns:a="http://schemas.openxmlformats.org/drawingml/2006/main">
              <a:ext uri="{FF2B5EF4-FFF2-40B4-BE49-F238E27FC236}">
                <a16:creationId xmlns:a16="http://schemas.microsoft.com/office/drawing/2014/main" id="{3C484003-B324-4BBC-A0BB-E97DABA3BBB5}"/>
              </a:ext>
            </a:extLst>
          </p:cNvPr>
          <p:cNvSpPr>
            <a:spLocks xmlns:a="http://schemas.openxmlformats.org/drawingml/2006/main" noGrp="1"/>
          </p:cNvSpPr>
          <p:nvPr/>
        </p:nvSpPr>
        <p:spPr>
          <a:xfrm xmlns:a="http://schemas.openxmlformats.org/drawingml/2006/main">
            <a:off x="5619750" y="17716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Product setup</a:t>
            </a:r>
          </a:p>
        </p:txBody>
      </p:sp>
      <p:sp>
        <p:nvSpPr>
          <p:cNvPr id="11" name="current-content-136">
            <a:extLst xmlns:a="http://schemas.openxmlformats.org/drawingml/2006/main">
              <a:ext uri="{FF2B5EF4-FFF2-40B4-BE49-F238E27FC236}">
                <a16:creationId xmlns:a16="http://schemas.microsoft.com/office/drawing/2014/main" id="{4BBB29D6-E877-4917-9547-0910992FE4E4}"/>
              </a:ext>
            </a:extLst>
          </p:cNvPr>
          <p:cNvSpPr>
            <a:spLocks xmlns:a="http://schemas.openxmlformats.org/drawingml/2006/main" noGrp="1"/>
          </p:cNvSpPr>
          <p:nvPr/>
        </p:nvSpPr>
        <p:spPr>
          <a:xfrm xmlns:a="http://schemas.openxmlformats.org/drawingml/2006/main">
            <a:off x="4857750" y="221932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03</a:t>
            </a:r>
          </a:p>
        </p:txBody>
      </p:sp>
      <p:sp>
        <p:nvSpPr>
          <p:cNvPr id="12" name="current-content-137">
            <a:extLst xmlns:a="http://schemas.openxmlformats.org/drawingml/2006/main">
              <a:ext uri="{FF2B5EF4-FFF2-40B4-BE49-F238E27FC236}">
                <a16:creationId xmlns:a16="http://schemas.microsoft.com/office/drawing/2014/main" id="{3A8730C6-D6DC-4D84-98D7-D4F1B5DC645D}"/>
              </a:ext>
            </a:extLst>
          </p:cNvPr>
          <p:cNvSpPr>
            <a:spLocks xmlns:a="http://schemas.openxmlformats.org/drawingml/2006/main" noGrp="1"/>
          </p:cNvSpPr>
          <p:nvPr/>
        </p:nvSpPr>
        <p:spPr>
          <a:xfrm xmlns:a="http://schemas.openxmlformats.org/drawingml/2006/main">
            <a:off x="5619750" y="221932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Receive stock</a:t>
            </a:r>
          </a:p>
        </p:txBody>
      </p:sp>
      <p:sp>
        <p:nvSpPr>
          <p:cNvPr id="13" name="current-content-138">
            <a:extLst xmlns:a="http://schemas.openxmlformats.org/drawingml/2006/main">
              <a:ext uri="{FF2B5EF4-FFF2-40B4-BE49-F238E27FC236}">
                <a16:creationId xmlns:a16="http://schemas.microsoft.com/office/drawing/2014/main" id="{EAFA12E0-193A-4FD2-BCF5-B96BAD46A724}"/>
              </a:ext>
            </a:extLst>
          </p:cNvPr>
          <p:cNvSpPr>
            <a:spLocks xmlns:a="http://schemas.openxmlformats.org/drawingml/2006/main" noGrp="1"/>
          </p:cNvSpPr>
          <p:nvPr/>
        </p:nvSpPr>
        <p:spPr>
          <a:xfrm xmlns:a="http://schemas.openxmlformats.org/drawingml/2006/main">
            <a:off x="4857750" y="266700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04</a:t>
            </a:r>
          </a:p>
        </p:txBody>
      </p:sp>
      <p:sp>
        <p:nvSpPr>
          <p:cNvPr id="14" name="current-content-139">
            <a:extLst xmlns:a="http://schemas.openxmlformats.org/drawingml/2006/main">
              <a:ext uri="{FF2B5EF4-FFF2-40B4-BE49-F238E27FC236}">
                <a16:creationId xmlns:a16="http://schemas.microsoft.com/office/drawing/2014/main" id="{7B995C80-DBE1-419F-9ED4-69ED8F0163D0}"/>
              </a:ext>
            </a:extLst>
          </p:cNvPr>
          <p:cNvSpPr>
            <a:spLocks xmlns:a="http://schemas.openxmlformats.org/drawingml/2006/main" noGrp="1"/>
          </p:cNvSpPr>
          <p:nvPr/>
        </p:nvSpPr>
        <p:spPr>
          <a:xfrm xmlns:a="http://schemas.openxmlformats.org/drawingml/2006/main">
            <a:off x="5619750" y="266700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POS transaction</a:t>
            </a:r>
          </a:p>
        </p:txBody>
      </p:sp>
      <p:sp>
        <p:nvSpPr>
          <p:cNvPr id="15" name="current-content-140">
            <a:extLst xmlns:a="http://schemas.openxmlformats.org/drawingml/2006/main">
              <a:ext uri="{FF2B5EF4-FFF2-40B4-BE49-F238E27FC236}">
                <a16:creationId xmlns:a16="http://schemas.microsoft.com/office/drawing/2014/main" id="{56DD23C9-3B69-48E4-8086-CFBC7D6C014B}"/>
              </a:ext>
            </a:extLst>
          </p:cNvPr>
          <p:cNvSpPr>
            <a:spLocks xmlns:a="http://schemas.openxmlformats.org/drawingml/2006/main" noGrp="1"/>
          </p:cNvSpPr>
          <p:nvPr/>
        </p:nvSpPr>
        <p:spPr>
          <a:xfrm xmlns:a="http://schemas.openxmlformats.org/drawingml/2006/main">
            <a:off x="4857750" y="31146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05</a:t>
            </a:r>
          </a:p>
        </p:txBody>
      </p:sp>
      <p:sp>
        <p:nvSpPr>
          <p:cNvPr id="16" name="current-content-141">
            <a:extLst xmlns:a="http://schemas.openxmlformats.org/drawingml/2006/main">
              <a:ext uri="{FF2B5EF4-FFF2-40B4-BE49-F238E27FC236}">
                <a16:creationId xmlns:a16="http://schemas.microsoft.com/office/drawing/2014/main" id="{0367F212-B11F-41D2-B540-67600358BE6E}"/>
              </a:ext>
            </a:extLst>
          </p:cNvPr>
          <p:cNvSpPr>
            <a:spLocks xmlns:a="http://schemas.openxmlformats.org/drawingml/2006/main" noGrp="1"/>
          </p:cNvSpPr>
          <p:nvPr/>
        </p:nvSpPr>
        <p:spPr>
          <a:xfrm xmlns:a="http://schemas.openxmlformats.org/drawingml/2006/main">
            <a:off x="5619750" y="31146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Verify deduction</a:t>
            </a:r>
          </a:p>
        </p:txBody>
      </p:sp>
      <p:sp>
        <p:nvSpPr>
          <p:cNvPr id="17" name="current-content-142">
            <a:extLst xmlns:a="http://schemas.openxmlformats.org/drawingml/2006/main">
              <a:ext uri="{FF2B5EF4-FFF2-40B4-BE49-F238E27FC236}">
                <a16:creationId xmlns:a16="http://schemas.microsoft.com/office/drawing/2014/main" id="{6283512C-8BEA-4752-9EB6-426A587FE2D0}"/>
              </a:ext>
            </a:extLst>
          </p:cNvPr>
          <p:cNvSpPr>
            <a:spLocks xmlns:a="http://schemas.openxmlformats.org/drawingml/2006/main" noGrp="1"/>
          </p:cNvSpPr>
          <p:nvPr/>
        </p:nvSpPr>
        <p:spPr>
          <a:xfrm xmlns:a="http://schemas.openxmlformats.org/drawingml/2006/main">
            <a:off x="4857750" y="35623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06</a:t>
            </a:r>
          </a:p>
        </p:txBody>
      </p:sp>
      <p:sp>
        <p:nvSpPr>
          <p:cNvPr id="18" name="current-content-143">
            <a:extLst xmlns:a="http://schemas.openxmlformats.org/drawingml/2006/main">
              <a:ext uri="{FF2B5EF4-FFF2-40B4-BE49-F238E27FC236}">
                <a16:creationId xmlns:a16="http://schemas.microsoft.com/office/drawing/2014/main" id="{EE060BD8-EA74-4A7E-8A77-271254D9AE21}"/>
              </a:ext>
            </a:extLst>
          </p:cNvPr>
          <p:cNvSpPr>
            <a:spLocks xmlns:a="http://schemas.openxmlformats.org/drawingml/2006/main" noGrp="1"/>
          </p:cNvSpPr>
          <p:nvPr/>
        </p:nvSpPr>
        <p:spPr>
          <a:xfrm xmlns:a="http://schemas.openxmlformats.org/drawingml/2006/main">
            <a:off x="5619750" y="35623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Verify reports</a:t>
            </a:r>
          </a:p>
        </p:txBody>
      </p:sp>
      <p:sp>
        <p:nvSpPr>
          <p:cNvPr id="19" name="current-content-144">
            <a:extLst xmlns:a="http://schemas.openxmlformats.org/drawingml/2006/main">
              <a:ext uri="{FF2B5EF4-FFF2-40B4-BE49-F238E27FC236}">
                <a16:creationId xmlns:a16="http://schemas.microsoft.com/office/drawing/2014/main" id="{17ECEA2F-F6BD-4573-AC04-22EF1BE04703}"/>
              </a:ext>
            </a:extLst>
          </p:cNvPr>
          <p:cNvSpPr>
            <a:spLocks xmlns:a="http://schemas.openxmlformats.org/drawingml/2006/main" noGrp="1"/>
          </p:cNvSpPr>
          <p:nvPr/>
        </p:nvSpPr>
        <p:spPr>
          <a:xfrm xmlns:a="http://schemas.openxmlformats.org/drawingml/2006/main">
            <a:off x="533400" y="42672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0070C0"/>
                </a:solidFill>
                <a:latin typeface="Raleway"/>
                <a:ea typeface="Raleway"/>
                <a:cs typeface="Raleway"/>
              </a:defRPr>
            </a:defPPr>
            <a:lvl1pPr algn="ctr">
              <a:buNone/>
              <a:defRPr sz="2325" b="1">
                <a:solidFill>
                  <a:srgbClr val="0070C0"/>
                </a:solidFill>
                <a:latin typeface="Raleway"/>
                <a:ea typeface="Raleway"/>
                <a:cs typeface="Raleway"/>
              </a:defRPr>
            </a:lvl1pPr>
            <a:lvl2pPr algn="ctr">
              <a:buNone/>
              <a:defRPr sz="2325" b="1">
                <a:solidFill>
                  <a:srgbClr val="0070C0"/>
                </a:solidFill>
                <a:latin typeface="Raleway"/>
                <a:ea typeface="Raleway"/>
                <a:cs typeface="Raleway"/>
              </a:defRPr>
            </a:lvl2pPr>
            <a:lvl3pPr algn="ctr">
              <a:buNone/>
              <a:defRPr sz="2325" b="1">
                <a:solidFill>
                  <a:srgbClr val="0070C0"/>
                </a:solidFill>
                <a:latin typeface="Raleway"/>
                <a:ea typeface="Raleway"/>
                <a:cs typeface="Raleway"/>
              </a:defRPr>
            </a:lvl3pPr>
            <a:lvl4pPr algn="ctr">
              <a:buNone/>
              <a:defRPr sz="2325" b="1">
                <a:solidFill>
                  <a:srgbClr val="0070C0"/>
                </a:solidFill>
                <a:latin typeface="Raleway"/>
                <a:ea typeface="Raleway"/>
                <a:cs typeface="Raleway"/>
              </a:defRPr>
            </a:lvl4pPr>
            <a:lvl5pPr algn="ctr">
              <a:buNone/>
              <a:defRPr sz="2325" b="1">
                <a:solidFill>
                  <a:srgbClr val="0070C0"/>
                </a:solidFill>
                <a:latin typeface="Raleway"/>
                <a:ea typeface="Raleway"/>
                <a:cs typeface="Raleway"/>
              </a:defRPr>
            </a:lvl5pPr>
            <a:lvl6pPr algn="ctr">
              <a:buNone/>
              <a:defRPr sz="2325" b="1">
                <a:solidFill>
                  <a:srgbClr val="0070C0"/>
                </a:solidFill>
                <a:latin typeface="Raleway"/>
                <a:ea typeface="Raleway"/>
                <a:cs typeface="Raleway"/>
              </a:defRPr>
            </a:lvl6pPr>
            <a:lvl7pPr algn="ctr">
              <a:buNone/>
              <a:defRPr sz="2325" b="1">
                <a:solidFill>
                  <a:srgbClr val="0070C0"/>
                </a:solidFill>
                <a:latin typeface="Raleway"/>
                <a:ea typeface="Raleway"/>
                <a:cs typeface="Raleway"/>
              </a:defRPr>
            </a:lvl7pPr>
            <a:lvl8pPr algn="ctr">
              <a:buNone/>
              <a:defRPr sz="2325" b="1">
                <a:solidFill>
                  <a:srgbClr val="0070C0"/>
                </a:solidFill>
                <a:latin typeface="Raleway"/>
                <a:ea typeface="Raleway"/>
                <a:cs typeface="Raleway"/>
              </a:defRPr>
            </a:lvl8pPr>
            <a:lvl9pPr algn="ctr">
              <a:buNone/>
              <a:defRPr sz="2325" b="1">
                <a:solidFill>
                  <a:srgbClr val="0070C0"/>
                </a:solidFill>
                <a:latin typeface="Raleway"/>
                <a:ea typeface="Raleway"/>
                <a:cs typeface="Raleway"/>
              </a:defRPr>
            </a:lvl9pPr>
          </a:lstStyle>
          <a:p xmlns:a="http://schemas.openxmlformats.org/drawingml/2006/main">
            <a:pPr algn="ctr">
              <a:buNone/>
              <a:defRPr sz="2325" b="1">
                <a:solidFill>
                  <a:srgbClr val="0070C0"/>
                </a:solidFill>
                <a:latin typeface="Raleway"/>
                <a:ea typeface="Raleway"/>
                <a:cs typeface="Raleway"/>
              </a:defRPr>
            </a:pPr>
            <a:r>
              <a:rPr sz="2325" b="1">
                <a:solidFill>
                  <a:srgbClr val="0070C0"/>
                </a:solidFill>
                <a:latin typeface="Raleway"/>
                <a:ea typeface="Raleway"/>
                <a:cs typeface="Raleway"/>
              </a:rPr>
              <a:t>LIVE SYSTEM DEMONSTRATION</a:t>
            </a:r>
          </a:p>
        </p:txBody>
      </p:sp>
    </p:spTree>
    <p:extLst>
      <p:ext uri="{BB962C8B-B14F-4D97-AF65-F5344CB8AC3E}">
        <p14:creationId xmlns:p14="http://schemas.microsoft.com/office/powerpoint/2010/main" val="1100300583"/>
      </p:ext>
    </p:extLst>
  </p:cSld>
</p:sld>
</file>

<file path=ppt/theme/theme1.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2026-10-27T16:43:03.5860000Z</dcterms:created>
  <dcterms:modified xsi:type="dcterms:W3CDTF">2026-10-27T16:43:03.5860000Z</dcterms:modified>
</coreProperties>
</file>